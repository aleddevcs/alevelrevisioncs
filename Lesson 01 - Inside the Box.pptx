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d Evans" userId="6f7e106d-40fd-400d-8500-fbffefdddad3" providerId="ADAL" clId="{9C50400A-926F-4AC1-BAF0-09988A1F867F}"/>
    <pc:docChg chg="custSel modSld">
      <pc:chgData name="Aled Evans" userId="6f7e106d-40fd-400d-8500-fbffefdddad3" providerId="ADAL" clId="{9C50400A-926F-4AC1-BAF0-09988A1F867F}" dt="2026-09-07T13:02:23.133" v="5" actId="1076"/>
      <pc:docMkLst>
        <pc:docMk/>
      </pc:docMkLst>
      <pc:sldChg chg="addSp delSp modSp mod">
        <pc:chgData name="Aled Evans" userId="6f7e106d-40fd-400d-8500-fbffefdddad3" providerId="ADAL" clId="{9C50400A-926F-4AC1-BAF0-09988A1F867F}" dt="2026-09-07T13:02:23.133" v="5" actId="1076"/>
        <pc:sldMkLst>
          <pc:docMk/>
          <pc:sldMk cId="0" sldId="258"/>
        </pc:sldMkLst>
        <pc:spChg chg="del">
          <ac:chgData name="Aled Evans" userId="6f7e106d-40fd-400d-8500-fbffefdddad3" providerId="ADAL" clId="{9C50400A-926F-4AC1-BAF0-09988A1F867F}" dt="2026-09-07T13:01:46.843" v="0" actId="478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Aled Evans" userId="6f7e106d-40fd-400d-8500-fbffefdddad3" providerId="ADAL" clId="{9C50400A-926F-4AC1-BAF0-09988A1F867F}" dt="2026-09-07T13:02:23.133" v="5" actId="1076"/>
          <ac:picMkLst>
            <pc:docMk/>
            <pc:sldMk cId="0" sldId="258"/>
            <ac:picMk id="17" creationId="{D0131788-9A00-2784-CC16-AD883C1ED5B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7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First proper teaching lesson of Unit 1. Today's three spec points: 1.1.1 hardware and communication elements and how they connect; 1.2.1 computer architecture including Von Neumann; 1.2.2 types of memory and caching. Whiteboards and pens out before we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 roadmap quickly. Copper boxes are things students DO; grey boxes are teacher-led. Point out that the collaborative task comes before the memory teach on purpose: they will have a go first, then we fix what went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 max. Listen for the misconceptions we will target later: 'cache is RAM', 'clock speed = performance', 'ROM is old storage'. Do not correct yet — note them on the board for later. Photo to be sourced (see lesson note).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NotebookLM video (to be generated from the Topic 1 notes). Collect a few takeaways and 'want explained' items — park the latter on the board and tick them off as the lesson covers them. Check register names in the video match the spec: PC, MAR, MDR, CIR, ACC.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segment with one question we will ask of every component: 'what does it connect THROUGH?' That is the 'how they are connected' half of the spec statement and the bit students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map live on the board if you prefer — this slide is the finished version. Ask for each block: what is it for, and what does it connect through? The orange line is the interface — that is the exam-relevant vocabulary (PCIe, SATA, NVMe, USB, HDMI, Bluetooth).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'cache' brief here — it comes back properly in 1.2.2. The connection line at the bottom of each card is the 'how they are connected' part of the spec. Quick check: which of these three is volatile? (RAM only.)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Sound card gets more space in the notes than students expect — DAC/ADC is a nice link to data representation later (Topic 4). Ask: why does a microphone need an ADC but speakers need a DAC?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buses by name here — we come back to direction (uni/bidirectional) in 1.2.1. NIC and protocols are only a mention today; they are the back half of Topic 1 (1.7–1.8).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reference table for the exam. 'Identify and describe … and how they are connected' = column 1 + column 2 + column 3. Give a minute to copy or photograph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1.1.1 quiz document and run through it question by question. If time is tight, do Q1–10 and set 11–15 with homework. Note class weak spots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zoom in from the whole box to the CPU. Architecture = the design and organisation of the hardware and how the parts interact.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think the ALU 'runs the program'. It doesn't — the CU does the running, the ALU does the sums. Registers HOLD things; CU and ALU DO things. That distinction is a misconception we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each. Do NOT walk the whole fetch-execute cycle today — that is lesson 4 (week 7). The aim now is that students can name the five and say what each HOLDS. Quick check: which register holds an address? (Two: PC and MAR.) Which holds data? (MDR, ACC.) Which holds an instruction? (CIR.)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slide 9 — same three buses, now with direction. Ask: why can't the address bus be bidirectional? (Only the CPU decides which location to access.) Width of the data bus = how much data per transfer; width of the address bus = how many locations can be addressed — a nice stretch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idea: instructions and data live together in one memory, reached over one bus. Everything else (the bottleneck, Harvard) follows from that. 'Stored program' is why a computer can be reprogrammed — contrast with a fixed-function calculator.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Bottleneck = a 'describe/explain' exam question. The answer needs both halves: shared bus AND CPU-memory speed gap. Harvard is the contrast — quiz 1.2.1 Q13 asks it. Pipelining/multi-core are previews only; they belong to 1.2.3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'Where does it live?' HTML task (to be built) on group devices. Circulate: listen for reasoning about ROM and virtual memory — those are the deliberately awkward ones. Do NOT reveal answers yet; compare group pyramids on the board and use the disagreements to drive the 1.2.2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what the groups produced. Put two contrasting pyramids side by side and ask the class to argue it out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tier by tier against the groups' answers. The two argument-starters: virtual memory is on disk but is used like RAM (so sits between them functionally), and ROM is not really on the speed ladder at all — its job is firmware. Volatile: registers, cache, RAM. Non-volatile: ROM, flash, SSD, HDD.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describers the mark scheme wants for each type: volatility and typical use. Push on 'virtual memory is disk, not RAM' and 'ROM is firmware, not old storage'.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hit/miss flow is the concept behind 'describe caching'. Ask: why not make everything L1? (Cost, physical size, heat.) Tie to the bottleneck from 1.2.1: cache exists because RAM can't keep up with the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the misconceptions you parked from the starter and tick them off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checks 1.1.1, Q2 checks 1.2.1, Q3 checks 1.2.2. Model answers: (1) e.g. GPU → PCIe, SSD → SATA/NVMe; (2) shared bus for instructions and data plus CPU faster than memory, so the CPU waits; (3) faster memory is more expensive and physically larger per byte, and L1 must sit inside the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quizzes live in Topic 01 › Quizzes. Next lesson opens with a 15-minute retrieval block: 1.1.1 again (spaced), then review of 1.2.1 and 1.2.2. Quiz 1.2.1 Q13–15 (Harvard, pipelining, multi-core) lead straight into 1.2.3.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005840"/>
            <a:ext cx="109728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680960" y="1005840"/>
            <a:ext cx="914" cy="109728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583680" y="2103120"/>
            <a:ext cx="109728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680960" y="1005840"/>
            <a:ext cx="731520" cy="54864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680960" y="2103120"/>
            <a:ext cx="914" cy="100584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501384" y="92354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598664" y="92354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598664" y="202082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501384" y="202082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8330184" y="147218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598664" y="3026664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1005840" cy="1188720"/>
          </a:xfrm>
          <a:prstGeom prst="roundRect">
            <a:avLst>
              <a:gd name="adj" fmla="val 7273"/>
            </a:avLst>
          </a:prstGeom>
          <a:solidFill>
            <a:srgbClr val="2B3A4A"/>
          </a:solidFill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7178040" y="150876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Computer Science · Unit 1 · Topic 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9659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Box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9260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communication elements · Computer architecture &amp; Von Neumann · Memory &amp; caching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1.1.1 · 1.2.1 · 1.2.2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90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005840" cy="155448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134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open case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54480" y="1600200"/>
            <a:ext cx="1005840" cy="155448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164592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5–13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23134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takeaways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1760" y="1600200"/>
            <a:ext cx="1005840" cy="155448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27432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13–30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23134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Hardware &amp; connections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49040" y="1600200"/>
            <a:ext cx="1005840" cy="155448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384048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30–40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23134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1.1.1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600200"/>
            <a:ext cx="1005840" cy="155448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93776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40–56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23134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 Architecture &amp; Von Neumann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1600200"/>
            <a:ext cx="1005840" cy="155448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603504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56–70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task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23134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live?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40880" y="1600200"/>
            <a:ext cx="1005840" cy="155448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713232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70–82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23134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 Memory &amp; caching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38160" y="1600200"/>
            <a:ext cx="1005840" cy="1554480"/>
          </a:xfrm>
          <a:prstGeom prst="roundRect">
            <a:avLst>
              <a:gd name="adj" fmla="val 7273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822960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82–90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23134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+ homework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key hardware and communication elements of a PC and say what each connects through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CU, ALU, the five registers and the three buses — and state what makes an architecture Von Neumann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registers, cache, RAM, virtual memory, ROM, SSD and HDD in a memory hierarchy and explain what caching is for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 ·  5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see?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669280" y="150876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80644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80644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18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on whiteboards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039112"/>
            <a:ext cx="27432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component you can name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one: what does it plug into?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which parts are memory?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knowledge check — no wrong answers yet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131788-9A00-2784-CC16-AD883C1ED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13" y="1775253"/>
            <a:ext cx="4370341" cy="2459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·  8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takeaways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937760" cy="2788920"/>
          </a:xfrm>
          <a:prstGeom prst="roundRect">
            <a:avLst>
              <a:gd name="adj" fmla="val 2623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468880" y="2423160"/>
            <a:ext cx="914400" cy="9144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246888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summary video — embed or link here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1508760"/>
            <a:ext cx="3017520" cy="2788920"/>
          </a:xfrm>
          <a:prstGeom prst="roundRect">
            <a:avLst>
              <a:gd name="adj" fmla="val 262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80644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580644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618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watch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039112"/>
            <a:ext cx="2743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3 key takeaways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1 thing you want explained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out at the end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1.1.1 · 1.2.1 · 1.2.2 at summary level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17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describe the hardware and communication elements of contemporary computer systems and how they are connected.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motherboard as the hub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component: what it does, and what it connects through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elements: buses, controllers, interfaces, NIC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1.1.1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motherboard is the hub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291840" y="2148840"/>
            <a:ext cx="2560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bus · chipset · slots · ports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40080" y="16093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40080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70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DIMM slots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640080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(SSD / HDD)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39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SATA · NVMe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400800" y="16093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PCIe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42316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400800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card / NIC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770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PCIe (or on-board)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2918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6400800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 devices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639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· HDMI · Bluetooth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39776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3383280" y="40325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4325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connectors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1901952"/>
            <a:ext cx="457200" cy="475488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 flipV="1">
            <a:off x="2834640" y="2743200"/>
            <a:ext cx="457200" cy="27432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 flipV="1">
            <a:off x="2834640" y="3108960"/>
            <a:ext cx="457200" cy="530352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 flipV="1">
            <a:off x="5852160" y="1901952"/>
            <a:ext cx="457200" cy="475488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5852160" y="2743200"/>
            <a:ext cx="457200" cy="27432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852160" y="3108960"/>
            <a:ext cx="457200" cy="530352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572000" y="3291840"/>
            <a:ext cx="914" cy="68580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 txBox="1"/>
          <p:nvPr/>
        </p:nvSpPr>
        <p:spPr>
          <a:xfrm>
            <a:off x="457200" y="1298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connects to the motherboard — directly (socket, slot) or through a port — and talks over buses and interfaces.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1.1.1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core: processing, memory, storage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23774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instructions — the 'brain'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(CU) directs operations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Logic Unit (ALU) does maths &amp; logic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Registers: tiny, fastest storage inside the CPU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 high-speed memory for frequent data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Connects: CPU socket → system bus to 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38328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38328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039112"/>
            <a:ext cx="23774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— volatile working memory for running programs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— non-volatile; holds BIOS/UEFI firmware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— on/near the CPU, cuts latency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Connects: DIMM slots → memory bus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17220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1722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039112"/>
            <a:ext cx="23774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— magnetic platters, high capacity, mechanical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— flash memory, no moving parts, faster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Non-volatile: keeps data with the power off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Connects: SATA or NVMe (PCIe) interface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1.1.1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core: I/O, graphics, sound, power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1691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keyboard, mouse, scanner, mic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monitor, printer, speakers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Connect: USB, HDMI, DisplayPort, Bluetooth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508760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69748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269748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1618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039112"/>
            <a:ext cx="1691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processor for images, video, 3D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memory (VRAM)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Connects: PCIe slot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1965960" cy="3063240"/>
          </a:xfrm>
          <a:prstGeom prst="roundRect">
            <a:avLst>
              <a:gd name="adj" fmla="val 37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80060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48006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1618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card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039112"/>
            <a:ext cx="16916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processes audio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DAC: digital → analogue (out)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ADC: analogue → digital (in)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on-board, or PCIe / USB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1508760"/>
            <a:ext cx="1920240" cy="3063240"/>
          </a:xfrm>
          <a:prstGeom prst="roundRect">
            <a:avLst>
              <a:gd name="adj" fmla="val 381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90372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90372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16184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039112"/>
            <a:ext cx="16459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mains AC to the DC the parts need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motherboard, drives, GPU via cables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— power only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1.1.1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elements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45720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77440" y="36118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237744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devices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291840" cy="914"/>
          </a:xfrm>
          <a:prstGeom prst="line">
            <a:avLst/>
          </a:prstGeom>
          <a:noFill/>
          <a:ln w="381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023360" y="2587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3291840" cy="914"/>
          </a:xfrm>
          <a:prstGeom prst="line">
            <a:avLst/>
          </a:prstGeom>
          <a:noFill/>
          <a:ln w="381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023360" y="2816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3291840" cy="914"/>
          </a:xfrm>
          <a:prstGeom prst="line">
            <a:avLst/>
          </a:prstGeom>
          <a:noFill/>
          <a:ln w="38100">
            <a:solidFill>
              <a:srgbClr val="3C8D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023360" y="3044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8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43000" y="2331720"/>
            <a:ext cx="914" cy="36576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3154680"/>
            <a:ext cx="914" cy="45720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063240" y="3154680"/>
            <a:ext cx="914" cy="45720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572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bus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15087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5532120" y="1600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1947672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 carries the data · Address bus says where · Control bus carries commands (read, write, interrupt)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25603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5532120" y="2651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&amp; interfaces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999232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controllers (USB, SATA) manage traffic between CPU and devices; USB, Thunderbolt, Bluetooth connect peripherals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361188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5532120" y="3703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 (NIC)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4050792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(Ethernet) or wireless (Wi-Fi) — PCIe or on-board. Talks to routers/switches using TCP/IP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1.1.1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map — copy this down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through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Executes instructions (CU, ALU, registers, cache)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socket → system 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working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DIMM slots → memory 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(BIOS/UEFI) for booting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motherboard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/ HDD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Non-volatile long-term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 · NVMe (PCIe)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DSP, DAC, ADC for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On-board · PCIe · USB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 / Wi-Fi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the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· on-board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Keyboard, mouse, monitor, printer…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· HDMI · DisplayPort · Bluetooth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and supplies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cables (no 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·  10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1.1.1 — quick-fire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multiple-choice questions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on screen → write the letter on your whiteboard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up on 3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justification from a volunteer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your score — we revisit the weak ones next lesson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1264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file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965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– Identify and describe the hardware and communication elements…docx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01 › Quizzes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Q3 (RAM vs cache), Q7 (PCIe), Q10 (data bus)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16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1.2.1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describe the main components of contemporary computer architecture, including Von Neumann architectures.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CPU: Control Unit, ALU, registers, cache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registers — what each one holds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buses and their direction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Neumann: shared memory, sequential, stored program — and the bottleneck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CPU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754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85800" y="1965960"/>
            <a:ext cx="20116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(CU)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&amp; coordinates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71800" y="196596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2971800" y="1965960"/>
            <a:ext cx="20116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&amp; logic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2011680" cy="1234440"/>
          </a:xfrm>
          <a:prstGeom prst="roundRect">
            <a:avLst>
              <a:gd name="adj" fmla="val 4444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685800" y="3154680"/>
            <a:ext cx="2011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 · MAR · MDR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 · ACC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71800" y="3154680"/>
            <a:ext cx="2011680" cy="123444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2971800" y="3154680"/>
            <a:ext cx="2011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L2 · L3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used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0" y="150876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5623560" y="16002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to name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947672"/>
            <a:ext cx="29260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— fetches, decodes, coordinates; tells everything else what to do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— add, subtract, compare, AND/OR/NOT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— tiny, fastest storage; each has one job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— keeps frequently used data close to the cores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registers — what each one holds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91440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57200" y="14630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4630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4630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of the NEXT instruction to fetch. Increments after each fetch (unless a jump).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91440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57200" y="208483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0848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 Register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08483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in memory being read from or written to. Sent out on the address bus.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91440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57200" y="270662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270662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Data Register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70662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just read from, or about to be written to, memory. Buffer between CPU and RAM.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91440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7200" y="332841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3284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Instruction Register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332841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being executed right now, split into opcode and operand for decoding.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914400" cy="530352"/>
          </a:xfrm>
          <a:prstGeom prst="roundRect">
            <a:avLst>
              <a:gd name="adj" fmla="val 10345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7200" y="395020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9502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39502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 from the ALU.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 to try: PC → MAR → MDR → CIR → ACC is the order they appear in a fetch. Full walk-through in the fetch-execute lesson (week 7).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buses — what travels, and which way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463040" cy="2377440"/>
          </a:xfrm>
          <a:prstGeom prst="roundRect">
            <a:avLst>
              <a:gd name="adj" fmla="val 3750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14630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737360"/>
            <a:ext cx="1463040" cy="2377440"/>
          </a:xfrm>
          <a:prstGeom prst="roundRect">
            <a:avLst>
              <a:gd name="adj" fmla="val 375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7223760" y="1737360"/>
            <a:ext cx="14630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I/O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2103120"/>
            <a:ext cx="4937760" cy="914"/>
          </a:xfrm>
          <a:prstGeom prst="line">
            <a:avLst/>
          </a:prstGeom>
          <a:noFill/>
          <a:ln w="50800">
            <a:solidFill>
              <a:srgbClr val="2F6DB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210312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data itself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ways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2926080"/>
            <a:ext cx="4937760" cy="914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210312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bus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where in memory (from MAR)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999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→ memory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749040"/>
            <a:ext cx="4937760" cy="914"/>
          </a:xfrm>
          <a:prstGeom prst="line">
            <a:avLst/>
          </a:prstGeom>
          <a:noFill/>
          <a:ln w="50800">
            <a:solidFill>
              <a:srgbClr val="3C8D5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210312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8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bus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read · write · interrupt · clock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ways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favourite: the address bus is unidirectional — memory never tells the CPU an address.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architecture (1945)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57200" y="2331720"/>
            <a:ext cx="1188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169164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20116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20574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210312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2651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210312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32461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210312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920240"/>
            <a:ext cx="1737360" cy="1645920"/>
          </a:xfrm>
          <a:prstGeom prst="roundRect">
            <a:avLst>
              <a:gd name="adj" fmla="val 3333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4663440" y="1920240"/>
            <a:ext cx="17373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7200" y="3246120"/>
            <a:ext cx="1188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2697480"/>
            <a:ext cx="27432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645920" y="3611880"/>
            <a:ext cx="27432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head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0" y="2743200"/>
            <a:ext cx="548640" cy="914"/>
          </a:xfrm>
          <a:prstGeom prst="line">
            <a:avLst/>
          </a:prstGeom>
          <a:noFill/>
          <a:ln w="38100">
            <a:solidFill>
              <a:srgbClr val="2B3A4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114800" y="28163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bus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150876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812280" y="1600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defining features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1947672"/>
            <a:ext cx="173736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memory for instructions AND data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— one instruction at a time, in order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Unit drives fetch &amp; execute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program — change the program, not the hardware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023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and data share the same memory and the same bus.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 — and where it hurts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3C8D5A"/>
          </a:solidFill>
          <a:ln w="12700">
            <a:solidFill>
              <a:srgbClr val="3C8D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2377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design and build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update the program, keep the hardware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Cost-effective: one memory, one bus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DCD7"/>
          </a:solidFill>
          <a:ln w="12700">
            <a:solidFill>
              <a:srgbClr val="F4DC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383280" y="1636776"/>
            <a:ext cx="329184" cy="329184"/>
          </a:xfrm>
          <a:prstGeom prst="ellipse">
            <a:avLst/>
          </a:prstGeom>
          <a:solidFill>
            <a:srgbClr val="B3412F"/>
          </a:solidFill>
          <a:ln w="12700">
            <a:solidFill>
              <a:srgbClr val="B341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38328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Von Neumann bottleneck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039112"/>
            <a:ext cx="2377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AND data must squeeze through the same bus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faster than memory — it waits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becomes the limit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172200" y="1636776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1722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1618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around 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039112"/>
            <a:ext cx="2377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architecture — separate instruction and data memory (embedded systems)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hierarchies — L1/L2/L3 (next segment)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Multi-core, pipelining, out-of-order execution (next lesson)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task  ·  14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live?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these nine into the pyramid by speed and size, then tag each volatile or non-volatile.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45720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22402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224028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cache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224028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402336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cache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457200" y="2788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cache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278892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2240280" y="2788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278892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4023360" y="2788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457200" y="33375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40280" y="333756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2240280" y="33375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23360" y="333756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2B3A4A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4023360" y="33375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06640" y="1554480"/>
            <a:ext cx="822960" cy="365760"/>
          </a:xfrm>
          <a:prstGeom prst="rect">
            <a:avLst/>
          </a:prstGeom>
          <a:solidFill>
            <a:srgbClr val="D982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7178040" y="1965960"/>
            <a:ext cx="1280160" cy="365760"/>
          </a:xfrm>
          <a:prstGeom prst="rect">
            <a:avLst/>
          </a:prstGeom>
          <a:solidFill>
            <a:srgbClr val="2B3A4A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949440" y="2377440"/>
            <a:ext cx="1737360" cy="365760"/>
          </a:xfrm>
          <a:prstGeom prst="rect">
            <a:avLst/>
          </a:prstGeom>
          <a:solidFill>
            <a:srgbClr val="2B3A4A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720840" y="2788920"/>
            <a:ext cx="2194560" cy="365760"/>
          </a:xfrm>
          <a:prstGeom prst="rect">
            <a:avLst/>
          </a:prstGeom>
          <a:solidFill>
            <a:srgbClr val="2B3A4A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6751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· small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 · large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3 · one screen · interactive HTML task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group name · Check when done · Answers revealed in the debrief, not before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·  12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1.2.2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different types of memory and caching.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segment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the pyramids → the memory hierarchy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memory: RAM, ROM, cache, virtual, flash, registers, secondary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CPU cache (L1/L2/L3) and disk cache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hierarchy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463040"/>
            <a:ext cx="1371600" cy="512064"/>
          </a:xfrm>
          <a:prstGeom prst="rect">
            <a:avLst/>
          </a:prstGeom>
          <a:solidFill>
            <a:srgbClr val="D982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2057400" y="14630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CPU · CPU speed · bytes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68780" y="2029968"/>
            <a:ext cx="2148840" cy="512064"/>
          </a:xfrm>
          <a:prstGeom prst="rect">
            <a:avLst/>
          </a:prstGeom>
          <a:solidFill>
            <a:srgbClr val="E09A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1668780" y="202996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L2 · L3 cache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CPU · KB–MB · SRAM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2596896"/>
            <a:ext cx="2926080" cy="512064"/>
          </a:xfrm>
          <a:prstGeom prst="rect">
            <a:avLst/>
          </a:prstGeom>
          <a:solidFill>
            <a:srgbClr val="E7B47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1280160" y="259689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670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 · GB · DRAM · volatile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" y="3163824"/>
            <a:ext cx="3703320" cy="512064"/>
          </a:xfrm>
          <a:prstGeom prst="rect">
            <a:avLst/>
          </a:prstGeom>
          <a:solidFill>
            <a:srgbClr val="EFCB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91540" y="316382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2369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pretending to be RAM · slow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30752"/>
            <a:ext cx="4480560" cy="512064"/>
          </a:xfrm>
          <a:prstGeom prst="rect">
            <a:avLst/>
          </a:prstGeom>
          <a:solidFill>
            <a:srgbClr val="F6E3C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502920" y="373075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· HDD · flash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38039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 · TB · non-volatile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faster · smaller · costlier per byte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slower · larger · cheaper per byte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sits outside the ladder: non-volatile firmware on the motherboard, read at boot.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memory — the ones the exam names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94360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01952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Volatile; fast; holds running programs and data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(main memory) · SRAM (cache)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383280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901952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Non-volatile; written at manufacture / firmware update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BIOS/UEFI — used to boot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6172200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901952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very fast, next to the cores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smallest/fastest → L3 largest, shared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94360" y="3200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547872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disk used as an extension of RAM when it's full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more/bigger programs run — slowly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1089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3383280" y="3200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547872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 solid-state — USB sticks, SSDs, cards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HDD; no power needed to keep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1089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6172200" y="3200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&amp; secondary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547872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Registers: CPU-speed, tiny, inside the processor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(HDD/SSD): non-volatile, large, slow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keep what you need next, closer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777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1874520"/>
            <a:ext cx="9144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325880" y="160020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1325880" y="1600200"/>
            <a:ext cx="777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1874520"/>
            <a:ext cx="9144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194560" y="160020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E09A4F"/>
          </a:solidFill>
          <a:ln w="12700">
            <a:solidFill>
              <a:srgbClr val="E09A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2194560" y="1600200"/>
            <a:ext cx="777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71800" y="1874520"/>
            <a:ext cx="9144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063240" y="160020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E7B47A"/>
          </a:solidFill>
          <a:ln w="12700">
            <a:solidFill>
              <a:srgbClr val="E7B47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3063240" y="1600200"/>
            <a:ext cx="777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1874520"/>
            <a:ext cx="9144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931920" y="160020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EFCBA0"/>
          </a:solidFill>
          <a:ln w="12700">
            <a:solidFill>
              <a:srgbClr val="EFCBA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3931920" y="1600200"/>
            <a:ext cx="777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874520"/>
            <a:ext cx="91440" cy="914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00600" y="160020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800600" y="1600200"/>
            <a:ext cx="777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 stop here.   miss → drop down a level and try again. Each step down is slower.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697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594360" y="2788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cache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136392"/>
            <a:ext cx="23774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frequently used instructions and data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per core · L2 per core/shared · L3 shared by all cores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time waiting on RAM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6974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3383280" y="2788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cache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3136392"/>
            <a:ext cx="23774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(or a buffer on the drive) holding frequently read blocks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reads/writes to HDD or SSD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16002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6E3CF"/>
          </a:solidFill>
          <a:ln w="12700">
            <a:solidFill>
              <a:srgbClr val="F6E3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6172200" y="1691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2039112"/>
            <a:ext cx="2377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(registers) → drawer (cache) → filing cabinet (RAM) → archive (disk)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fetch from the archive if it's in your drawer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for hits and misses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1.2.2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people get wrong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· 1.2.1 · 1.2.2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329184" cy="329184"/>
          </a:xfrm>
          <a:prstGeom prst="ellipse">
            <a:avLst/>
          </a:prstGeom>
          <a:solidFill>
            <a:srgbClr val="B3412F"/>
          </a:solidFill>
          <a:ln w="12700">
            <a:solidFill>
              <a:srgbClr val="B341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is a type of RAM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57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is SRAM on/next to the CPU. RAM is main memory (DRAM) on the motherboard.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800600" y="1645920"/>
            <a:ext cx="329184" cy="329184"/>
          </a:xfrm>
          <a:prstGeom prst="ellipse">
            <a:avLst/>
          </a:prstGeom>
          <a:solidFill>
            <a:srgbClr val="B3412F"/>
          </a:solidFill>
          <a:ln w="12700">
            <a:solidFill>
              <a:srgbClr val="B341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8006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clock = faster computer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057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size, cores, bus width and memory speed all matter — the bottleneck is usually memory.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94360" y="3200400"/>
            <a:ext cx="329184" cy="329184"/>
          </a:xfrm>
          <a:prstGeom prst="ellipse">
            <a:avLst/>
          </a:prstGeom>
          <a:solidFill>
            <a:srgbClr val="B3412F"/>
          </a:solidFill>
          <a:ln w="12700">
            <a:solidFill>
              <a:srgbClr val="B341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5943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182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is old storage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11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is non-volatile firmware (BIOS/UEFI) used to boot — not somewhere you save files.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800600" y="3200400"/>
            <a:ext cx="329184" cy="329184"/>
          </a:xfrm>
          <a:prstGeom prst="ellipse">
            <a:avLst/>
          </a:prstGeom>
          <a:solidFill>
            <a:srgbClr val="B3412F"/>
          </a:solidFill>
          <a:ln w="12700">
            <a:solidFill>
              <a:srgbClr val="B341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8006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182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is extra RAM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611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disk space used as if it were RAM. It works, but it's slow.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·  8 min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whiteboard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component and the interface it connects to the motherboard through.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Von Neumann bottleneck?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74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L1 cache smaller than L3?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64592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86384" y="320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·  for next lesson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Lesson 02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Unit 1 · Topic 1 Hardware &amp; Communication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94360" y="1636776"/>
            <a:ext cx="329184" cy="32918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9436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039112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notes — section 1.2.2 Types of memory and caching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one-page summary: each memory type, volatile or not, what it's used for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800600" y="1636776"/>
            <a:ext cx="329184" cy="329184"/>
          </a:xfrm>
          <a:prstGeom prst="ellipse">
            <a:avLst/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80060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039112"/>
            <a:ext cx="37490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1.2.1 — Fundamentals of computer architecture (15 MCQ)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1.2.2 — Types of memory and caching (15 MCQ)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through both as the starter next lesson, then move on to parallel processing (1.2.3)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3662</Words>
  <Application>Microsoft Office PowerPoint</Application>
  <PresentationFormat>On-screen Show (16:9)</PresentationFormat>
  <Paragraphs>478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01 - Inside the Box</dc:title>
  <dc:subject>PptxGenJS Presentation</dc:subject>
  <dc:creator>Aled Evans</dc:creator>
  <cp:lastModifiedBy>Aled Evans</cp:lastModifiedBy>
  <cp:revision>1</cp:revision>
  <dcterms:created xsi:type="dcterms:W3CDTF">2026-09-04T14:59:07Z</dcterms:created>
  <dcterms:modified xsi:type="dcterms:W3CDTF">2026-09-07T13:02:30Z</dcterms:modified>
</cp:coreProperties>
</file>