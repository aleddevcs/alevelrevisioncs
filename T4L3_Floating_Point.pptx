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d182993a-5077-347c-0864-b440a1a772d5}">
          <p14:sldIdLst>
            <p14:sldId id="256"/>
            <p14:sldId id="257"/>
            <p14:sldId id="258"/>
            <p14:sldId id="259"/>
            <p14:sldId id="260"/>
          </p14:sldIdLst>
        </p14:section>
        <p14:section name="What floating point is" id="{179600ef-9371-7335-b289-ca85a04b3616}">
          <p14:sldIdLst>
            <p14:sldId id="261"/>
            <p14:sldId id="262"/>
            <p14:sldId id="263"/>
            <p14:sldId id="264"/>
          </p14:sldIdLst>
        </p14:section>
        <p14:section name="Floating point to denary" id="{7afc9696-cabe-a254-5b98-ff92bf2e2f78}">
          <p14:sldIdLst>
            <p14:sldId id="265"/>
            <p14:sldId id="266"/>
            <p14:sldId id="267"/>
            <p14:sldId id="268"/>
            <p14:sldId id="269"/>
            <p14:sldId id="270"/>
          </p14:sldIdLst>
        </p14:section>
        <p14:section name="Denary to floating point" id="{d8cc02a9-8ab4-29e3-d0e6-a4d04bd70c9e}">
          <p14:sldIdLst>
            <p14:sldId id="271"/>
            <p14:sldId id="272"/>
            <p14:sldId id="273"/>
            <p14:sldId id="274"/>
            <p14:sldId id="275"/>
            <p14:sldId id="276"/>
          </p14:sldIdLst>
        </p14:section>
        <p14:section name="Range" id="{2f84f91d-2292-c33a-ab26-470d7c7113a9}">
          <p14:sldIdLst>
            <p14:sldId id="277"/>
            <p14:sldId id="278"/>
            <p14:sldId id="279"/>
            <p14:sldId id="280"/>
            <p14:sldId id="281"/>
          </p14:sldIdLst>
        </p14:section>
        <p14:section name="Integer or floating point" id="{9ce69064-4d81-6747-af0f-c809d43e25e9}">
          <p14:sldIdLst>
            <p14:sldId id="282"/>
            <p14:sldId id="283"/>
            <p14:sldId id="284"/>
          </p14:sldIdLst>
        </p14:section>
        <p14:section name="Practice and close" id="{093aa892-3a27-0cf1-56e7-f4447de8f1c2}">
          <p14:sldIdLst>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post is up. Students open the Lesson 2 recall starter while you take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Floating point appears in 2016, 2017, 2018, 2019, 2022 and 2023, including a 12-mark extended question in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replies from Teams before the lesson. Mark scheme (2016 Q6e): truncation 26, error -0.8; rounding 27, error +0.2. Rounding is more accurate. The full 6-mark question also wants the descriptions: nearer zero, and nearest.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self-paced. Weighted towards binary fractions and two's complement, which today depends on. Note who struggles with fractions before Teach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NotebookLM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About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notes: 0.00079 in standard form is 7.9 x 10^-4. Mantissa 7.9, exponent -4, base 10. Binary floating point works the same way with base 2: 0.101 x 2^4. The mantissa holds the digits; the exponent says where the point goes. The point floats, hence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0.101 x 2^4 stored with an 8-bit mantissa and a 4-bit exponent: 01010000 0100. The base (2) and the binary point (always after the first bit) are not stored. Both parts use two's complement, so the mantissa can be negative and the exponent can be negative. In the exam the bit sizes change: 8+4, 8+3, 5+3, 12+4 have all 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number of bits, very different range. From the 2019 Q11(b) mark scheme: a 4-bit mantissa and 4-bit exponent (8 bits in total, unsigned exponent) reaches 28,672, and can store fractions like 0.5. An 8-bit unsigned integer stops at 255 and has no fractions. Uses: scientific and engineering values, graphics, anything with very large, very small or fractional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values: the mantissa's first bit is worth -1, then 1/2, 1/4, 1/8 and so on after the point. The exponent is ordinary two's complement: -8 4 2 1 for 4 bits. The method: find the mantissa, find the exponent, then move the point (or multiply by 2 to the exponent).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01000100 0101. Mantissa 0.1000100. Exponent 0101 = 5. Move the point 5 places right: 010001.00 = 16 + 1 =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8-bit mantissa, 4-bit exponent: 01101000 0011. Mantissa 0.1101 = 1/2 + 1/4 + 1/16 = 13/16 = 0.8125. Exponent 3. 0.8125 x 2^3 = 6.5. Mark scheme: 1 mark each for mantissa, exponent, answer. Students who write only 6.5 risk losing two marks if it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Answer next slide: mantissa 0.9375, exponent 7, answer 120. Check with the FP to denary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mantissa 0.9375, exponent 7, answer 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past papers: WJEC have not used negative exponents, but they are how floating point stores very small numbers. 01100000 1110. Mantissa 0.11 = 0.75. Exponent 1110 = -8 + 4 + 2 = -2. Move the point 2 places LEFT: 0.0011 = 0.1875. Check: 0.75 / 4 = 0.1875.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notes, with 9.75. Step 1: fixed point binary 1001.11. Step 2: normalise: move the point to just after the first 1 (positive), so 0.100111. The point moved 4 places left. Step 3: exponent = +4 = 0100. Step 4: pad the mantissa to 8 bits with 0s on the right: 01001110.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Normalised positive mantissas start 0.1; negative start 1.0. Both rows show 9.75, but the second wastes a mantissa bit on a leading zero, leaving less room for precision. Normalising gives the most precision and one unique pattern for each number. 2017 and 2018 mark schemes: 'Answer must be normalised'.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Answer next slide. 4.125 = 100.001, normalise to 0.100001, point moved 3 left, exponent 0011, mantissa padded 01000010. Stretch is 2018 Q5(b)(i).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2017 mark scheme: 100.001, mantissa 0.1000010, exponent 0011. 2018: 10000.001, mantissa 0.10000001000, exponent 0101. 'Answer must be normalised.'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past papers. 0.1875 = 0.0011. To normalise, the point moves 2 places RIGHT to give 0.11. Moving the point right makes the exponent go down: 0 - 2 = -2 = 1110. Rule: point moves left, exponent goes up; point moves right, exponent goes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past papers. A negative mantissa has a 1 in its first bit, worth -1. 10100000 0000 = -1 + 0.25 = -0.75, times 2^0. Normalised negative mantissas start 1.0, so this one is normalised.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 Q4(d)(ii): normalised, 8-bit mantissa and 3-bit exponent. Largest positive: mantissa 0.1111111 (0.9921875), exponent 011 (3). 0.9921875 x 8 = 7.9375. Mark scheme: mantissa, exponent,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WJEC mark schemes (2019 Q11b, 2023 Q14) take the lowest exponent as 0: smallest = 0.1000000 x 2^0 = 0.5. That is the exam answer. With negative exponents the true smallest uses the most negative exponent: 3-bit 100 = -4 gives 0.5 x 2^-4 = 0.03125; 4-bit 1000 = -8 gives 0.001953125.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Answer next slide: mantissa 0.1111 (0.9375), exponent 3, answer 7.5. Mark scheme says correct answer only for the final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mantissa 0.1111 (0.9375), exponent 3, answer 0.9375 x 2^3 =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question, so no answers on screen. The question says 'a positive 4-bit exponent', which is ambiguous. The mark scheme accepted both an unsigned and a two's complement exponent. Tell students to state their assumption and then be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from the 2019 Q11(c) and 2023 Q14 mark schemes. Integers: accurate, less complex processing, exact zero, less storage. Floating point: very large and very small numbers, larger range, fractions. Disadvantages are the reverse: floating point has rounding errors and slower processing; integers have a limited range and no fractions.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fixed number of bits, giving more to the mantissa improves precision; giving more to the exponent increases range. From the 2023 Q14 mark scheme: 8 bits as 5 + 3 reaches 7.5; 8 bits as 4 + 4 reaches 112. The 4 + 4 split reaches much higher but with fewer significant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Card sort tab in the interactive: each statement goes under integer or floating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Individual, no notes, working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Reply on the Teams post. Mark scheme: one mark each up to two for each side. Integers: accurate, less complex processing, exact zero, less storage. Floating point: very large / small numbers, larger range, fractions.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Welsh terms are draft until checked against Y Termiadur Addysg. Next lesson: character sets and data types, then the end-of-topic test after study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7863840" cy="16459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840480"/>
            <a:ext cx="7863840" cy="109728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377440"/>
            <a:ext cx="694944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794760"/>
            <a:ext cx="6949440" cy="91440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55080"/>
            <a:ext cx="3657600" cy="320040"/>
          </a:xfrm>
          <a:prstGeom prst="rect">
            <a:avLst/>
          </a:prstGeom>
          <a:noFill/>
          <a:ln/>
        </p:spPr>
        <p:txBody>
          <a:bodyPr wrap="square" lIns="0" tIns="0" rIns="0" bIns="0" rtlCol="0" anchor="ctr"/>
          <a:lstStyle/>
          <a:p>
            <a:pPr indent="0" marL="0">
              <a:buNone/>
            </a:pPr>
            <a:r>
              <a:rPr lang="en-US" sz="1100" dirty="0">
                <a:solidFill>
                  <a:schemeClr val="accent6"/>
                </a:solidFill>
              </a:rPr>
              <a:t>Topic 4, Lesson 3</a:t>
            </a:r>
            <a:endParaRPr lang="en-US" sz="11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55080"/>
            <a:ext cx="3657600" cy="320040"/>
          </a:xfrm>
          <a:prstGeom prst="rect">
            <a:avLst/>
          </a:prstGeom>
          <a:noFill/>
          <a:ln/>
        </p:spPr>
        <p:txBody>
          <a:bodyPr wrap="square" lIns="0" tIns="0" rIns="0" bIns="0" rtlCol="0" anchor="ctr"/>
          <a:lstStyle/>
          <a:p>
            <a:pPr indent="0" marL="0">
              <a:buNone/>
            </a:pPr>
            <a:r>
              <a:rPr lang="en-US" sz="1100" dirty="0">
                <a:solidFill>
                  <a:schemeClr val="accent6"/>
                </a:solidFill>
              </a:rPr>
              <a:t>Topic 4, Lesson 3</a:t>
            </a:r>
            <a:endParaRPr lang="en-US" sz="11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7863840" cy="1645920"/>
          </a:xfrm>
          <a:prstGeom prst="rect">
            <a:avLst/>
          </a:prstGeom>
          <a:noFill/>
          <a:ln/>
        </p:spPr>
        <p:txBody>
          <a:bodyPr wrap="square" lIns="0" tIns="0" rIns="0" bIns="0" rtlCol="0" anchor="b"/>
          <a:lstStyle/>
          <a:p>
            <a:pPr algn="l" indent="0" marL="0">
              <a:buNone/>
            </a:pPr>
            <a:r>
              <a:rPr lang="en-US" sz="4800" b="1" dirty="0">
                <a:solidFill>
                  <a:schemeClr val="bg1"/>
                </a:solidFill>
              </a:rPr>
              <a:t>Floating point</a:t>
            </a:r>
            <a:endParaRPr lang="en-US" sz="4800" dirty="0"/>
          </a:p>
        </p:txBody>
      </p:sp>
      <p:sp>
        <p:nvSpPr>
          <p:cNvPr id="4" name="Text 0"/>
          <p:cNvSpPr/>
          <p:nvPr>
            <p:ph idx="101" type="body" hasCustomPrompt="1"/>
          </p:nvPr>
        </p:nvSpPr>
        <p:spPr>
          <a:xfrm>
            <a:off x="640080" y="3840480"/>
            <a:ext cx="7863840" cy="1097280"/>
          </a:xfrm>
          <a:prstGeom prst="rect">
            <a:avLst/>
          </a:prstGeom>
          <a:noFill/>
          <a:ln/>
        </p:spPr>
        <p:txBody>
          <a:bodyPr wrap="square" lIns="0" tIns="0" rIns="0" bIns="0" rtlCol="0" anchor="t"/>
          <a:lstStyle/>
          <a:p>
            <a:pPr algn="l" indent="0" marL="0">
              <a:buNone/>
            </a:pPr>
            <a:r>
              <a:rPr lang="en-US" sz="2000" dirty="0">
                <a:solidFill>
                  <a:schemeClr val="accent3"/>
                </a:solidFill>
              </a:rPr>
              <a:t>Unit 1, Topic 4: Data representation and data types</a:t>
            </a:r>
            <a:endParaRPr lang="en-US" sz="2000" dirty="0"/>
          </a:p>
          <a:p>
            <a:pPr algn="l" indent="0" marL="0">
              <a:buNone/>
            </a:pPr>
            <a:r>
              <a:rPr lang="en-US" sz="2000" dirty="0">
                <a:solidFill>
                  <a:schemeClr val="accent3"/>
                </a:solidFill>
              </a:rPr>
              <a:t>Lesson 3 of 4</a:t>
            </a:r>
            <a:endParaRPr lang="en-US" sz="2000" dirty="0"/>
          </a:p>
        </p:txBody>
      </p:sp>
      <p:sp>
        <p:nvSpPr>
          <p:cNvPr id="5" name="Text 2"/>
          <p:cNvSpPr/>
          <p:nvPr/>
        </p:nvSpPr>
        <p:spPr>
          <a:xfrm>
            <a:off x="7406640" y="2651760"/>
            <a:ext cx="256032" cy="307238"/>
          </a:xfrm>
          <a:prstGeom prst="roundRect">
            <a:avLst>
              <a:gd name="adj" fmla="val 25000"/>
            </a:avLst>
          </a:prstGeom>
          <a:solidFill>
            <a:schemeClr val="bg1"/>
          </a:solidFill>
          <a:ln w="15875">
            <a:solidFill>
              <a:schemeClr val="tx1"/>
            </a:solid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a:t>
            </a:r>
            <a:endParaRPr lang="en-US" sz="1300" dirty="0"/>
          </a:p>
        </p:txBody>
      </p:sp>
      <p:sp>
        <p:nvSpPr>
          <p:cNvPr id="6" name="Text 3"/>
          <p:cNvSpPr txBox="1"/>
          <p:nvPr/>
        </p:nvSpPr>
        <p:spPr>
          <a:xfrm>
            <a:off x="7680960" y="2651760"/>
            <a:ext cx="201168" cy="307238"/>
          </a:xfrm>
          <a:prstGeom prst="rect">
            <a:avLst/>
          </a:prstGeom>
          <a:noFill/>
          <a:ln/>
        </p:spPr>
        <p:txBody>
          <a:bodyPr wrap="square" lIns="0" tIns="0" rIns="0" bIns="0" rtlCol="0" anchor="b"/>
          <a:lstStyle/>
          <a:p>
            <a:pPr algn="ctr" indent="0" marL="0">
              <a:buNone/>
            </a:pPr>
            <a:r>
              <a:rPr lang="en-US" sz="1900" b="1" dirty="0">
                <a:solidFill>
                  <a:schemeClr val="tx1"/>
                </a:solidFill>
              </a:rPr>
              <a:t>.</a:t>
            </a:r>
            <a:endParaRPr lang="en-US" sz="1900" dirty="0"/>
          </a:p>
        </p:txBody>
      </p:sp>
      <p:sp>
        <p:nvSpPr>
          <p:cNvPr id="7" name="Text 4"/>
          <p:cNvSpPr/>
          <p:nvPr/>
        </p:nvSpPr>
        <p:spPr>
          <a:xfrm>
            <a:off x="7882128" y="2651760"/>
            <a:ext cx="256032" cy="307238"/>
          </a:xfrm>
          <a:prstGeom prst="roundRect">
            <a:avLst>
              <a:gd name="adj" fmla="val 25000"/>
            </a:avLst>
          </a:prstGeom>
          <a:solidFill>
            <a:schemeClr val="accent1"/>
          </a:solidFill>
          <a:ln w="15875">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8" name="Text 5"/>
          <p:cNvSpPr/>
          <p:nvPr/>
        </p:nvSpPr>
        <p:spPr>
          <a:xfrm>
            <a:off x="8193024" y="2651760"/>
            <a:ext cx="256032" cy="307238"/>
          </a:xfrm>
          <a:prstGeom prst="roundRect">
            <a:avLst>
              <a:gd name="adj" fmla="val 25000"/>
            </a:avLst>
          </a:prstGeom>
          <a:solidFill>
            <a:schemeClr val="accent1"/>
          </a:solidFill>
          <a:ln w="15875">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9" name="Text 6"/>
          <p:cNvSpPr/>
          <p:nvPr/>
        </p:nvSpPr>
        <p:spPr>
          <a:xfrm>
            <a:off x="8503920" y="2651760"/>
            <a:ext cx="256032" cy="307238"/>
          </a:xfrm>
          <a:prstGeom prst="roundRect">
            <a:avLst>
              <a:gd name="adj" fmla="val 25000"/>
            </a:avLst>
          </a:prstGeom>
          <a:solidFill>
            <a:schemeClr val="bg1"/>
          </a:solidFill>
          <a:ln w="15875">
            <a:solidFill>
              <a:schemeClr val="tx1"/>
            </a:solid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a:t>
            </a:r>
            <a:endParaRPr lang="en-US" sz="1300" dirty="0"/>
          </a:p>
        </p:txBody>
      </p:sp>
      <p:sp>
        <p:nvSpPr>
          <p:cNvPr id="10" name="Text 7"/>
          <p:cNvSpPr/>
          <p:nvPr/>
        </p:nvSpPr>
        <p:spPr>
          <a:xfrm>
            <a:off x="8814816" y="2651760"/>
            <a:ext cx="256032" cy="307238"/>
          </a:xfrm>
          <a:prstGeom prst="roundRect">
            <a:avLst>
              <a:gd name="adj" fmla="val 25000"/>
            </a:avLst>
          </a:prstGeom>
          <a:solidFill>
            <a:schemeClr val="accent1"/>
          </a:solidFill>
          <a:ln w="15875">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11" name="Text 8"/>
          <p:cNvSpPr/>
          <p:nvPr/>
        </p:nvSpPr>
        <p:spPr>
          <a:xfrm>
            <a:off x="9125712" y="2651760"/>
            <a:ext cx="256032" cy="307238"/>
          </a:xfrm>
          <a:prstGeom prst="roundRect">
            <a:avLst>
              <a:gd name="adj" fmla="val 25000"/>
            </a:avLst>
          </a:prstGeom>
          <a:solidFill>
            <a:schemeClr val="bg1"/>
          </a:solidFill>
          <a:ln w="15875">
            <a:solidFill>
              <a:schemeClr val="tx1"/>
            </a:solid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a:t>
            </a:r>
            <a:endParaRPr lang="en-US" sz="1300" dirty="0"/>
          </a:p>
        </p:txBody>
      </p:sp>
      <p:sp>
        <p:nvSpPr>
          <p:cNvPr id="12" name="Text 9"/>
          <p:cNvSpPr/>
          <p:nvPr/>
        </p:nvSpPr>
        <p:spPr>
          <a:xfrm>
            <a:off x="9436608" y="2651760"/>
            <a:ext cx="256032" cy="307238"/>
          </a:xfrm>
          <a:prstGeom prst="roundRect">
            <a:avLst>
              <a:gd name="adj" fmla="val 25000"/>
            </a:avLst>
          </a:prstGeom>
          <a:solidFill>
            <a:schemeClr val="bg1"/>
          </a:solidFill>
          <a:ln w="15875">
            <a:solidFill>
              <a:schemeClr val="tx1"/>
            </a:solid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a:t>
            </a:r>
            <a:endParaRPr lang="en-US" sz="1300" dirty="0"/>
          </a:p>
        </p:txBody>
      </p:sp>
      <p:sp>
        <p:nvSpPr>
          <p:cNvPr id="13" name="Text 10"/>
          <p:cNvSpPr/>
          <p:nvPr/>
        </p:nvSpPr>
        <p:spPr>
          <a:xfrm>
            <a:off x="9747504" y="2651760"/>
            <a:ext cx="256032" cy="307238"/>
          </a:xfrm>
          <a:prstGeom prst="roundRect">
            <a:avLst>
              <a:gd name="adj" fmla="val 25000"/>
            </a:avLst>
          </a:prstGeom>
          <a:solidFill>
            <a:schemeClr val="bg1"/>
          </a:solidFill>
          <a:ln w="15875">
            <a:solidFill>
              <a:schemeClr val="tx1"/>
            </a:solid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a:t>
            </a:r>
            <a:endParaRPr lang="en-US" sz="1300" dirty="0"/>
          </a:p>
        </p:txBody>
      </p:sp>
      <p:sp>
        <p:nvSpPr>
          <p:cNvPr id="14" name="Text 11"/>
          <p:cNvSpPr/>
          <p:nvPr/>
        </p:nvSpPr>
        <p:spPr>
          <a:xfrm>
            <a:off x="10332720" y="2651760"/>
            <a:ext cx="256032" cy="307238"/>
          </a:xfrm>
          <a:prstGeom prst="roundRect">
            <a:avLst>
              <a:gd name="adj" fmla="val 25000"/>
            </a:avLst>
          </a:prstGeom>
          <a:solidFill>
            <a:schemeClr val="bg1"/>
          </a:solidFill>
          <a:ln w="15875">
            <a:solidFill>
              <a:schemeClr val="tx1"/>
            </a:solid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a:t>
            </a:r>
            <a:endParaRPr lang="en-US" sz="1300" dirty="0"/>
          </a:p>
        </p:txBody>
      </p:sp>
      <p:sp>
        <p:nvSpPr>
          <p:cNvPr id="15" name="Text 12"/>
          <p:cNvSpPr/>
          <p:nvPr/>
        </p:nvSpPr>
        <p:spPr>
          <a:xfrm>
            <a:off x="10643616" y="2651760"/>
            <a:ext cx="256032" cy="307238"/>
          </a:xfrm>
          <a:prstGeom prst="roundRect">
            <a:avLst>
              <a:gd name="adj" fmla="val 25000"/>
            </a:avLst>
          </a:prstGeom>
          <a:solidFill>
            <a:schemeClr val="bg1"/>
          </a:solidFill>
          <a:ln w="15875">
            <a:solidFill>
              <a:schemeClr val="tx1"/>
            </a:solid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a:t>
            </a:r>
            <a:endParaRPr lang="en-US" sz="1300" dirty="0"/>
          </a:p>
        </p:txBody>
      </p:sp>
      <p:sp>
        <p:nvSpPr>
          <p:cNvPr id="16" name="Text 13"/>
          <p:cNvSpPr/>
          <p:nvPr/>
        </p:nvSpPr>
        <p:spPr>
          <a:xfrm>
            <a:off x="10954512" y="2651760"/>
            <a:ext cx="256032" cy="307238"/>
          </a:xfrm>
          <a:prstGeom prst="roundRect">
            <a:avLst>
              <a:gd name="adj" fmla="val 25000"/>
            </a:avLst>
          </a:prstGeom>
          <a:solidFill>
            <a:schemeClr val="accent1"/>
          </a:solidFill>
          <a:ln w="15875">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17" name="Text 14"/>
          <p:cNvSpPr/>
          <p:nvPr/>
        </p:nvSpPr>
        <p:spPr>
          <a:xfrm>
            <a:off x="11265408" y="2651760"/>
            <a:ext cx="256032" cy="307238"/>
          </a:xfrm>
          <a:prstGeom prst="roundRect">
            <a:avLst>
              <a:gd name="adj" fmla="val 25000"/>
            </a:avLst>
          </a:prstGeom>
          <a:solidFill>
            <a:schemeClr val="accent1"/>
          </a:solidFill>
          <a:ln w="15875">
            <a:solidFill>
              <a:schemeClr val="accent1"/>
            </a:solid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18" name="Text 15"/>
          <p:cNvSpPr txBox="1"/>
          <p:nvPr/>
        </p:nvSpPr>
        <p:spPr>
          <a:xfrm>
            <a:off x="7406640" y="3154680"/>
            <a:ext cx="3931920" cy="411480"/>
          </a:xfrm>
          <a:prstGeom prst="rect">
            <a:avLst/>
          </a:prstGeom>
          <a:noFill/>
          <a:ln/>
        </p:spPr>
        <p:txBody>
          <a:bodyPr wrap="square" lIns="0" tIns="0" rIns="0" bIns="0" rtlCol="0" anchor="t"/>
          <a:lstStyle/>
          <a:p>
            <a:pPr indent="0" marL="0">
              <a:buNone/>
            </a:pPr>
            <a:r>
              <a:rPr lang="en-US" sz="1800" dirty="0">
                <a:solidFill>
                  <a:schemeClr val="accent3"/>
                </a:solidFill>
              </a:rPr>
              <a:t>0.8125 × 2³ = 6.5</a:t>
            </a:r>
            <a:endParaRPr lang="en-US" sz="1800" dirty="0"/>
          </a:p>
        </p:txBody>
      </p:sp>
      <p:sp>
        <p:nvSpPr>
          <p:cNvPr id="19" name="Text 16"/>
          <p:cNvSpPr txBox="1"/>
          <p:nvPr/>
        </p:nvSpPr>
        <p:spPr>
          <a:xfrm>
            <a:off x="640080" y="6035040"/>
            <a:ext cx="5486400" cy="365760"/>
          </a:xfrm>
          <a:prstGeom prst="rect">
            <a:avLst/>
          </a:prstGeom>
          <a:noFill/>
          <a:ln/>
        </p:spPr>
        <p:txBody>
          <a:bodyPr wrap="square" lIns="0" tIns="0" rIns="0" bIns="0" rtlCol="0" anchor="t"/>
          <a:lstStyle/>
          <a:p>
            <a:pPr indent="0" marL="0">
              <a:buNone/>
            </a:pPr>
            <a:r>
              <a:rPr lang="en-US" sz="1400" dirty="0">
                <a:solidFill>
                  <a:schemeClr val="accent3"/>
                </a:solidFill>
              </a:rPr>
              <a:t>Spec 4.4.3, 4.4.4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By the end of this lesson you can</a:t>
            </a:r>
            <a:endParaRPr lang="en-US" sz="3400" dirty="0"/>
          </a:p>
        </p:txBody>
      </p:sp>
      <p:sp>
        <p:nvSpPr>
          <p:cNvPr id="4" name="Shape 1"/>
          <p:cNvSpPr/>
          <p:nvPr/>
        </p:nvSpPr>
        <p:spPr>
          <a:xfrm>
            <a:off x="548640" y="1325880"/>
            <a:ext cx="11064240" cy="822960"/>
          </a:xfrm>
          <a:prstGeom prst="roundRect">
            <a:avLst>
              <a:gd name="adj" fmla="val 13333"/>
            </a:avLst>
          </a:prstGeom>
          <a:solidFill>
            <a:schemeClr val="bg2"/>
          </a:solidFill>
          <a:ln w="12700">
            <a:solidFill>
              <a:schemeClr val="bg2"/>
            </a:solidFill>
            <a:prstDash val="solid"/>
          </a:ln>
        </p:spPr>
      </p:sp>
      <p:sp>
        <p:nvSpPr>
          <p:cNvPr id="5" name="Text 2"/>
          <p:cNvSpPr/>
          <p:nvPr/>
        </p:nvSpPr>
        <p:spPr>
          <a:xfrm>
            <a:off x="868680" y="1490472"/>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645920" y="1417320"/>
            <a:ext cx="9692640" cy="640080"/>
          </a:xfrm>
          <a:prstGeom prst="rect">
            <a:avLst/>
          </a:prstGeom>
          <a:noFill/>
          <a:ln/>
        </p:spPr>
        <p:txBody>
          <a:bodyPr wrap="square" lIns="0" tIns="0" rIns="0" bIns="0" rtlCol="0" anchor="ctr"/>
          <a:lstStyle/>
          <a:p>
            <a:pPr indent="0" marL="0">
              <a:buNone/>
            </a:pPr>
            <a:r>
              <a:rPr lang="en-US" sz="2200" b="1" dirty="0">
                <a:solidFill>
                  <a:schemeClr val="accent1"/>
                </a:solidFill>
              </a:rPr>
              <a:t>Describe </a:t>
            </a:r>
            <a:pPr indent="0" marL="0">
              <a:buNone/>
            </a:pPr>
            <a:r>
              <a:rPr lang="en-US" sz="2200" dirty="0">
                <a:solidFill>
                  <a:schemeClr val="tx1"/>
                </a:solidFill>
              </a:rPr>
              <a:t>floating point form and why it is used</a:t>
            </a:r>
            <a:endParaRPr lang="en-US" sz="2200" dirty="0"/>
          </a:p>
        </p:txBody>
      </p:sp>
      <p:sp>
        <p:nvSpPr>
          <p:cNvPr id="7" name="Shape 4"/>
          <p:cNvSpPr/>
          <p:nvPr/>
        </p:nvSpPr>
        <p:spPr>
          <a:xfrm>
            <a:off x="548640" y="2304288"/>
            <a:ext cx="11064240" cy="822960"/>
          </a:xfrm>
          <a:prstGeom prst="roundRect">
            <a:avLst>
              <a:gd name="adj" fmla="val 13333"/>
            </a:avLst>
          </a:prstGeom>
          <a:solidFill>
            <a:schemeClr val="bg2"/>
          </a:solidFill>
          <a:ln w="12700">
            <a:solidFill>
              <a:schemeClr val="bg2"/>
            </a:solidFill>
            <a:prstDash val="solid"/>
          </a:ln>
        </p:spPr>
      </p:sp>
      <p:sp>
        <p:nvSpPr>
          <p:cNvPr id="8" name="Text 5"/>
          <p:cNvSpPr/>
          <p:nvPr/>
        </p:nvSpPr>
        <p:spPr>
          <a:xfrm>
            <a:off x="868680" y="24688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645920" y="2395728"/>
            <a:ext cx="9692640" cy="640080"/>
          </a:xfrm>
          <a:prstGeom prst="rect">
            <a:avLst/>
          </a:prstGeom>
          <a:noFill/>
          <a:ln/>
        </p:spPr>
        <p:txBody>
          <a:bodyPr wrap="square" lIns="0" tIns="0" rIns="0" bIns="0" rtlCol="0" anchor="ctr"/>
          <a:lstStyle/>
          <a:p>
            <a:pPr indent="0" marL="0">
              <a:buNone/>
            </a:pPr>
            <a:r>
              <a:rPr lang="en-US" sz="2200" b="1" dirty="0">
                <a:solidFill>
                  <a:schemeClr val="accent1"/>
                </a:solidFill>
              </a:rPr>
              <a:t>Convert </a:t>
            </a:r>
            <a:pPr indent="0" marL="0">
              <a:buNone/>
            </a:pPr>
            <a:r>
              <a:rPr lang="en-US" sz="2200" dirty="0">
                <a:solidFill>
                  <a:schemeClr val="tx1"/>
                </a:solidFill>
              </a:rPr>
              <a:t>floating point numbers into denary</a:t>
            </a:r>
            <a:endParaRPr lang="en-US" sz="2200" dirty="0"/>
          </a:p>
        </p:txBody>
      </p:sp>
      <p:sp>
        <p:nvSpPr>
          <p:cNvPr id="10" name="Shape 7"/>
          <p:cNvSpPr/>
          <p:nvPr/>
        </p:nvSpPr>
        <p:spPr>
          <a:xfrm>
            <a:off x="548640" y="3282696"/>
            <a:ext cx="11064240" cy="822960"/>
          </a:xfrm>
          <a:prstGeom prst="roundRect">
            <a:avLst>
              <a:gd name="adj" fmla="val 13333"/>
            </a:avLst>
          </a:prstGeom>
          <a:solidFill>
            <a:schemeClr val="bg2"/>
          </a:solidFill>
          <a:ln w="12700">
            <a:solidFill>
              <a:schemeClr val="bg2"/>
            </a:solidFill>
            <a:prstDash val="solid"/>
          </a:ln>
        </p:spPr>
      </p:sp>
      <p:sp>
        <p:nvSpPr>
          <p:cNvPr id="11" name="Text 8"/>
          <p:cNvSpPr/>
          <p:nvPr/>
        </p:nvSpPr>
        <p:spPr>
          <a:xfrm>
            <a:off x="868680" y="344728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9"/>
          <p:cNvSpPr txBox="1"/>
          <p:nvPr/>
        </p:nvSpPr>
        <p:spPr>
          <a:xfrm>
            <a:off x="1645920" y="3374136"/>
            <a:ext cx="9692640" cy="640080"/>
          </a:xfrm>
          <a:prstGeom prst="rect">
            <a:avLst/>
          </a:prstGeom>
          <a:noFill/>
          <a:ln/>
        </p:spPr>
        <p:txBody>
          <a:bodyPr wrap="square" lIns="0" tIns="0" rIns="0" bIns="0" rtlCol="0" anchor="ctr"/>
          <a:lstStyle/>
          <a:p>
            <a:pPr indent="0" marL="0">
              <a:buNone/>
            </a:pPr>
            <a:r>
              <a:rPr lang="en-US" sz="2200" b="1" dirty="0">
                <a:solidFill>
                  <a:schemeClr val="accent1"/>
                </a:solidFill>
              </a:rPr>
              <a:t>Convert </a:t>
            </a:r>
            <a:pPr indent="0" marL="0">
              <a:buNone/>
            </a:pPr>
            <a:r>
              <a:rPr lang="en-US" sz="2200" dirty="0">
                <a:solidFill>
                  <a:schemeClr val="tx1"/>
                </a:solidFill>
              </a:rPr>
              <a:t>denary numbers into normalised floating point</a:t>
            </a:r>
            <a:endParaRPr lang="en-US" sz="2200" dirty="0"/>
          </a:p>
        </p:txBody>
      </p:sp>
      <p:sp>
        <p:nvSpPr>
          <p:cNvPr id="13" name="Shape 10"/>
          <p:cNvSpPr/>
          <p:nvPr/>
        </p:nvSpPr>
        <p:spPr>
          <a:xfrm>
            <a:off x="548640" y="4261104"/>
            <a:ext cx="11064240" cy="822960"/>
          </a:xfrm>
          <a:prstGeom prst="roundRect">
            <a:avLst>
              <a:gd name="adj" fmla="val 13333"/>
            </a:avLst>
          </a:prstGeom>
          <a:solidFill>
            <a:schemeClr val="bg2"/>
          </a:solidFill>
          <a:ln w="12700">
            <a:solidFill>
              <a:schemeClr val="bg2"/>
            </a:solidFill>
            <a:prstDash val="solid"/>
          </a:ln>
        </p:spPr>
      </p:sp>
      <p:sp>
        <p:nvSpPr>
          <p:cNvPr id="14" name="Text 11"/>
          <p:cNvSpPr/>
          <p:nvPr/>
        </p:nvSpPr>
        <p:spPr>
          <a:xfrm>
            <a:off x="868680" y="4425696"/>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Text 12"/>
          <p:cNvSpPr txBox="1"/>
          <p:nvPr/>
        </p:nvSpPr>
        <p:spPr>
          <a:xfrm>
            <a:off x="1645920" y="4352544"/>
            <a:ext cx="9692640" cy="640080"/>
          </a:xfrm>
          <a:prstGeom prst="rect">
            <a:avLst/>
          </a:prstGeom>
          <a:noFill/>
          <a:ln/>
        </p:spPr>
        <p:txBody>
          <a:bodyPr wrap="square" lIns="0" tIns="0" rIns="0" bIns="0" rtlCol="0" anchor="ctr"/>
          <a:lstStyle/>
          <a:p>
            <a:pPr indent="0" marL="0">
              <a:buNone/>
            </a:pPr>
            <a:r>
              <a:rPr lang="en-US" sz="2200" b="1" dirty="0">
                <a:solidFill>
                  <a:schemeClr val="accent1"/>
                </a:solidFill>
              </a:rPr>
              <a:t>Calculate </a:t>
            </a:r>
            <a:pPr indent="0" marL="0">
              <a:buNone/>
            </a:pPr>
            <a:r>
              <a:rPr lang="en-US" sz="2200" dirty="0">
                <a:solidFill>
                  <a:schemeClr val="tx1"/>
                </a:solidFill>
              </a:rPr>
              <a:t>the largest and smallest numbers a format can store</a:t>
            </a:r>
            <a:endParaRPr lang="en-US" sz="2200" dirty="0"/>
          </a:p>
        </p:txBody>
      </p:sp>
      <p:sp>
        <p:nvSpPr>
          <p:cNvPr id="16" name="Shape 13"/>
          <p:cNvSpPr/>
          <p:nvPr/>
        </p:nvSpPr>
        <p:spPr>
          <a:xfrm>
            <a:off x="548640" y="5239512"/>
            <a:ext cx="11064240" cy="822960"/>
          </a:xfrm>
          <a:prstGeom prst="roundRect">
            <a:avLst>
              <a:gd name="adj" fmla="val 13333"/>
            </a:avLst>
          </a:prstGeom>
          <a:solidFill>
            <a:schemeClr val="bg2"/>
          </a:solidFill>
          <a:ln w="12700">
            <a:solidFill>
              <a:schemeClr val="bg2"/>
            </a:solidFill>
            <a:prstDash val="solid"/>
          </a:ln>
        </p:spPr>
      </p:sp>
      <p:sp>
        <p:nvSpPr>
          <p:cNvPr id="17" name="Text 14"/>
          <p:cNvSpPr/>
          <p:nvPr/>
        </p:nvSpPr>
        <p:spPr>
          <a:xfrm>
            <a:off x="868680" y="5404104"/>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8" name="Text 15"/>
          <p:cNvSpPr txBox="1"/>
          <p:nvPr/>
        </p:nvSpPr>
        <p:spPr>
          <a:xfrm>
            <a:off x="1645920" y="5330952"/>
            <a:ext cx="9692640" cy="640080"/>
          </a:xfrm>
          <a:prstGeom prst="rect">
            <a:avLst/>
          </a:prstGeom>
          <a:noFill/>
          <a:ln/>
        </p:spPr>
        <p:txBody>
          <a:bodyPr wrap="square" lIns="0" tIns="0" rIns="0" bIns="0" rtlCol="0" anchor="ctr"/>
          <a:lstStyle/>
          <a:p>
            <a:pPr indent="0" marL="0">
              <a:buNone/>
            </a:pPr>
            <a:r>
              <a:rPr lang="en-US" sz="2200" b="1" dirty="0">
                <a:solidFill>
                  <a:schemeClr val="accent1"/>
                </a:solidFill>
              </a:rPr>
              <a:t>Compare </a:t>
            </a:r>
            <a:pPr indent="0" marL="0">
              <a:buNone/>
            </a:pPr>
            <a:r>
              <a:rPr lang="en-US" sz="2200" dirty="0">
                <a:solidFill>
                  <a:schemeClr val="tx1"/>
                </a:solidFill>
              </a:rPr>
              <a:t>integer and floating point forms</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Last lesson's exit question</a:t>
            </a:r>
            <a:endParaRPr lang="en-US" sz="3400" dirty="0"/>
          </a:p>
        </p:txBody>
      </p:sp>
      <p:sp>
        <p:nvSpPr>
          <p:cNvPr id="4" name="Shape 1"/>
          <p:cNvSpPr/>
          <p:nvPr/>
        </p:nvSpPr>
        <p:spPr>
          <a:xfrm>
            <a:off x="548640" y="1417320"/>
            <a:ext cx="11064240" cy="1188720"/>
          </a:xfrm>
          <a:prstGeom prst="roundRect">
            <a:avLst>
              <a:gd name="adj" fmla="val 9231"/>
            </a:avLst>
          </a:prstGeom>
          <a:solidFill>
            <a:schemeClr val="accent3"/>
          </a:solidFill>
          <a:ln w="12700">
            <a:solidFill>
              <a:schemeClr val="accent3"/>
            </a:solidFill>
            <a:prstDash val="solid"/>
          </a:ln>
        </p:spPr>
      </p:sp>
      <p:sp>
        <p:nvSpPr>
          <p:cNvPr id="5" name="Text 2"/>
          <p:cNvSpPr txBox="1"/>
          <p:nvPr/>
        </p:nvSpPr>
        <p:spPr>
          <a:xfrm>
            <a:off x="868680" y="1554480"/>
            <a:ext cx="10424160" cy="914400"/>
          </a:xfrm>
          <a:prstGeom prst="rect">
            <a:avLst/>
          </a:prstGeom>
          <a:noFill/>
          <a:ln/>
        </p:spPr>
        <p:txBody>
          <a:bodyPr wrap="square" lIns="0" tIns="0" rIns="0" bIns="0" rtlCol="0" anchor="ctr"/>
          <a:lstStyle/>
          <a:p>
            <a:pPr indent="0" marL="0">
              <a:buNone/>
            </a:pPr>
            <a:r>
              <a:rPr lang="en-US" sz="2200" b="1" dirty="0">
                <a:solidFill>
                  <a:schemeClr val="tx1"/>
                </a:solidFill>
              </a:rPr>
              <a:t>Using 26.8 as an example, truncate and round to a whole number. Give the error for each method and say which is more accurate.</a:t>
            </a:r>
            <a:endParaRPr lang="en-US" sz="2200" dirty="0"/>
          </a:p>
        </p:txBody>
      </p:sp>
      <p:sp>
        <p:nvSpPr>
          <p:cNvPr id="6" name="Shape 3"/>
          <p:cNvSpPr/>
          <p:nvPr/>
        </p:nvSpPr>
        <p:spPr>
          <a:xfrm>
            <a:off x="548640" y="2880360"/>
            <a:ext cx="3566160" cy="3017520"/>
          </a:xfrm>
          <a:prstGeom prst="roundRect">
            <a:avLst>
              <a:gd name="adj" fmla="val 3636"/>
            </a:avLst>
          </a:prstGeom>
          <a:solidFill>
            <a:schemeClr val="bg2"/>
          </a:solidFill>
          <a:ln w="12700">
            <a:solidFill>
              <a:schemeClr val="bg2"/>
            </a:solidFill>
            <a:prstDash val="solid"/>
          </a:ln>
        </p:spPr>
      </p:sp>
      <p:sp>
        <p:nvSpPr>
          <p:cNvPr id="7" name="Text 4"/>
          <p:cNvSpPr txBox="1"/>
          <p:nvPr/>
        </p:nvSpPr>
        <p:spPr>
          <a:xfrm>
            <a:off x="822960" y="3063240"/>
            <a:ext cx="3017520" cy="411480"/>
          </a:xfrm>
          <a:prstGeom prst="rect">
            <a:avLst/>
          </a:prstGeom>
          <a:noFill/>
          <a:ln/>
        </p:spPr>
        <p:txBody>
          <a:bodyPr wrap="square" lIns="0" tIns="0" rIns="0" bIns="0" rtlCol="0" anchor="t"/>
          <a:lstStyle/>
          <a:p>
            <a:pPr indent="0" marL="0">
              <a:buNone/>
            </a:pPr>
            <a:r>
              <a:rPr lang="en-US" sz="2000" b="1" dirty="0">
                <a:solidFill>
                  <a:schemeClr val="accent1"/>
                </a:solidFill>
              </a:rPr>
              <a:t>Reply A</a:t>
            </a:r>
            <a:endParaRPr lang="en-US" sz="2000" dirty="0"/>
          </a:p>
        </p:txBody>
      </p:sp>
      <p:sp>
        <p:nvSpPr>
          <p:cNvPr id="8" name="Text 5"/>
          <p:cNvSpPr txBox="1"/>
          <p:nvPr/>
        </p:nvSpPr>
        <p:spPr>
          <a:xfrm>
            <a:off x="822960" y="3566160"/>
            <a:ext cx="3017520" cy="2103120"/>
          </a:xfrm>
          <a:prstGeom prst="rect">
            <a:avLst/>
          </a:prstGeom>
          <a:noFill/>
          <a:ln/>
        </p:spPr>
        <p:txBody>
          <a:bodyPr wrap="square" lIns="0" tIns="0" rIns="0" bIns="0" rtlCol="0" anchor="t"/>
          <a:lstStyle/>
          <a:p>
            <a:pPr indent="0" marL="0">
              <a:buNone/>
            </a:pPr>
            <a:r>
              <a:rPr lang="en-US" sz="1600" i="1" dirty="0">
                <a:solidFill>
                  <a:schemeClr val="accent6"/>
                </a:solidFill>
              </a:rPr>
              <a:t>Paste a reply from Teams</a:t>
            </a:r>
            <a:endParaRPr lang="en-US" sz="1600" dirty="0"/>
          </a:p>
        </p:txBody>
      </p:sp>
      <p:sp>
        <p:nvSpPr>
          <p:cNvPr id="9" name="Shape 6"/>
          <p:cNvSpPr/>
          <p:nvPr/>
        </p:nvSpPr>
        <p:spPr>
          <a:xfrm>
            <a:off x="4389120" y="2880360"/>
            <a:ext cx="3566160" cy="3017520"/>
          </a:xfrm>
          <a:prstGeom prst="roundRect">
            <a:avLst>
              <a:gd name="adj" fmla="val 3636"/>
            </a:avLst>
          </a:prstGeom>
          <a:solidFill>
            <a:schemeClr val="bg2"/>
          </a:solidFill>
          <a:ln w="12700">
            <a:solidFill>
              <a:schemeClr val="bg2"/>
            </a:solidFill>
            <a:prstDash val="solid"/>
          </a:ln>
        </p:spPr>
      </p:sp>
      <p:sp>
        <p:nvSpPr>
          <p:cNvPr id="10" name="Text 7"/>
          <p:cNvSpPr txBox="1"/>
          <p:nvPr/>
        </p:nvSpPr>
        <p:spPr>
          <a:xfrm>
            <a:off x="4663440" y="3063240"/>
            <a:ext cx="3017520" cy="411480"/>
          </a:xfrm>
          <a:prstGeom prst="rect">
            <a:avLst/>
          </a:prstGeom>
          <a:noFill/>
          <a:ln/>
        </p:spPr>
        <p:txBody>
          <a:bodyPr wrap="square" lIns="0" tIns="0" rIns="0" bIns="0" rtlCol="0" anchor="t"/>
          <a:lstStyle/>
          <a:p>
            <a:pPr indent="0" marL="0">
              <a:buNone/>
            </a:pPr>
            <a:r>
              <a:rPr lang="en-US" sz="2000" b="1" dirty="0">
                <a:solidFill>
                  <a:schemeClr val="accent1"/>
                </a:solidFill>
              </a:rPr>
              <a:t>Reply B</a:t>
            </a:r>
            <a:endParaRPr lang="en-US" sz="2000" dirty="0"/>
          </a:p>
        </p:txBody>
      </p:sp>
      <p:sp>
        <p:nvSpPr>
          <p:cNvPr id="11" name="Text 8"/>
          <p:cNvSpPr txBox="1"/>
          <p:nvPr/>
        </p:nvSpPr>
        <p:spPr>
          <a:xfrm>
            <a:off x="4663440" y="3566160"/>
            <a:ext cx="3017520" cy="2103120"/>
          </a:xfrm>
          <a:prstGeom prst="rect">
            <a:avLst/>
          </a:prstGeom>
          <a:noFill/>
          <a:ln/>
        </p:spPr>
        <p:txBody>
          <a:bodyPr wrap="square" lIns="0" tIns="0" rIns="0" bIns="0" rtlCol="0" anchor="t"/>
          <a:lstStyle/>
          <a:p>
            <a:pPr indent="0" marL="0">
              <a:buNone/>
            </a:pPr>
            <a:r>
              <a:rPr lang="en-US" sz="1600" i="1" dirty="0">
                <a:solidFill>
                  <a:schemeClr val="accent6"/>
                </a:solidFill>
              </a:rPr>
              <a:t>Paste a reply from Teams</a:t>
            </a:r>
            <a:endParaRPr lang="en-US" sz="1600" dirty="0"/>
          </a:p>
        </p:txBody>
      </p:sp>
      <p:sp>
        <p:nvSpPr>
          <p:cNvPr id="12" name="Shape 9"/>
          <p:cNvSpPr/>
          <p:nvPr/>
        </p:nvSpPr>
        <p:spPr>
          <a:xfrm>
            <a:off x="8229600" y="2880360"/>
            <a:ext cx="3383280" cy="3017520"/>
          </a:xfrm>
          <a:prstGeom prst="roundRect">
            <a:avLst>
              <a:gd name="adj" fmla="val 3636"/>
            </a:avLst>
          </a:prstGeom>
          <a:solidFill>
            <a:schemeClr val="tx1"/>
          </a:solidFill>
          <a:ln w="12700">
            <a:solidFill>
              <a:schemeClr val="tx1"/>
            </a:solidFill>
            <a:prstDash val="solid"/>
          </a:ln>
        </p:spPr>
      </p:sp>
      <p:sp>
        <p:nvSpPr>
          <p:cNvPr id="13" name="Text 10"/>
          <p:cNvSpPr txBox="1"/>
          <p:nvPr/>
        </p:nvSpPr>
        <p:spPr>
          <a:xfrm>
            <a:off x="8503920" y="3063240"/>
            <a:ext cx="2834640" cy="411480"/>
          </a:xfrm>
          <a:prstGeom prst="rect">
            <a:avLst/>
          </a:prstGeom>
          <a:noFill/>
          <a:ln/>
        </p:spPr>
        <p:txBody>
          <a:bodyPr wrap="square" lIns="0" tIns="0" rIns="0" bIns="0" rtlCol="0" anchor="t"/>
          <a:lstStyle/>
          <a:p>
            <a:pPr indent="0" marL="0">
              <a:buNone/>
            </a:pPr>
            <a:r>
              <a:rPr lang="en-US" sz="1800" b="1" dirty="0">
                <a:solidFill>
                  <a:schemeClr val="accent2"/>
                </a:solidFill>
              </a:rPr>
              <a:t>Mark scheme</a:t>
            </a:r>
            <a:endParaRPr lang="en-US" sz="1800" dirty="0"/>
          </a:p>
        </p:txBody>
      </p:sp>
      <p:sp>
        <p:nvSpPr>
          <p:cNvPr id="14" name="Text 11"/>
          <p:cNvSpPr txBox="1"/>
          <p:nvPr/>
        </p:nvSpPr>
        <p:spPr>
          <a:xfrm>
            <a:off x="8503920" y="3520440"/>
            <a:ext cx="2834640" cy="2286000"/>
          </a:xfrm>
          <a:prstGeom prst="rect">
            <a:avLst/>
          </a:prstGeom>
          <a:noFill/>
          <a:ln/>
        </p:spPr>
        <p:txBody>
          <a:bodyPr wrap="square" lIns="0" tIns="0" rIns="0" bIns="0" rtlCol="0" anchor="t"/>
          <a:lstStyle/>
          <a:p>
            <a:pPr indent="0" marL="0">
              <a:buNone/>
            </a:pPr>
            <a:r>
              <a:rPr lang="en-US" sz="1600" dirty="0">
                <a:solidFill>
                  <a:schemeClr val="bg1"/>
                </a:solidFill>
              </a:rPr>
              <a:t>Truncation: 26</a:t>
            </a:r>
            <a:endParaRPr lang="en-US" sz="1600" dirty="0"/>
          </a:p>
          <a:p>
            <a:pPr indent="0" marL="0">
              <a:buNone/>
            </a:pPr>
            <a:r>
              <a:rPr lang="en-US" sz="1600" dirty="0">
                <a:solidFill>
                  <a:schemeClr val="bg1"/>
                </a:solidFill>
              </a:rPr>
              <a:t>Error: −0.8</a:t>
            </a:r>
            <a:endParaRPr lang="en-US" sz="1600" dirty="0"/>
          </a:p>
          <a:p>
            <a:pPr indent="0" marL="0">
              <a:buNone/>
            </a:pPr>
            <a:endParaRPr lang="en-US" sz="1600" dirty="0"/>
          </a:p>
          <a:p>
            <a:pPr indent="0" marL="0">
              <a:buNone/>
            </a:pPr>
            <a:r>
              <a:rPr lang="en-US" sz="1600" dirty="0">
                <a:solidFill>
                  <a:schemeClr val="bg1"/>
                </a:solidFill>
              </a:rPr>
              <a:t>Rounding: 27</a:t>
            </a:r>
            <a:endParaRPr lang="en-US" sz="1600" dirty="0"/>
          </a:p>
          <a:p>
            <a:pPr indent="0" marL="0">
              <a:buNone/>
            </a:pPr>
            <a:r>
              <a:rPr lang="en-US" sz="1600" dirty="0">
                <a:solidFill>
                  <a:schemeClr val="bg1"/>
                </a:solidFill>
              </a:rPr>
              <a:t>Error: +0.2</a:t>
            </a:r>
            <a:endParaRPr lang="en-US" sz="1600" dirty="0"/>
          </a:p>
          <a:p>
            <a:pPr indent="0" marL="0">
              <a:buNone/>
            </a:pPr>
            <a:endParaRPr lang="en-US" sz="1600" dirty="0"/>
          </a:p>
          <a:p>
            <a:pPr indent="0" marL="0">
              <a:buNone/>
            </a:pPr>
            <a:r>
              <a:rPr lang="en-US" sz="1600" dirty="0">
                <a:solidFill>
                  <a:schemeClr val="bg1"/>
                </a:solidFill>
              </a:rPr>
              <a:t>Rounding is more accurate</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Starter: Lesson 2 recall</a:t>
            </a:r>
            <a:endParaRPr lang="en-US" sz="3400" dirty="0"/>
          </a:p>
        </p:txBody>
      </p:sp>
      <p:sp>
        <p:nvSpPr>
          <p:cNvPr id="4" name="Shape 1"/>
          <p:cNvSpPr/>
          <p:nvPr/>
        </p:nvSpPr>
        <p:spPr>
          <a:xfrm>
            <a:off x="548640" y="1417320"/>
            <a:ext cx="6766560" cy="4480560"/>
          </a:xfrm>
          <a:prstGeom prst="roundRect">
            <a:avLst>
              <a:gd name="adj" fmla="val 2449"/>
            </a:avLst>
          </a:prstGeom>
          <a:solidFill>
            <a:schemeClr val="bg1"/>
          </a:solidFill>
          <a:ln w="12700">
            <a:solidFill>
              <a:schemeClr val="bg1"/>
            </a:solidFill>
            <a:prstDash val="solid"/>
          </a:ln>
        </p:spPr>
      </p:sp>
      <p:sp>
        <p:nvSpPr>
          <p:cNvPr id="5" name="Text 2"/>
          <p:cNvSpPr txBox="1"/>
          <p:nvPr/>
        </p:nvSpPr>
        <p:spPr>
          <a:xfrm>
            <a:off x="914400" y="1691640"/>
            <a:ext cx="6035040" cy="457200"/>
          </a:xfrm>
          <a:prstGeom prst="rect">
            <a:avLst/>
          </a:prstGeom>
          <a:noFill/>
          <a:ln/>
        </p:spPr>
        <p:txBody>
          <a:bodyPr wrap="square" lIns="0" tIns="0" rIns="0" bIns="0" rtlCol="0" anchor="t"/>
          <a:lstStyle/>
          <a:p>
            <a:pPr indent="0" marL="0">
              <a:buNone/>
            </a:pPr>
            <a:r>
              <a:rPr lang="en-US" sz="2400" b="1" dirty="0">
                <a:solidFill>
                  <a:schemeClr val="accent1"/>
                </a:solidFill>
              </a:rPr>
              <a:t>On your own, 10 minutes</a:t>
            </a:r>
            <a:endParaRPr lang="en-US" sz="2400" dirty="0"/>
          </a:p>
        </p:txBody>
      </p:sp>
      <p:sp>
        <p:nvSpPr>
          <p:cNvPr id="6" name="Text 3"/>
          <p:cNvSpPr txBox="1"/>
          <p:nvPr/>
        </p:nvSpPr>
        <p:spPr>
          <a:xfrm>
            <a:off x="914400" y="2331720"/>
            <a:ext cx="6035040" cy="310896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Open the Lesson 2 recall starter from the Teams channel</a:t>
            </a:r>
            <a:endParaRPr lang="en-US" sz="2000" dirty="0"/>
          </a:p>
          <a:p>
            <a:pPr marL="342900" indent="-342900">
              <a:spcAft>
                <a:spcPts val="1400"/>
              </a:spcAft>
              <a:buSzPct val="100000"/>
              <a:buChar char="•"/>
            </a:pPr>
            <a:r>
              <a:rPr lang="en-US" sz="2000" dirty="0">
                <a:solidFill>
                  <a:schemeClr val="tx1"/>
                </a:solidFill>
              </a:rPr>
              <a:t>Work each answer out on paper before you choose</a:t>
            </a:r>
            <a:endParaRPr lang="en-US" sz="2000" dirty="0"/>
          </a:p>
          <a:p>
            <a:pPr marL="342900" indent="-342900">
              <a:spcAft>
                <a:spcPts val="1400"/>
              </a:spcAft>
              <a:buSzPct val="100000"/>
              <a:buChar char="•"/>
            </a:pPr>
            <a:r>
              <a:rPr lang="en-US" sz="2000" dirty="0">
                <a:solidFill>
                  <a:schemeClr val="tx1"/>
                </a:solidFill>
              </a:rPr>
              <a:t>Binary fractions matter most today: note any you get wrong</a:t>
            </a:r>
            <a:endParaRPr lang="en-US" sz="2000" dirty="0"/>
          </a:p>
        </p:txBody>
      </p:sp>
      <p:sp>
        <p:nvSpPr>
          <p:cNvPr id="7" name="Text 4"/>
          <p:cNvSpPr/>
          <p:nvPr/>
        </p:nvSpPr>
        <p:spPr>
          <a:xfrm>
            <a:off x="8366760" y="1874520"/>
            <a:ext cx="2743200" cy="2743200"/>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4000" b="1" dirty="0">
                <a:solidFill>
                  <a:schemeClr val="bg1"/>
                </a:solidFill>
                <a:latin typeface="Courier New" pitchFamily="34" charset="0"/>
                <a:ea typeface="Courier New" pitchFamily="34" charset="-122"/>
                <a:cs typeface="Courier New" pitchFamily="34" charset="-120"/>
              </a:rPr>
              <a:t>10:00</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Watch: today in five minutes</a:t>
            </a:r>
            <a:endParaRPr lang="en-US" sz="3400" dirty="0"/>
          </a:p>
        </p:txBody>
      </p:sp>
      <p:sp>
        <p:nvSpPr>
          <p:cNvPr id="4" name="Shape 1"/>
          <p:cNvSpPr/>
          <p:nvPr/>
        </p:nvSpPr>
        <p:spPr>
          <a:xfrm>
            <a:off x="548640" y="1417320"/>
            <a:ext cx="6949440" cy="4480560"/>
          </a:xfrm>
          <a:prstGeom prst="roundRect">
            <a:avLst>
              <a:gd name="adj" fmla="val 2449"/>
            </a:avLst>
          </a:prstGeom>
          <a:solidFill>
            <a:schemeClr val="tx1"/>
          </a:solidFill>
          <a:ln w="12700">
            <a:solidFill>
              <a:schemeClr val="tx1"/>
            </a:solidFill>
            <a:prstDash val="solid"/>
          </a:ln>
        </p:spPr>
      </p:sp>
      <p:sp>
        <p:nvSpPr>
          <p:cNvPr id="5" name="Shape 2"/>
          <p:cNvSpPr/>
          <p:nvPr/>
        </p:nvSpPr>
        <p:spPr>
          <a:xfrm rot="5400000">
            <a:off x="3520440" y="2971800"/>
            <a:ext cx="1005840" cy="914400"/>
          </a:xfrm>
          <a:prstGeom prst="triangle">
            <a:avLst/>
          </a:prstGeom>
          <a:solidFill>
            <a:schemeClr val="accent2"/>
          </a:solidFill>
          <a:ln w="12700">
            <a:solidFill>
              <a:schemeClr val="accent2"/>
            </a:solidFill>
            <a:prstDash val="solid"/>
          </a:ln>
        </p:spPr>
      </p:sp>
      <p:sp>
        <p:nvSpPr>
          <p:cNvPr id="6" name="Text 3"/>
          <p:cNvSpPr txBox="1"/>
          <p:nvPr/>
        </p:nvSpPr>
        <p:spPr>
          <a:xfrm>
            <a:off x="822960" y="5074920"/>
            <a:ext cx="6400800" cy="457200"/>
          </a:xfrm>
          <a:prstGeom prst="rect">
            <a:avLst/>
          </a:prstGeom>
          <a:noFill/>
          <a:ln/>
        </p:spPr>
        <p:txBody>
          <a:bodyPr wrap="square" lIns="0" tIns="0" rIns="0" bIns="0" rtlCol="0" anchor="t"/>
          <a:lstStyle/>
          <a:p>
            <a:pPr algn="ctr" indent="0" marL="0">
              <a:buNone/>
            </a:pPr>
            <a:r>
              <a:rPr lang="en-US" sz="1800" dirty="0">
                <a:solidFill>
                  <a:schemeClr val="bg1"/>
                </a:solidFill>
              </a:rPr>
              <a:t>NotebookLM summary video</a:t>
            </a:r>
            <a:endParaRPr lang="en-US" sz="1800" dirty="0"/>
          </a:p>
        </p:txBody>
      </p:sp>
      <p:sp>
        <p:nvSpPr>
          <p:cNvPr id="7" name="Text 4"/>
          <p:cNvSpPr txBox="1"/>
          <p:nvPr/>
        </p:nvSpPr>
        <p:spPr>
          <a:xfrm>
            <a:off x="7955280" y="1554480"/>
            <a:ext cx="3657600" cy="457200"/>
          </a:xfrm>
          <a:prstGeom prst="rect">
            <a:avLst/>
          </a:prstGeom>
          <a:noFill/>
          <a:ln/>
        </p:spPr>
        <p:txBody>
          <a:bodyPr wrap="square" lIns="0" tIns="0" rIns="0" bIns="0" rtlCol="0" anchor="t"/>
          <a:lstStyle/>
          <a:p>
            <a:pPr indent="0" marL="0">
              <a:buNone/>
            </a:pPr>
            <a:r>
              <a:rPr lang="en-US" sz="2200" b="1" dirty="0">
                <a:solidFill>
                  <a:schemeClr val="accent1"/>
                </a:solidFill>
              </a:rPr>
              <a:t>Listen out for</a:t>
            </a:r>
            <a:endParaRPr lang="en-US" sz="2200" dirty="0"/>
          </a:p>
        </p:txBody>
      </p:sp>
      <p:sp>
        <p:nvSpPr>
          <p:cNvPr id="8" name="Text 5"/>
          <p:cNvSpPr/>
          <p:nvPr/>
        </p:nvSpPr>
        <p:spPr>
          <a:xfrm>
            <a:off x="7955280" y="2240280"/>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6"/>
          <p:cNvSpPr txBox="1"/>
          <p:nvPr/>
        </p:nvSpPr>
        <p:spPr>
          <a:xfrm>
            <a:off x="8641080" y="2240280"/>
            <a:ext cx="3017520" cy="822960"/>
          </a:xfrm>
          <a:prstGeom prst="rect">
            <a:avLst/>
          </a:prstGeom>
          <a:noFill/>
          <a:ln/>
        </p:spPr>
        <p:txBody>
          <a:bodyPr wrap="square" lIns="0" tIns="0" rIns="0" bIns="0" rtlCol="0" anchor="t"/>
          <a:lstStyle/>
          <a:p>
            <a:pPr indent="0" marL="0">
              <a:buNone/>
            </a:pPr>
            <a:r>
              <a:rPr lang="en-US" sz="1800" dirty="0">
                <a:solidFill>
                  <a:schemeClr val="tx1"/>
                </a:solidFill>
              </a:rPr>
              <a:t>What the mantissa and exponent are</a:t>
            </a:r>
            <a:endParaRPr lang="en-US" sz="1800" dirty="0"/>
          </a:p>
        </p:txBody>
      </p:sp>
      <p:sp>
        <p:nvSpPr>
          <p:cNvPr id="10" name="Text 7"/>
          <p:cNvSpPr/>
          <p:nvPr/>
        </p:nvSpPr>
        <p:spPr>
          <a:xfrm>
            <a:off x="7955280" y="3291840"/>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8641080" y="3291840"/>
            <a:ext cx="3017520" cy="822960"/>
          </a:xfrm>
          <a:prstGeom prst="rect">
            <a:avLst/>
          </a:prstGeom>
          <a:noFill/>
          <a:ln/>
        </p:spPr>
        <p:txBody>
          <a:bodyPr wrap="square" lIns="0" tIns="0" rIns="0" bIns="0" rtlCol="0" anchor="t"/>
          <a:lstStyle/>
          <a:p>
            <a:pPr indent="0" marL="0">
              <a:buNone/>
            </a:pPr>
            <a:r>
              <a:rPr lang="en-US" sz="1800" dirty="0">
                <a:solidFill>
                  <a:schemeClr val="tx1"/>
                </a:solidFill>
              </a:rPr>
              <a:t>What normalised means</a:t>
            </a:r>
            <a:endParaRPr lang="en-US" sz="1800" dirty="0"/>
          </a:p>
        </p:txBody>
      </p:sp>
      <p:sp>
        <p:nvSpPr>
          <p:cNvPr id="12" name="Text 9"/>
          <p:cNvSpPr/>
          <p:nvPr/>
        </p:nvSpPr>
        <p:spPr>
          <a:xfrm>
            <a:off x="7955280" y="4343400"/>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0"/>
          <p:cNvSpPr txBox="1"/>
          <p:nvPr/>
        </p:nvSpPr>
        <p:spPr>
          <a:xfrm>
            <a:off x="8641080" y="4343400"/>
            <a:ext cx="3017520" cy="822960"/>
          </a:xfrm>
          <a:prstGeom prst="rect">
            <a:avLst/>
          </a:prstGeom>
          <a:noFill/>
          <a:ln/>
        </p:spPr>
        <p:txBody>
          <a:bodyPr wrap="square" lIns="0" tIns="0" rIns="0" bIns="0" rtlCol="0" anchor="t"/>
          <a:lstStyle/>
          <a:p>
            <a:pPr indent="0" marL="0">
              <a:buNone/>
            </a:pPr>
            <a:r>
              <a:rPr lang="en-US" sz="1800" dirty="0">
                <a:solidFill>
                  <a:schemeClr val="tx1"/>
                </a:solidFill>
              </a:rPr>
              <a:t>Why we use floating point instead of integers</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2377440"/>
            <a:ext cx="6949440" cy="1280160"/>
          </a:xfrm>
          <a:prstGeom prst="rect">
            <a:avLst/>
          </a:prstGeom>
          <a:noFill/>
          <a:ln/>
        </p:spPr>
        <p:txBody>
          <a:bodyPr wrap="square" lIns="0" tIns="0" rIns="0" bIns="0" rtlCol="0" anchor="b"/>
          <a:lstStyle/>
          <a:p>
            <a:pPr algn="l" indent="0" marL="0">
              <a:buNone/>
            </a:pPr>
            <a:r>
              <a:rPr lang="en-US" sz="4400" b="1" dirty="0">
                <a:solidFill>
                  <a:schemeClr val="bg1"/>
                </a:solidFill>
              </a:rPr>
              <a:t>What floating point is</a:t>
            </a:r>
            <a:endParaRPr lang="en-US" sz="4400" dirty="0"/>
          </a:p>
        </p:txBody>
      </p:sp>
      <p:sp>
        <p:nvSpPr>
          <p:cNvPr id="4" name="Text 0"/>
          <p:cNvSpPr/>
          <p:nvPr>
            <p:ph idx="101" type="body" hasCustomPrompt="1"/>
          </p:nvPr>
        </p:nvSpPr>
        <p:spPr>
          <a:xfrm>
            <a:off x="640080" y="3794760"/>
            <a:ext cx="6949440" cy="914400"/>
          </a:xfrm>
          <a:prstGeom prst="rect">
            <a:avLst/>
          </a:prstGeom>
          <a:noFill/>
          <a:ln/>
        </p:spPr>
        <p:txBody>
          <a:bodyPr wrap="square" lIns="0" tIns="0" rIns="0" bIns="0" rtlCol="0" anchor="t"/>
          <a:lstStyle/>
          <a:p>
            <a:pPr algn="l" indent="0" marL="0">
              <a:buNone/>
            </a:pPr>
            <a:r>
              <a:rPr lang="en-US" sz="2000" dirty="0">
                <a:solidFill>
                  <a:schemeClr val="bg1"/>
                </a:solidFill>
              </a:rPr>
              <a:t>4.4.3 Describe the nature and uses of floating point form</a:t>
            </a:r>
            <a:endParaRPr lang="en-US" sz="2000" dirty="0"/>
          </a:p>
        </p:txBody>
      </p:sp>
      <p:sp>
        <p:nvSpPr>
          <p:cNvPr id="5" name="Text 2"/>
          <p:cNvSpPr txBox="1"/>
          <p:nvPr/>
        </p:nvSpPr>
        <p:spPr>
          <a:xfrm>
            <a:off x="7315200" y="3108960"/>
            <a:ext cx="4389120" cy="822960"/>
          </a:xfrm>
          <a:prstGeom prst="rect">
            <a:avLst/>
          </a:prstGeom>
          <a:noFill/>
          <a:ln/>
        </p:spPr>
        <p:txBody>
          <a:bodyPr wrap="square" lIns="0" tIns="0" rIns="0" bIns="0" rtlCol="0" anchor="ctr"/>
          <a:lstStyle/>
          <a:p>
            <a:pPr algn="ctr" indent="0" marL="0">
              <a:buNone/>
            </a:pPr>
            <a:r>
              <a:rPr lang="en-US" sz="3400" b="1" dirty="0">
                <a:solidFill>
                  <a:schemeClr val="bg1"/>
                </a:solidFill>
              </a:rPr>
              <a:t>mantissa × 2</a:t>
            </a:r>
            <a:pPr algn="ctr" indent="0" marL="0">
              <a:buNone/>
            </a:pPr>
            <a:r>
              <a:rPr lang="en-US" sz="3400" b="1" baseline="30000" dirty="0">
                <a:solidFill>
                  <a:schemeClr val="tx1"/>
                </a:solidFill>
              </a:rPr>
              <a:t>exponent</a:t>
            </a:r>
            <a:endParaRPr lang="en-US" sz="3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You already know this as standard form</a:t>
            </a:r>
            <a:endParaRPr lang="en-US" sz="3400" dirty="0"/>
          </a:p>
        </p:txBody>
      </p:sp>
      <p:sp>
        <p:nvSpPr>
          <p:cNvPr id="4" name="Shape 1"/>
          <p:cNvSpPr/>
          <p:nvPr/>
        </p:nvSpPr>
        <p:spPr>
          <a:xfrm>
            <a:off x="548640" y="1417320"/>
            <a:ext cx="5394960" cy="4480560"/>
          </a:xfrm>
          <a:prstGeom prst="roundRect">
            <a:avLst>
              <a:gd name="adj" fmla="val 2449"/>
            </a:avLst>
          </a:prstGeom>
          <a:solidFill>
            <a:schemeClr val="bg2"/>
          </a:solidFill>
          <a:ln w="12700">
            <a:solidFill>
              <a:schemeClr val="bg2"/>
            </a:solidFill>
            <a:prstDash val="solid"/>
          </a:ln>
        </p:spPr>
      </p:sp>
      <p:sp>
        <p:nvSpPr>
          <p:cNvPr id="5" name="Text 2"/>
          <p:cNvSpPr txBox="1"/>
          <p:nvPr/>
        </p:nvSpPr>
        <p:spPr>
          <a:xfrm>
            <a:off x="822960" y="1600200"/>
            <a:ext cx="4846320" cy="457200"/>
          </a:xfrm>
          <a:prstGeom prst="rect">
            <a:avLst/>
          </a:prstGeom>
          <a:noFill/>
          <a:ln/>
        </p:spPr>
        <p:txBody>
          <a:bodyPr wrap="square" lIns="0" tIns="0" rIns="0" bIns="0" rtlCol="0" anchor="t"/>
          <a:lstStyle/>
          <a:p>
            <a:pPr indent="0" marL="0">
              <a:buNone/>
            </a:pPr>
            <a:r>
              <a:rPr lang="en-US" sz="2200" b="1" dirty="0">
                <a:solidFill>
                  <a:schemeClr val="accent1"/>
                </a:solidFill>
              </a:rPr>
              <a:t>Denary: standard form</a:t>
            </a:r>
            <a:endParaRPr lang="en-US" sz="2200" dirty="0"/>
          </a:p>
        </p:txBody>
      </p:sp>
      <p:sp>
        <p:nvSpPr>
          <p:cNvPr id="6" name="Text 3"/>
          <p:cNvSpPr txBox="1"/>
          <p:nvPr/>
        </p:nvSpPr>
        <p:spPr>
          <a:xfrm>
            <a:off x="822960" y="2194560"/>
            <a:ext cx="4846320" cy="548640"/>
          </a:xfrm>
          <a:prstGeom prst="rect">
            <a:avLst/>
          </a:prstGeom>
          <a:noFill/>
          <a:ln/>
        </p:spPr>
        <p:txBody>
          <a:bodyPr wrap="square" lIns="0" tIns="0" rIns="0" bIns="0" rtlCol="0" anchor="t"/>
          <a:lstStyle/>
          <a:p>
            <a:pPr indent="0" marL="0">
              <a:buNone/>
            </a:pPr>
            <a:r>
              <a:rPr lang="en-US" sz="2400" dirty="0">
                <a:solidFill>
                  <a:schemeClr val="accent6"/>
                </a:solidFill>
                <a:latin typeface="Courier New" pitchFamily="34" charset="0"/>
                <a:ea typeface="Courier New" pitchFamily="34" charset="-122"/>
                <a:cs typeface="Courier New" pitchFamily="34" charset="-120"/>
              </a:rPr>
              <a:t>0.00079  =</a:t>
            </a:r>
            <a:endParaRPr lang="en-US" sz="2400" dirty="0"/>
          </a:p>
        </p:txBody>
      </p:sp>
      <p:sp>
        <p:nvSpPr>
          <p:cNvPr id="7" name="Text 4"/>
          <p:cNvSpPr txBox="1"/>
          <p:nvPr/>
        </p:nvSpPr>
        <p:spPr>
          <a:xfrm>
            <a:off x="822960" y="2743200"/>
            <a:ext cx="4846320" cy="822960"/>
          </a:xfrm>
          <a:prstGeom prst="rect">
            <a:avLst/>
          </a:prstGeom>
          <a:noFill/>
          <a:ln/>
        </p:spPr>
        <p:txBody>
          <a:bodyPr wrap="square" lIns="0" tIns="0" rIns="0" bIns="0" rtlCol="0" anchor="t"/>
          <a:lstStyle/>
          <a:p>
            <a:pPr indent="0" marL="0">
              <a:buNone/>
            </a:pPr>
            <a:r>
              <a:rPr lang="en-US" sz="4000" b="1" dirty="0">
                <a:solidFill>
                  <a:schemeClr val="tx1"/>
                </a:solidFill>
              </a:rPr>
              <a:t>7.9 × 10⁻⁴</a:t>
            </a:r>
            <a:endParaRPr lang="en-US" sz="4000" dirty="0"/>
          </a:p>
        </p:txBody>
      </p:sp>
      <p:sp>
        <p:nvSpPr>
          <p:cNvPr id="8" name="Shape 5"/>
          <p:cNvSpPr/>
          <p:nvPr/>
        </p:nvSpPr>
        <p:spPr>
          <a:xfrm>
            <a:off x="822960" y="4023360"/>
            <a:ext cx="1508760" cy="1554480"/>
          </a:xfrm>
          <a:prstGeom prst="roundRect">
            <a:avLst>
              <a:gd name="adj" fmla="val 7273"/>
            </a:avLst>
          </a:prstGeom>
          <a:solidFill>
            <a:schemeClr val="accent3"/>
          </a:solidFill>
          <a:ln w="12700">
            <a:solidFill>
              <a:schemeClr val="accent3"/>
            </a:solidFill>
            <a:prstDash val="solid"/>
          </a:ln>
        </p:spPr>
      </p:sp>
      <p:sp>
        <p:nvSpPr>
          <p:cNvPr id="9" name="Text 6"/>
          <p:cNvSpPr txBox="1"/>
          <p:nvPr/>
        </p:nvSpPr>
        <p:spPr>
          <a:xfrm>
            <a:off x="914400" y="4160520"/>
            <a:ext cx="1325880" cy="365760"/>
          </a:xfrm>
          <a:prstGeom prst="rect">
            <a:avLst/>
          </a:prstGeom>
          <a:noFill/>
          <a:ln/>
        </p:spPr>
        <p:txBody>
          <a:bodyPr wrap="square" lIns="0" tIns="0" rIns="0" bIns="0" rtlCol="0" anchor="t"/>
          <a:lstStyle/>
          <a:p>
            <a:pPr algn="ctr" indent="0" marL="0">
              <a:buNone/>
            </a:pPr>
            <a:r>
              <a:rPr lang="en-US" sz="1500" dirty="0">
                <a:solidFill>
                  <a:schemeClr val="accent6"/>
                </a:solidFill>
              </a:rPr>
              <a:t>Mantissa</a:t>
            </a:r>
            <a:endParaRPr lang="en-US" sz="1500" dirty="0"/>
          </a:p>
        </p:txBody>
      </p:sp>
      <p:sp>
        <p:nvSpPr>
          <p:cNvPr id="10" name="Text 7"/>
          <p:cNvSpPr txBox="1"/>
          <p:nvPr/>
        </p:nvSpPr>
        <p:spPr>
          <a:xfrm>
            <a:off x="914400" y="4617720"/>
            <a:ext cx="1325880" cy="640080"/>
          </a:xfrm>
          <a:prstGeom prst="rect">
            <a:avLst/>
          </a:prstGeom>
          <a:noFill/>
          <a:ln/>
        </p:spPr>
        <p:txBody>
          <a:bodyPr wrap="square" lIns="0" tIns="0" rIns="0" bIns="0" rtlCol="0" anchor="t"/>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7.9</a:t>
            </a:r>
            <a:endParaRPr lang="en-US" sz="2600" dirty="0"/>
          </a:p>
        </p:txBody>
      </p:sp>
      <p:sp>
        <p:nvSpPr>
          <p:cNvPr id="11" name="Shape 8"/>
          <p:cNvSpPr/>
          <p:nvPr/>
        </p:nvSpPr>
        <p:spPr>
          <a:xfrm>
            <a:off x="2468880" y="4023360"/>
            <a:ext cx="1508760" cy="1554480"/>
          </a:xfrm>
          <a:prstGeom prst="roundRect">
            <a:avLst>
              <a:gd name="adj" fmla="val 7273"/>
            </a:avLst>
          </a:prstGeom>
          <a:solidFill>
            <a:schemeClr val="accent3"/>
          </a:solidFill>
          <a:ln w="12700">
            <a:solidFill>
              <a:schemeClr val="accent3"/>
            </a:solidFill>
            <a:prstDash val="solid"/>
          </a:ln>
        </p:spPr>
      </p:sp>
      <p:sp>
        <p:nvSpPr>
          <p:cNvPr id="12" name="Text 9"/>
          <p:cNvSpPr txBox="1"/>
          <p:nvPr/>
        </p:nvSpPr>
        <p:spPr>
          <a:xfrm>
            <a:off x="2560320" y="4160520"/>
            <a:ext cx="1325880" cy="365760"/>
          </a:xfrm>
          <a:prstGeom prst="rect">
            <a:avLst/>
          </a:prstGeom>
          <a:noFill/>
          <a:ln/>
        </p:spPr>
        <p:txBody>
          <a:bodyPr wrap="square" lIns="0" tIns="0" rIns="0" bIns="0" rtlCol="0" anchor="t"/>
          <a:lstStyle/>
          <a:p>
            <a:pPr algn="ctr" indent="0" marL="0">
              <a:buNone/>
            </a:pPr>
            <a:r>
              <a:rPr lang="en-US" sz="1500" dirty="0">
                <a:solidFill>
                  <a:schemeClr val="accent6"/>
                </a:solidFill>
              </a:rPr>
              <a:t>Exponent</a:t>
            </a:r>
            <a:endParaRPr lang="en-US" sz="1500" dirty="0"/>
          </a:p>
        </p:txBody>
      </p:sp>
      <p:sp>
        <p:nvSpPr>
          <p:cNvPr id="13" name="Text 10"/>
          <p:cNvSpPr txBox="1"/>
          <p:nvPr/>
        </p:nvSpPr>
        <p:spPr>
          <a:xfrm>
            <a:off x="2560320" y="4617720"/>
            <a:ext cx="1325880" cy="640080"/>
          </a:xfrm>
          <a:prstGeom prst="rect">
            <a:avLst/>
          </a:prstGeom>
          <a:noFill/>
          <a:ln/>
        </p:spPr>
        <p:txBody>
          <a:bodyPr wrap="square" lIns="0" tIns="0" rIns="0" bIns="0" rtlCol="0" anchor="t"/>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−4</a:t>
            </a:r>
            <a:endParaRPr lang="en-US" sz="2600" dirty="0"/>
          </a:p>
        </p:txBody>
      </p:sp>
      <p:sp>
        <p:nvSpPr>
          <p:cNvPr id="14" name="Shape 11"/>
          <p:cNvSpPr/>
          <p:nvPr/>
        </p:nvSpPr>
        <p:spPr>
          <a:xfrm>
            <a:off x="4114800" y="4023360"/>
            <a:ext cx="1508760" cy="1554480"/>
          </a:xfrm>
          <a:prstGeom prst="roundRect">
            <a:avLst>
              <a:gd name="adj" fmla="val 7273"/>
            </a:avLst>
          </a:prstGeom>
          <a:solidFill>
            <a:schemeClr val="bg1"/>
          </a:solidFill>
          <a:ln w="12700">
            <a:solidFill>
              <a:schemeClr val="bg1"/>
            </a:solidFill>
            <a:prstDash val="solid"/>
          </a:ln>
        </p:spPr>
      </p:sp>
      <p:sp>
        <p:nvSpPr>
          <p:cNvPr id="15" name="Text 12"/>
          <p:cNvSpPr txBox="1"/>
          <p:nvPr/>
        </p:nvSpPr>
        <p:spPr>
          <a:xfrm>
            <a:off x="4206240" y="4160520"/>
            <a:ext cx="1325880" cy="365760"/>
          </a:xfrm>
          <a:prstGeom prst="rect">
            <a:avLst/>
          </a:prstGeom>
          <a:noFill/>
          <a:ln/>
        </p:spPr>
        <p:txBody>
          <a:bodyPr wrap="square" lIns="0" tIns="0" rIns="0" bIns="0" rtlCol="0" anchor="t"/>
          <a:lstStyle/>
          <a:p>
            <a:pPr algn="ctr" indent="0" marL="0">
              <a:buNone/>
            </a:pPr>
            <a:r>
              <a:rPr lang="en-US" sz="1500" dirty="0">
                <a:solidFill>
                  <a:schemeClr val="accent6"/>
                </a:solidFill>
              </a:rPr>
              <a:t>Base</a:t>
            </a:r>
            <a:endParaRPr lang="en-US" sz="1500" dirty="0"/>
          </a:p>
        </p:txBody>
      </p:sp>
      <p:sp>
        <p:nvSpPr>
          <p:cNvPr id="16" name="Text 13"/>
          <p:cNvSpPr txBox="1"/>
          <p:nvPr/>
        </p:nvSpPr>
        <p:spPr>
          <a:xfrm>
            <a:off x="4206240" y="4617720"/>
            <a:ext cx="1325880" cy="640080"/>
          </a:xfrm>
          <a:prstGeom prst="rect">
            <a:avLst/>
          </a:prstGeom>
          <a:noFill/>
          <a:ln/>
        </p:spPr>
        <p:txBody>
          <a:bodyPr wrap="square" lIns="0" tIns="0" rIns="0" bIns="0" rtlCol="0" anchor="t"/>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10</a:t>
            </a:r>
            <a:endParaRPr lang="en-US" sz="2600" dirty="0"/>
          </a:p>
        </p:txBody>
      </p:sp>
      <p:sp>
        <p:nvSpPr>
          <p:cNvPr id="17" name="Shape 14"/>
          <p:cNvSpPr/>
          <p:nvPr/>
        </p:nvSpPr>
        <p:spPr>
          <a:xfrm>
            <a:off x="6217920" y="1417320"/>
            <a:ext cx="5394960" cy="4480560"/>
          </a:xfrm>
          <a:prstGeom prst="roundRect">
            <a:avLst>
              <a:gd name="adj" fmla="val 2449"/>
            </a:avLst>
          </a:prstGeom>
          <a:solidFill>
            <a:schemeClr val="bg2"/>
          </a:solidFill>
          <a:ln w="12700">
            <a:solidFill>
              <a:schemeClr val="bg2"/>
            </a:solidFill>
            <a:prstDash val="solid"/>
          </a:ln>
        </p:spPr>
      </p:sp>
      <p:sp>
        <p:nvSpPr>
          <p:cNvPr id="18" name="Text 15"/>
          <p:cNvSpPr txBox="1"/>
          <p:nvPr/>
        </p:nvSpPr>
        <p:spPr>
          <a:xfrm>
            <a:off x="6492240" y="1600200"/>
            <a:ext cx="4846320" cy="457200"/>
          </a:xfrm>
          <a:prstGeom prst="rect">
            <a:avLst/>
          </a:prstGeom>
          <a:noFill/>
          <a:ln/>
        </p:spPr>
        <p:txBody>
          <a:bodyPr wrap="square" lIns="0" tIns="0" rIns="0" bIns="0" rtlCol="0" anchor="t"/>
          <a:lstStyle/>
          <a:p>
            <a:pPr indent="0" marL="0">
              <a:buNone/>
            </a:pPr>
            <a:r>
              <a:rPr lang="en-US" sz="2200" b="1" dirty="0">
                <a:solidFill>
                  <a:schemeClr val="accent1"/>
                </a:solidFill>
              </a:rPr>
              <a:t>Binary: floating point</a:t>
            </a:r>
            <a:endParaRPr lang="en-US" sz="2200" dirty="0"/>
          </a:p>
        </p:txBody>
      </p:sp>
      <p:sp>
        <p:nvSpPr>
          <p:cNvPr id="19" name="Text 16"/>
          <p:cNvSpPr txBox="1"/>
          <p:nvPr/>
        </p:nvSpPr>
        <p:spPr>
          <a:xfrm>
            <a:off x="6492240" y="2194560"/>
            <a:ext cx="4846320" cy="548640"/>
          </a:xfrm>
          <a:prstGeom prst="rect">
            <a:avLst/>
          </a:prstGeom>
          <a:noFill/>
          <a:ln/>
        </p:spPr>
        <p:txBody>
          <a:bodyPr wrap="square" lIns="0" tIns="0" rIns="0" bIns="0" rtlCol="0" anchor="t"/>
          <a:lstStyle/>
          <a:p>
            <a:pPr indent="0" marL="0">
              <a:buNone/>
            </a:pPr>
            <a:r>
              <a:rPr lang="en-US" sz="2400" dirty="0">
                <a:solidFill>
                  <a:schemeClr val="accent6"/>
                </a:solidFill>
                <a:latin typeface="Courier New" pitchFamily="34" charset="0"/>
                <a:ea typeface="Courier New" pitchFamily="34" charset="-122"/>
                <a:cs typeface="Courier New" pitchFamily="34" charset="-120"/>
              </a:rPr>
              <a:t>1010  =</a:t>
            </a:r>
            <a:endParaRPr lang="en-US" sz="2400" dirty="0"/>
          </a:p>
        </p:txBody>
      </p:sp>
      <p:sp>
        <p:nvSpPr>
          <p:cNvPr id="20" name="Text 17"/>
          <p:cNvSpPr txBox="1"/>
          <p:nvPr/>
        </p:nvSpPr>
        <p:spPr>
          <a:xfrm>
            <a:off x="6492240" y="2743200"/>
            <a:ext cx="4846320" cy="822960"/>
          </a:xfrm>
          <a:prstGeom prst="rect">
            <a:avLst/>
          </a:prstGeom>
          <a:noFill/>
          <a:ln/>
        </p:spPr>
        <p:txBody>
          <a:bodyPr wrap="square" lIns="0" tIns="0" rIns="0" bIns="0" rtlCol="0" anchor="t"/>
          <a:lstStyle/>
          <a:p>
            <a:pPr indent="0" marL="0">
              <a:buNone/>
            </a:pPr>
            <a:r>
              <a:rPr lang="en-US" sz="4000" b="1" dirty="0">
                <a:solidFill>
                  <a:schemeClr val="tx1"/>
                </a:solidFill>
              </a:rPr>
              <a:t>0.101 × 2⁴</a:t>
            </a:r>
            <a:endParaRPr lang="en-US" sz="4000" dirty="0"/>
          </a:p>
        </p:txBody>
      </p:sp>
      <p:sp>
        <p:nvSpPr>
          <p:cNvPr id="21" name="Shape 18"/>
          <p:cNvSpPr/>
          <p:nvPr/>
        </p:nvSpPr>
        <p:spPr>
          <a:xfrm>
            <a:off x="6492240" y="4023360"/>
            <a:ext cx="1508760" cy="1554480"/>
          </a:xfrm>
          <a:prstGeom prst="roundRect">
            <a:avLst>
              <a:gd name="adj" fmla="val 7273"/>
            </a:avLst>
          </a:prstGeom>
          <a:solidFill>
            <a:schemeClr val="accent3"/>
          </a:solidFill>
          <a:ln w="12700">
            <a:solidFill>
              <a:schemeClr val="accent3"/>
            </a:solidFill>
            <a:prstDash val="solid"/>
          </a:ln>
        </p:spPr>
      </p:sp>
      <p:sp>
        <p:nvSpPr>
          <p:cNvPr id="22" name="Text 19"/>
          <p:cNvSpPr txBox="1"/>
          <p:nvPr/>
        </p:nvSpPr>
        <p:spPr>
          <a:xfrm>
            <a:off x="6583680" y="4160520"/>
            <a:ext cx="1325880" cy="365760"/>
          </a:xfrm>
          <a:prstGeom prst="rect">
            <a:avLst/>
          </a:prstGeom>
          <a:noFill/>
          <a:ln/>
        </p:spPr>
        <p:txBody>
          <a:bodyPr wrap="square" lIns="0" tIns="0" rIns="0" bIns="0" rtlCol="0" anchor="t"/>
          <a:lstStyle/>
          <a:p>
            <a:pPr algn="ctr" indent="0" marL="0">
              <a:buNone/>
            </a:pPr>
            <a:r>
              <a:rPr lang="en-US" sz="1500" dirty="0">
                <a:solidFill>
                  <a:schemeClr val="accent6"/>
                </a:solidFill>
              </a:rPr>
              <a:t>Mantissa</a:t>
            </a:r>
            <a:endParaRPr lang="en-US" sz="1500" dirty="0"/>
          </a:p>
        </p:txBody>
      </p:sp>
      <p:sp>
        <p:nvSpPr>
          <p:cNvPr id="23" name="Text 20"/>
          <p:cNvSpPr txBox="1"/>
          <p:nvPr/>
        </p:nvSpPr>
        <p:spPr>
          <a:xfrm>
            <a:off x="6583680" y="4617720"/>
            <a:ext cx="1325880" cy="640080"/>
          </a:xfrm>
          <a:prstGeom prst="rect">
            <a:avLst/>
          </a:prstGeom>
          <a:noFill/>
          <a:ln/>
        </p:spPr>
        <p:txBody>
          <a:bodyPr wrap="square" lIns="0" tIns="0" rIns="0" bIns="0" rtlCol="0" anchor="t"/>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0.101</a:t>
            </a:r>
            <a:endParaRPr lang="en-US" sz="2600" dirty="0"/>
          </a:p>
        </p:txBody>
      </p:sp>
      <p:sp>
        <p:nvSpPr>
          <p:cNvPr id="24" name="Shape 21"/>
          <p:cNvSpPr/>
          <p:nvPr/>
        </p:nvSpPr>
        <p:spPr>
          <a:xfrm>
            <a:off x="8138160" y="4023360"/>
            <a:ext cx="1508760" cy="1554480"/>
          </a:xfrm>
          <a:prstGeom prst="roundRect">
            <a:avLst>
              <a:gd name="adj" fmla="val 7273"/>
            </a:avLst>
          </a:prstGeom>
          <a:solidFill>
            <a:schemeClr val="accent3"/>
          </a:solidFill>
          <a:ln w="12700">
            <a:solidFill>
              <a:schemeClr val="accent3"/>
            </a:solidFill>
            <a:prstDash val="solid"/>
          </a:ln>
        </p:spPr>
      </p:sp>
      <p:sp>
        <p:nvSpPr>
          <p:cNvPr id="25" name="Text 22"/>
          <p:cNvSpPr txBox="1"/>
          <p:nvPr/>
        </p:nvSpPr>
        <p:spPr>
          <a:xfrm>
            <a:off x="8229600" y="4160520"/>
            <a:ext cx="1325880" cy="365760"/>
          </a:xfrm>
          <a:prstGeom prst="rect">
            <a:avLst/>
          </a:prstGeom>
          <a:noFill/>
          <a:ln/>
        </p:spPr>
        <p:txBody>
          <a:bodyPr wrap="square" lIns="0" tIns="0" rIns="0" bIns="0" rtlCol="0" anchor="t"/>
          <a:lstStyle/>
          <a:p>
            <a:pPr algn="ctr" indent="0" marL="0">
              <a:buNone/>
            </a:pPr>
            <a:r>
              <a:rPr lang="en-US" sz="1500" dirty="0">
                <a:solidFill>
                  <a:schemeClr val="accent6"/>
                </a:solidFill>
              </a:rPr>
              <a:t>Exponent</a:t>
            </a:r>
            <a:endParaRPr lang="en-US" sz="1500" dirty="0"/>
          </a:p>
        </p:txBody>
      </p:sp>
      <p:sp>
        <p:nvSpPr>
          <p:cNvPr id="26" name="Text 23"/>
          <p:cNvSpPr txBox="1"/>
          <p:nvPr/>
        </p:nvSpPr>
        <p:spPr>
          <a:xfrm>
            <a:off x="8229600" y="4617720"/>
            <a:ext cx="1325880" cy="640080"/>
          </a:xfrm>
          <a:prstGeom prst="rect">
            <a:avLst/>
          </a:prstGeom>
          <a:noFill/>
          <a:ln/>
        </p:spPr>
        <p:txBody>
          <a:bodyPr wrap="square" lIns="0" tIns="0" rIns="0" bIns="0" rtlCol="0" anchor="t"/>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4</a:t>
            </a:r>
            <a:endParaRPr lang="en-US" sz="2600" dirty="0"/>
          </a:p>
        </p:txBody>
      </p:sp>
      <p:sp>
        <p:nvSpPr>
          <p:cNvPr id="27" name="Shape 24"/>
          <p:cNvSpPr/>
          <p:nvPr/>
        </p:nvSpPr>
        <p:spPr>
          <a:xfrm>
            <a:off x="9784080" y="4023360"/>
            <a:ext cx="1508760" cy="1554480"/>
          </a:xfrm>
          <a:prstGeom prst="roundRect">
            <a:avLst>
              <a:gd name="adj" fmla="val 7273"/>
            </a:avLst>
          </a:prstGeom>
          <a:solidFill>
            <a:schemeClr val="bg1"/>
          </a:solidFill>
          <a:ln w="12700">
            <a:solidFill>
              <a:schemeClr val="bg1"/>
            </a:solidFill>
            <a:prstDash val="solid"/>
          </a:ln>
        </p:spPr>
      </p:sp>
      <p:sp>
        <p:nvSpPr>
          <p:cNvPr id="28" name="Text 25"/>
          <p:cNvSpPr txBox="1"/>
          <p:nvPr/>
        </p:nvSpPr>
        <p:spPr>
          <a:xfrm>
            <a:off x="9875520" y="4160520"/>
            <a:ext cx="1325880" cy="365760"/>
          </a:xfrm>
          <a:prstGeom prst="rect">
            <a:avLst/>
          </a:prstGeom>
          <a:noFill/>
          <a:ln/>
        </p:spPr>
        <p:txBody>
          <a:bodyPr wrap="square" lIns="0" tIns="0" rIns="0" bIns="0" rtlCol="0" anchor="t"/>
          <a:lstStyle/>
          <a:p>
            <a:pPr algn="ctr" indent="0" marL="0">
              <a:buNone/>
            </a:pPr>
            <a:r>
              <a:rPr lang="en-US" sz="1500" dirty="0">
                <a:solidFill>
                  <a:schemeClr val="accent6"/>
                </a:solidFill>
              </a:rPr>
              <a:t>Base</a:t>
            </a:r>
            <a:endParaRPr lang="en-US" sz="1500" dirty="0"/>
          </a:p>
        </p:txBody>
      </p:sp>
      <p:sp>
        <p:nvSpPr>
          <p:cNvPr id="29" name="Text 26"/>
          <p:cNvSpPr txBox="1"/>
          <p:nvPr/>
        </p:nvSpPr>
        <p:spPr>
          <a:xfrm>
            <a:off x="9875520" y="4617720"/>
            <a:ext cx="1325880" cy="640080"/>
          </a:xfrm>
          <a:prstGeom prst="rect">
            <a:avLst/>
          </a:prstGeom>
          <a:noFill/>
          <a:ln/>
        </p:spPr>
        <p:txBody>
          <a:bodyPr wrap="square" lIns="0" tIns="0" rIns="0" bIns="0" rtlCol="0" anchor="t"/>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2</a:t>
            </a:r>
            <a:endParaRPr lang="en-US" sz="2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What actually gets stored</a:t>
            </a:r>
            <a:endParaRPr lang="en-US" sz="3400" dirty="0"/>
          </a:p>
        </p:txBody>
      </p:sp>
      <p:sp>
        <p:nvSpPr>
          <p:cNvPr id="4" name="Text 1"/>
          <p:cNvSpPr/>
          <p:nvPr/>
        </p:nvSpPr>
        <p:spPr>
          <a:xfrm>
            <a:off x="914400"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5" name="Text 2"/>
          <p:cNvSpPr txBox="1"/>
          <p:nvPr/>
        </p:nvSpPr>
        <p:spPr>
          <a:xfrm>
            <a:off x="822960" y="1856232"/>
            <a:ext cx="749808"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6" name="Text 3"/>
          <p:cNvSpPr txBox="1"/>
          <p:nvPr/>
        </p:nvSpPr>
        <p:spPr>
          <a:xfrm>
            <a:off x="1499616" y="2148840"/>
            <a:ext cx="201168" cy="680314"/>
          </a:xfrm>
          <a:prstGeom prst="rect">
            <a:avLst/>
          </a:prstGeom>
          <a:noFill/>
          <a:ln/>
        </p:spPr>
        <p:txBody>
          <a:bodyPr wrap="square" lIns="0" tIns="0" rIns="0" bIns="0" rtlCol="0" anchor="b"/>
          <a:lstStyle/>
          <a:p>
            <a:pPr algn="ctr" indent="0" marL="0">
              <a:buNone/>
            </a:pPr>
            <a:r>
              <a:rPr lang="en-US" sz="3200" b="1" dirty="0">
                <a:solidFill>
                  <a:schemeClr val="tx1"/>
                </a:solidFill>
              </a:rPr>
              <a:t>.</a:t>
            </a:r>
            <a:endParaRPr lang="en-US" sz="3200" dirty="0"/>
          </a:p>
        </p:txBody>
      </p:sp>
      <p:sp>
        <p:nvSpPr>
          <p:cNvPr id="7" name="Text 4"/>
          <p:cNvSpPr/>
          <p:nvPr/>
        </p:nvSpPr>
        <p:spPr>
          <a:xfrm>
            <a:off x="1700784" y="214884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8" name="Text 5"/>
          <p:cNvSpPr txBox="1"/>
          <p:nvPr/>
        </p:nvSpPr>
        <p:spPr>
          <a:xfrm>
            <a:off x="1609344"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9" name="Text 6"/>
          <p:cNvSpPr/>
          <p:nvPr/>
        </p:nvSpPr>
        <p:spPr>
          <a:xfrm>
            <a:off x="2322576"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0" name="Text 7"/>
          <p:cNvSpPr txBox="1"/>
          <p:nvPr/>
        </p:nvSpPr>
        <p:spPr>
          <a:xfrm>
            <a:off x="2231136"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1" name="Text 8"/>
          <p:cNvSpPr/>
          <p:nvPr/>
        </p:nvSpPr>
        <p:spPr>
          <a:xfrm>
            <a:off x="2944368" y="214884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12" name="Text 9"/>
          <p:cNvSpPr txBox="1"/>
          <p:nvPr/>
        </p:nvSpPr>
        <p:spPr>
          <a:xfrm>
            <a:off x="2852928"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3" name="Text 10"/>
          <p:cNvSpPr/>
          <p:nvPr/>
        </p:nvSpPr>
        <p:spPr>
          <a:xfrm>
            <a:off x="3566160"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4" name="Text 11"/>
          <p:cNvSpPr txBox="1"/>
          <p:nvPr/>
        </p:nvSpPr>
        <p:spPr>
          <a:xfrm>
            <a:off x="3474720"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5" name="Text 12"/>
          <p:cNvSpPr/>
          <p:nvPr/>
        </p:nvSpPr>
        <p:spPr>
          <a:xfrm>
            <a:off x="4187952"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6" name="Text 13"/>
          <p:cNvSpPr txBox="1"/>
          <p:nvPr/>
        </p:nvSpPr>
        <p:spPr>
          <a:xfrm>
            <a:off x="4096512"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7" name="Text 14"/>
          <p:cNvSpPr/>
          <p:nvPr/>
        </p:nvSpPr>
        <p:spPr>
          <a:xfrm>
            <a:off x="4809744"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8" name="Text 15"/>
          <p:cNvSpPr txBox="1"/>
          <p:nvPr/>
        </p:nvSpPr>
        <p:spPr>
          <a:xfrm>
            <a:off x="4718304"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19" name="Text 16"/>
          <p:cNvSpPr/>
          <p:nvPr/>
        </p:nvSpPr>
        <p:spPr>
          <a:xfrm>
            <a:off x="5431536"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0" name="Text 17"/>
          <p:cNvSpPr txBox="1"/>
          <p:nvPr/>
        </p:nvSpPr>
        <p:spPr>
          <a:xfrm>
            <a:off x="5340096"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1" name="Text 18"/>
          <p:cNvSpPr/>
          <p:nvPr/>
        </p:nvSpPr>
        <p:spPr>
          <a:xfrm>
            <a:off x="6510528"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2" name="Text 19"/>
          <p:cNvSpPr txBox="1"/>
          <p:nvPr/>
        </p:nvSpPr>
        <p:spPr>
          <a:xfrm>
            <a:off x="6419088" y="1856232"/>
            <a:ext cx="749808"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23" name="Text 20"/>
          <p:cNvSpPr/>
          <p:nvPr/>
        </p:nvSpPr>
        <p:spPr>
          <a:xfrm>
            <a:off x="7132320" y="214884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24" name="Text 21"/>
          <p:cNvSpPr txBox="1"/>
          <p:nvPr/>
        </p:nvSpPr>
        <p:spPr>
          <a:xfrm>
            <a:off x="7040880"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25" name="Text 22"/>
          <p:cNvSpPr/>
          <p:nvPr/>
        </p:nvSpPr>
        <p:spPr>
          <a:xfrm>
            <a:off x="7754112"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6" name="Text 23"/>
          <p:cNvSpPr txBox="1"/>
          <p:nvPr/>
        </p:nvSpPr>
        <p:spPr>
          <a:xfrm>
            <a:off x="7662672"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7" name="Text 24"/>
          <p:cNvSpPr/>
          <p:nvPr/>
        </p:nvSpPr>
        <p:spPr>
          <a:xfrm>
            <a:off x="8375904" y="214884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8" name="Text 25"/>
          <p:cNvSpPr txBox="1"/>
          <p:nvPr/>
        </p:nvSpPr>
        <p:spPr>
          <a:xfrm>
            <a:off x="8284464" y="185623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29" name="Text 26"/>
          <p:cNvSpPr txBox="1"/>
          <p:nvPr/>
        </p:nvSpPr>
        <p:spPr>
          <a:xfrm>
            <a:off x="914400" y="1527048"/>
            <a:ext cx="5084064"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0" name="Text 27"/>
          <p:cNvSpPr txBox="1"/>
          <p:nvPr/>
        </p:nvSpPr>
        <p:spPr>
          <a:xfrm>
            <a:off x="6327648" y="1527048"/>
            <a:ext cx="2798064"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1" name="Text 28"/>
          <p:cNvSpPr txBox="1"/>
          <p:nvPr/>
        </p:nvSpPr>
        <p:spPr>
          <a:xfrm>
            <a:off x="914400" y="2788920"/>
            <a:ext cx="10058400" cy="502920"/>
          </a:xfrm>
          <a:prstGeom prst="rect">
            <a:avLst/>
          </a:prstGeom>
          <a:noFill/>
          <a:ln/>
        </p:spPr>
        <p:txBody>
          <a:bodyPr wrap="square" lIns="0" tIns="0" rIns="0" bIns="0" rtlCol="0" anchor="ctr"/>
          <a:lstStyle/>
          <a:p>
            <a:pPr indent="0" marL="0">
              <a:buNone/>
            </a:pPr>
            <a:r>
              <a:rPr lang="en-US" sz="2200" b="1" dirty="0">
                <a:solidFill>
                  <a:schemeClr val="accent1"/>
                </a:solidFill>
              </a:rPr>
              <a:t>= 0.101 × 2⁴ = 1010 = 10</a:t>
            </a:r>
            <a:endParaRPr lang="en-US" sz="2200" dirty="0"/>
          </a:p>
        </p:txBody>
      </p:sp>
      <p:sp>
        <p:nvSpPr>
          <p:cNvPr id="32" name="Shape 29"/>
          <p:cNvSpPr/>
          <p:nvPr/>
        </p:nvSpPr>
        <p:spPr>
          <a:xfrm>
            <a:off x="548640" y="3520440"/>
            <a:ext cx="5394960" cy="1097280"/>
          </a:xfrm>
          <a:prstGeom prst="roundRect">
            <a:avLst>
              <a:gd name="adj" fmla="val 10000"/>
            </a:avLst>
          </a:prstGeom>
          <a:solidFill>
            <a:schemeClr val="bg2"/>
          </a:solidFill>
          <a:ln w="12700">
            <a:solidFill>
              <a:schemeClr val="bg2"/>
            </a:solidFill>
            <a:prstDash val="solid"/>
          </a:ln>
        </p:spPr>
      </p:sp>
      <p:sp>
        <p:nvSpPr>
          <p:cNvPr id="33" name="Text 30"/>
          <p:cNvSpPr txBox="1"/>
          <p:nvPr/>
        </p:nvSpPr>
        <p:spPr>
          <a:xfrm>
            <a:off x="822960" y="3630168"/>
            <a:ext cx="4846320" cy="868680"/>
          </a:xfrm>
          <a:prstGeom prst="rect">
            <a:avLst/>
          </a:prstGeom>
          <a:noFill/>
          <a:ln/>
        </p:spPr>
        <p:txBody>
          <a:bodyPr wrap="square" lIns="0" tIns="0" rIns="0" bIns="0" rtlCol="0" anchor="t"/>
          <a:lstStyle/>
          <a:p>
            <a:pPr indent="0" marL="0">
              <a:buNone/>
            </a:pPr>
            <a:r>
              <a:rPr lang="en-US" sz="1800" b="1" dirty="0">
                <a:solidFill>
                  <a:schemeClr val="accent5"/>
                </a:solidFill>
              </a:rPr>
              <a:t>Not stored
</a:t>
            </a:r>
            <a:pPr indent="0" marL="0">
              <a:buNone/>
            </a:pPr>
            <a:r>
              <a:rPr lang="en-US" sz="1800" dirty="0">
                <a:solidFill>
                  <a:schemeClr val="tx1"/>
                </a:solidFill>
              </a:rPr>
              <a:t>The base: always 2</a:t>
            </a:r>
            <a:endParaRPr lang="en-US" sz="1800" dirty="0"/>
          </a:p>
        </p:txBody>
      </p:sp>
      <p:sp>
        <p:nvSpPr>
          <p:cNvPr id="34" name="Shape 31"/>
          <p:cNvSpPr/>
          <p:nvPr/>
        </p:nvSpPr>
        <p:spPr>
          <a:xfrm>
            <a:off x="6217920" y="3520440"/>
            <a:ext cx="5394960" cy="1097280"/>
          </a:xfrm>
          <a:prstGeom prst="roundRect">
            <a:avLst>
              <a:gd name="adj" fmla="val 10000"/>
            </a:avLst>
          </a:prstGeom>
          <a:solidFill>
            <a:schemeClr val="bg2"/>
          </a:solidFill>
          <a:ln w="12700">
            <a:solidFill>
              <a:schemeClr val="bg2"/>
            </a:solidFill>
            <a:prstDash val="solid"/>
          </a:ln>
        </p:spPr>
      </p:sp>
      <p:sp>
        <p:nvSpPr>
          <p:cNvPr id="35" name="Text 32"/>
          <p:cNvSpPr txBox="1"/>
          <p:nvPr/>
        </p:nvSpPr>
        <p:spPr>
          <a:xfrm>
            <a:off x="6492240" y="3630168"/>
            <a:ext cx="4846320" cy="868680"/>
          </a:xfrm>
          <a:prstGeom prst="rect">
            <a:avLst/>
          </a:prstGeom>
          <a:noFill/>
          <a:ln/>
        </p:spPr>
        <p:txBody>
          <a:bodyPr wrap="square" lIns="0" tIns="0" rIns="0" bIns="0" rtlCol="0" anchor="t"/>
          <a:lstStyle/>
          <a:p>
            <a:pPr indent="0" marL="0">
              <a:buNone/>
            </a:pPr>
            <a:r>
              <a:rPr lang="en-US" sz="1800" b="1" dirty="0">
                <a:solidFill>
                  <a:schemeClr val="accent5"/>
                </a:solidFill>
              </a:rPr>
              <a:t>Not stored
</a:t>
            </a:r>
            <a:pPr indent="0" marL="0">
              <a:buNone/>
            </a:pPr>
            <a:r>
              <a:rPr lang="en-US" sz="1800" dirty="0">
                <a:solidFill>
                  <a:schemeClr val="tx1"/>
                </a:solidFill>
              </a:rPr>
              <a:t>The binary point: always after the first bit</a:t>
            </a:r>
            <a:endParaRPr lang="en-US" sz="1800" dirty="0"/>
          </a:p>
        </p:txBody>
      </p:sp>
      <p:sp>
        <p:nvSpPr>
          <p:cNvPr id="36" name="Shape 33"/>
          <p:cNvSpPr/>
          <p:nvPr/>
        </p:nvSpPr>
        <p:spPr>
          <a:xfrm>
            <a:off x="548640" y="4754880"/>
            <a:ext cx="5394960" cy="1097280"/>
          </a:xfrm>
          <a:prstGeom prst="roundRect">
            <a:avLst>
              <a:gd name="adj" fmla="val 10000"/>
            </a:avLst>
          </a:prstGeom>
          <a:solidFill>
            <a:schemeClr val="accent3"/>
          </a:solidFill>
          <a:ln w="12700">
            <a:solidFill>
              <a:schemeClr val="accent3"/>
            </a:solidFill>
            <a:prstDash val="solid"/>
          </a:ln>
        </p:spPr>
      </p:sp>
      <p:sp>
        <p:nvSpPr>
          <p:cNvPr id="37" name="Text 34"/>
          <p:cNvSpPr txBox="1"/>
          <p:nvPr/>
        </p:nvSpPr>
        <p:spPr>
          <a:xfrm>
            <a:off x="822960" y="4864608"/>
            <a:ext cx="4846320" cy="868680"/>
          </a:xfrm>
          <a:prstGeom prst="rect">
            <a:avLst/>
          </a:prstGeom>
          <a:noFill/>
          <a:ln/>
        </p:spPr>
        <p:txBody>
          <a:bodyPr wrap="square" lIns="0" tIns="0" rIns="0" bIns="0" rtlCol="0" anchor="t"/>
          <a:lstStyle/>
          <a:p>
            <a:pPr indent="0" marL="0">
              <a:buNone/>
            </a:pPr>
            <a:r>
              <a:rPr lang="en-US" sz="1800" b="1" dirty="0">
                <a:solidFill>
                  <a:schemeClr val="accent1"/>
                </a:solidFill>
              </a:rPr>
              <a:t>Two's complement
</a:t>
            </a:r>
            <a:pPr indent="0" marL="0">
              <a:buNone/>
            </a:pPr>
            <a:r>
              <a:rPr lang="en-US" sz="1800" dirty="0">
                <a:solidFill>
                  <a:schemeClr val="tx1"/>
                </a:solidFill>
              </a:rPr>
              <a:t>Both the mantissa and the exponent</a:t>
            </a:r>
            <a:endParaRPr lang="en-US" sz="1800" dirty="0"/>
          </a:p>
        </p:txBody>
      </p:sp>
      <p:sp>
        <p:nvSpPr>
          <p:cNvPr id="38" name="Shape 35"/>
          <p:cNvSpPr/>
          <p:nvPr/>
        </p:nvSpPr>
        <p:spPr>
          <a:xfrm>
            <a:off x="6217920" y="4754880"/>
            <a:ext cx="5394960" cy="1097280"/>
          </a:xfrm>
          <a:prstGeom prst="roundRect">
            <a:avLst>
              <a:gd name="adj" fmla="val 10000"/>
            </a:avLst>
          </a:prstGeom>
          <a:solidFill>
            <a:schemeClr val="accent3"/>
          </a:solidFill>
          <a:ln w="12700">
            <a:solidFill>
              <a:schemeClr val="accent3"/>
            </a:solidFill>
            <a:prstDash val="solid"/>
          </a:ln>
        </p:spPr>
      </p:sp>
      <p:sp>
        <p:nvSpPr>
          <p:cNvPr id="39" name="Text 36"/>
          <p:cNvSpPr txBox="1"/>
          <p:nvPr/>
        </p:nvSpPr>
        <p:spPr>
          <a:xfrm>
            <a:off x="6492240" y="4864608"/>
            <a:ext cx="4846320" cy="868680"/>
          </a:xfrm>
          <a:prstGeom prst="rect">
            <a:avLst/>
          </a:prstGeom>
          <a:noFill/>
          <a:ln/>
        </p:spPr>
        <p:txBody>
          <a:bodyPr wrap="square" lIns="0" tIns="0" rIns="0" bIns="0" rtlCol="0" anchor="t"/>
          <a:lstStyle/>
          <a:p>
            <a:pPr indent="0" marL="0">
              <a:buNone/>
            </a:pPr>
            <a:r>
              <a:rPr lang="en-US" sz="1800" b="1" dirty="0">
                <a:solidFill>
                  <a:schemeClr val="accent1"/>
                </a:solidFill>
              </a:rPr>
              <a:t>Sizes change
</a:t>
            </a:r>
            <a:pPr indent="0" marL="0">
              <a:buNone/>
            </a:pPr>
            <a:r>
              <a:rPr lang="en-US" sz="1800" dirty="0">
                <a:solidFill>
                  <a:schemeClr val="tx1"/>
                </a:solidFill>
              </a:rPr>
              <a:t>8 + 4, 8 + 3, 5 + 3 and 12 + 4 have all been asked</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Why use floating point?</a:t>
            </a:r>
            <a:endParaRPr lang="en-US" sz="3400" dirty="0"/>
          </a:p>
        </p:txBody>
      </p:sp>
      <p:sp>
        <p:nvSpPr>
          <p:cNvPr id="4" name="Shape 1"/>
          <p:cNvSpPr/>
          <p:nvPr/>
        </p:nvSpPr>
        <p:spPr>
          <a:xfrm>
            <a:off x="548640" y="1417320"/>
            <a:ext cx="5394960" cy="2651760"/>
          </a:xfrm>
          <a:prstGeom prst="roundRect">
            <a:avLst>
              <a:gd name="adj" fmla="val 4138"/>
            </a:avLst>
          </a:prstGeom>
          <a:solidFill>
            <a:schemeClr val="bg2"/>
          </a:solidFill>
          <a:ln w="12700">
            <a:solidFill>
              <a:schemeClr val="bg2"/>
            </a:solidFill>
            <a:prstDash val="solid"/>
          </a:ln>
        </p:spPr>
      </p:sp>
      <p:sp>
        <p:nvSpPr>
          <p:cNvPr id="5" name="Text 2"/>
          <p:cNvSpPr txBox="1"/>
          <p:nvPr/>
        </p:nvSpPr>
        <p:spPr>
          <a:xfrm>
            <a:off x="822960" y="1600200"/>
            <a:ext cx="4846320" cy="457200"/>
          </a:xfrm>
          <a:prstGeom prst="rect">
            <a:avLst/>
          </a:prstGeom>
          <a:noFill/>
          <a:ln/>
        </p:spPr>
        <p:txBody>
          <a:bodyPr wrap="square" lIns="0" tIns="0" rIns="0" bIns="0" rtlCol="0" anchor="t"/>
          <a:lstStyle/>
          <a:p>
            <a:pPr indent="0" marL="0">
              <a:buNone/>
            </a:pPr>
            <a:r>
              <a:rPr lang="en-US" sz="2000" b="1" dirty="0">
                <a:solidFill>
                  <a:schemeClr val="accent1"/>
                </a:solidFill>
              </a:rPr>
              <a:t>8-bit integer</a:t>
            </a:r>
            <a:endParaRPr lang="en-US" sz="2000" dirty="0"/>
          </a:p>
        </p:txBody>
      </p:sp>
      <p:sp>
        <p:nvSpPr>
          <p:cNvPr id="6" name="Text 3"/>
          <p:cNvSpPr txBox="1"/>
          <p:nvPr/>
        </p:nvSpPr>
        <p:spPr>
          <a:xfrm>
            <a:off x="822960" y="2148840"/>
            <a:ext cx="4846320" cy="822960"/>
          </a:xfrm>
          <a:prstGeom prst="rect">
            <a:avLst/>
          </a:prstGeom>
          <a:noFill/>
          <a:ln/>
        </p:spPr>
        <p:txBody>
          <a:bodyPr wrap="square" lIns="0" tIns="0" rIns="0" bIns="0" rtlCol="0" anchor="t"/>
          <a:lstStyle/>
          <a:p>
            <a:pPr indent="0" marL="0">
              <a:buNone/>
            </a:pPr>
            <a:r>
              <a:rPr lang="en-US" sz="3800" b="1" dirty="0">
                <a:solidFill>
                  <a:schemeClr val="tx1"/>
                </a:solidFill>
                <a:latin typeface="Courier New" pitchFamily="34" charset="0"/>
                <a:ea typeface="Courier New" pitchFamily="34" charset="-122"/>
                <a:cs typeface="Courier New" pitchFamily="34" charset="-120"/>
              </a:rPr>
              <a:t>0 to 255</a:t>
            </a:r>
            <a:endParaRPr lang="en-US" sz="3800" dirty="0"/>
          </a:p>
        </p:txBody>
      </p:sp>
      <p:sp>
        <p:nvSpPr>
          <p:cNvPr id="7" name="Text 4"/>
          <p:cNvSpPr txBox="1"/>
          <p:nvPr/>
        </p:nvSpPr>
        <p:spPr>
          <a:xfrm>
            <a:off x="822960" y="3108960"/>
            <a:ext cx="4846320" cy="548640"/>
          </a:xfrm>
          <a:prstGeom prst="rect">
            <a:avLst/>
          </a:prstGeom>
          <a:noFill/>
          <a:ln/>
        </p:spPr>
        <p:txBody>
          <a:bodyPr wrap="square" lIns="0" tIns="0" rIns="0" bIns="0" rtlCol="0" anchor="t"/>
          <a:lstStyle/>
          <a:p>
            <a:pPr indent="0" marL="0">
              <a:buNone/>
            </a:pPr>
            <a:r>
              <a:rPr lang="en-US" sz="1800" dirty="0">
                <a:solidFill>
                  <a:schemeClr val="accent6"/>
                </a:solidFill>
              </a:rPr>
              <a:t>Whole numbers only</a:t>
            </a:r>
            <a:endParaRPr lang="en-US" sz="1800" dirty="0"/>
          </a:p>
        </p:txBody>
      </p:sp>
      <p:sp>
        <p:nvSpPr>
          <p:cNvPr id="8" name="Shape 5"/>
          <p:cNvSpPr/>
          <p:nvPr/>
        </p:nvSpPr>
        <p:spPr>
          <a:xfrm>
            <a:off x="6217920" y="1417320"/>
            <a:ext cx="5394960" cy="2651760"/>
          </a:xfrm>
          <a:prstGeom prst="roundRect">
            <a:avLst>
              <a:gd name="adj" fmla="val 4138"/>
            </a:avLst>
          </a:prstGeom>
          <a:solidFill>
            <a:schemeClr val="accent3"/>
          </a:solidFill>
          <a:ln w="12700">
            <a:solidFill>
              <a:schemeClr val="accent3"/>
            </a:solidFill>
            <a:prstDash val="solid"/>
          </a:ln>
        </p:spPr>
      </p:sp>
      <p:sp>
        <p:nvSpPr>
          <p:cNvPr id="9" name="Text 6"/>
          <p:cNvSpPr txBox="1"/>
          <p:nvPr/>
        </p:nvSpPr>
        <p:spPr>
          <a:xfrm>
            <a:off x="6492240" y="1600200"/>
            <a:ext cx="4846320" cy="457200"/>
          </a:xfrm>
          <a:prstGeom prst="rect">
            <a:avLst/>
          </a:prstGeom>
          <a:noFill/>
          <a:ln/>
        </p:spPr>
        <p:txBody>
          <a:bodyPr wrap="square" lIns="0" tIns="0" rIns="0" bIns="0" rtlCol="0" anchor="t"/>
          <a:lstStyle/>
          <a:p>
            <a:pPr indent="0" marL="0">
              <a:buNone/>
            </a:pPr>
            <a:r>
              <a:rPr lang="en-US" sz="2000" b="1" dirty="0">
                <a:solidFill>
                  <a:schemeClr val="accent1"/>
                </a:solidFill>
              </a:rPr>
              <a:t>8-bit floating point (4 + 4)</a:t>
            </a:r>
            <a:endParaRPr lang="en-US" sz="2000" dirty="0"/>
          </a:p>
        </p:txBody>
      </p:sp>
      <p:sp>
        <p:nvSpPr>
          <p:cNvPr id="10" name="Text 7"/>
          <p:cNvSpPr txBox="1"/>
          <p:nvPr/>
        </p:nvSpPr>
        <p:spPr>
          <a:xfrm>
            <a:off x="6492240" y="2148840"/>
            <a:ext cx="4846320" cy="822960"/>
          </a:xfrm>
          <a:prstGeom prst="rect">
            <a:avLst/>
          </a:prstGeom>
          <a:noFill/>
          <a:ln/>
        </p:spPr>
        <p:txBody>
          <a:bodyPr wrap="square" lIns="0" tIns="0" rIns="0" bIns="0" rtlCol="0" anchor="t"/>
          <a:lstStyle/>
          <a:p>
            <a:pPr indent="0" marL="0">
              <a:buNone/>
            </a:pPr>
            <a:r>
              <a:rPr lang="en-US" sz="3800" b="1" dirty="0">
                <a:solidFill>
                  <a:schemeClr val="tx1"/>
                </a:solidFill>
                <a:latin typeface="Courier New" pitchFamily="34" charset="0"/>
                <a:ea typeface="Courier New" pitchFamily="34" charset="-122"/>
                <a:cs typeface="Courier New" pitchFamily="34" charset="-120"/>
              </a:rPr>
              <a:t>0.5 to 28,672</a:t>
            </a:r>
            <a:endParaRPr lang="en-US" sz="3800" dirty="0"/>
          </a:p>
        </p:txBody>
      </p:sp>
      <p:sp>
        <p:nvSpPr>
          <p:cNvPr id="11" name="Text 8"/>
          <p:cNvSpPr txBox="1"/>
          <p:nvPr/>
        </p:nvSpPr>
        <p:spPr>
          <a:xfrm>
            <a:off x="6492240" y="3108960"/>
            <a:ext cx="4846320" cy="548640"/>
          </a:xfrm>
          <a:prstGeom prst="rect">
            <a:avLst/>
          </a:prstGeom>
          <a:noFill/>
          <a:ln/>
        </p:spPr>
        <p:txBody>
          <a:bodyPr wrap="square" lIns="0" tIns="0" rIns="0" bIns="0" rtlCol="0" anchor="t"/>
          <a:lstStyle/>
          <a:p>
            <a:pPr indent="0" marL="0">
              <a:buNone/>
            </a:pPr>
            <a:r>
              <a:rPr lang="en-US" sz="1800" dirty="0">
                <a:solidFill>
                  <a:schemeClr val="accent6"/>
                </a:solidFill>
              </a:rPr>
              <a:t>Fractions and much bigger values</a:t>
            </a:r>
            <a:endParaRPr lang="en-US" sz="1800" dirty="0"/>
          </a:p>
        </p:txBody>
      </p:sp>
      <p:sp>
        <p:nvSpPr>
          <p:cNvPr id="12" name="Text 9"/>
          <p:cNvSpPr txBox="1"/>
          <p:nvPr/>
        </p:nvSpPr>
        <p:spPr>
          <a:xfrm>
            <a:off x="548640" y="4206240"/>
            <a:ext cx="11064240" cy="365760"/>
          </a:xfrm>
          <a:prstGeom prst="rect">
            <a:avLst/>
          </a:prstGeom>
          <a:noFill/>
          <a:ln/>
        </p:spPr>
        <p:txBody>
          <a:bodyPr wrap="square" lIns="0" tIns="0" rIns="0" bIns="0" rtlCol="0" anchor="t"/>
          <a:lstStyle/>
          <a:p>
            <a:pPr indent="0" marL="0">
              <a:buNone/>
            </a:pPr>
            <a:r>
              <a:rPr lang="en-US" sz="1400" i="1" dirty="0">
                <a:solidFill>
                  <a:schemeClr val="accent6"/>
                </a:solidFill>
              </a:rPr>
              <a:t>Floating point range uses the 2019 mark scheme's figures (unsigned exponent).</a:t>
            </a:r>
            <a:endParaRPr lang="en-US" sz="1400" dirty="0"/>
          </a:p>
        </p:txBody>
      </p:sp>
      <p:sp>
        <p:nvSpPr>
          <p:cNvPr id="13" name="Text 10"/>
          <p:cNvSpPr txBox="1"/>
          <p:nvPr/>
        </p:nvSpPr>
        <p:spPr>
          <a:xfrm>
            <a:off x="548640" y="4709160"/>
            <a:ext cx="2743200" cy="411480"/>
          </a:xfrm>
          <a:prstGeom prst="rect">
            <a:avLst/>
          </a:prstGeom>
          <a:noFill/>
          <a:ln/>
        </p:spPr>
        <p:txBody>
          <a:bodyPr wrap="square" lIns="0" tIns="0" rIns="0" bIns="0" rtlCol="0" anchor="t"/>
          <a:lstStyle/>
          <a:p>
            <a:pPr indent="0" marL="0">
              <a:buNone/>
            </a:pPr>
            <a:r>
              <a:rPr lang="en-US" sz="2000" b="1" dirty="0">
                <a:solidFill>
                  <a:schemeClr val="tx1"/>
                </a:solidFill>
              </a:rPr>
              <a:t>Used for</a:t>
            </a:r>
            <a:endParaRPr lang="en-US" sz="2000" dirty="0"/>
          </a:p>
        </p:txBody>
      </p:sp>
      <p:sp>
        <p:nvSpPr>
          <p:cNvPr id="14" name="Text 11"/>
          <p:cNvSpPr/>
          <p:nvPr/>
        </p:nvSpPr>
        <p:spPr>
          <a:xfrm>
            <a:off x="548640" y="5257800"/>
            <a:ext cx="2606040" cy="411480"/>
          </a:xfrm>
          <a:prstGeom prst="roundRect">
            <a:avLst>
              <a:gd name="adj" fmla="val 44444"/>
            </a:avLst>
          </a:prstGeom>
          <a:solidFill>
            <a:schemeClr val="tx1"/>
          </a:solidFill>
          <a:ln>
            <a:solidFill>
              <a:schemeClr val="tx1"/>
            </a:solidFill>
          </a:ln>
        </p:spPr>
        <p:txBody>
          <a:bodyPr wrap="square" lIns="0" tIns="0" rIns="0" bIns="0" rtlCol="0" anchor="ctr"/>
          <a:lstStyle/>
          <a:p>
            <a:pPr algn="ctr" indent="0" marL="0">
              <a:buNone/>
            </a:pPr>
            <a:r>
              <a:rPr lang="en-US" sz="1500" b="1" dirty="0">
                <a:solidFill>
                  <a:schemeClr val="bg1"/>
                </a:solidFill>
              </a:rPr>
              <a:t>Scientific values</a:t>
            </a:r>
            <a:endParaRPr lang="en-US" sz="1500" dirty="0"/>
          </a:p>
        </p:txBody>
      </p:sp>
      <p:sp>
        <p:nvSpPr>
          <p:cNvPr id="15" name="Text 12"/>
          <p:cNvSpPr/>
          <p:nvPr/>
        </p:nvSpPr>
        <p:spPr>
          <a:xfrm>
            <a:off x="3364992" y="5257800"/>
            <a:ext cx="2606040" cy="411480"/>
          </a:xfrm>
          <a:prstGeom prst="roundRect">
            <a:avLst>
              <a:gd name="adj" fmla="val 44444"/>
            </a:avLst>
          </a:prstGeom>
          <a:solidFill>
            <a:schemeClr val="tx1"/>
          </a:solidFill>
          <a:ln>
            <a:solidFill>
              <a:schemeClr val="tx1"/>
            </a:solidFill>
          </a:ln>
        </p:spPr>
        <p:txBody>
          <a:bodyPr wrap="square" lIns="0" tIns="0" rIns="0" bIns="0" rtlCol="0" anchor="ctr"/>
          <a:lstStyle/>
          <a:p>
            <a:pPr algn="ctr" indent="0" marL="0">
              <a:buNone/>
            </a:pPr>
            <a:r>
              <a:rPr lang="en-US" sz="1500" b="1" dirty="0">
                <a:solidFill>
                  <a:schemeClr val="bg1"/>
                </a:solidFill>
              </a:rPr>
              <a:t>Graphics and games</a:t>
            </a:r>
            <a:endParaRPr lang="en-US" sz="1500" dirty="0"/>
          </a:p>
        </p:txBody>
      </p:sp>
      <p:sp>
        <p:nvSpPr>
          <p:cNvPr id="16" name="Text 13"/>
          <p:cNvSpPr/>
          <p:nvPr/>
        </p:nvSpPr>
        <p:spPr>
          <a:xfrm>
            <a:off x="6181344" y="5257800"/>
            <a:ext cx="2606040" cy="411480"/>
          </a:xfrm>
          <a:prstGeom prst="roundRect">
            <a:avLst>
              <a:gd name="adj" fmla="val 44444"/>
            </a:avLst>
          </a:prstGeom>
          <a:solidFill>
            <a:schemeClr val="tx1"/>
          </a:solidFill>
          <a:ln>
            <a:solidFill>
              <a:schemeClr val="tx1"/>
            </a:solidFill>
          </a:ln>
        </p:spPr>
        <p:txBody>
          <a:bodyPr wrap="square" lIns="0" tIns="0" rIns="0" bIns="0" rtlCol="0" anchor="ctr"/>
          <a:lstStyle/>
          <a:p>
            <a:pPr algn="ctr" indent="0" marL="0">
              <a:buNone/>
            </a:pPr>
            <a:r>
              <a:rPr lang="en-US" sz="1500" b="1" dirty="0">
                <a:solidFill>
                  <a:schemeClr val="bg1"/>
                </a:solidFill>
              </a:rPr>
              <a:t>Engineering calculations</a:t>
            </a:r>
            <a:endParaRPr lang="en-US" sz="1500" dirty="0"/>
          </a:p>
        </p:txBody>
      </p:sp>
      <p:sp>
        <p:nvSpPr>
          <p:cNvPr id="17" name="Text 14"/>
          <p:cNvSpPr/>
          <p:nvPr/>
        </p:nvSpPr>
        <p:spPr>
          <a:xfrm>
            <a:off x="8997696" y="5257800"/>
            <a:ext cx="2606040" cy="411480"/>
          </a:xfrm>
          <a:prstGeom prst="roundRect">
            <a:avLst>
              <a:gd name="adj" fmla="val 44444"/>
            </a:avLst>
          </a:prstGeom>
          <a:solidFill>
            <a:schemeClr val="tx1"/>
          </a:solidFill>
          <a:ln>
            <a:solidFill>
              <a:schemeClr val="tx1"/>
            </a:solidFill>
          </a:ln>
        </p:spPr>
        <p:txBody>
          <a:bodyPr wrap="square" lIns="0" tIns="0" rIns="0" bIns="0" rtlCol="0" anchor="ctr"/>
          <a:lstStyle/>
          <a:p>
            <a:pPr algn="ctr" indent="0" marL="0">
              <a:buNone/>
            </a:pPr>
            <a:r>
              <a:rPr lang="en-US" sz="1500" b="1" dirty="0">
                <a:solidFill>
                  <a:schemeClr val="bg1"/>
                </a:solidFill>
              </a:rPr>
              <a:t>Very small measurements</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Floating point to denary: three steps</a:t>
            </a:r>
            <a:endParaRPr lang="en-US" sz="3400" dirty="0"/>
          </a:p>
        </p:txBody>
      </p:sp>
      <p:sp>
        <p:nvSpPr>
          <p:cNvPr id="4" name="Text 1"/>
          <p:cNvSpPr/>
          <p:nvPr/>
        </p:nvSpPr>
        <p:spPr>
          <a:xfrm>
            <a:off x="914400"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5" name="Text 2"/>
          <p:cNvSpPr txBox="1"/>
          <p:nvPr/>
        </p:nvSpPr>
        <p:spPr>
          <a:xfrm>
            <a:off x="822960" y="1719072"/>
            <a:ext cx="749808"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6" name="Text 3"/>
          <p:cNvSpPr txBox="1"/>
          <p:nvPr/>
        </p:nvSpPr>
        <p:spPr>
          <a:xfrm>
            <a:off x="1499616" y="2011680"/>
            <a:ext cx="201168" cy="680314"/>
          </a:xfrm>
          <a:prstGeom prst="rect">
            <a:avLst/>
          </a:prstGeom>
          <a:noFill/>
          <a:ln/>
        </p:spPr>
        <p:txBody>
          <a:bodyPr wrap="square" lIns="0" tIns="0" rIns="0" bIns="0" rtlCol="0" anchor="b"/>
          <a:lstStyle/>
          <a:p>
            <a:pPr algn="ctr" indent="0" marL="0">
              <a:buNone/>
            </a:pPr>
            <a:r>
              <a:rPr lang="en-US" sz="3200" b="1" dirty="0">
                <a:solidFill>
                  <a:schemeClr val="tx1"/>
                </a:solidFill>
              </a:rPr>
              <a:t>.</a:t>
            </a:r>
            <a:endParaRPr lang="en-US" sz="3200" dirty="0"/>
          </a:p>
        </p:txBody>
      </p:sp>
      <p:sp>
        <p:nvSpPr>
          <p:cNvPr id="7" name="Text 4"/>
          <p:cNvSpPr/>
          <p:nvPr/>
        </p:nvSpPr>
        <p:spPr>
          <a:xfrm>
            <a:off x="1700784"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8" name="Text 5"/>
          <p:cNvSpPr txBox="1"/>
          <p:nvPr/>
        </p:nvSpPr>
        <p:spPr>
          <a:xfrm>
            <a:off x="1609344"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9" name="Text 6"/>
          <p:cNvSpPr/>
          <p:nvPr/>
        </p:nvSpPr>
        <p:spPr>
          <a:xfrm>
            <a:off x="2322576"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0" name="Text 7"/>
          <p:cNvSpPr txBox="1"/>
          <p:nvPr/>
        </p:nvSpPr>
        <p:spPr>
          <a:xfrm>
            <a:off x="2231136"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1" name="Text 8"/>
          <p:cNvSpPr/>
          <p:nvPr/>
        </p:nvSpPr>
        <p:spPr>
          <a:xfrm>
            <a:off x="2944368"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2" name="Text 9"/>
          <p:cNvSpPr txBox="1"/>
          <p:nvPr/>
        </p:nvSpPr>
        <p:spPr>
          <a:xfrm>
            <a:off x="2852928"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3" name="Text 10"/>
          <p:cNvSpPr/>
          <p:nvPr/>
        </p:nvSpPr>
        <p:spPr>
          <a:xfrm>
            <a:off x="3566160"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4" name="Text 11"/>
          <p:cNvSpPr txBox="1"/>
          <p:nvPr/>
        </p:nvSpPr>
        <p:spPr>
          <a:xfrm>
            <a:off x="3474720"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5" name="Text 12"/>
          <p:cNvSpPr/>
          <p:nvPr/>
        </p:nvSpPr>
        <p:spPr>
          <a:xfrm>
            <a:off x="4187952"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6" name="Text 13"/>
          <p:cNvSpPr txBox="1"/>
          <p:nvPr/>
        </p:nvSpPr>
        <p:spPr>
          <a:xfrm>
            <a:off x="4096512"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7" name="Text 14"/>
          <p:cNvSpPr/>
          <p:nvPr/>
        </p:nvSpPr>
        <p:spPr>
          <a:xfrm>
            <a:off x="4809744"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8" name="Text 15"/>
          <p:cNvSpPr txBox="1"/>
          <p:nvPr/>
        </p:nvSpPr>
        <p:spPr>
          <a:xfrm>
            <a:off x="4718304"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19" name="Text 16"/>
          <p:cNvSpPr/>
          <p:nvPr/>
        </p:nvSpPr>
        <p:spPr>
          <a:xfrm>
            <a:off x="5431536"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0" name="Text 17"/>
          <p:cNvSpPr txBox="1"/>
          <p:nvPr/>
        </p:nvSpPr>
        <p:spPr>
          <a:xfrm>
            <a:off x="5340096"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1" name="Text 18"/>
          <p:cNvSpPr/>
          <p:nvPr/>
        </p:nvSpPr>
        <p:spPr>
          <a:xfrm>
            <a:off x="6510528"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2" name="Text 19"/>
          <p:cNvSpPr txBox="1"/>
          <p:nvPr/>
        </p:nvSpPr>
        <p:spPr>
          <a:xfrm>
            <a:off x="6419088" y="1719072"/>
            <a:ext cx="749808"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23" name="Text 20"/>
          <p:cNvSpPr/>
          <p:nvPr/>
        </p:nvSpPr>
        <p:spPr>
          <a:xfrm>
            <a:off x="7132320"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4" name="Text 21"/>
          <p:cNvSpPr txBox="1"/>
          <p:nvPr/>
        </p:nvSpPr>
        <p:spPr>
          <a:xfrm>
            <a:off x="7040880"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25" name="Text 22"/>
          <p:cNvSpPr/>
          <p:nvPr/>
        </p:nvSpPr>
        <p:spPr>
          <a:xfrm>
            <a:off x="7754112"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6" name="Text 23"/>
          <p:cNvSpPr txBox="1"/>
          <p:nvPr/>
        </p:nvSpPr>
        <p:spPr>
          <a:xfrm>
            <a:off x="7662672"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7" name="Text 24"/>
          <p:cNvSpPr/>
          <p:nvPr/>
        </p:nvSpPr>
        <p:spPr>
          <a:xfrm>
            <a:off x="8375904" y="20116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28" name="Text 25"/>
          <p:cNvSpPr txBox="1"/>
          <p:nvPr/>
        </p:nvSpPr>
        <p:spPr>
          <a:xfrm>
            <a:off x="8284464" y="17190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29" name="Text 26"/>
          <p:cNvSpPr txBox="1"/>
          <p:nvPr/>
        </p:nvSpPr>
        <p:spPr>
          <a:xfrm>
            <a:off x="914400" y="1389888"/>
            <a:ext cx="5084064"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0" name="Text 27"/>
          <p:cNvSpPr txBox="1"/>
          <p:nvPr/>
        </p:nvSpPr>
        <p:spPr>
          <a:xfrm>
            <a:off x="6327648" y="1389888"/>
            <a:ext cx="2798064"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1" name="Text 28"/>
          <p:cNvSpPr/>
          <p:nvPr/>
        </p:nvSpPr>
        <p:spPr>
          <a:xfrm>
            <a:off x="548640" y="33375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32" name="Text 29"/>
          <p:cNvSpPr txBox="1"/>
          <p:nvPr/>
        </p:nvSpPr>
        <p:spPr>
          <a:xfrm>
            <a:off x="1234440" y="3291840"/>
            <a:ext cx="10332720" cy="685800"/>
          </a:xfrm>
          <a:prstGeom prst="rect">
            <a:avLst/>
          </a:prstGeom>
          <a:noFill/>
          <a:ln/>
        </p:spPr>
        <p:txBody>
          <a:bodyPr wrap="square" lIns="0" tIns="0" rIns="0" bIns="0" rtlCol="0" anchor="ctr"/>
          <a:lstStyle/>
          <a:p>
            <a:pPr indent="0" marL="0">
              <a:buNone/>
            </a:pPr>
            <a:r>
              <a:rPr lang="en-US" sz="1900" b="1" dirty="0">
                <a:solidFill>
                  <a:schemeClr val="tx1"/>
                </a:solidFill>
              </a:rPr>
              <a:t>Mantissa: </a:t>
            </a:r>
            <a:pPr indent="0" marL="0">
              <a:buNone/>
            </a:pPr>
            <a:r>
              <a:rPr lang="en-US" sz="1900" dirty="0">
                <a:solidFill>
                  <a:schemeClr val="tx1"/>
                </a:solidFill>
              </a:rPr>
              <a:t>Work out its value using −1 . ½ ¼ ⅛ …</a:t>
            </a:r>
            <a:endParaRPr lang="en-US" sz="1900" dirty="0"/>
          </a:p>
        </p:txBody>
      </p:sp>
      <p:sp>
        <p:nvSpPr>
          <p:cNvPr id="33" name="Text 30"/>
          <p:cNvSpPr/>
          <p:nvPr/>
        </p:nvSpPr>
        <p:spPr>
          <a:xfrm>
            <a:off x="548640" y="42519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34" name="Text 31"/>
          <p:cNvSpPr txBox="1"/>
          <p:nvPr/>
        </p:nvSpPr>
        <p:spPr>
          <a:xfrm>
            <a:off x="1234440" y="4206240"/>
            <a:ext cx="10332720" cy="685800"/>
          </a:xfrm>
          <a:prstGeom prst="rect">
            <a:avLst/>
          </a:prstGeom>
          <a:noFill/>
          <a:ln/>
        </p:spPr>
        <p:txBody>
          <a:bodyPr wrap="square" lIns="0" tIns="0" rIns="0" bIns="0" rtlCol="0" anchor="ctr"/>
          <a:lstStyle/>
          <a:p>
            <a:pPr indent="0" marL="0">
              <a:buNone/>
            </a:pPr>
            <a:r>
              <a:rPr lang="en-US" sz="1900" b="1" dirty="0">
                <a:solidFill>
                  <a:schemeClr val="tx1"/>
                </a:solidFill>
              </a:rPr>
              <a:t>Exponent: </a:t>
            </a:r>
            <a:pPr indent="0" marL="0">
              <a:buNone/>
            </a:pPr>
            <a:r>
              <a:rPr lang="en-US" sz="1900" dirty="0">
                <a:solidFill>
                  <a:schemeClr val="tx1"/>
                </a:solidFill>
              </a:rPr>
              <a:t>Work out its value using −8 4 2 1</a:t>
            </a:r>
            <a:endParaRPr lang="en-US" sz="1900" dirty="0"/>
          </a:p>
        </p:txBody>
      </p:sp>
      <p:sp>
        <p:nvSpPr>
          <p:cNvPr id="35" name="Text 32"/>
          <p:cNvSpPr/>
          <p:nvPr/>
        </p:nvSpPr>
        <p:spPr>
          <a:xfrm>
            <a:off x="548640" y="5166360"/>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6" name="Text 33"/>
          <p:cNvSpPr txBox="1"/>
          <p:nvPr/>
        </p:nvSpPr>
        <p:spPr>
          <a:xfrm>
            <a:off x="1234440" y="5120640"/>
            <a:ext cx="10332720" cy="685800"/>
          </a:xfrm>
          <a:prstGeom prst="rect">
            <a:avLst/>
          </a:prstGeom>
          <a:noFill/>
          <a:ln/>
        </p:spPr>
        <p:txBody>
          <a:bodyPr wrap="square" lIns="0" tIns="0" rIns="0" bIns="0" rtlCol="0" anchor="ctr"/>
          <a:lstStyle/>
          <a:p>
            <a:pPr indent="0" marL="0">
              <a:buNone/>
            </a:pPr>
            <a:r>
              <a:rPr lang="en-US" sz="1900" b="1" dirty="0">
                <a:solidFill>
                  <a:schemeClr val="tx1"/>
                </a:solidFill>
              </a:rPr>
              <a:t>Answer: </a:t>
            </a:r>
            <a:pPr indent="0" marL="0">
              <a:buNone/>
            </a:pPr>
            <a:r>
              <a:rPr lang="en-US" sz="1900" dirty="0">
                <a:solidFill>
                  <a:schemeClr val="tx1"/>
                </a:solidFill>
              </a:rPr>
              <a:t>Move the point right by the exponent, or multiply the mantissa by 2 to the power of the exponent</a:t>
            </a:r>
            <a:endParaRPr lang="en-US" sz="19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Worked example from your notes</a:t>
            </a:r>
            <a:endParaRPr lang="en-US" sz="3400" dirty="0"/>
          </a:p>
        </p:txBody>
      </p:sp>
      <p:sp>
        <p:nvSpPr>
          <p:cNvPr id="4" name="Text 1"/>
          <p:cNvSpPr/>
          <p:nvPr/>
        </p:nvSpPr>
        <p:spPr>
          <a:xfrm>
            <a:off x="914400"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5" name="Text 2"/>
          <p:cNvSpPr txBox="1"/>
          <p:nvPr/>
        </p:nvSpPr>
        <p:spPr>
          <a:xfrm>
            <a:off x="822960" y="149047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6" name="Text 3"/>
          <p:cNvSpPr txBox="1"/>
          <p:nvPr/>
        </p:nvSpPr>
        <p:spPr>
          <a:xfrm>
            <a:off x="1463040" y="1783080"/>
            <a:ext cx="201168" cy="636422"/>
          </a:xfrm>
          <a:prstGeom prst="rect">
            <a:avLst/>
          </a:prstGeom>
          <a:noFill/>
          <a:ln/>
        </p:spPr>
        <p:txBody>
          <a:bodyPr wrap="square" lIns="0" tIns="0" rIns="0" bIns="0" rtlCol="0" anchor="b"/>
          <a:lstStyle/>
          <a:p>
            <a:pPr algn="ctr" indent="0" marL="0">
              <a:buNone/>
            </a:pPr>
            <a:r>
              <a:rPr lang="en-US" sz="3000" b="1" dirty="0">
                <a:solidFill>
                  <a:schemeClr val="tx1"/>
                </a:solidFill>
              </a:rPr>
              <a:t>.</a:t>
            </a:r>
            <a:endParaRPr lang="en-US" sz="3000" dirty="0"/>
          </a:p>
        </p:txBody>
      </p:sp>
      <p:sp>
        <p:nvSpPr>
          <p:cNvPr id="7" name="Text 4"/>
          <p:cNvSpPr/>
          <p:nvPr/>
        </p:nvSpPr>
        <p:spPr>
          <a:xfrm>
            <a:off x="1664208"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8" name="Text 5"/>
          <p:cNvSpPr txBox="1"/>
          <p:nvPr/>
        </p:nvSpPr>
        <p:spPr>
          <a:xfrm>
            <a:off x="1572768"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9" name="Text 6"/>
          <p:cNvSpPr/>
          <p:nvPr/>
        </p:nvSpPr>
        <p:spPr>
          <a:xfrm>
            <a:off x="2249424"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0" name="Text 7"/>
          <p:cNvSpPr txBox="1"/>
          <p:nvPr/>
        </p:nvSpPr>
        <p:spPr>
          <a:xfrm>
            <a:off x="2157984"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1" name="Text 8"/>
          <p:cNvSpPr/>
          <p:nvPr/>
        </p:nvSpPr>
        <p:spPr>
          <a:xfrm>
            <a:off x="2834640"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2" name="Text 9"/>
          <p:cNvSpPr txBox="1"/>
          <p:nvPr/>
        </p:nvSpPr>
        <p:spPr>
          <a:xfrm>
            <a:off x="2743200"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3" name="Text 10"/>
          <p:cNvSpPr/>
          <p:nvPr/>
        </p:nvSpPr>
        <p:spPr>
          <a:xfrm>
            <a:off x="3419856"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4" name="Text 11"/>
          <p:cNvSpPr txBox="1"/>
          <p:nvPr/>
        </p:nvSpPr>
        <p:spPr>
          <a:xfrm>
            <a:off x="3328416"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5" name="Text 12"/>
          <p:cNvSpPr/>
          <p:nvPr/>
        </p:nvSpPr>
        <p:spPr>
          <a:xfrm>
            <a:off x="4005072"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6" name="Text 13"/>
          <p:cNvSpPr txBox="1"/>
          <p:nvPr/>
        </p:nvSpPr>
        <p:spPr>
          <a:xfrm>
            <a:off x="3913632"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7" name="Text 14"/>
          <p:cNvSpPr/>
          <p:nvPr/>
        </p:nvSpPr>
        <p:spPr>
          <a:xfrm>
            <a:off x="4590288"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8" name="Text 15"/>
          <p:cNvSpPr txBox="1"/>
          <p:nvPr/>
        </p:nvSpPr>
        <p:spPr>
          <a:xfrm>
            <a:off x="4498848"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19" name="Text 16"/>
          <p:cNvSpPr/>
          <p:nvPr/>
        </p:nvSpPr>
        <p:spPr>
          <a:xfrm>
            <a:off x="5175504"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0" name="Text 17"/>
          <p:cNvSpPr txBox="1"/>
          <p:nvPr/>
        </p:nvSpPr>
        <p:spPr>
          <a:xfrm>
            <a:off x="5084064"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1" name="Text 18"/>
          <p:cNvSpPr/>
          <p:nvPr/>
        </p:nvSpPr>
        <p:spPr>
          <a:xfrm>
            <a:off x="6217920"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2" name="Text 19"/>
          <p:cNvSpPr txBox="1"/>
          <p:nvPr/>
        </p:nvSpPr>
        <p:spPr>
          <a:xfrm>
            <a:off x="6126480" y="149047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23" name="Text 20"/>
          <p:cNvSpPr/>
          <p:nvPr/>
        </p:nvSpPr>
        <p:spPr>
          <a:xfrm>
            <a:off x="6803136"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4" name="Text 21"/>
          <p:cNvSpPr txBox="1"/>
          <p:nvPr/>
        </p:nvSpPr>
        <p:spPr>
          <a:xfrm>
            <a:off x="6711696"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25" name="Text 22"/>
          <p:cNvSpPr/>
          <p:nvPr/>
        </p:nvSpPr>
        <p:spPr>
          <a:xfrm>
            <a:off x="7388352"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6" name="Text 23"/>
          <p:cNvSpPr txBox="1"/>
          <p:nvPr/>
        </p:nvSpPr>
        <p:spPr>
          <a:xfrm>
            <a:off x="7296912"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7" name="Text 24"/>
          <p:cNvSpPr/>
          <p:nvPr/>
        </p:nvSpPr>
        <p:spPr>
          <a:xfrm>
            <a:off x="7973568"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8" name="Text 25"/>
          <p:cNvSpPr txBox="1"/>
          <p:nvPr/>
        </p:nvSpPr>
        <p:spPr>
          <a:xfrm>
            <a:off x="7882128"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29" name="Text 26"/>
          <p:cNvSpPr txBox="1"/>
          <p:nvPr/>
        </p:nvSpPr>
        <p:spPr>
          <a:xfrm>
            <a:off x="914400" y="1161288"/>
            <a:ext cx="4791456"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0" name="Text 27"/>
          <p:cNvSpPr txBox="1"/>
          <p:nvPr/>
        </p:nvSpPr>
        <p:spPr>
          <a:xfrm>
            <a:off x="6035040" y="1161288"/>
            <a:ext cx="2651760"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1" name="Shape 28"/>
          <p:cNvSpPr/>
          <p:nvPr/>
        </p:nvSpPr>
        <p:spPr>
          <a:xfrm>
            <a:off x="548640" y="2926080"/>
            <a:ext cx="11064240" cy="658368"/>
          </a:xfrm>
          <a:prstGeom prst="roundRect">
            <a:avLst>
              <a:gd name="adj" fmla="val 16667"/>
            </a:avLst>
          </a:prstGeom>
          <a:solidFill>
            <a:schemeClr val="bg2"/>
          </a:solidFill>
          <a:ln w="12700">
            <a:solidFill>
              <a:schemeClr val="bg2"/>
            </a:solidFill>
            <a:prstDash val="solid"/>
          </a:ln>
        </p:spPr>
      </p:sp>
      <p:sp>
        <p:nvSpPr>
          <p:cNvPr id="32" name="Text 29"/>
          <p:cNvSpPr txBox="1"/>
          <p:nvPr/>
        </p:nvSpPr>
        <p:spPr>
          <a:xfrm>
            <a:off x="868680" y="3017520"/>
            <a:ext cx="3657600" cy="475488"/>
          </a:xfrm>
          <a:prstGeom prst="rect">
            <a:avLst/>
          </a:prstGeom>
          <a:noFill/>
          <a:ln/>
        </p:spPr>
        <p:txBody>
          <a:bodyPr wrap="square" lIns="0" tIns="0" rIns="0" bIns="0" rtlCol="0" anchor="ctr"/>
          <a:lstStyle/>
          <a:p>
            <a:pPr indent="0" marL="0">
              <a:buNone/>
            </a:pPr>
            <a:r>
              <a:rPr lang="en-US" sz="1900" b="1" dirty="0">
                <a:solidFill>
                  <a:schemeClr val="tx1"/>
                </a:solidFill>
              </a:rPr>
              <a:t>Mantissa</a:t>
            </a:r>
            <a:endParaRPr lang="en-US" sz="1900" dirty="0"/>
          </a:p>
        </p:txBody>
      </p:sp>
      <p:sp>
        <p:nvSpPr>
          <p:cNvPr id="33" name="Text 30"/>
          <p:cNvSpPr txBox="1"/>
          <p:nvPr/>
        </p:nvSpPr>
        <p:spPr>
          <a:xfrm>
            <a:off x="4572000" y="3017520"/>
            <a:ext cx="6858000" cy="475488"/>
          </a:xfrm>
          <a:prstGeom prst="rect">
            <a:avLst/>
          </a:prstGeom>
          <a:noFill/>
          <a:ln/>
        </p:spPr>
        <p:txBody>
          <a:bodyPr wrap="square" lIns="0" tIns="0" rIns="0" bIns="0" rtlCol="0" anchor="ctr"/>
          <a:lstStyle/>
          <a:p>
            <a:pPr indent="0" marL="0">
              <a:buNone/>
            </a:pPr>
            <a:r>
              <a:rPr lang="en-US" sz="2200" b="1" dirty="0">
                <a:solidFill>
                  <a:schemeClr val="tx1"/>
                </a:solidFill>
                <a:latin typeface="Courier New" pitchFamily="34" charset="0"/>
                <a:ea typeface="Courier New" pitchFamily="34" charset="-122"/>
                <a:cs typeface="Courier New" pitchFamily="34" charset="-120"/>
              </a:rPr>
              <a:t>0.1000100</a:t>
            </a:r>
            <a:endParaRPr lang="en-US" sz="2200" dirty="0"/>
          </a:p>
        </p:txBody>
      </p:sp>
      <p:sp>
        <p:nvSpPr>
          <p:cNvPr id="34" name="Shape 31"/>
          <p:cNvSpPr/>
          <p:nvPr/>
        </p:nvSpPr>
        <p:spPr>
          <a:xfrm>
            <a:off x="548640" y="3703320"/>
            <a:ext cx="11064240" cy="658368"/>
          </a:xfrm>
          <a:prstGeom prst="roundRect">
            <a:avLst>
              <a:gd name="adj" fmla="val 16667"/>
            </a:avLst>
          </a:prstGeom>
          <a:solidFill>
            <a:schemeClr val="bg2"/>
          </a:solidFill>
          <a:ln w="12700">
            <a:solidFill>
              <a:schemeClr val="bg2"/>
            </a:solidFill>
            <a:prstDash val="solid"/>
          </a:ln>
        </p:spPr>
      </p:sp>
      <p:sp>
        <p:nvSpPr>
          <p:cNvPr id="35" name="Text 32"/>
          <p:cNvSpPr txBox="1"/>
          <p:nvPr/>
        </p:nvSpPr>
        <p:spPr>
          <a:xfrm>
            <a:off x="868680" y="3794760"/>
            <a:ext cx="3657600" cy="475488"/>
          </a:xfrm>
          <a:prstGeom prst="rect">
            <a:avLst/>
          </a:prstGeom>
          <a:noFill/>
          <a:ln/>
        </p:spPr>
        <p:txBody>
          <a:bodyPr wrap="square" lIns="0" tIns="0" rIns="0" bIns="0" rtlCol="0" anchor="ctr"/>
          <a:lstStyle/>
          <a:p>
            <a:pPr indent="0" marL="0">
              <a:buNone/>
            </a:pPr>
            <a:r>
              <a:rPr lang="en-US" sz="1900" b="1" dirty="0">
                <a:solidFill>
                  <a:schemeClr val="tx1"/>
                </a:solidFill>
              </a:rPr>
              <a:t>Exponent</a:t>
            </a:r>
            <a:endParaRPr lang="en-US" sz="1900" dirty="0"/>
          </a:p>
        </p:txBody>
      </p:sp>
      <p:sp>
        <p:nvSpPr>
          <p:cNvPr id="36" name="Text 33"/>
          <p:cNvSpPr txBox="1"/>
          <p:nvPr/>
        </p:nvSpPr>
        <p:spPr>
          <a:xfrm>
            <a:off x="4572000" y="3794760"/>
            <a:ext cx="6858000" cy="475488"/>
          </a:xfrm>
          <a:prstGeom prst="rect">
            <a:avLst/>
          </a:prstGeom>
          <a:noFill/>
          <a:ln/>
        </p:spPr>
        <p:txBody>
          <a:bodyPr wrap="square" lIns="0" tIns="0" rIns="0" bIns="0" rtlCol="0" anchor="ctr"/>
          <a:lstStyle/>
          <a:p>
            <a:pPr indent="0" marL="0">
              <a:buNone/>
            </a:pPr>
            <a:r>
              <a:rPr lang="en-US" sz="2200" b="1" dirty="0">
                <a:solidFill>
                  <a:schemeClr val="tx1"/>
                </a:solidFill>
                <a:latin typeface="Courier New" pitchFamily="34" charset="0"/>
                <a:ea typeface="Courier New" pitchFamily="34" charset="-122"/>
                <a:cs typeface="Courier New" pitchFamily="34" charset="-120"/>
              </a:rPr>
              <a:t>0101 = +5</a:t>
            </a:r>
            <a:endParaRPr lang="en-US" sz="2200" dirty="0"/>
          </a:p>
        </p:txBody>
      </p:sp>
      <p:sp>
        <p:nvSpPr>
          <p:cNvPr id="37" name="Shape 34"/>
          <p:cNvSpPr/>
          <p:nvPr/>
        </p:nvSpPr>
        <p:spPr>
          <a:xfrm>
            <a:off x="548640" y="4480560"/>
            <a:ext cx="11064240" cy="658368"/>
          </a:xfrm>
          <a:prstGeom prst="roundRect">
            <a:avLst>
              <a:gd name="adj" fmla="val 16667"/>
            </a:avLst>
          </a:prstGeom>
          <a:solidFill>
            <a:schemeClr val="bg2"/>
          </a:solidFill>
          <a:ln w="12700">
            <a:solidFill>
              <a:schemeClr val="bg2"/>
            </a:solidFill>
            <a:prstDash val="solid"/>
          </a:ln>
        </p:spPr>
      </p:sp>
      <p:sp>
        <p:nvSpPr>
          <p:cNvPr id="38" name="Text 35"/>
          <p:cNvSpPr txBox="1"/>
          <p:nvPr/>
        </p:nvSpPr>
        <p:spPr>
          <a:xfrm>
            <a:off x="868680" y="4572000"/>
            <a:ext cx="3657600" cy="475488"/>
          </a:xfrm>
          <a:prstGeom prst="rect">
            <a:avLst/>
          </a:prstGeom>
          <a:noFill/>
          <a:ln/>
        </p:spPr>
        <p:txBody>
          <a:bodyPr wrap="square" lIns="0" tIns="0" rIns="0" bIns="0" rtlCol="0" anchor="ctr"/>
          <a:lstStyle/>
          <a:p>
            <a:pPr indent="0" marL="0">
              <a:buNone/>
            </a:pPr>
            <a:r>
              <a:rPr lang="en-US" sz="1900" b="1" dirty="0">
                <a:solidFill>
                  <a:schemeClr val="tx1"/>
                </a:solidFill>
              </a:rPr>
              <a:t>Move the point 5 right</a:t>
            </a:r>
            <a:endParaRPr lang="en-US" sz="1900" dirty="0"/>
          </a:p>
        </p:txBody>
      </p:sp>
      <p:sp>
        <p:nvSpPr>
          <p:cNvPr id="39" name="Text 36"/>
          <p:cNvSpPr txBox="1"/>
          <p:nvPr/>
        </p:nvSpPr>
        <p:spPr>
          <a:xfrm>
            <a:off x="4572000" y="4572000"/>
            <a:ext cx="6858000" cy="475488"/>
          </a:xfrm>
          <a:prstGeom prst="rect">
            <a:avLst/>
          </a:prstGeom>
          <a:noFill/>
          <a:ln/>
        </p:spPr>
        <p:txBody>
          <a:bodyPr wrap="square" lIns="0" tIns="0" rIns="0" bIns="0" rtlCol="0" anchor="ctr"/>
          <a:lstStyle/>
          <a:p>
            <a:pPr indent="0" marL="0">
              <a:buNone/>
            </a:pPr>
            <a:r>
              <a:rPr lang="en-US" sz="2200" b="1" dirty="0">
                <a:solidFill>
                  <a:schemeClr val="tx1"/>
                </a:solidFill>
                <a:latin typeface="Courier New" pitchFamily="34" charset="0"/>
                <a:ea typeface="Courier New" pitchFamily="34" charset="-122"/>
                <a:cs typeface="Courier New" pitchFamily="34" charset="-120"/>
              </a:rPr>
              <a:t>0.1000100 → 010001.00</a:t>
            </a:r>
            <a:endParaRPr lang="en-US" sz="2200" dirty="0"/>
          </a:p>
        </p:txBody>
      </p:sp>
      <p:sp>
        <p:nvSpPr>
          <p:cNvPr id="40" name="Shape 37"/>
          <p:cNvSpPr/>
          <p:nvPr/>
        </p:nvSpPr>
        <p:spPr>
          <a:xfrm>
            <a:off x="548640" y="5257800"/>
            <a:ext cx="11064240" cy="658368"/>
          </a:xfrm>
          <a:prstGeom prst="roundRect">
            <a:avLst>
              <a:gd name="adj" fmla="val 16667"/>
            </a:avLst>
          </a:prstGeom>
          <a:solidFill>
            <a:schemeClr val="accent3"/>
          </a:solidFill>
          <a:ln w="12700">
            <a:solidFill>
              <a:schemeClr val="accent3"/>
            </a:solidFill>
            <a:prstDash val="solid"/>
          </a:ln>
        </p:spPr>
      </p:sp>
      <p:sp>
        <p:nvSpPr>
          <p:cNvPr id="41" name="Text 38"/>
          <p:cNvSpPr txBox="1"/>
          <p:nvPr/>
        </p:nvSpPr>
        <p:spPr>
          <a:xfrm>
            <a:off x="868680" y="5349240"/>
            <a:ext cx="3657600" cy="475488"/>
          </a:xfrm>
          <a:prstGeom prst="rect">
            <a:avLst/>
          </a:prstGeom>
          <a:noFill/>
          <a:ln/>
        </p:spPr>
        <p:txBody>
          <a:bodyPr wrap="square" lIns="0" tIns="0" rIns="0" bIns="0" rtlCol="0" anchor="ctr"/>
          <a:lstStyle/>
          <a:p>
            <a:pPr indent="0" marL="0">
              <a:buNone/>
            </a:pPr>
            <a:r>
              <a:rPr lang="en-US" sz="1900" b="1" dirty="0">
                <a:solidFill>
                  <a:schemeClr val="tx1"/>
                </a:solidFill>
              </a:rPr>
              <a:t>Answer</a:t>
            </a:r>
            <a:endParaRPr lang="en-US" sz="1900" dirty="0"/>
          </a:p>
        </p:txBody>
      </p:sp>
      <p:sp>
        <p:nvSpPr>
          <p:cNvPr id="42" name="Text 39"/>
          <p:cNvSpPr txBox="1"/>
          <p:nvPr/>
        </p:nvSpPr>
        <p:spPr>
          <a:xfrm>
            <a:off x="4572000" y="5349240"/>
            <a:ext cx="6858000" cy="475488"/>
          </a:xfrm>
          <a:prstGeom prst="rect">
            <a:avLst/>
          </a:prstGeom>
          <a:noFill/>
          <a:ln/>
        </p:spPr>
        <p:txBody>
          <a:bodyPr wrap="square" lIns="0" tIns="0" rIns="0" bIns="0" rtlCol="0" anchor="ctr"/>
          <a:lstStyle/>
          <a:p>
            <a:pPr indent="0" marL="0">
              <a:buNone/>
            </a:pPr>
            <a:r>
              <a:rPr lang="en-US" sz="2200" b="1" dirty="0">
                <a:solidFill>
                  <a:schemeClr val="accent1"/>
                </a:solidFill>
                <a:latin typeface="Courier New" pitchFamily="34" charset="0"/>
                <a:ea typeface="Courier New" pitchFamily="34" charset="-122"/>
                <a:cs typeface="Courier New" pitchFamily="34" charset="-120"/>
              </a:rPr>
              <a:t>16 + 1 = 17</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Worked exam example  (2016, Q6d)</a:t>
            </a:r>
            <a:endParaRPr lang="en-US" sz="3400" dirty="0"/>
          </a:p>
        </p:txBody>
      </p:sp>
      <p:sp>
        <p:nvSpPr>
          <p:cNvPr id="4" name="Text 1"/>
          <p:cNvSpPr txBox="1"/>
          <p:nvPr/>
        </p:nvSpPr>
        <p:spPr>
          <a:xfrm>
            <a:off x="548640" y="1234440"/>
            <a:ext cx="11064240" cy="640080"/>
          </a:xfrm>
          <a:prstGeom prst="rect">
            <a:avLst/>
          </a:prstGeom>
          <a:noFill/>
          <a:ln/>
        </p:spPr>
        <p:txBody>
          <a:bodyPr wrap="square" lIns="0" tIns="0" rIns="0" bIns="0" rtlCol="0" anchor="t"/>
          <a:lstStyle/>
          <a:p>
            <a:pPr indent="0" marL="0">
              <a:buNone/>
            </a:pPr>
            <a:r>
              <a:rPr lang="en-US" sz="1700" dirty="0">
                <a:solidFill>
                  <a:schemeClr val="accent6"/>
                </a:solidFill>
              </a:rPr>
              <a:t>Calculate the denary value of the mantissa and exponent, and convert this floating point number into a denary number.  [3]</a:t>
            </a:r>
            <a:endParaRPr lang="en-US" sz="1700" dirty="0"/>
          </a:p>
        </p:txBody>
      </p:sp>
      <p:sp>
        <p:nvSpPr>
          <p:cNvPr id="5" name="Text 2"/>
          <p:cNvSpPr/>
          <p:nvPr/>
        </p:nvSpPr>
        <p:spPr>
          <a:xfrm>
            <a:off x="914400"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6" name="Text 3"/>
          <p:cNvSpPr txBox="1"/>
          <p:nvPr/>
        </p:nvSpPr>
        <p:spPr>
          <a:xfrm>
            <a:off x="822960" y="222199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7" name="Text 4"/>
          <p:cNvSpPr txBox="1"/>
          <p:nvPr/>
        </p:nvSpPr>
        <p:spPr>
          <a:xfrm>
            <a:off x="1463040" y="2514600"/>
            <a:ext cx="201168" cy="636422"/>
          </a:xfrm>
          <a:prstGeom prst="rect">
            <a:avLst/>
          </a:prstGeom>
          <a:noFill/>
          <a:ln/>
        </p:spPr>
        <p:txBody>
          <a:bodyPr wrap="square" lIns="0" tIns="0" rIns="0" bIns="0" rtlCol="0" anchor="b"/>
          <a:lstStyle/>
          <a:p>
            <a:pPr algn="ctr" indent="0" marL="0">
              <a:buNone/>
            </a:pPr>
            <a:r>
              <a:rPr lang="en-US" sz="3000" b="1" dirty="0">
                <a:solidFill>
                  <a:schemeClr val="tx1"/>
                </a:solidFill>
              </a:rPr>
              <a:t>.</a:t>
            </a:r>
            <a:endParaRPr lang="en-US" sz="3000" dirty="0"/>
          </a:p>
        </p:txBody>
      </p:sp>
      <p:sp>
        <p:nvSpPr>
          <p:cNvPr id="8" name="Text 5"/>
          <p:cNvSpPr/>
          <p:nvPr/>
        </p:nvSpPr>
        <p:spPr>
          <a:xfrm>
            <a:off x="1664208"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9" name="Text 6"/>
          <p:cNvSpPr txBox="1"/>
          <p:nvPr/>
        </p:nvSpPr>
        <p:spPr>
          <a:xfrm>
            <a:off x="1572768"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10" name="Text 7"/>
          <p:cNvSpPr/>
          <p:nvPr/>
        </p:nvSpPr>
        <p:spPr>
          <a:xfrm>
            <a:off x="2249424"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1" name="Text 8"/>
          <p:cNvSpPr txBox="1"/>
          <p:nvPr/>
        </p:nvSpPr>
        <p:spPr>
          <a:xfrm>
            <a:off x="2157984"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2" name="Text 9"/>
          <p:cNvSpPr/>
          <p:nvPr/>
        </p:nvSpPr>
        <p:spPr>
          <a:xfrm>
            <a:off x="2834640"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3" name="Text 10"/>
          <p:cNvSpPr txBox="1"/>
          <p:nvPr/>
        </p:nvSpPr>
        <p:spPr>
          <a:xfrm>
            <a:off x="2743200"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4" name="Text 11"/>
          <p:cNvSpPr/>
          <p:nvPr/>
        </p:nvSpPr>
        <p:spPr>
          <a:xfrm>
            <a:off x="3419856"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5" name="Text 12"/>
          <p:cNvSpPr txBox="1"/>
          <p:nvPr/>
        </p:nvSpPr>
        <p:spPr>
          <a:xfrm>
            <a:off x="3328416"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6" name="Text 13"/>
          <p:cNvSpPr/>
          <p:nvPr/>
        </p:nvSpPr>
        <p:spPr>
          <a:xfrm>
            <a:off x="4005072"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7" name="Text 14"/>
          <p:cNvSpPr txBox="1"/>
          <p:nvPr/>
        </p:nvSpPr>
        <p:spPr>
          <a:xfrm>
            <a:off x="3913632"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8" name="Text 15"/>
          <p:cNvSpPr/>
          <p:nvPr/>
        </p:nvSpPr>
        <p:spPr>
          <a:xfrm>
            <a:off x="4590288"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9" name="Text 16"/>
          <p:cNvSpPr txBox="1"/>
          <p:nvPr/>
        </p:nvSpPr>
        <p:spPr>
          <a:xfrm>
            <a:off x="4498848"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20" name="Text 17"/>
          <p:cNvSpPr/>
          <p:nvPr/>
        </p:nvSpPr>
        <p:spPr>
          <a:xfrm>
            <a:off x="5175504"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1" name="Text 18"/>
          <p:cNvSpPr txBox="1"/>
          <p:nvPr/>
        </p:nvSpPr>
        <p:spPr>
          <a:xfrm>
            <a:off x="5084064"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2" name="Text 19"/>
          <p:cNvSpPr/>
          <p:nvPr/>
        </p:nvSpPr>
        <p:spPr>
          <a:xfrm>
            <a:off x="6217920"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3" name="Text 20"/>
          <p:cNvSpPr txBox="1"/>
          <p:nvPr/>
        </p:nvSpPr>
        <p:spPr>
          <a:xfrm>
            <a:off x="6126480" y="222199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24" name="Text 21"/>
          <p:cNvSpPr/>
          <p:nvPr/>
        </p:nvSpPr>
        <p:spPr>
          <a:xfrm>
            <a:off x="6803136"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5" name="Text 22"/>
          <p:cNvSpPr txBox="1"/>
          <p:nvPr/>
        </p:nvSpPr>
        <p:spPr>
          <a:xfrm>
            <a:off x="6711696"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26" name="Text 23"/>
          <p:cNvSpPr/>
          <p:nvPr/>
        </p:nvSpPr>
        <p:spPr>
          <a:xfrm>
            <a:off x="7388352"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7" name="Text 24"/>
          <p:cNvSpPr txBox="1"/>
          <p:nvPr/>
        </p:nvSpPr>
        <p:spPr>
          <a:xfrm>
            <a:off x="7296912"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8" name="Text 25"/>
          <p:cNvSpPr/>
          <p:nvPr/>
        </p:nvSpPr>
        <p:spPr>
          <a:xfrm>
            <a:off x="7973568"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9" name="Text 26"/>
          <p:cNvSpPr txBox="1"/>
          <p:nvPr/>
        </p:nvSpPr>
        <p:spPr>
          <a:xfrm>
            <a:off x="7882128"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30" name="Text 27"/>
          <p:cNvSpPr txBox="1"/>
          <p:nvPr/>
        </p:nvSpPr>
        <p:spPr>
          <a:xfrm>
            <a:off x="914400" y="1892808"/>
            <a:ext cx="4791456"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1" name="Text 28"/>
          <p:cNvSpPr txBox="1"/>
          <p:nvPr/>
        </p:nvSpPr>
        <p:spPr>
          <a:xfrm>
            <a:off x="6035040" y="1892808"/>
            <a:ext cx="2651760"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2" name="Text 29"/>
          <p:cNvSpPr txBox="1"/>
          <p:nvPr/>
        </p:nvSpPr>
        <p:spPr>
          <a:xfrm>
            <a:off x="914400" y="3291840"/>
            <a:ext cx="5486400" cy="411480"/>
          </a:xfrm>
          <a:prstGeom prst="rect">
            <a:avLst/>
          </a:prstGeom>
          <a:noFill/>
          <a:ln/>
        </p:spPr>
        <p:txBody>
          <a:bodyPr wrap="square" lIns="0" tIns="0" rIns="0" bIns="0" rtlCol="0" anchor="t"/>
          <a:lstStyle/>
          <a:p>
            <a:pPr indent="0" marL="0">
              <a:buNone/>
            </a:pPr>
            <a:r>
              <a:rPr lang="en-US" sz="1600" dirty="0">
                <a:solidFill>
                  <a:schemeClr val="accent6"/>
                </a:solidFill>
              </a:rPr>
              <a:t>½ + ¼ + 1/16 = 13/16</a:t>
            </a:r>
            <a:endParaRPr lang="en-US" sz="1600" dirty="0"/>
          </a:p>
        </p:txBody>
      </p:sp>
      <p:sp>
        <p:nvSpPr>
          <p:cNvPr id="33" name="Shape 30"/>
          <p:cNvSpPr/>
          <p:nvPr/>
        </p:nvSpPr>
        <p:spPr>
          <a:xfrm>
            <a:off x="548640" y="3977640"/>
            <a:ext cx="3474720" cy="1234440"/>
          </a:xfrm>
          <a:prstGeom prst="roundRect">
            <a:avLst>
              <a:gd name="adj" fmla="val 8889"/>
            </a:avLst>
          </a:prstGeom>
          <a:solidFill>
            <a:schemeClr val="bg2"/>
          </a:solidFill>
          <a:ln w="12700">
            <a:solidFill>
              <a:schemeClr val="bg2"/>
            </a:solidFill>
            <a:prstDash val="solid"/>
          </a:ln>
        </p:spPr>
      </p:sp>
      <p:sp>
        <p:nvSpPr>
          <p:cNvPr id="34" name="Text 31"/>
          <p:cNvSpPr/>
          <p:nvPr/>
        </p:nvSpPr>
        <p:spPr>
          <a:xfrm>
            <a:off x="777240" y="411480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35" name="Text 32"/>
          <p:cNvSpPr txBox="1"/>
          <p:nvPr/>
        </p:nvSpPr>
        <p:spPr>
          <a:xfrm>
            <a:off x="777240" y="457200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0.8125</a:t>
            </a:r>
            <a:endParaRPr lang="en-US" sz="2000" dirty="0"/>
          </a:p>
        </p:txBody>
      </p:sp>
      <p:sp>
        <p:nvSpPr>
          <p:cNvPr id="36" name="Shape 33"/>
          <p:cNvSpPr/>
          <p:nvPr/>
        </p:nvSpPr>
        <p:spPr>
          <a:xfrm>
            <a:off x="4297680" y="3977640"/>
            <a:ext cx="3474720" cy="1234440"/>
          </a:xfrm>
          <a:prstGeom prst="roundRect">
            <a:avLst>
              <a:gd name="adj" fmla="val 8889"/>
            </a:avLst>
          </a:prstGeom>
          <a:solidFill>
            <a:schemeClr val="bg2"/>
          </a:solidFill>
          <a:ln w="12700">
            <a:solidFill>
              <a:schemeClr val="bg2"/>
            </a:solidFill>
            <a:prstDash val="solid"/>
          </a:ln>
        </p:spPr>
      </p:sp>
      <p:sp>
        <p:nvSpPr>
          <p:cNvPr id="37" name="Text 34"/>
          <p:cNvSpPr/>
          <p:nvPr/>
        </p:nvSpPr>
        <p:spPr>
          <a:xfrm>
            <a:off x="4526280" y="411480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38" name="Text 35"/>
          <p:cNvSpPr txBox="1"/>
          <p:nvPr/>
        </p:nvSpPr>
        <p:spPr>
          <a:xfrm>
            <a:off x="4526280" y="457200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3</a:t>
            </a:r>
            <a:endParaRPr lang="en-US" sz="2000" dirty="0"/>
          </a:p>
        </p:txBody>
      </p:sp>
      <p:sp>
        <p:nvSpPr>
          <p:cNvPr id="39" name="Shape 36"/>
          <p:cNvSpPr/>
          <p:nvPr/>
        </p:nvSpPr>
        <p:spPr>
          <a:xfrm>
            <a:off x="8046720" y="3977640"/>
            <a:ext cx="3474720" cy="1234440"/>
          </a:xfrm>
          <a:prstGeom prst="roundRect">
            <a:avLst>
              <a:gd name="adj" fmla="val 8889"/>
            </a:avLst>
          </a:prstGeom>
          <a:solidFill>
            <a:schemeClr val="accent3"/>
          </a:solidFill>
          <a:ln w="12700">
            <a:solidFill>
              <a:schemeClr val="accent3"/>
            </a:solidFill>
            <a:prstDash val="solid"/>
          </a:ln>
        </p:spPr>
      </p:sp>
      <p:sp>
        <p:nvSpPr>
          <p:cNvPr id="40" name="Text 37"/>
          <p:cNvSpPr/>
          <p:nvPr/>
        </p:nvSpPr>
        <p:spPr>
          <a:xfrm>
            <a:off x="8275320" y="411480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41" name="Text 38"/>
          <p:cNvSpPr txBox="1"/>
          <p:nvPr/>
        </p:nvSpPr>
        <p:spPr>
          <a:xfrm>
            <a:off x="8275320" y="457200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0.8125 × 2³ = 6.5</a:t>
            </a:r>
            <a:endParaRPr lang="en-US" sz="2000" dirty="0"/>
          </a:p>
        </p:txBody>
      </p:sp>
      <p:sp>
        <p:nvSpPr>
          <p:cNvPr id="42" name="Text 39"/>
          <p:cNvSpPr txBox="1"/>
          <p:nvPr/>
        </p:nvSpPr>
        <p:spPr>
          <a:xfrm>
            <a:off x="1463040" y="5349240"/>
            <a:ext cx="2743200" cy="365760"/>
          </a:xfrm>
          <a:prstGeom prst="rect">
            <a:avLst/>
          </a:prstGeom>
          <a:noFill/>
          <a:ln/>
        </p:spPr>
        <p:txBody>
          <a:bodyPr wrap="square" lIns="0" tIns="0" rIns="0" bIns="0" rtlCol="0" anchor="t"/>
          <a:lstStyle/>
          <a:p>
            <a:pPr indent="0" marL="0">
              <a:buNone/>
            </a:pPr>
            <a:r>
              <a:rPr lang="en-US" sz="1500" dirty="0">
                <a:solidFill>
                  <a:schemeClr val="accent6"/>
                </a:solidFill>
              </a:rPr>
              <a:t>Mantissa</a:t>
            </a:r>
            <a:endParaRPr lang="en-US" sz="1500" dirty="0"/>
          </a:p>
        </p:txBody>
      </p:sp>
      <p:sp>
        <p:nvSpPr>
          <p:cNvPr id="43" name="Text 40"/>
          <p:cNvSpPr txBox="1"/>
          <p:nvPr/>
        </p:nvSpPr>
        <p:spPr>
          <a:xfrm>
            <a:off x="5212080" y="5349240"/>
            <a:ext cx="2743200" cy="365760"/>
          </a:xfrm>
          <a:prstGeom prst="rect">
            <a:avLst/>
          </a:prstGeom>
          <a:noFill/>
          <a:ln/>
        </p:spPr>
        <p:txBody>
          <a:bodyPr wrap="square" lIns="0" tIns="0" rIns="0" bIns="0" rtlCol="0" anchor="t"/>
          <a:lstStyle/>
          <a:p>
            <a:pPr indent="0" marL="0">
              <a:buNone/>
            </a:pPr>
            <a:r>
              <a:rPr lang="en-US" sz="1500" dirty="0">
                <a:solidFill>
                  <a:schemeClr val="accent6"/>
                </a:solidFill>
              </a:rPr>
              <a:t>Exponent</a:t>
            </a:r>
            <a:endParaRPr lang="en-US" sz="1500" dirty="0"/>
          </a:p>
        </p:txBody>
      </p:sp>
      <p:sp>
        <p:nvSpPr>
          <p:cNvPr id="44" name="Text 41"/>
          <p:cNvSpPr txBox="1"/>
          <p:nvPr/>
        </p:nvSpPr>
        <p:spPr>
          <a:xfrm>
            <a:off x="8961120" y="5349240"/>
            <a:ext cx="2743200" cy="365760"/>
          </a:xfrm>
          <a:prstGeom prst="rect">
            <a:avLst/>
          </a:prstGeom>
          <a:noFill/>
          <a:ln/>
        </p:spPr>
        <p:txBody>
          <a:bodyPr wrap="square" lIns="0" tIns="0" rIns="0" bIns="0" rtlCol="0" anchor="t"/>
          <a:lstStyle/>
          <a:p>
            <a:pPr indent="0" marL="0">
              <a:buNone/>
            </a:pPr>
            <a:r>
              <a:rPr lang="en-US" sz="1500" dirty="0">
                <a:solidFill>
                  <a:schemeClr val="accent6"/>
                </a:solidFill>
              </a:rPr>
              <a:t>Answer</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Pairs: 2017, Q7(b)(ii)</a:t>
            </a:r>
            <a:endParaRPr lang="en-US" sz="3400" dirty="0"/>
          </a:p>
        </p:txBody>
      </p:sp>
      <p:sp>
        <p:nvSpPr>
          <p:cNvPr id="4" name="Shape 1"/>
          <p:cNvSpPr/>
          <p:nvPr/>
        </p:nvSpPr>
        <p:spPr>
          <a:xfrm>
            <a:off x="548640" y="1417320"/>
            <a:ext cx="6766560" cy="4480560"/>
          </a:xfrm>
          <a:prstGeom prst="roundRect">
            <a:avLst>
              <a:gd name="adj" fmla="val 2449"/>
            </a:avLst>
          </a:prstGeom>
          <a:solidFill>
            <a:schemeClr val="bg1"/>
          </a:solidFill>
          <a:ln w="12700">
            <a:solidFill>
              <a:schemeClr val="bg1"/>
            </a:solidFill>
            <a:prstDash val="solid"/>
          </a:ln>
        </p:spPr>
      </p:sp>
      <p:sp>
        <p:nvSpPr>
          <p:cNvPr id="5" name="Text 2"/>
          <p:cNvSpPr txBox="1"/>
          <p:nvPr/>
        </p:nvSpPr>
        <p:spPr>
          <a:xfrm>
            <a:off x="914400" y="1691640"/>
            <a:ext cx="6035040" cy="457200"/>
          </a:xfrm>
          <a:prstGeom prst="rect">
            <a:avLst/>
          </a:prstGeom>
          <a:noFill/>
          <a:ln/>
        </p:spPr>
        <p:txBody>
          <a:bodyPr wrap="square" lIns="0" tIns="0" rIns="0" bIns="0" rtlCol="0" anchor="t"/>
          <a:lstStyle/>
          <a:p>
            <a:pPr indent="0" marL="0">
              <a:buNone/>
            </a:pPr>
            <a:r>
              <a:rPr lang="en-US" sz="2400" b="1" dirty="0">
                <a:solidFill>
                  <a:schemeClr val="accent1"/>
                </a:solidFill>
              </a:rPr>
              <a:t>In pairs, 4 minutes</a:t>
            </a:r>
            <a:endParaRPr lang="en-US" sz="2400" dirty="0"/>
          </a:p>
        </p:txBody>
      </p:sp>
      <p:sp>
        <p:nvSpPr>
          <p:cNvPr id="6" name="Text 3"/>
          <p:cNvSpPr txBox="1"/>
          <p:nvPr/>
        </p:nvSpPr>
        <p:spPr>
          <a:xfrm>
            <a:off x="914400" y="2286000"/>
            <a:ext cx="6035040" cy="1371600"/>
          </a:xfrm>
          <a:prstGeom prst="rect">
            <a:avLst/>
          </a:prstGeom>
          <a:noFill/>
          <a:ln/>
        </p:spPr>
        <p:txBody>
          <a:bodyPr wrap="square" lIns="0" tIns="0" rIns="0" bIns="0" rtlCol="0" anchor="t"/>
          <a:lstStyle/>
          <a:p>
            <a:pPr indent="0" marL="0">
              <a:buNone/>
            </a:pPr>
            <a:r>
              <a:rPr lang="en-US" sz="1900" dirty="0">
                <a:solidFill>
                  <a:schemeClr val="tx1"/>
                </a:solidFill>
              </a:rPr>
              <a:t>8-bit mantissa and 4-bit exponent, both two's complement. Calculate the denary value of the mantissa and exponent, and convert to denary.  [3]</a:t>
            </a:r>
            <a:endParaRPr lang="en-US" sz="1900" dirty="0"/>
          </a:p>
        </p:txBody>
      </p:sp>
      <p:sp>
        <p:nvSpPr>
          <p:cNvPr id="7" name="Text 4"/>
          <p:cNvSpPr/>
          <p:nvPr/>
        </p:nvSpPr>
        <p:spPr>
          <a:xfrm>
            <a:off x="1097280" y="4343400"/>
            <a:ext cx="384048" cy="460858"/>
          </a:xfrm>
          <a:prstGeom prst="roundRect">
            <a:avLst>
              <a:gd name="adj" fmla="val 16667"/>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8" name="Text 5"/>
          <p:cNvSpPr txBox="1"/>
          <p:nvPr/>
        </p:nvSpPr>
        <p:spPr>
          <a:xfrm>
            <a:off x="1005840" y="4050792"/>
            <a:ext cx="566928" cy="256032"/>
          </a:xfrm>
          <a:prstGeom prst="rect">
            <a:avLst/>
          </a:prstGeom>
          <a:no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9" name="Text 6"/>
          <p:cNvSpPr txBox="1"/>
          <p:nvPr/>
        </p:nvSpPr>
        <p:spPr>
          <a:xfrm>
            <a:off x="1499616" y="4343400"/>
            <a:ext cx="201168" cy="460858"/>
          </a:xfrm>
          <a:prstGeom prst="rect">
            <a:avLst/>
          </a:prstGeom>
          <a:noFill/>
          <a:ln/>
        </p:spPr>
        <p:txBody>
          <a:bodyPr wrap="square" lIns="0" tIns="0" rIns="0" bIns="0" rtlCol="0" anchor="b"/>
          <a:lstStyle/>
          <a:p>
            <a:pPr algn="ctr" indent="0" marL="0">
              <a:buNone/>
            </a:pPr>
            <a:r>
              <a:rPr lang="en-US" sz="2400" b="1" dirty="0">
                <a:solidFill>
                  <a:schemeClr val="tx1"/>
                </a:solidFill>
              </a:rPr>
              <a:t>.</a:t>
            </a:r>
            <a:endParaRPr lang="en-US" sz="2400" dirty="0"/>
          </a:p>
        </p:txBody>
      </p:sp>
      <p:sp>
        <p:nvSpPr>
          <p:cNvPr id="10" name="Text 7"/>
          <p:cNvSpPr/>
          <p:nvPr/>
        </p:nvSpPr>
        <p:spPr>
          <a:xfrm>
            <a:off x="1700784" y="4343400"/>
            <a:ext cx="384048" cy="460858"/>
          </a:xfrm>
          <a:prstGeom prst="roundRect">
            <a:avLst>
              <a:gd name="adj" fmla="val 16667"/>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11" name="Text 8"/>
          <p:cNvSpPr txBox="1"/>
          <p:nvPr/>
        </p:nvSpPr>
        <p:spPr>
          <a:xfrm>
            <a:off x="1609344"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½</a:t>
            </a:r>
            <a:endParaRPr lang="en-US" sz="1000" dirty="0"/>
          </a:p>
        </p:txBody>
      </p:sp>
      <p:sp>
        <p:nvSpPr>
          <p:cNvPr id="12" name="Text 9"/>
          <p:cNvSpPr/>
          <p:nvPr/>
        </p:nvSpPr>
        <p:spPr>
          <a:xfrm>
            <a:off x="2139696" y="4343400"/>
            <a:ext cx="384048" cy="460858"/>
          </a:xfrm>
          <a:prstGeom prst="roundRect">
            <a:avLst>
              <a:gd name="adj" fmla="val 16667"/>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13" name="Text 10"/>
          <p:cNvSpPr txBox="1"/>
          <p:nvPr/>
        </p:nvSpPr>
        <p:spPr>
          <a:xfrm>
            <a:off x="2048256"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¼</a:t>
            </a:r>
            <a:endParaRPr lang="en-US" sz="1000" dirty="0"/>
          </a:p>
        </p:txBody>
      </p:sp>
      <p:sp>
        <p:nvSpPr>
          <p:cNvPr id="14" name="Text 11"/>
          <p:cNvSpPr/>
          <p:nvPr/>
        </p:nvSpPr>
        <p:spPr>
          <a:xfrm>
            <a:off x="2578608" y="4343400"/>
            <a:ext cx="384048" cy="460858"/>
          </a:xfrm>
          <a:prstGeom prst="roundRect">
            <a:avLst>
              <a:gd name="adj" fmla="val 16667"/>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15" name="Text 12"/>
          <p:cNvSpPr txBox="1"/>
          <p:nvPr/>
        </p:nvSpPr>
        <p:spPr>
          <a:xfrm>
            <a:off x="2487168"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⅛</a:t>
            </a:r>
            <a:endParaRPr lang="en-US" sz="1000" dirty="0"/>
          </a:p>
        </p:txBody>
      </p:sp>
      <p:sp>
        <p:nvSpPr>
          <p:cNvPr id="16" name="Text 13"/>
          <p:cNvSpPr/>
          <p:nvPr/>
        </p:nvSpPr>
        <p:spPr>
          <a:xfrm>
            <a:off x="3017520" y="4343400"/>
            <a:ext cx="384048" cy="460858"/>
          </a:xfrm>
          <a:prstGeom prst="roundRect">
            <a:avLst>
              <a:gd name="adj" fmla="val 16667"/>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17" name="Text 14"/>
          <p:cNvSpPr txBox="1"/>
          <p:nvPr/>
        </p:nvSpPr>
        <p:spPr>
          <a:xfrm>
            <a:off x="2926080"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1/16</a:t>
            </a:r>
            <a:endParaRPr lang="en-US" sz="1000" dirty="0"/>
          </a:p>
        </p:txBody>
      </p:sp>
      <p:sp>
        <p:nvSpPr>
          <p:cNvPr id="18" name="Text 15"/>
          <p:cNvSpPr/>
          <p:nvPr/>
        </p:nvSpPr>
        <p:spPr>
          <a:xfrm>
            <a:off x="3456432" y="4343400"/>
            <a:ext cx="384048" cy="460858"/>
          </a:xfrm>
          <a:prstGeom prst="roundRect">
            <a:avLst>
              <a:gd name="adj" fmla="val 16667"/>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19" name="Text 16"/>
          <p:cNvSpPr txBox="1"/>
          <p:nvPr/>
        </p:nvSpPr>
        <p:spPr>
          <a:xfrm>
            <a:off x="3364992"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1/32</a:t>
            </a:r>
            <a:endParaRPr lang="en-US" sz="1000" dirty="0"/>
          </a:p>
        </p:txBody>
      </p:sp>
      <p:sp>
        <p:nvSpPr>
          <p:cNvPr id="20" name="Text 17"/>
          <p:cNvSpPr/>
          <p:nvPr/>
        </p:nvSpPr>
        <p:spPr>
          <a:xfrm>
            <a:off x="3895344" y="4343400"/>
            <a:ext cx="384048" cy="460858"/>
          </a:xfrm>
          <a:prstGeom prst="roundRect">
            <a:avLst>
              <a:gd name="adj" fmla="val 16667"/>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21" name="Text 18"/>
          <p:cNvSpPr txBox="1"/>
          <p:nvPr/>
        </p:nvSpPr>
        <p:spPr>
          <a:xfrm>
            <a:off x="3803904"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1/64</a:t>
            </a:r>
            <a:endParaRPr lang="en-US" sz="1000" dirty="0"/>
          </a:p>
        </p:txBody>
      </p:sp>
      <p:sp>
        <p:nvSpPr>
          <p:cNvPr id="22" name="Text 19"/>
          <p:cNvSpPr/>
          <p:nvPr/>
        </p:nvSpPr>
        <p:spPr>
          <a:xfrm>
            <a:off x="4334256" y="4343400"/>
            <a:ext cx="384048" cy="460858"/>
          </a:xfrm>
          <a:prstGeom prst="roundRect">
            <a:avLst>
              <a:gd name="adj" fmla="val 16667"/>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23" name="Text 20"/>
          <p:cNvSpPr txBox="1"/>
          <p:nvPr/>
        </p:nvSpPr>
        <p:spPr>
          <a:xfrm>
            <a:off x="4242816"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1/128</a:t>
            </a:r>
            <a:endParaRPr lang="en-US" sz="1000" dirty="0"/>
          </a:p>
        </p:txBody>
      </p:sp>
      <p:sp>
        <p:nvSpPr>
          <p:cNvPr id="24" name="Text 21"/>
          <p:cNvSpPr/>
          <p:nvPr/>
        </p:nvSpPr>
        <p:spPr>
          <a:xfrm>
            <a:off x="5230368" y="4343400"/>
            <a:ext cx="384048" cy="460858"/>
          </a:xfrm>
          <a:prstGeom prst="roundRect">
            <a:avLst>
              <a:gd name="adj" fmla="val 16667"/>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25" name="Text 22"/>
          <p:cNvSpPr txBox="1"/>
          <p:nvPr/>
        </p:nvSpPr>
        <p:spPr>
          <a:xfrm>
            <a:off x="5138928" y="4050792"/>
            <a:ext cx="566928" cy="256032"/>
          </a:xfrm>
          <a:prstGeom prst="rect">
            <a:avLst/>
          </a:prstGeom>
          <a:noFill/>
          <a:ln/>
        </p:spPr>
        <p:txBody>
          <a:bodyPr wrap="square" lIns="0" tIns="0" rIns="0" bIns="0" rtlCol="0" anchor="ctr"/>
          <a:lstStyle/>
          <a:p>
            <a:pPr algn="ctr" indent="0" marL="0">
              <a:buNone/>
            </a:pPr>
            <a:r>
              <a:rPr lang="en-US" sz="1000" b="1" dirty="0">
                <a:solidFill>
                  <a:schemeClr val="accent2"/>
                </a:solidFill>
              </a:rPr>
              <a:t>−8</a:t>
            </a:r>
            <a:endParaRPr lang="en-US" sz="1000" dirty="0"/>
          </a:p>
        </p:txBody>
      </p:sp>
      <p:sp>
        <p:nvSpPr>
          <p:cNvPr id="26" name="Text 23"/>
          <p:cNvSpPr/>
          <p:nvPr/>
        </p:nvSpPr>
        <p:spPr>
          <a:xfrm>
            <a:off x="5669280" y="4343400"/>
            <a:ext cx="384048" cy="460858"/>
          </a:xfrm>
          <a:prstGeom prst="roundRect">
            <a:avLst>
              <a:gd name="adj" fmla="val 16667"/>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27" name="Text 24"/>
          <p:cNvSpPr txBox="1"/>
          <p:nvPr/>
        </p:nvSpPr>
        <p:spPr>
          <a:xfrm>
            <a:off x="5577840"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4</a:t>
            </a:r>
            <a:endParaRPr lang="en-US" sz="1000" dirty="0"/>
          </a:p>
        </p:txBody>
      </p:sp>
      <p:sp>
        <p:nvSpPr>
          <p:cNvPr id="28" name="Text 25"/>
          <p:cNvSpPr/>
          <p:nvPr/>
        </p:nvSpPr>
        <p:spPr>
          <a:xfrm>
            <a:off x="6108192" y="4343400"/>
            <a:ext cx="384048" cy="460858"/>
          </a:xfrm>
          <a:prstGeom prst="roundRect">
            <a:avLst>
              <a:gd name="adj" fmla="val 16667"/>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29" name="Text 26"/>
          <p:cNvSpPr txBox="1"/>
          <p:nvPr/>
        </p:nvSpPr>
        <p:spPr>
          <a:xfrm>
            <a:off x="6016752"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2</a:t>
            </a:r>
            <a:endParaRPr lang="en-US" sz="1000" dirty="0"/>
          </a:p>
        </p:txBody>
      </p:sp>
      <p:sp>
        <p:nvSpPr>
          <p:cNvPr id="30" name="Text 27"/>
          <p:cNvSpPr/>
          <p:nvPr/>
        </p:nvSpPr>
        <p:spPr>
          <a:xfrm>
            <a:off x="6547104" y="4343400"/>
            <a:ext cx="384048" cy="460858"/>
          </a:xfrm>
          <a:prstGeom prst="roundRect">
            <a:avLst>
              <a:gd name="adj" fmla="val 16667"/>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31" name="Text 28"/>
          <p:cNvSpPr txBox="1"/>
          <p:nvPr/>
        </p:nvSpPr>
        <p:spPr>
          <a:xfrm>
            <a:off x="6455664" y="4050792"/>
            <a:ext cx="566928" cy="256032"/>
          </a:xfrm>
          <a:prstGeom prst="rect">
            <a:avLst/>
          </a:prstGeom>
          <a:noFill/>
          <a:ln/>
        </p:spPr>
        <p:txBody>
          <a:bodyPr wrap="square" lIns="0" tIns="0" rIns="0" bIns="0" rtlCol="0" anchor="ctr"/>
          <a:lstStyle/>
          <a:p>
            <a:pPr algn="ctr" indent="0" marL="0">
              <a:buNone/>
            </a:pPr>
            <a:r>
              <a:rPr lang="en-US" sz="1000" dirty="0">
                <a:solidFill>
                  <a:schemeClr val="accent6"/>
                </a:solidFill>
              </a:rPr>
              <a:t>1</a:t>
            </a:r>
            <a:endParaRPr lang="en-US" sz="1000" dirty="0"/>
          </a:p>
        </p:txBody>
      </p:sp>
      <p:sp>
        <p:nvSpPr>
          <p:cNvPr id="32" name="Text 29"/>
          <p:cNvSpPr txBox="1"/>
          <p:nvPr/>
        </p:nvSpPr>
        <p:spPr>
          <a:xfrm>
            <a:off x="1097280" y="3721608"/>
            <a:ext cx="3621024"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3" name="Text 30"/>
          <p:cNvSpPr txBox="1"/>
          <p:nvPr/>
        </p:nvSpPr>
        <p:spPr>
          <a:xfrm>
            <a:off x="5047488" y="3721608"/>
            <a:ext cx="2066544"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4" name="Shape 31"/>
          <p:cNvSpPr/>
          <p:nvPr/>
        </p:nvSpPr>
        <p:spPr>
          <a:xfrm>
            <a:off x="7772400" y="1417320"/>
            <a:ext cx="3840480" cy="4480560"/>
          </a:xfrm>
          <a:prstGeom prst="roundRect">
            <a:avLst>
              <a:gd name="adj" fmla="val 2857"/>
            </a:avLst>
          </a:prstGeom>
          <a:solidFill>
            <a:schemeClr val="tx1"/>
          </a:solidFill>
          <a:ln w="12700">
            <a:solidFill>
              <a:schemeClr val="tx1"/>
            </a:solidFill>
            <a:prstDash val="solid"/>
          </a:ln>
        </p:spPr>
      </p:sp>
      <p:sp>
        <p:nvSpPr>
          <p:cNvPr id="35" name="Text 32"/>
          <p:cNvSpPr txBox="1"/>
          <p:nvPr/>
        </p:nvSpPr>
        <p:spPr>
          <a:xfrm>
            <a:off x="8046720" y="1737360"/>
            <a:ext cx="3291840" cy="457200"/>
          </a:xfrm>
          <a:prstGeom prst="rect">
            <a:avLst/>
          </a:prstGeom>
          <a:noFill/>
          <a:ln/>
        </p:spPr>
        <p:txBody>
          <a:bodyPr wrap="square" lIns="0" tIns="0" rIns="0" bIns="0" rtlCol="0" anchor="t"/>
          <a:lstStyle/>
          <a:p>
            <a:pPr indent="0" marL="0">
              <a:buNone/>
            </a:pPr>
            <a:r>
              <a:rPr lang="en-US" sz="2000" b="1" dirty="0">
                <a:solidFill>
                  <a:schemeClr val="accent2"/>
                </a:solidFill>
              </a:rPr>
              <a:t>Write down all three:</a:t>
            </a:r>
            <a:endParaRPr lang="en-US" sz="2000" dirty="0"/>
          </a:p>
        </p:txBody>
      </p:sp>
      <p:sp>
        <p:nvSpPr>
          <p:cNvPr id="36" name="Text 33"/>
          <p:cNvSpPr/>
          <p:nvPr/>
        </p:nvSpPr>
        <p:spPr>
          <a:xfrm>
            <a:off x="8092440" y="2468880"/>
            <a:ext cx="3200400" cy="411480"/>
          </a:xfrm>
          <a:prstGeom prst="roundRect">
            <a:avLst>
              <a:gd name="adj" fmla="val 44444"/>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1"/>
                </a:solidFill>
              </a:rPr>
              <a:t>Mantissa</a:t>
            </a:r>
            <a:endParaRPr lang="en-US" sz="1500" dirty="0"/>
          </a:p>
        </p:txBody>
      </p:sp>
      <p:sp>
        <p:nvSpPr>
          <p:cNvPr id="37" name="Text 34"/>
          <p:cNvSpPr/>
          <p:nvPr/>
        </p:nvSpPr>
        <p:spPr>
          <a:xfrm>
            <a:off x="8092440" y="3291840"/>
            <a:ext cx="3200400" cy="411480"/>
          </a:xfrm>
          <a:prstGeom prst="roundRect">
            <a:avLst>
              <a:gd name="adj" fmla="val 44444"/>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1"/>
                </a:solidFill>
              </a:rPr>
              <a:t>Exponent</a:t>
            </a:r>
            <a:endParaRPr lang="en-US" sz="1500" dirty="0"/>
          </a:p>
        </p:txBody>
      </p:sp>
      <p:sp>
        <p:nvSpPr>
          <p:cNvPr id="38" name="Text 35"/>
          <p:cNvSpPr/>
          <p:nvPr/>
        </p:nvSpPr>
        <p:spPr>
          <a:xfrm>
            <a:off x="8092440" y="4114800"/>
            <a:ext cx="3200400" cy="411480"/>
          </a:xfrm>
          <a:prstGeom prst="roundRect">
            <a:avLst>
              <a:gd name="adj" fmla="val 44444"/>
            </a:avLst>
          </a:prstGeom>
          <a:solidFill>
            <a:schemeClr val="bg1"/>
          </a:solidFill>
          <a:ln>
            <a:solidFill>
              <a:schemeClr val="bg1"/>
            </a:solidFill>
          </a:ln>
        </p:spPr>
        <p:txBody>
          <a:bodyPr wrap="square" lIns="0" tIns="0" rIns="0" bIns="0" rtlCol="0" anchor="ctr"/>
          <a:lstStyle/>
          <a:p>
            <a:pPr algn="ctr" indent="0" marL="0">
              <a:buNone/>
            </a:pPr>
            <a:r>
              <a:rPr lang="en-US" sz="1500" b="1" dirty="0">
                <a:solidFill>
                  <a:schemeClr val="tx1"/>
                </a:solidFill>
              </a:rPr>
              <a:t>Answer</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Answer: 2017, Q7(b)(ii)</a:t>
            </a:r>
            <a:endParaRPr lang="en-US" sz="3400" dirty="0"/>
          </a:p>
        </p:txBody>
      </p:sp>
      <p:sp>
        <p:nvSpPr>
          <p:cNvPr id="4" name="Text 1"/>
          <p:cNvSpPr/>
          <p:nvPr/>
        </p:nvSpPr>
        <p:spPr>
          <a:xfrm>
            <a:off x="914400"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5" name="Text 2"/>
          <p:cNvSpPr txBox="1"/>
          <p:nvPr/>
        </p:nvSpPr>
        <p:spPr>
          <a:xfrm>
            <a:off x="822960" y="149047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6" name="Text 3"/>
          <p:cNvSpPr txBox="1"/>
          <p:nvPr/>
        </p:nvSpPr>
        <p:spPr>
          <a:xfrm>
            <a:off x="1463040" y="1783080"/>
            <a:ext cx="201168" cy="636422"/>
          </a:xfrm>
          <a:prstGeom prst="rect">
            <a:avLst/>
          </a:prstGeom>
          <a:noFill/>
          <a:ln/>
        </p:spPr>
        <p:txBody>
          <a:bodyPr wrap="square" lIns="0" tIns="0" rIns="0" bIns="0" rtlCol="0" anchor="b"/>
          <a:lstStyle/>
          <a:p>
            <a:pPr algn="ctr" indent="0" marL="0">
              <a:buNone/>
            </a:pPr>
            <a:r>
              <a:rPr lang="en-US" sz="3000" b="1" dirty="0">
                <a:solidFill>
                  <a:schemeClr val="tx1"/>
                </a:solidFill>
              </a:rPr>
              <a:t>.</a:t>
            </a:r>
            <a:endParaRPr lang="en-US" sz="3000" dirty="0"/>
          </a:p>
        </p:txBody>
      </p:sp>
      <p:sp>
        <p:nvSpPr>
          <p:cNvPr id="7" name="Text 4"/>
          <p:cNvSpPr/>
          <p:nvPr/>
        </p:nvSpPr>
        <p:spPr>
          <a:xfrm>
            <a:off x="1664208"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8" name="Text 5"/>
          <p:cNvSpPr txBox="1"/>
          <p:nvPr/>
        </p:nvSpPr>
        <p:spPr>
          <a:xfrm>
            <a:off x="1572768"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9" name="Text 6"/>
          <p:cNvSpPr/>
          <p:nvPr/>
        </p:nvSpPr>
        <p:spPr>
          <a:xfrm>
            <a:off x="2249424"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0" name="Text 7"/>
          <p:cNvSpPr txBox="1"/>
          <p:nvPr/>
        </p:nvSpPr>
        <p:spPr>
          <a:xfrm>
            <a:off x="2157984"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1" name="Text 8"/>
          <p:cNvSpPr/>
          <p:nvPr/>
        </p:nvSpPr>
        <p:spPr>
          <a:xfrm>
            <a:off x="2834640"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2" name="Text 9"/>
          <p:cNvSpPr txBox="1"/>
          <p:nvPr/>
        </p:nvSpPr>
        <p:spPr>
          <a:xfrm>
            <a:off x="2743200"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3" name="Text 10"/>
          <p:cNvSpPr/>
          <p:nvPr/>
        </p:nvSpPr>
        <p:spPr>
          <a:xfrm>
            <a:off x="3419856"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4" name="Text 11"/>
          <p:cNvSpPr txBox="1"/>
          <p:nvPr/>
        </p:nvSpPr>
        <p:spPr>
          <a:xfrm>
            <a:off x="3328416"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5" name="Text 12"/>
          <p:cNvSpPr/>
          <p:nvPr/>
        </p:nvSpPr>
        <p:spPr>
          <a:xfrm>
            <a:off x="4005072"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6" name="Text 13"/>
          <p:cNvSpPr txBox="1"/>
          <p:nvPr/>
        </p:nvSpPr>
        <p:spPr>
          <a:xfrm>
            <a:off x="3913632"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7" name="Text 14"/>
          <p:cNvSpPr/>
          <p:nvPr/>
        </p:nvSpPr>
        <p:spPr>
          <a:xfrm>
            <a:off x="4590288"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8" name="Text 15"/>
          <p:cNvSpPr txBox="1"/>
          <p:nvPr/>
        </p:nvSpPr>
        <p:spPr>
          <a:xfrm>
            <a:off x="4498848"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19" name="Text 16"/>
          <p:cNvSpPr/>
          <p:nvPr/>
        </p:nvSpPr>
        <p:spPr>
          <a:xfrm>
            <a:off x="5175504"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0" name="Text 17"/>
          <p:cNvSpPr txBox="1"/>
          <p:nvPr/>
        </p:nvSpPr>
        <p:spPr>
          <a:xfrm>
            <a:off x="5084064"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1" name="Text 18"/>
          <p:cNvSpPr/>
          <p:nvPr/>
        </p:nvSpPr>
        <p:spPr>
          <a:xfrm>
            <a:off x="6217920" y="17830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2" name="Text 19"/>
          <p:cNvSpPr txBox="1"/>
          <p:nvPr/>
        </p:nvSpPr>
        <p:spPr>
          <a:xfrm>
            <a:off x="6126480" y="149047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23" name="Text 20"/>
          <p:cNvSpPr/>
          <p:nvPr/>
        </p:nvSpPr>
        <p:spPr>
          <a:xfrm>
            <a:off x="6803136"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4" name="Text 21"/>
          <p:cNvSpPr txBox="1"/>
          <p:nvPr/>
        </p:nvSpPr>
        <p:spPr>
          <a:xfrm>
            <a:off x="6711696"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25" name="Text 22"/>
          <p:cNvSpPr/>
          <p:nvPr/>
        </p:nvSpPr>
        <p:spPr>
          <a:xfrm>
            <a:off x="7388352"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6" name="Text 23"/>
          <p:cNvSpPr txBox="1"/>
          <p:nvPr/>
        </p:nvSpPr>
        <p:spPr>
          <a:xfrm>
            <a:off x="7296912"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7" name="Text 24"/>
          <p:cNvSpPr/>
          <p:nvPr/>
        </p:nvSpPr>
        <p:spPr>
          <a:xfrm>
            <a:off x="7973568" y="17830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8" name="Text 25"/>
          <p:cNvSpPr txBox="1"/>
          <p:nvPr/>
        </p:nvSpPr>
        <p:spPr>
          <a:xfrm>
            <a:off x="7882128" y="14904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29" name="Text 26"/>
          <p:cNvSpPr txBox="1"/>
          <p:nvPr/>
        </p:nvSpPr>
        <p:spPr>
          <a:xfrm>
            <a:off x="914400" y="1161288"/>
            <a:ext cx="4791456"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0" name="Text 27"/>
          <p:cNvSpPr txBox="1"/>
          <p:nvPr/>
        </p:nvSpPr>
        <p:spPr>
          <a:xfrm>
            <a:off x="6035040" y="1161288"/>
            <a:ext cx="2651760"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1" name="Text 28"/>
          <p:cNvSpPr txBox="1"/>
          <p:nvPr/>
        </p:nvSpPr>
        <p:spPr>
          <a:xfrm>
            <a:off x="914400" y="2560320"/>
            <a:ext cx="5486400" cy="411480"/>
          </a:xfrm>
          <a:prstGeom prst="rect">
            <a:avLst/>
          </a:prstGeom>
          <a:noFill/>
          <a:ln/>
        </p:spPr>
        <p:txBody>
          <a:bodyPr wrap="square" lIns="0" tIns="0" rIns="0" bIns="0" rtlCol="0" anchor="t"/>
          <a:lstStyle/>
          <a:p>
            <a:pPr indent="0" marL="0">
              <a:buNone/>
            </a:pPr>
            <a:r>
              <a:rPr lang="en-US" sz="1600" dirty="0">
                <a:solidFill>
                  <a:schemeClr val="accent6"/>
                </a:solidFill>
              </a:rPr>
              <a:t>½ + ¼ + ⅛ + 1/16 = 15/16</a:t>
            </a:r>
            <a:endParaRPr lang="en-US" sz="1600" dirty="0"/>
          </a:p>
        </p:txBody>
      </p:sp>
      <p:sp>
        <p:nvSpPr>
          <p:cNvPr id="32" name="Shape 29"/>
          <p:cNvSpPr/>
          <p:nvPr/>
        </p:nvSpPr>
        <p:spPr>
          <a:xfrm>
            <a:off x="548640" y="3291840"/>
            <a:ext cx="3474720" cy="1234440"/>
          </a:xfrm>
          <a:prstGeom prst="roundRect">
            <a:avLst>
              <a:gd name="adj" fmla="val 8889"/>
            </a:avLst>
          </a:prstGeom>
          <a:solidFill>
            <a:schemeClr val="bg2"/>
          </a:solidFill>
          <a:ln w="12700">
            <a:solidFill>
              <a:schemeClr val="bg2"/>
            </a:solidFill>
            <a:prstDash val="solid"/>
          </a:ln>
        </p:spPr>
      </p:sp>
      <p:sp>
        <p:nvSpPr>
          <p:cNvPr id="33" name="Text 30"/>
          <p:cNvSpPr/>
          <p:nvPr/>
        </p:nvSpPr>
        <p:spPr>
          <a:xfrm>
            <a:off x="777240" y="342900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34" name="Text 31"/>
          <p:cNvSpPr txBox="1"/>
          <p:nvPr/>
        </p:nvSpPr>
        <p:spPr>
          <a:xfrm>
            <a:off x="777240" y="388620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0.9375</a:t>
            </a:r>
            <a:endParaRPr lang="en-US" sz="2000" dirty="0"/>
          </a:p>
        </p:txBody>
      </p:sp>
      <p:sp>
        <p:nvSpPr>
          <p:cNvPr id="35" name="Shape 32"/>
          <p:cNvSpPr/>
          <p:nvPr/>
        </p:nvSpPr>
        <p:spPr>
          <a:xfrm>
            <a:off x="4297680" y="3291840"/>
            <a:ext cx="3474720" cy="1234440"/>
          </a:xfrm>
          <a:prstGeom prst="roundRect">
            <a:avLst>
              <a:gd name="adj" fmla="val 8889"/>
            </a:avLst>
          </a:prstGeom>
          <a:solidFill>
            <a:schemeClr val="bg2"/>
          </a:solidFill>
          <a:ln w="12700">
            <a:solidFill>
              <a:schemeClr val="bg2"/>
            </a:solidFill>
            <a:prstDash val="solid"/>
          </a:ln>
        </p:spPr>
      </p:sp>
      <p:sp>
        <p:nvSpPr>
          <p:cNvPr id="36" name="Text 33"/>
          <p:cNvSpPr/>
          <p:nvPr/>
        </p:nvSpPr>
        <p:spPr>
          <a:xfrm>
            <a:off x="4526280" y="342900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37" name="Text 34"/>
          <p:cNvSpPr txBox="1"/>
          <p:nvPr/>
        </p:nvSpPr>
        <p:spPr>
          <a:xfrm>
            <a:off x="4526280" y="388620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7</a:t>
            </a:r>
            <a:endParaRPr lang="en-US" sz="2000" dirty="0"/>
          </a:p>
        </p:txBody>
      </p:sp>
      <p:sp>
        <p:nvSpPr>
          <p:cNvPr id="38" name="Shape 35"/>
          <p:cNvSpPr/>
          <p:nvPr/>
        </p:nvSpPr>
        <p:spPr>
          <a:xfrm>
            <a:off x="8046720" y="3291840"/>
            <a:ext cx="3474720" cy="1234440"/>
          </a:xfrm>
          <a:prstGeom prst="roundRect">
            <a:avLst>
              <a:gd name="adj" fmla="val 8889"/>
            </a:avLst>
          </a:prstGeom>
          <a:solidFill>
            <a:schemeClr val="accent3"/>
          </a:solidFill>
          <a:ln w="12700">
            <a:solidFill>
              <a:schemeClr val="accent3"/>
            </a:solidFill>
            <a:prstDash val="solid"/>
          </a:ln>
        </p:spPr>
      </p:sp>
      <p:sp>
        <p:nvSpPr>
          <p:cNvPr id="39" name="Text 36"/>
          <p:cNvSpPr/>
          <p:nvPr/>
        </p:nvSpPr>
        <p:spPr>
          <a:xfrm>
            <a:off x="8275320" y="342900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40" name="Text 37"/>
          <p:cNvSpPr txBox="1"/>
          <p:nvPr/>
        </p:nvSpPr>
        <p:spPr>
          <a:xfrm>
            <a:off x="8275320" y="388620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0.9375 × 2⁷ = 120</a:t>
            </a:r>
            <a:endParaRPr lang="en-US" sz="2000" dirty="0"/>
          </a:p>
        </p:txBody>
      </p:sp>
      <p:sp>
        <p:nvSpPr>
          <p:cNvPr id="41" name="Text 38"/>
          <p:cNvSpPr txBox="1"/>
          <p:nvPr/>
        </p:nvSpPr>
        <p:spPr>
          <a:xfrm>
            <a:off x="548640" y="4846320"/>
            <a:ext cx="11064240" cy="54864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Or move the point 7 right: 0.1111000 → 01111000 = 120</a:t>
            </a: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Negative exponents move the point left</a:t>
            </a:r>
            <a:endParaRPr lang="en-US" sz="3400" dirty="0"/>
          </a:p>
        </p:txBody>
      </p:sp>
      <p:sp>
        <p:nvSpPr>
          <p:cNvPr id="4" name="Text 1"/>
          <p:cNvSpPr/>
          <p:nvPr/>
        </p:nvSpPr>
        <p:spPr>
          <a:xfrm>
            <a:off x="8503920" y="502920"/>
            <a:ext cx="3108960" cy="411480"/>
          </a:xfrm>
          <a:prstGeom prst="roundRect">
            <a:avLst>
              <a:gd name="adj" fmla="val 44444"/>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tx1"/>
                </a:solidFill>
              </a:rPr>
              <a:t>Beyond the past papers</a:t>
            </a:r>
            <a:endParaRPr lang="en-US" sz="1500" dirty="0"/>
          </a:p>
        </p:txBody>
      </p:sp>
      <p:sp>
        <p:nvSpPr>
          <p:cNvPr id="5" name="Text 2"/>
          <p:cNvSpPr/>
          <p:nvPr/>
        </p:nvSpPr>
        <p:spPr>
          <a:xfrm>
            <a:off x="914400" y="187452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6" name="Text 3"/>
          <p:cNvSpPr txBox="1"/>
          <p:nvPr/>
        </p:nvSpPr>
        <p:spPr>
          <a:xfrm>
            <a:off x="822960" y="158191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7" name="Text 4"/>
          <p:cNvSpPr txBox="1"/>
          <p:nvPr/>
        </p:nvSpPr>
        <p:spPr>
          <a:xfrm>
            <a:off x="1463040" y="1874520"/>
            <a:ext cx="201168" cy="636422"/>
          </a:xfrm>
          <a:prstGeom prst="rect">
            <a:avLst/>
          </a:prstGeom>
          <a:noFill/>
          <a:ln/>
        </p:spPr>
        <p:txBody>
          <a:bodyPr wrap="square" lIns="0" tIns="0" rIns="0" bIns="0" rtlCol="0" anchor="b"/>
          <a:lstStyle/>
          <a:p>
            <a:pPr algn="ctr" indent="0" marL="0">
              <a:buNone/>
            </a:pPr>
            <a:r>
              <a:rPr lang="en-US" sz="3000" b="1" dirty="0">
                <a:solidFill>
                  <a:schemeClr val="tx1"/>
                </a:solidFill>
              </a:rPr>
              <a:t>.</a:t>
            </a:r>
            <a:endParaRPr lang="en-US" sz="3000" dirty="0"/>
          </a:p>
        </p:txBody>
      </p:sp>
      <p:sp>
        <p:nvSpPr>
          <p:cNvPr id="8" name="Text 5"/>
          <p:cNvSpPr/>
          <p:nvPr/>
        </p:nvSpPr>
        <p:spPr>
          <a:xfrm>
            <a:off x="1664208" y="187452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9" name="Text 6"/>
          <p:cNvSpPr txBox="1"/>
          <p:nvPr/>
        </p:nvSpPr>
        <p:spPr>
          <a:xfrm>
            <a:off x="1572768"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10" name="Text 7"/>
          <p:cNvSpPr/>
          <p:nvPr/>
        </p:nvSpPr>
        <p:spPr>
          <a:xfrm>
            <a:off x="2249424" y="187452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1" name="Text 8"/>
          <p:cNvSpPr txBox="1"/>
          <p:nvPr/>
        </p:nvSpPr>
        <p:spPr>
          <a:xfrm>
            <a:off x="2157984"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2" name="Text 9"/>
          <p:cNvSpPr/>
          <p:nvPr/>
        </p:nvSpPr>
        <p:spPr>
          <a:xfrm>
            <a:off x="2834640" y="187452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3" name="Text 10"/>
          <p:cNvSpPr txBox="1"/>
          <p:nvPr/>
        </p:nvSpPr>
        <p:spPr>
          <a:xfrm>
            <a:off x="2743200"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4" name="Text 11"/>
          <p:cNvSpPr/>
          <p:nvPr/>
        </p:nvSpPr>
        <p:spPr>
          <a:xfrm>
            <a:off x="3419856" y="187452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5" name="Text 12"/>
          <p:cNvSpPr txBox="1"/>
          <p:nvPr/>
        </p:nvSpPr>
        <p:spPr>
          <a:xfrm>
            <a:off x="3328416"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6" name="Text 13"/>
          <p:cNvSpPr/>
          <p:nvPr/>
        </p:nvSpPr>
        <p:spPr>
          <a:xfrm>
            <a:off x="4005072" y="187452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7" name="Text 14"/>
          <p:cNvSpPr txBox="1"/>
          <p:nvPr/>
        </p:nvSpPr>
        <p:spPr>
          <a:xfrm>
            <a:off x="3913632"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8" name="Text 15"/>
          <p:cNvSpPr/>
          <p:nvPr/>
        </p:nvSpPr>
        <p:spPr>
          <a:xfrm>
            <a:off x="4590288" y="187452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9" name="Text 16"/>
          <p:cNvSpPr txBox="1"/>
          <p:nvPr/>
        </p:nvSpPr>
        <p:spPr>
          <a:xfrm>
            <a:off x="4498848"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20" name="Text 17"/>
          <p:cNvSpPr/>
          <p:nvPr/>
        </p:nvSpPr>
        <p:spPr>
          <a:xfrm>
            <a:off x="5175504" y="187452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1" name="Text 18"/>
          <p:cNvSpPr txBox="1"/>
          <p:nvPr/>
        </p:nvSpPr>
        <p:spPr>
          <a:xfrm>
            <a:off x="5084064"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2" name="Text 19"/>
          <p:cNvSpPr/>
          <p:nvPr/>
        </p:nvSpPr>
        <p:spPr>
          <a:xfrm>
            <a:off x="6217920" y="1874520"/>
            <a:ext cx="530352" cy="636422"/>
          </a:xfrm>
          <a:prstGeom prst="roundRect">
            <a:avLst>
              <a:gd name="adj" fmla="val 12069"/>
            </a:avLst>
          </a:prstGeom>
          <a:solidFill>
            <a:schemeClr val="accent2"/>
          </a:solidFill>
          <a:ln w="15875">
            <a:solidFill>
              <a:schemeClr val="accent2"/>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3" name="Text 20"/>
          <p:cNvSpPr txBox="1"/>
          <p:nvPr/>
        </p:nvSpPr>
        <p:spPr>
          <a:xfrm>
            <a:off x="6126480" y="158191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24" name="Text 21"/>
          <p:cNvSpPr/>
          <p:nvPr/>
        </p:nvSpPr>
        <p:spPr>
          <a:xfrm>
            <a:off x="6803136" y="187452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5" name="Text 22"/>
          <p:cNvSpPr txBox="1"/>
          <p:nvPr/>
        </p:nvSpPr>
        <p:spPr>
          <a:xfrm>
            <a:off x="6711696"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26" name="Text 23"/>
          <p:cNvSpPr/>
          <p:nvPr/>
        </p:nvSpPr>
        <p:spPr>
          <a:xfrm>
            <a:off x="7388352" y="187452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7" name="Text 24"/>
          <p:cNvSpPr txBox="1"/>
          <p:nvPr/>
        </p:nvSpPr>
        <p:spPr>
          <a:xfrm>
            <a:off x="7296912"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8" name="Text 25"/>
          <p:cNvSpPr/>
          <p:nvPr/>
        </p:nvSpPr>
        <p:spPr>
          <a:xfrm>
            <a:off x="7973568" y="187452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9" name="Text 26"/>
          <p:cNvSpPr txBox="1"/>
          <p:nvPr/>
        </p:nvSpPr>
        <p:spPr>
          <a:xfrm>
            <a:off x="7882128" y="158191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30" name="Text 27"/>
          <p:cNvSpPr txBox="1"/>
          <p:nvPr/>
        </p:nvSpPr>
        <p:spPr>
          <a:xfrm>
            <a:off x="914400" y="1252728"/>
            <a:ext cx="4791456"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1" name="Text 28"/>
          <p:cNvSpPr txBox="1"/>
          <p:nvPr/>
        </p:nvSpPr>
        <p:spPr>
          <a:xfrm>
            <a:off x="6035040" y="1252728"/>
            <a:ext cx="2651760"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2" name="Shape 29"/>
          <p:cNvSpPr/>
          <p:nvPr/>
        </p:nvSpPr>
        <p:spPr>
          <a:xfrm>
            <a:off x="548640" y="2971800"/>
            <a:ext cx="11064240" cy="640080"/>
          </a:xfrm>
          <a:prstGeom prst="roundRect">
            <a:avLst>
              <a:gd name="adj" fmla="val 17143"/>
            </a:avLst>
          </a:prstGeom>
          <a:solidFill>
            <a:schemeClr val="bg2"/>
          </a:solidFill>
          <a:ln w="12700">
            <a:solidFill>
              <a:schemeClr val="bg2"/>
            </a:solidFill>
            <a:prstDash val="solid"/>
          </a:ln>
        </p:spPr>
      </p:sp>
      <p:sp>
        <p:nvSpPr>
          <p:cNvPr id="33" name="Text 30"/>
          <p:cNvSpPr txBox="1"/>
          <p:nvPr/>
        </p:nvSpPr>
        <p:spPr>
          <a:xfrm>
            <a:off x="868680" y="3063240"/>
            <a:ext cx="3657600" cy="457200"/>
          </a:xfrm>
          <a:prstGeom prst="rect">
            <a:avLst/>
          </a:prstGeom>
          <a:noFill/>
          <a:ln/>
        </p:spPr>
        <p:txBody>
          <a:bodyPr wrap="square" lIns="0" tIns="0" rIns="0" bIns="0" rtlCol="0" anchor="ctr"/>
          <a:lstStyle/>
          <a:p>
            <a:pPr indent="0" marL="0">
              <a:buNone/>
            </a:pPr>
            <a:r>
              <a:rPr lang="en-US" sz="1900" b="1" dirty="0">
                <a:solidFill>
                  <a:schemeClr val="tx1"/>
                </a:solidFill>
              </a:rPr>
              <a:t>Mantissa</a:t>
            </a:r>
            <a:endParaRPr lang="en-US" sz="1900" dirty="0"/>
          </a:p>
        </p:txBody>
      </p:sp>
      <p:sp>
        <p:nvSpPr>
          <p:cNvPr id="34" name="Text 31"/>
          <p:cNvSpPr txBox="1"/>
          <p:nvPr/>
        </p:nvSpPr>
        <p:spPr>
          <a:xfrm>
            <a:off x="4572000" y="3063240"/>
            <a:ext cx="6858000" cy="45720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0.11 = 0.75</a:t>
            </a:r>
            <a:endParaRPr lang="en-US" sz="2100" dirty="0"/>
          </a:p>
        </p:txBody>
      </p:sp>
      <p:sp>
        <p:nvSpPr>
          <p:cNvPr id="35" name="Shape 32"/>
          <p:cNvSpPr/>
          <p:nvPr/>
        </p:nvSpPr>
        <p:spPr>
          <a:xfrm>
            <a:off x="548640" y="3721608"/>
            <a:ext cx="11064240" cy="640080"/>
          </a:xfrm>
          <a:prstGeom prst="roundRect">
            <a:avLst>
              <a:gd name="adj" fmla="val 17143"/>
            </a:avLst>
          </a:prstGeom>
          <a:solidFill>
            <a:schemeClr val="bg2"/>
          </a:solidFill>
          <a:ln w="12700">
            <a:solidFill>
              <a:schemeClr val="bg2"/>
            </a:solidFill>
            <a:prstDash val="solid"/>
          </a:ln>
        </p:spPr>
      </p:sp>
      <p:sp>
        <p:nvSpPr>
          <p:cNvPr id="36" name="Text 33"/>
          <p:cNvSpPr txBox="1"/>
          <p:nvPr/>
        </p:nvSpPr>
        <p:spPr>
          <a:xfrm>
            <a:off x="868680" y="3813048"/>
            <a:ext cx="3657600" cy="457200"/>
          </a:xfrm>
          <a:prstGeom prst="rect">
            <a:avLst/>
          </a:prstGeom>
          <a:noFill/>
          <a:ln/>
        </p:spPr>
        <p:txBody>
          <a:bodyPr wrap="square" lIns="0" tIns="0" rIns="0" bIns="0" rtlCol="0" anchor="ctr"/>
          <a:lstStyle/>
          <a:p>
            <a:pPr indent="0" marL="0">
              <a:buNone/>
            </a:pPr>
            <a:r>
              <a:rPr lang="en-US" sz="1900" b="1" dirty="0">
                <a:solidFill>
                  <a:schemeClr val="tx1"/>
                </a:solidFill>
              </a:rPr>
              <a:t>Exponent</a:t>
            </a:r>
            <a:endParaRPr lang="en-US" sz="1900" dirty="0"/>
          </a:p>
        </p:txBody>
      </p:sp>
      <p:sp>
        <p:nvSpPr>
          <p:cNvPr id="37" name="Text 34"/>
          <p:cNvSpPr txBox="1"/>
          <p:nvPr/>
        </p:nvSpPr>
        <p:spPr>
          <a:xfrm>
            <a:off x="4572000" y="3813048"/>
            <a:ext cx="6858000" cy="45720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1110 = −8 + 4 + 2 = −2</a:t>
            </a:r>
            <a:endParaRPr lang="en-US" sz="2100" dirty="0"/>
          </a:p>
        </p:txBody>
      </p:sp>
      <p:sp>
        <p:nvSpPr>
          <p:cNvPr id="38" name="Shape 35"/>
          <p:cNvSpPr/>
          <p:nvPr/>
        </p:nvSpPr>
        <p:spPr>
          <a:xfrm>
            <a:off x="548640" y="4471416"/>
            <a:ext cx="11064240" cy="640080"/>
          </a:xfrm>
          <a:prstGeom prst="roundRect">
            <a:avLst>
              <a:gd name="adj" fmla="val 17143"/>
            </a:avLst>
          </a:prstGeom>
          <a:solidFill>
            <a:schemeClr val="bg2"/>
          </a:solidFill>
          <a:ln w="12700">
            <a:solidFill>
              <a:schemeClr val="bg2"/>
            </a:solidFill>
            <a:prstDash val="solid"/>
          </a:ln>
        </p:spPr>
      </p:sp>
      <p:sp>
        <p:nvSpPr>
          <p:cNvPr id="39" name="Text 36"/>
          <p:cNvSpPr txBox="1"/>
          <p:nvPr/>
        </p:nvSpPr>
        <p:spPr>
          <a:xfrm>
            <a:off x="868680" y="4562856"/>
            <a:ext cx="3657600" cy="457200"/>
          </a:xfrm>
          <a:prstGeom prst="rect">
            <a:avLst/>
          </a:prstGeom>
          <a:noFill/>
          <a:ln/>
        </p:spPr>
        <p:txBody>
          <a:bodyPr wrap="square" lIns="0" tIns="0" rIns="0" bIns="0" rtlCol="0" anchor="ctr"/>
          <a:lstStyle/>
          <a:p>
            <a:pPr indent="0" marL="0">
              <a:buNone/>
            </a:pPr>
            <a:r>
              <a:rPr lang="en-US" sz="1900" b="1" dirty="0">
                <a:solidFill>
                  <a:schemeClr val="tx1"/>
                </a:solidFill>
              </a:rPr>
              <a:t>Move the point 2 left</a:t>
            </a:r>
            <a:endParaRPr lang="en-US" sz="1900" dirty="0"/>
          </a:p>
        </p:txBody>
      </p:sp>
      <p:sp>
        <p:nvSpPr>
          <p:cNvPr id="40" name="Text 37"/>
          <p:cNvSpPr txBox="1"/>
          <p:nvPr/>
        </p:nvSpPr>
        <p:spPr>
          <a:xfrm>
            <a:off x="4572000" y="4562856"/>
            <a:ext cx="6858000" cy="45720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0.11 → 0.0011</a:t>
            </a:r>
            <a:endParaRPr lang="en-US" sz="2100" dirty="0"/>
          </a:p>
        </p:txBody>
      </p:sp>
      <p:sp>
        <p:nvSpPr>
          <p:cNvPr id="41" name="Shape 38"/>
          <p:cNvSpPr/>
          <p:nvPr/>
        </p:nvSpPr>
        <p:spPr>
          <a:xfrm>
            <a:off x="548640" y="5221224"/>
            <a:ext cx="11064240" cy="640080"/>
          </a:xfrm>
          <a:prstGeom prst="roundRect">
            <a:avLst>
              <a:gd name="adj" fmla="val 17143"/>
            </a:avLst>
          </a:prstGeom>
          <a:solidFill>
            <a:schemeClr val="accent3"/>
          </a:solidFill>
          <a:ln w="12700">
            <a:solidFill>
              <a:schemeClr val="accent3"/>
            </a:solidFill>
            <a:prstDash val="solid"/>
          </a:ln>
        </p:spPr>
      </p:sp>
      <p:sp>
        <p:nvSpPr>
          <p:cNvPr id="42" name="Text 39"/>
          <p:cNvSpPr txBox="1"/>
          <p:nvPr/>
        </p:nvSpPr>
        <p:spPr>
          <a:xfrm>
            <a:off x="868680" y="5312664"/>
            <a:ext cx="3657600" cy="457200"/>
          </a:xfrm>
          <a:prstGeom prst="rect">
            <a:avLst/>
          </a:prstGeom>
          <a:noFill/>
          <a:ln/>
        </p:spPr>
        <p:txBody>
          <a:bodyPr wrap="square" lIns="0" tIns="0" rIns="0" bIns="0" rtlCol="0" anchor="ctr"/>
          <a:lstStyle/>
          <a:p>
            <a:pPr indent="0" marL="0">
              <a:buNone/>
            </a:pPr>
            <a:r>
              <a:rPr lang="en-US" sz="1900" b="1" dirty="0">
                <a:solidFill>
                  <a:schemeClr val="tx1"/>
                </a:solidFill>
              </a:rPr>
              <a:t>Answer</a:t>
            </a:r>
            <a:endParaRPr lang="en-US" sz="1900" dirty="0"/>
          </a:p>
        </p:txBody>
      </p:sp>
      <p:sp>
        <p:nvSpPr>
          <p:cNvPr id="43" name="Text 40"/>
          <p:cNvSpPr txBox="1"/>
          <p:nvPr/>
        </p:nvSpPr>
        <p:spPr>
          <a:xfrm>
            <a:off x="4572000" y="5312664"/>
            <a:ext cx="6858000" cy="457200"/>
          </a:xfrm>
          <a:prstGeom prst="rect">
            <a:avLst/>
          </a:prstGeom>
          <a:noFill/>
          <a:ln/>
        </p:spPr>
        <p:txBody>
          <a:bodyPr wrap="square" lIns="0" tIns="0" rIns="0" bIns="0" rtlCol="0" anchor="ctr"/>
          <a:lstStyle/>
          <a:p>
            <a:pPr indent="0" marL="0">
              <a:buNone/>
            </a:pPr>
            <a:r>
              <a:rPr lang="en-US" sz="2100" b="1" dirty="0">
                <a:solidFill>
                  <a:schemeClr val="accent1"/>
                </a:solidFill>
                <a:latin typeface="Courier New" pitchFamily="34" charset="0"/>
                <a:ea typeface="Courier New" pitchFamily="34" charset="-122"/>
                <a:cs typeface="Courier New" pitchFamily="34" charset="-120"/>
              </a:rPr>
              <a:t>0.0011 = 0.125 + 0.0625 = 0.1875</a:t>
            </a:r>
            <a:endParaRPr lang="en-US" sz="21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Denary to floating point: four steps</a:t>
            </a:r>
            <a:endParaRPr lang="en-US" sz="3400" dirty="0"/>
          </a:p>
        </p:txBody>
      </p:sp>
      <p:sp>
        <p:nvSpPr>
          <p:cNvPr id="4" name="Text 1"/>
          <p:cNvSpPr/>
          <p:nvPr/>
        </p:nvSpPr>
        <p:spPr>
          <a:xfrm>
            <a:off x="548640" y="143560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2"/>
          <p:cNvSpPr txBox="1"/>
          <p:nvPr/>
        </p:nvSpPr>
        <p:spPr>
          <a:xfrm>
            <a:off x="1234440" y="1399032"/>
            <a:ext cx="3200400" cy="594360"/>
          </a:xfrm>
          <a:prstGeom prst="rect">
            <a:avLst/>
          </a:prstGeom>
          <a:noFill/>
          <a:ln/>
        </p:spPr>
        <p:txBody>
          <a:bodyPr wrap="square" lIns="0" tIns="0" rIns="0" bIns="0" rtlCol="0" anchor="ctr"/>
          <a:lstStyle/>
          <a:p>
            <a:pPr indent="0" marL="0">
              <a:buNone/>
            </a:pPr>
            <a:r>
              <a:rPr lang="en-US" sz="1900" b="1" dirty="0">
                <a:solidFill>
                  <a:schemeClr val="tx1"/>
                </a:solidFill>
              </a:rPr>
              <a:t>Fixed point binary</a:t>
            </a:r>
            <a:endParaRPr lang="en-US" sz="1900" dirty="0"/>
          </a:p>
        </p:txBody>
      </p:sp>
      <p:sp>
        <p:nvSpPr>
          <p:cNvPr id="6" name="Text 3"/>
          <p:cNvSpPr txBox="1"/>
          <p:nvPr/>
        </p:nvSpPr>
        <p:spPr>
          <a:xfrm>
            <a:off x="4480560" y="1399032"/>
            <a:ext cx="7132320" cy="59436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9.75 = 1001.11</a:t>
            </a:r>
            <a:endParaRPr lang="en-US" sz="2100" dirty="0"/>
          </a:p>
        </p:txBody>
      </p:sp>
      <p:sp>
        <p:nvSpPr>
          <p:cNvPr id="7" name="Text 4"/>
          <p:cNvSpPr/>
          <p:nvPr/>
        </p:nvSpPr>
        <p:spPr>
          <a:xfrm>
            <a:off x="548640" y="230428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5"/>
          <p:cNvSpPr txBox="1"/>
          <p:nvPr/>
        </p:nvSpPr>
        <p:spPr>
          <a:xfrm>
            <a:off x="1234440" y="2267712"/>
            <a:ext cx="3200400" cy="594360"/>
          </a:xfrm>
          <a:prstGeom prst="rect">
            <a:avLst/>
          </a:prstGeom>
          <a:noFill/>
          <a:ln/>
        </p:spPr>
        <p:txBody>
          <a:bodyPr wrap="square" lIns="0" tIns="0" rIns="0" bIns="0" rtlCol="0" anchor="ctr"/>
          <a:lstStyle/>
          <a:p>
            <a:pPr indent="0" marL="0">
              <a:buNone/>
            </a:pPr>
            <a:r>
              <a:rPr lang="en-US" sz="1900" b="1" dirty="0">
                <a:solidFill>
                  <a:schemeClr val="tx1"/>
                </a:solidFill>
              </a:rPr>
              <a:t>Normalise</a:t>
            </a:r>
            <a:endParaRPr lang="en-US" sz="1900" dirty="0"/>
          </a:p>
        </p:txBody>
      </p:sp>
      <p:sp>
        <p:nvSpPr>
          <p:cNvPr id="9" name="Text 6"/>
          <p:cNvSpPr txBox="1"/>
          <p:nvPr/>
        </p:nvSpPr>
        <p:spPr>
          <a:xfrm>
            <a:off x="4480560" y="2267712"/>
            <a:ext cx="7132320" cy="59436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0.100111  (point moved 4 left)</a:t>
            </a:r>
            <a:endParaRPr lang="en-US" sz="2100" dirty="0"/>
          </a:p>
        </p:txBody>
      </p:sp>
      <p:sp>
        <p:nvSpPr>
          <p:cNvPr id="10" name="Text 7"/>
          <p:cNvSpPr/>
          <p:nvPr/>
        </p:nvSpPr>
        <p:spPr>
          <a:xfrm>
            <a:off x="548640" y="3172968"/>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Text 8"/>
          <p:cNvSpPr txBox="1"/>
          <p:nvPr/>
        </p:nvSpPr>
        <p:spPr>
          <a:xfrm>
            <a:off x="1234440" y="3136392"/>
            <a:ext cx="3200400" cy="594360"/>
          </a:xfrm>
          <a:prstGeom prst="rect">
            <a:avLst/>
          </a:prstGeom>
          <a:noFill/>
          <a:ln/>
        </p:spPr>
        <p:txBody>
          <a:bodyPr wrap="square" lIns="0" tIns="0" rIns="0" bIns="0" rtlCol="0" anchor="ctr"/>
          <a:lstStyle/>
          <a:p>
            <a:pPr indent="0" marL="0">
              <a:buNone/>
            </a:pPr>
            <a:r>
              <a:rPr lang="en-US" sz="1900" b="1" dirty="0">
                <a:solidFill>
                  <a:schemeClr val="tx1"/>
                </a:solidFill>
              </a:rPr>
              <a:t>Exponent</a:t>
            </a:r>
            <a:endParaRPr lang="en-US" sz="1900" dirty="0"/>
          </a:p>
        </p:txBody>
      </p:sp>
      <p:sp>
        <p:nvSpPr>
          <p:cNvPr id="12" name="Text 9"/>
          <p:cNvSpPr txBox="1"/>
          <p:nvPr/>
        </p:nvSpPr>
        <p:spPr>
          <a:xfrm>
            <a:off x="4480560" y="3136392"/>
            <a:ext cx="7132320" cy="59436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+4 = 0100</a:t>
            </a:r>
            <a:endParaRPr lang="en-US" sz="2100" dirty="0"/>
          </a:p>
        </p:txBody>
      </p:sp>
      <p:sp>
        <p:nvSpPr>
          <p:cNvPr id="13" name="Text 10"/>
          <p:cNvSpPr/>
          <p:nvPr/>
        </p:nvSpPr>
        <p:spPr>
          <a:xfrm>
            <a:off x="548640" y="4041648"/>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Text 11"/>
          <p:cNvSpPr txBox="1"/>
          <p:nvPr/>
        </p:nvSpPr>
        <p:spPr>
          <a:xfrm>
            <a:off x="1234440" y="4005072"/>
            <a:ext cx="3200400" cy="594360"/>
          </a:xfrm>
          <a:prstGeom prst="rect">
            <a:avLst/>
          </a:prstGeom>
          <a:noFill/>
          <a:ln/>
        </p:spPr>
        <p:txBody>
          <a:bodyPr wrap="square" lIns="0" tIns="0" rIns="0" bIns="0" rtlCol="0" anchor="ctr"/>
          <a:lstStyle/>
          <a:p>
            <a:pPr indent="0" marL="0">
              <a:buNone/>
            </a:pPr>
            <a:r>
              <a:rPr lang="en-US" sz="1900" b="1" dirty="0">
                <a:solidFill>
                  <a:schemeClr val="tx1"/>
                </a:solidFill>
              </a:rPr>
              <a:t>Pad and finish</a:t>
            </a:r>
            <a:endParaRPr lang="en-US" sz="1900" dirty="0"/>
          </a:p>
        </p:txBody>
      </p:sp>
      <p:sp>
        <p:nvSpPr>
          <p:cNvPr id="15" name="Text 12"/>
          <p:cNvSpPr txBox="1"/>
          <p:nvPr/>
        </p:nvSpPr>
        <p:spPr>
          <a:xfrm>
            <a:off x="4480560" y="4005072"/>
            <a:ext cx="7132320" cy="59436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Mantissa 0100 1110, exponent 0100</a:t>
            </a:r>
            <a:endParaRPr lang="en-US" sz="2100" dirty="0"/>
          </a:p>
        </p:txBody>
      </p:sp>
      <p:sp>
        <p:nvSpPr>
          <p:cNvPr id="16" name="Text 13"/>
          <p:cNvSpPr/>
          <p:nvPr/>
        </p:nvSpPr>
        <p:spPr>
          <a:xfrm>
            <a:off x="914400" y="5349240"/>
            <a:ext cx="457200" cy="548640"/>
          </a:xfrm>
          <a:prstGeom prst="roundRect">
            <a:avLst>
              <a:gd name="adj" fmla="val 14000"/>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17" name="Text 14"/>
          <p:cNvSpPr txBox="1"/>
          <p:nvPr/>
        </p:nvSpPr>
        <p:spPr>
          <a:xfrm>
            <a:off x="822960" y="5056632"/>
            <a:ext cx="640080"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18" name="Text 15"/>
          <p:cNvSpPr txBox="1"/>
          <p:nvPr/>
        </p:nvSpPr>
        <p:spPr>
          <a:xfrm>
            <a:off x="1389888" y="5349240"/>
            <a:ext cx="201168" cy="548640"/>
          </a:xfrm>
          <a:prstGeom prst="rect">
            <a:avLst/>
          </a:prstGeom>
          <a:noFill/>
          <a:ln/>
        </p:spPr>
        <p:txBody>
          <a:bodyPr wrap="square" lIns="0" tIns="0" rIns="0" bIns="0" rtlCol="0" anchor="b"/>
          <a:lstStyle/>
          <a:p>
            <a:pPr algn="ctr" indent="0" marL="0">
              <a:buNone/>
            </a:pPr>
            <a:r>
              <a:rPr lang="en-US" sz="2800" b="1" dirty="0">
                <a:solidFill>
                  <a:schemeClr val="tx1"/>
                </a:solidFill>
              </a:rPr>
              <a:t>.</a:t>
            </a:r>
            <a:endParaRPr lang="en-US" sz="2800" dirty="0"/>
          </a:p>
        </p:txBody>
      </p:sp>
      <p:sp>
        <p:nvSpPr>
          <p:cNvPr id="19" name="Text 16"/>
          <p:cNvSpPr/>
          <p:nvPr/>
        </p:nvSpPr>
        <p:spPr>
          <a:xfrm>
            <a:off x="1591056" y="5349240"/>
            <a:ext cx="457200" cy="548640"/>
          </a:xfrm>
          <a:prstGeom prst="roundRect">
            <a:avLst>
              <a:gd name="adj" fmla="val 14000"/>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20" name="Text 17"/>
          <p:cNvSpPr txBox="1"/>
          <p:nvPr/>
        </p:nvSpPr>
        <p:spPr>
          <a:xfrm>
            <a:off x="1499616"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21" name="Text 18"/>
          <p:cNvSpPr/>
          <p:nvPr/>
        </p:nvSpPr>
        <p:spPr>
          <a:xfrm>
            <a:off x="2103120" y="5349240"/>
            <a:ext cx="457200" cy="548640"/>
          </a:xfrm>
          <a:prstGeom prst="roundRect">
            <a:avLst>
              <a:gd name="adj" fmla="val 14000"/>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22" name="Text 19"/>
          <p:cNvSpPr txBox="1"/>
          <p:nvPr/>
        </p:nvSpPr>
        <p:spPr>
          <a:xfrm>
            <a:off x="2011680"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23" name="Text 20"/>
          <p:cNvSpPr/>
          <p:nvPr/>
        </p:nvSpPr>
        <p:spPr>
          <a:xfrm>
            <a:off x="2615184" y="5349240"/>
            <a:ext cx="457200" cy="548640"/>
          </a:xfrm>
          <a:prstGeom prst="roundRect">
            <a:avLst>
              <a:gd name="adj" fmla="val 14000"/>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24" name="Text 21"/>
          <p:cNvSpPr txBox="1"/>
          <p:nvPr/>
        </p:nvSpPr>
        <p:spPr>
          <a:xfrm>
            <a:off x="2523744"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25" name="Text 22"/>
          <p:cNvSpPr/>
          <p:nvPr/>
        </p:nvSpPr>
        <p:spPr>
          <a:xfrm>
            <a:off x="3127248" y="5349240"/>
            <a:ext cx="457200" cy="548640"/>
          </a:xfrm>
          <a:prstGeom prst="roundRect">
            <a:avLst>
              <a:gd name="adj" fmla="val 14000"/>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26" name="Text 23"/>
          <p:cNvSpPr txBox="1"/>
          <p:nvPr/>
        </p:nvSpPr>
        <p:spPr>
          <a:xfrm>
            <a:off x="3035808"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27" name="Text 24"/>
          <p:cNvSpPr/>
          <p:nvPr/>
        </p:nvSpPr>
        <p:spPr>
          <a:xfrm>
            <a:off x="3639312" y="5349240"/>
            <a:ext cx="457200" cy="548640"/>
          </a:xfrm>
          <a:prstGeom prst="roundRect">
            <a:avLst>
              <a:gd name="adj" fmla="val 14000"/>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28" name="Text 25"/>
          <p:cNvSpPr txBox="1"/>
          <p:nvPr/>
        </p:nvSpPr>
        <p:spPr>
          <a:xfrm>
            <a:off x="3547872"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29" name="Text 26"/>
          <p:cNvSpPr/>
          <p:nvPr/>
        </p:nvSpPr>
        <p:spPr>
          <a:xfrm>
            <a:off x="4151376" y="5349240"/>
            <a:ext cx="457200" cy="548640"/>
          </a:xfrm>
          <a:prstGeom prst="roundRect">
            <a:avLst>
              <a:gd name="adj" fmla="val 14000"/>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30" name="Text 27"/>
          <p:cNvSpPr txBox="1"/>
          <p:nvPr/>
        </p:nvSpPr>
        <p:spPr>
          <a:xfrm>
            <a:off x="4059936"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31" name="Text 28"/>
          <p:cNvSpPr/>
          <p:nvPr/>
        </p:nvSpPr>
        <p:spPr>
          <a:xfrm>
            <a:off x="4663440" y="5349240"/>
            <a:ext cx="457200" cy="548640"/>
          </a:xfrm>
          <a:prstGeom prst="roundRect">
            <a:avLst>
              <a:gd name="adj" fmla="val 14000"/>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32" name="Text 29"/>
          <p:cNvSpPr txBox="1"/>
          <p:nvPr/>
        </p:nvSpPr>
        <p:spPr>
          <a:xfrm>
            <a:off x="4572000"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33" name="Text 30"/>
          <p:cNvSpPr/>
          <p:nvPr/>
        </p:nvSpPr>
        <p:spPr>
          <a:xfrm>
            <a:off x="5632704" y="5349240"/>
            <a:ext cx="457200" cy="548640"/>
          </a:xfrm>
          <a:prstGeom prst="roundRect">
            <a:avLst>
              <a:gd name="adj" fmla="val 14000"/>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34" name="Text 31"/>
          <p:cNvSpPr txBox="1"/>
          <p:nvPr/>
        </p:nvSpPr>
        <p:spPr>
          <a:xfrm>
            <a:off x="5541264" y="5056632"/>
            <a:ext cx="640080"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35" name="Text 32"/>
          <p:cNvSpPr/>
          <p:nvPr/>
        </p:nvSpPr>
        <p:spPr>
          <a:xfrm>
            <a:off x="6144768" y="5349240"/>
            <a:ext cx="457200" cy="548640"/>
          </a:xfrm>
          <a:prstGeom prst="roundRect">
            <a:avLst>
              <a:gd name="adj" fmla="val 14000"/>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36" name="Text 33"/>
          <p:cNvSpPr txBox="1"/>
          <p:nvPr/>
        </p:nvSpPr>
        <p:spPr>
          <a:xfrm>
            <a:off x="6053328"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37" name="Text 34"/>
          <p:cNvSpPr/>
          <p:nvPr/>
        </p:nvSpPr>
        <p:spPr>
          <a:xfrm>
            <a:off x="6656832" y="5349240"/>
            <a:ext cx="457200" cy="548640"/>
          </a:xfrm>
          <a:prstGeom prst="roundRect">
            <a:avLst>
              <a:gd name="adj" fmla="val 14000"/>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38" name="Text 35"/>
          <p:cNvSpPr txBox="1"/>
          <p:nvPr/>
        </p:nvSpPr>
        <p:spPr>
          <a:xfrm>
            <a:off x="6565392"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39" name="Text 36"/>
          <p:cNvSpPr/>
          <p:nvPr/>
        </p:nvSpPr>
        <p:spPr>
          <a:xfrm>
            <a:off x="7168896" y="5349240"/>
            <a:ext cx="457200" cy="548640"/>
          </a:xfrm>
          <a:prstGeom prst="roundRect">
            <a:avLst>
              <a:gd name="adj" fmla="val 14000"/>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40" name="Text 37"/>
          <p:cNvSpPr txBox="1"/>
          <p:nvPr/>
        </p:nvSpPr>
        <p:spPr>
          <a:xfrm>
            <a:off x="7077456" y="5056632"/>
            <a:ext cx="640080"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41" name="Text 38"/>
          <p:cNvSpPr txBox="1"/>
          <p:nvPr/>
        </p:nvSpPr>
        <p:spPr>
          <a:xfrm>
            <a:off x="914400" y="4727448"/>
            <a:ext cx="4206240"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42" name="Text 39"/>
          <p:cNvSpPr txBox="1"/>
          <p:nvPr/>
        </p:nvSpPr>
        <p:spPr>
          <a:xfrm>
            <a:off x="5449824" y="4727448"/>
            <a:ext cx="2359152"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43" name="Text 40"/>
          <p:cNvSpPr txBox="1"/>
          <p:nvPr/>
        </p:nvSpPr>
        <p:spPr>
          <a:xfrm>
            <a:off x="8412480" y="5349240"/>
            <a:ext cx="2286000" cy="548640"/>
          </a:xfrm>
          <a:prstGeom prst="rect">
            <a:avLst/>
          </a:prstGeom>
          <a:noFill/>
          <a:ln/>
        </p:spPr>
        <p:txBody>
          <a:bodyPr wrap="square" lIns="0" tIns="0" rIns="0" bIns="0" rtlCol="0" anchor="ctr"/>
          <a:lstStyle/>
          <a:p>
            <a:pPr indent="0" marL="0">
              <a:buNone/>
            </a:pPr>
            <a:r>
              <a:rPr lang="en-US" sz="2600" b="1" dirty="0">
                <a:solidFill>
                  <a:schemeClr val="accent1"/>
                </a:solidFill>
              </a:rPr>
              <a:t>= 9.75</a:t>
            </a:r>
            <a:endParaRPr lang="en-US" sz="2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Normalised: no wasted bits</a:t>
            </a:r>
            <a:endParaRPr lang="en-US" sz="3400" dirty="0"/>
          </a:p>
        </p:txBody>
      </p:sp>
      <p:sp>
        <p:nvSpPr>
          <p:cNvPr id="4" name="Text 1"/>
          <p:cNvSpPr txBox="1"/>
          <p:nvPr/>
        </p:nvSpPr>
        <p:spPr>
          <a:xfrm>
            <a:off x="548640" y="1280160"/>
            <a:ext cx="10972800" cy="457200"/>
          </a:xfrm>
          <a:prstGeom prst="rect">
            <a:avLst/>
          </a:prstGeom>
          <a:noFill/>
          <a:ln/>
        </p:spPr>
        <p:txBody>
          <a:bodyPr wrap="square" lIns="0" tIns="0" rIns="0" bIns="0" rtlCol="0" anchor="t"/>
          <a:lstStyle/>
          <a:p>
            <a:pPr indent="0" marL="0">
              <a:buNone/>
            </a:pPr>
            <a:r>
              <a:rPr lang="en-US" sz="2000" dirty="0">
                <a:solidFill>
                  <a:schemeClr val="tx1"/>
                </a:solidFill>
              </a:rPr>
              <a:t>Both of these represent 9.75:</a:t>
            </a:r>
            <a:endParaRPr lang="en-US" sz="2000" dirty="0"/>
          </a:p>
        </p:txBody>
      </p:sp>
      <p:sp>
        <p:nvSpPr>
          <p:cNvPr id="5" name="Text 2"/>
          <p:cNvSpPr/>
          <p:nvPr/>
        </p:nvSpPr>
        <p:spPr>
          <a:xfrm>
            <a:off x="914400" y="233172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6" name="Text 3"/>
          <p:cNvSpPr txBox="1"/>
          <p:nvPr/>
        </p:nvSpPr>
        <p:spPr>
          <a:xfrm>
            <a:off x="822960" y="2039112"/>
            <a:ext cx="621792" cy="256032"/>
          </a:xfrm>
          <a:prstGeom prst="rect">
            <a:avLst/>
          </a:prstGeom>
          <a:no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7" name="Text 4"/>
          <p:cNvSpPr txBox="1"/>
          <p:nvPr/>
        </p:nvSpPr>
        <p:spPr>
          <a:xfrm>
            <a:off x="1371600" y="2331720"/>
            <a:ext cx="201168" cy="526694"/>
          </a:xfrm>
          <a:prstGeom prst="rect">
            <a:avLst/>
          </a:prstGeom>
          <a:noFill/>
          <a:ln/>
        </p:spPr>
        <p:txBody>
          <a:bodyPr wrap="square" lIns="0" tIns="0" rIns="0" bIns="0" rtlCol="0" anchor="b"/>
          <a:lstStyle/>
          <a:p>
            <a:pPr algn="ctr" indent="0" marL="0">
              <a:buNone/>
            </a:pPr>
            <a:r>
              <a:rPr lang="en-US" sz="2600" b="1" dirty="0">
                <a:solidFill>
                  <a:schemeClr val="tx1"/>
                </a:solidFill>
              </a:rPr>
              <a:t>.</a:t>
            </a:r>
            <a:endParaRPr lang="en-US" sz="2600" dirty="0"/>
          </a:p>
        </p:txBody>
      </p:sp>
      <p:sp>
        <p:nvSpPr>
          <p:cNvPr id="8" name="Text 5"/>
          <p:cNvSpPr/>
          <p:nvPr/>
        </p:nvSpPr>
        <p:spPr>
          <a:xfrm>
            <a:off x="1572768" y="233172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9" name="Text 6"/>
          <p:cNvSpPr txBox="1"/>
          <p:nvPr/>
        </p:nvSpPr>
        <p:spPr>
          <a:xfrm>
            <a:off x="1481328"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½</a:t>
            </a:r>
            <a:endParaRPr lang="en-US" sz="1000" dirty="0"/>
          </a:p>
        </p:txBody>
      </p:sp>
      <p:sp>
        <p:nvSpPr>
          <p:cNvPr id="10" name="Text 7"/>
          <p:cNvSpPr/>
          <p:nvPr/>
        </p:nvSpPr>
        <p:spPr>
          <a:xfrm>
            <a:off x="2066544" y="233172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11" name="Text 8"/>
          <p:cNvSpPr txBox="1"/>
          <p:nvPr/>
        </p:nvSpPr>
        <p:spPr>
          <a:xfrm>
            <a:off x="1975104"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¼</a:t>
            </a:r>
            <a:endParaRPr lang="en-US" sz="1000" dirty="0"/>
          </a:p>
        </p:txBody>
      </p:sp>
      <p:sp>
        <p:nvSpPr>
          <p:cNvPr id="12" name="Text 9"/>
          <p:cNvSpPr/>
          <p:nvPr/>
        </p:nvSpPr>
        <p:spPr>
          <a:xfrm>
            <a:off x="2560320" y="233172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13" name="Text 10"/>
          <p:cNvSpPr txBox="1"/>
          <p:nvPr/>
        </p:nvSpPr>
        <p:spPr>
          <a:xfrm>
            <a:off x="2468880"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⅛</a:t>
            </a:r>
            <a:endParaRPr lang="en-US" sz="1000" dirty="0"/>
          </a:p>
        </p:txBody>
      </p:sp>
      <p:sp>
        <p:nvSpPr>
          <p:cNvPr id="14" name="Text 11"/>
          <p:cNvSpPr/>
          <p:nvPr/>
        </p:nvSpPr>
        <p:spPr>
          <a:xfrm>
            <a:off x="3054096" y="233172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15" name="Text 12"/>
          <p:cNvSpPr txBox="1"/>
          <p:nvPr/>
        </p:nvSpPr>
        <p:spPr>
          <a:xfrm>
            <a:off x="2962656"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1/16</a:t>
            </a:r>
            <a:endParaRPr lang="en-US" sz="1000" dirty="0"/>
          </a:p>
        </p:txBody>
      </p:sp>
      <p:sp>
        <p:nvSpPr>
          <p:cNvPr id="16" name="Text 13"/>
          <p:cNvSpPr/>
          <p:nvPr/>
        </p:nvSpPr>
        <p:spPr>
          <a:xfrm>
            <a:off x="3547872" y="233172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17" name="Text 14"/>
          <p:cNvSpPr txBox="1"/>
          <p:nvPr/>
        </p:nvSpPr>
        <p:spPr>
          <a:xfrm>
            <a:off x="3456432"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1/32</a:t>
            </a:r>
            <a:endParaRPr lang="en-US" sz="1000" dirty="0"/>
          </a:p>
        </p:txBody>
      </p:sp>
      <p:sp>
        <p:nvSpPr>
          <p:cNvPr id="18" name="Text 15"/>
          <p:cNvSpPr/>
          <p:nvPr/>
        </p:nvSpPr>
        <p:spPr>
          <a:xfrm>
            <a:off x="4041648" y="233172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19" name="Text 16"/>
          <p:cNvSpPr txBox="1"/>
          <p:nvPr/>
        </p:nvSpPr>
        <p:spPr>
          <a:xfrm>
            <a:off x="3950208"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1/64</a:t>
            </a:r>
            <a:endParaRPr lang="en-US" sz="1000" dirty="0"/>
          </a:p>
        </p:txBody>
      </p:sp>
      <p:sp>
        <p:nvSpPr>
          <p:cNvPr id="20" name="Text 17"/>
          <p:cNvSpPr/>
          <p:nvPr/>
        </p:nvSpPr>
        <p:spPr>
          <a:xfrm>
            <a:off x="4535424" y="233172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21" name="Text 18"/>
          <p:cNvSpPr txBox="1"/>
          <p:nvPr/>
        </p:nvSpPr>
        <p:spPr>
          <a:xfrm>
            <a:off x="4443984"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1/128</a:t>
            </a:r>
            <a:endParaRPr lang="en-US" sz="1000" dirty="0"/>
          </a:p>
        </p:txBody>
      </p:sp>
      <p:sp>
        <p:nvSpPr>
          <p:cNvPr id="22" name="Text 19"/>
          <p:cNvSpPr/>
          <p:nvPr/>
        </p:nvSpPr>
        <p:spPr>
          <a:xfrm>
            <a:off x="5486400" y="233172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23" name="Text 20"/>
          <p:cNvSpPr txBox="1"/>
          <p:nvPr/>
        </p:nvSpPr>
        <p:spPr>
          <a:xfrm>
            <a:off x="5394960" y="2039112"/>
            <a:ext cx="621792" cy="256032"/>
          </a:xfrm>
          <a:prstGeom prst="rect">
            <a:avLst/>
          </a:prstGeom>
          <a:noFill/>
          <a:ln/>
        </p:spPr>
        <p:txBody>
          <a:bodyPr wrap="square" lIns="0" tIns="0" rIns="0" bIns="0" rtlCol="0" anchor="ctr"/>
          <a:lstStyle/>
          <a:p>
            <a:pPr algn="ctr" indent="0" marL="0">
              <a:buNone/>
            </a:pPr>
            <a:r>
              <a:rPr lang="en-US" sz="1000" b="1" dirty="0">
                <a:solidFill>
                  <a:schemeClr val="accent2"/>
                </a:solidFill>
              </a:rPr>
              <a:t>−8</a:t>
            </a:r>
            <a:endParaRPr lang="en-US" sz="1000" dirty="0"/>
          </a:p>
        </p:txBody>
      </p:sp>
      <p:sp>
        <p:nvSpPr>
          <p:cNvPr id="24" name="Text 21"/>
          <p:cNvSpPr/>
          <p:nvPr/>
        </p:nvSpPr>
        <p:spPr>
          <a:xfrm>
            <a:off x="5980176" y="233172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25" name="Text 22"/>
          <p:cNvSpPr txBox="1"/>
          <p:nvPr/>
        </p:nvSpPr>
        <p:spPr>
          <a:xfrm>
            <a:off x="5888736"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4</a:t>
            </a:r>
            <a:endParaRPr lang="en-US" sz="1000" dirty="0"/>
          </a:p>
        </p:txBody>
      </p:sp>
      <p:sp>
        <p:nvSpPr>
          <p:cNvPr id="26" name="Text 23"/>
          <p:cNvSpPr/>
          <p:nvPr/>
        </p:nvSpPr>
        <p:spPr>
          <a:xfrm>
            <a:off x="6473952" y="233172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27" name="Text 24"/>
          <p:cNvSpPr txBox="1"/>
          <p:nvPr/>
        </p:nvSpPr>
        <p:spPr>
          <a:xfrm>
            <a:off x="6382512"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2</a:t>
            </a:r>
            <a:endParaRPr lang="en-US" sz="1000" dirty="0"/>
          </a:p>
        </p:txBody>
      </p:sp>
      <p:sp>
        <p:nvSpPr>
          <p:cNvPr id="28" name="Text 25"/>
          <p:cNvSpPr/>
          <p:nvPr/>
        </p:nvSpPr>
        <p:spPr>
          <a:xfrm>
            <a:off x="6967728" y="233172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29" name="Text 26"/>
          <p:cNvSpPr txBox="1"/>
          <p:nvPr/>
        </p:nvSpPr>
        <p:spPr>
          <a:xfrm>
            <a:off x="6876288" y="203911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a:t>
            </a:r>
            <a:endParaRPr lang="en-US" sz="1000" dirty="0"/>
          </a:p>
        </p:txBody>
      </p:sp>
      <p:sp>
        <p:nvSpPr>
          <p:cNvPr id="30" name="Text 27"/>
          <p:cNvSpPr txBox="1"/>
          <p:nvPr/>
        </p:nvSpPr>
        <p:spPr>
          <a:xfrm>
            <a:off x="914400" y="1709928"/>
            <a:ext cx="4059936"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1" name="Text 28"/>
          <p:cNvSpPr txBox="1"/>
          <p:nvPr/>
        </p:nvSpPr>
        <p:spPr>
          <a:xfrm>
            <a:off x="5303520" y="1709928"/>
            <a:ext cx="2286000"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2" name="Text 29"/>
          <p:cNvSpPr/>
          <p:nvPr/>
        </p:nvSpPr>
        <p:spPr>
          <a:xfrm>
            <a:off x="8503920" y="2331720"/>
            <a:ext cx="3017520" cy="411480"/>
          </a:xfrm>
          <a:prstGeom prst="roundRect">
            <a:avLst>
              <a:gd name="adj" fmla="val 44444"/>
            </a:avLst>
          </a:prstGeom>
          <a:solidFill>
            <a:schemeClr val="accent4"/>
          </a:solidFill>
          <a:ln>
            <a:solidFill>
              <a:schemeClr val="accent4"/>
            </a:solidFill>
          </a:ln>
        </p:spPr>
        <p:txBody>
          <a:bodyPr wrap="square" lIns="0" tIns="0" rIns="0" bIns="0" rtlCol="0" anchor="ctr"/>
          <a:lstStyle/>
          <a:p>
            <a:pPr algn="ctr" indent="0" marL="0">
              <a:buNone/>
            </a:pPr>
            <a:r>
              <a:rPr lang="en-US" sz="1500" b="1" dirty="0">
                <a:solidFill>
                  <a:schemeClr val="bg1"/>
                </a:solidFill>
              </a:rPr>
              <a:t>Normalised ✓</a:t>
            </a:r>
            <a:endParaRPr lang="en-US" sz="1500" dirty="0"/>
          </a:p>
        </p:txBody>
      </p:sp>
      <p:sp>
        <p:nvSpPr>
          <p:cNvPr id="33" name="Text 30"/>
          <p:cNvSpPr/>
          <p:nvPr/>
        </p:nvSpPr>
        <p:spPr>
          <a:xfrm>
            <a:off x="914400" y="361188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34" name="Text 31"/>
          <p:cNvSpPr txBox="1"/>
          <p:nvPr/>
        </p:nvSpPr>
        <p:spPr>
          <a:xfrm>
            <a:off x="822960" y="3319272"/>
            <a:ext cx="621792" cy="256032"/>
          </a:xfrm>
          <a:prstGeom prst="rect">
            <a:avLst/>
          </a:prstGeom>
          <a:noFill/>
          <a:ln/>
        </p:spPr>
        <p:txBody>
          <a:bodyPr wrap="square" lIns="0" tIns="0" rIns="0" bIns="0" rtlCol="0" anchor="ctr"/>
          <a:lstStyle/>
          <a:p>
            <a:pPr algn="ctr" indent="0" marL="0">
              <a:buNone/>
            </a:pPr>
            <a:r>
              <a:rPr lang="en-US" sz="1000" b="1" dirty="0">
                <a:solidFill>
                  <a:schemeClr val="accent2"/>
                </a:solidFill>
              </a:rPr>
              <a:t>−1</a:t>
            </a:r>
            <a:endParaRPr lang="en-US" sz="1000" dirty="0"/>
          </a:p>
        </p:txBody>
      </p:sp>
      <p:sp>
        <p:nvSpPr>
          <p:cNvPr id="35" name="Text 32"/>
          <p:cNvSpPr txBox="1"/>
          <p:nvPr/>
        </p:nvSpPr>
        <p:spPr>
          <a:xfrm>
            <a:off x="1371600" y="3611880"/>
            <a:ext cx="201168" cy="526694"/>
          </a:xfrm>
          <a:prstGeom prst="rect">
            <a:avLst/>
          </a:prstGeom>
          <a:noFill/>
          <a:ln/>
        </p:spPr>
        <p:txBody>
          <a:bodyPr wrap="square" lIns="0" tIns="0" rIns="0" bIns="0" rtlCol="0" anchor="b"/>
          <a:lstStyle/>
          <a:p>
            <a:pPr algn="ctr" indent="0" marL="0">
              <a:buNone/>
            </a:pPr>
            <a:r>
              <a:rPr lang="en-US" sz="2600" b="1" dirty="0">
                <a:solidFill>
                  <a:schemeClr val="tx1"/>
                </a:solidFill>
              </a:rPr>
              <a:t>.</a:t>
            </a:r>
            <a:endParaRPr lang="en-US" sz="2600" dirty="0"/>
          </a:p>
        </p:txBody>
      </p:sp>
      <p:sp>
        <p:nvSpPr>
          <p:cNvPr id="36" name="Text 33"/>
          <p:cNvSpPr/>
          <p:nvPr/>
        </p:nvSpPr>
        <p:spPr>
          <a:xfrm>
            <a:off x="1572768" y="3611880"/>
            <a:ext cx="438912" cy="526694"/>
          </a:xfrm>
          <a:prstGeom prst="roundRect">
            <a:avLst>
              <a:gd name="adj" fmla="val 14583"/>
            </a:avLst>
          </a:prstGeom>
          <a:solidFill>
            <a:schemeClr val="accent2"/>
          </a:solidFill>
          <a:ln w="15875">
            <a:solidFill>
              <a:schemeClr val="accent2"/>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p>
        </p:txBody>
      </p:sp>
      <p:sp>
        <p:nvSpPr>
          <p:cNvPr id="37" name="Text 34"/>
          <p:cNvSpPr txBox="1"/>
          <p:nvPr/>
        </p:nvSpPr>
        <p:spPr>
          <a:xfrm>
            <a:off x="1481328"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½</a:t>
            </a:r>
            <a:endParaRPr lang="en-US" sz="1000" dirty="0"/>
          </a:p>
        </p:txBody>
      </p:sp>
      <p:sp>
        <p:nvSpPr>
          <p:cNvPr id="38" name="Text 35"/>
          <p:cNvSpPr/>
          <p:nvPr/>
        </p:nvSpPr>
        <p:spPr>
          <a:xfrm>
            <a:off x="2066544" y="361188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39" name="Text 36"/>
          <p:cNvSpPr txBox="1"/>
          <p:nvPr/>
        </p:nvSpPr>
        <p:spPr>
          <a:xfrm>
            <a:off x="1975104"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¼</a:t>
            </a:r>
            <a:endParaRPr lang="en-US" sz="1000" dirty="0"/>
          </a:p>
        </p:txBody>
      </p:sp>
      <p:sp>
        <p:nvSpPr>
          <p:cNvPr id="40" name="Text 37"/>
          <p:cNvSpPr/>
          <p:nvPr/>
        </p:nvSpPr>
        <p:spPr>
          <a:xfrm>
            <a:off x="2560320" y="361188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41" name="Text 38"/>
          <p:cNvSpPr txBox="1"/>
          <p:nvPr/>
        </p:nvSpPr>
        <p:spPr>
          <a:xfrm>
            <a:off x="2468880"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⅛</a:t>
            </a:r>
            <a:endParaRPr lang="en-US" sz="1000" dirty="0"/>
          </a:p>
        </p:txBody>
      </p:sp>
      <p:sp>
        <p:nvSpPr>
          <p:cNvPr id="42" name="Text 39"/>
          <p:cNvSpPr/>
          <p:nvPr/>
        </p:nvSpPr>
        <p:spPr>
          <a:xfrm>
            <a:off x="3054096" y="361188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43" name="Text 40"/>
          <p:cNvSpPr txBox="1"/>
          <p:nvPr/>
        </p:nvSpPr>
        <p:spPr>
          <a:xfrm>
            <a:off x="2962656"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1/16</a:t>
            </a:r>
            <a:endParaRPr lang="en-US" sz="1000" dirty="0"/>
          </a:p>
        </p:txBody>
      </p:sp>
      <p:sp>
        <p:nvSpPr>
          <p:cNvPr id="44" name="Text 41"/>
          <p:cNvSpPr/>
          <p:nvPr/>
        </p:nvSpPr>
        <p:spPr>
          <a:xfrm>
            <a:off x="3547872" y="361188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45" name="Text 42"/>
          <p:cNvSpPr txBox="1"/>
          <p:nvPr/>
        </p:nvSpPr>
        <p:spPr>
          <a:xfrm>
            <a:off x="3456432"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1/32</a:t>
            </a:r>
            <a:endParaRPr lang="en-US" sz="1000" dirty="0"/>
          </a:p>
        </p:txBody>
      </p:sp>
      <p:sp>
        <p:nvSpPr>
          <p:cNvPr id="46" name="Text 43"/>
          <p:cNvSpPr/>
          <p:nvPr/>
        </p:nvSpPr>
        <p:spPr>
          <a:xfrm>
            <a:off x="4041648" y="361188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47" name="Text 44"/>
          <p:cNvSpPr txBox="1"/>
          <p:nvPr/>
        </p:nvSpPr>
        <p:spPr>
          <a:xfrm>
            <a:off x="3950208"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1/64</a:t>
            </a:r>
            <a:endParaRPr lang="en-US" sz="1000" dirty="0"/>
          </a:p>
        </p:txBody>
      </p:sp>
      <p:sp>
        <p:nvSpPr>
          <p:cNvPr id="48" name="Text 45"/>
          <p:cNvSpPr/>
          <p:nvPr/>
        </p:nvSpPr>
        <p:spPr>
          <a:xfrm>
            <a:off x="4535424" y="361188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49" name="Text 46"/>
          <p:cNvSpPr txBox="1"/>
          <p:nvPr/>
        </p:nvSpPr>
        <p:spPr>
          <a:xfrm>
            <a:off x="4443984"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1/128</a:t>
            </a:r>
            <a:endParaRPr lang="en-US" sz="1000" dirty="0"/>
          </a:p>
        </p:txBody>
      </p:sp>
      <p:sp>
        <p:nvSpPr>
          <p:cNvPr id="50" name="Text 47"/>
          <p:cNvSpPr/>
          <p:nvPr/>
        </p:nvSpPr>
        <p:spPr>
          <a:xfrm>
            <a:off x="5486400" y="361188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51" name="Text 48"/>
          <p:cNvSpPr txBox="1"/>
          <p:nvPr/>
        </p:nvSpPr>
        <p:spPr>
          <a:xfrm>
            <a:off x="5394960" y="3319272"/>
            <a:ext cx="621792" cy="256032"/>
          </a:xfrm>
          <a:prstGeom prst="rect">
            <a:avLst/>
          </a:prstGeom>
          <a:noFill/>
          <a:ln/>
        </p:spPr>
        <p:txBody>
          <a:bodyPr wrap="square" lIns="0" tIns="0" rIns="0" bIns="0" rtlCol="0" anchor="ctr"/>
          <a:lstStyle/>
          <a:p>
            <a:pPr algn="ctr" indent="0" marL="0">
              <a:buNone/>
            </a:pPr>
            <a:r>
              <a:rPr lang="en-US" sz="1000" b="1" dirty="0">
                <a:solidFill>
                  <a:schemeClr val="accent2"/>
                </a:solidFill>
              </a:rPr>
              <a:t>−8</a:t>
            </a:r>
            <a:endParaRPr lang="en-US" sz="1000" dirty="0"/>
          </a:p>
        </p:txBody>
      </p:sp>
      <p:sp>
        <p:nvSpPr>
          <p:cNvPr id="52" name="Text 49"/>
          <p:cNvSpPr/>
          <p:nvPr/>
        </p:nvSpPr>
        <p:spPr>
          <a:xfrm>
            <a:off x="5980176" y="361188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53" name="Text 50"/>
          <p:cNvSpPr txBox="1"/>
          <p:nvPr/>
        </p:nvSpPr>
        <p:spPr>
          <a:xfrm>
            <a:off x="5888736"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4</a:t>
            </a:r>
            <a:endParaRPr lang="en-US" sz="1000" dirty="0"/>
          </a:p>
        </p:txBody>
      </p:sp>
      <p:sp>
        <p:nvSpPr>
          <p:cNvPr id="54" name="Text 51"/>
          <p:cNvSpPr/>
          <p:nvPr/>
        </p:nvSpPr>
        <p:spPr>
          <a:xfrm>
            <a:off x="6473952" y="3611880"/>
            <a:ext cx="438912" cy="526694"/>
          </a:xfrm>
          <a:prstGeom prst="roundRect">
            <a:avLst>
              <a:gd name="adj" fmla="val 14583"/>
            </a:avLst>
          </a:prstGeom>
          <a:solidFill>
            <a:schemeClr val="bg1"/>
          </a:solidFill>
          <a:ln w="15875">
            <a:solidFill>
              <a:schemeClr val="tx1"/>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55" name="Text 52"/>
          <p:cNvSpPr txBox="1"/>
          <p:nvPr/>
        </p:nvSpPr>
        <p:spPr>
          <a:xfrm>
            <a:off x="6382512"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2</a:t>
            </a:r>
            <a:endParaRPr lang="en-US" sz="1000" dirty="0"/>
          </a:p>
        </p:txBody>
      </p:sp>
      <p:sp>
        <p:nvSpPr>
          <p:cNvPr id="56" name="Text 53"/>
          <p:cNvSpPr/>
          <p:nvPr/>
        </p:nvSpPr>
        <p:spPr>
          <a:xfrm>
            <a:off x="6967728" y="3611880"/>
            <a:ext cx="438912" cy="526694"/>
          </a:xfrm>
          <a:prstGeom prst="roundRect">
            <a:avLst>
              <a:gd name="adj" fmla="val 14583"/>
            </a:avLst>
          </a:prstGeom>
          <a:solidFill>
            <a:schemeClr val="accent1"/>
          </a:solidFill>
          <a:ln w="15875">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57" name="Text 54"/>
          <p:cNvSpPr txBox="1"/>
          <p:nvPr/>
        </p:nvSpPr>
        <p:spPr>
          <a:xfrm>
            <a:off x="6876288" y="3319272"/>
            <a:ext cx="621792" cy="256032"/>
          </a:xfrm>
          <a:prstGeom prst="rect">
            <a:avLst/>
          </a:prstGeom>
          <a:noFill/>
          <a:ln/>
        </p:spPr>
        <p:txBody>
          <a:bodyPr wrap="square" lIns="0" tIns="0" rIns="0" bIns="0" rtlCol="0" anchor="ctr"/>
          <a:lstStyle/>
          <a:p>
            <a:pPr algn="ctr" indent="0" marL="0">
              <a:buNone/>
            </a:pPr>
            <a:r>
              <a:rPr lang="en-US" sz="1000" dirty="0">
                <a:solidFill>
                  <a:schemeClr val="accent6"/>
                </a:solidFill>
              </a:rPr>
              <a:t>1</a:t>
            </a:r>
            <a:endParaRPr lang="en-US" sz="1000" dirty="0"/>
          </a:p>
        </p:txBody>
      </p:sp>
      <p:sp>
        <p:nvSpPr>
          <p:cNvPr id="58" name="Text 55"/>
          <p:cNvSpPr/>
          <p:nvPr/>
        </p:nvSpPr>
        <p:spPr>
          <a:xfrm>
            <a:off x="8503920" y="3611880"/>
            <a:ext cx="3017520" cy="411480"/>
          </a:xfrm>
          <a:prstGeom prst="roundRect">
            <a:avLst>
              <a:gd name="adj" fmla="val 44444"/>
            </a:avLst>
          </a:prstGeom>
          <a:solidFill>
            <a:schemeClr val="accent5"/>
          </a:solidFill>
          <a:ln>
            <a:solidFill>
              <a:schemeClr val="accent5"/>
            </a:solidFill>
          </a:ln>
        </p:spPr>
        <p:txBody>
          <a:bodyPr wrap="square" lIns="0" tIns="0" rIns="0" bIns="0" rtlCol="0" anchor="ctr"/>
          <a:lstStyle/>
          <a:p>
            <a:pPr algn="ctr" indent="0" marL="0">
              <a:buNone/>
            </a:pPr>
            <a:r>
              <a:rPr lang="en-US" sz="1500" b="1" dirty="0">
                <a:solidFill>
                  <a:schemeClr val="bg1"/>
                </a:solidFill>
              </a:rPr>
              <a:t>Not normalised ✗</a:t>
            </a:r>
            <a:endParaRPr lang="en-US" sz="1500" dirty="0"/>
          </a:p>
        </p:txBody>
      </p:sp>
      <p:sp>
        <p:nvSpPr>
          <p:cNvPr id="59" name="Shape 56"/>
          <p:cNvSpPr/>
          <p:nvPr/>
        </p:nvSpPr>
        <p:spPr>
          <a:xfrm>
            <a:off x="548640" y="4572000"/>
            <a:ext cx="5394960" cy="1325880"/>
          </a:xfrm>
          <a:prstGeom prst="roundRect">
            <a:avLst>
              <a:gd name="adj" fmla="val 8276"/>
            </a:avLst>
          </a:prstGeom>
          <a:solidFill>
            <a:schemeClr val="accent3"/>
          </a:solidFill>
          <a:ln w="12700">
            <a:solidFill>
              <a:schemeClr val="accent3"/>
            </a:solidFill>
            <a:prstDash val="solid"/>
          </a:ln>
        </p:spPr>
      </p:sp>
      <p:sp>
        <p:nvSpPr>
          <p:cNvPr id="60" name="Text 57"/>
          <p:cNvSpPr txBox="1"/>
          <p:nvPr/>
        </p:nvSpPr>
        <p:spPr>
          <a:xfrm>
            <a:off x="868680" y="4709160"/>
            <a:ext cx="4846320" cy="10058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Positive mantissa
</a:t>
            </a:r>
            <a:pPr indent="0" marL="0">
              <a:buNone/>
            </a:pPr>
            <a:r>
              <a:rPr lang="en-US" sz="2000" dirty="0">
                <a:solidFill>
                  <a:schemeClr val="tx1"/>
                </a:solidFill>
                <a:latin typeface="Courier New" pitchFamily="34" charset="0"/>
                <a:ea typeface="Courier New" pitchFamily="34" charset="-122"/>
                <a:cs typeface="Courier New" pitchFamily="34" charset="-120"/>
              </a:rPr>
              <a:t>starts 0.1</a:t>
            </a:r>
            <a:endParaRPr lang="en-US" sz="2000" dirty="0"/>
          </a:p>
        </p:txBody>
      </p:sp>
      <p:sp>
        <p:nvSpPr>
          <p:cNvPr id="61" name="Shape 58"/>
          <p:cNvSpPr/>
          <p:nvPr/>
        </p:nvSpPr>
        <p:spPr>
          <a:xfrm>
            <a:off x="6217920" y="4572000"/>
            <a:ext cx="5394960" cy="1325880"/>
          </a:xfrm>
          <a:prstGeom prst="roundRect">
            <a:avLst>
              <a:gd name="adj" fmla="val 8276"/>
            </a:avLst>
          </a:prstGeom>
          <a:solidFill>
            <a:schemeClr val="bg2"/>
          </a:solidFill>
          <a:ln w="12700">
            <a:solidFill>
              <a:schemeClr val="bg2"/>
            </a:solidFill>
            <a:prstDash val="solid"/>
          </a:ln>
        </p:spPr>
      </p:sp>
      <p:sp>
        <p:nvSpPr>
          <p:cNvPr id="62" name="Text 59"/>
          <p:cNvSpPr txBox="1"/>
          <p:nvPr/>
        </p:nvSpPr>
        <p:spPr>
          <a:xfrm>
            <a:off x="6537960" y="4709160"/>
            <a:ext cx="4846320" cy="10058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Negative mantissa
</a:t>
            </a:r>
            <a:pPr indent="0" marL="0">
              <a:buNone/>
            </a:pPr>
            <a:r>
              <a:rPr lang="en-US" sz="2000" dirty="0">
                <a:solidFill>
                  <a:schemeClr val="tx1"/>
                </a:solidFill>
                <a:latin typeface="Courier New" pitchFamily="34" charset="0"/>
                <a:ea typeface="Courier New" pitchFamily="34" charset="-122"/>
                <a:cs typeface="Courier New" pitchFamily="34" charset="-120"/>
              </a:rPr>
              <a:t>starts 1.0</a:t>
            </a: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Pairs: 2017, Q7(b)(i)</a:t>
            </a:r>
            <a:endParaRPr lang="en-US" sz="3400" dirty="0"/>
          </a:p>
        </p:txBody>
      </p:sp>
      <p:sp>
        <p:nvSpPr>
          <p:cNvPr id="4" name="Shape 1"/>
          <p:cNvSpPr/>
          <p:nvPr/>
        </p:nvSpPr>
        <p:spPr>
          <a:xfrm>
            <a:off x="548640" y="1417320"/>
            <a:ext cx="6766560" cy="4480560"/>
          </a:xfrm>
          <a:prstGeom prst="roundRect">
            <a:avLst>
              <a:gd name="adj" fmla="val 2449"/>
            </a:avLst>
          </a:prstGeom>
          <a:solidFill>
            <a:schemeClr val="bg1"/>
          </a:solidFill>
          <a:ln w="12700">
            <a:solidFill>
              <a:schemeClr val="bg1"/>
            </a:solidFill>
            <a:prstDash val="solid"/>
          </a:ln>
        </p:spPr>
      </p:sp>
      <p:sp>
        <p:nvSpPr>
          <p:cNvPr id="5" name="Text 2"/>
          <p:cNvSpPr txBox="1"/>
          <p:nvPr/>
        </p:nvSpPr>
        <p:spPr>
          <a:xfrm>
            <a:off x="914400" y="1691640"/>
            <a:ext cx="6035040" cy="457200"/>
          </a:xfrm>
          <a:prstGeom prst="rect">
            <a:avLst/>
          </a:prstGeom>
          <a:noFill/>
          <a:ln/>
        </p:spPr>
        <p:txBody>
          <a:bodyPr wrap="square" lIns="0" tIns="0" rIns="0" bIns="0" rtlCol="0" anchor="t"/>
          <a:lstStyle/>
          <a:p>
            <a:pPr indent="0" marL="0">
              <a:buNone/>
            </a:pPr>
            <a:r>
              <a:rPr lang="en-US" sz="2400" b="1" dirty="0">
                <a:solidFill>
                  <a:schemeClr val="accent1"/>
                </a:solidFill>
              </a:rPr>
              <a:t>In pairs, 5 minutes</a:t>
            </a:r>
            <a:endParaRPr lang="en-US" sz="2400" dirty="0"/>
          </a:p>
        </p:txBody>
      </p:sp>
      <p:sp>
        <p:nvSpPr>
          <p:cNvPr id="6" name="Text 3"/>
          <p:cNvSpPr txBox="1"/>
          <p:nvPr/>
        </p:nvSpPr>
        <p:spPr>
          <a:xfrm>
            <a:off x="914400" y="2286000"/>
            <a:ext cx="6035040" cy="1828800"/>
          </a:xfrm>
          <a:prstGeom prst="rect">
            <a:avLst/>
          </a:prstGeom>
          <a:noFill/>
          <a:ln/>
        </p:spPr>
        <p:txBody>
          <a:bodyPr wrap="square" lIns="0" tIns="0" rIns="0" bIns="0" rtlCol="0" anchor="t"/>
          <a:lstStyle/>
          <a:p>
            <a:pPr indent="0" marL="0">
              <a:buNone/>
            </a:pPr>
            <a:r>
              <a:rPr lang="en-US" sz="1900" dirty="0">
                <a:solidFill>
                  <a:schemeClr val="tx1"/>
                </a:solidFill>
              </a:rPr>
              <a:t>Real numbers are stored in floating point form using two's complementation, an 8-bit mantissa and a 4-bit exponent. Convert 4.125 into this floating point form.  [3]</a:t>
            </a:r>
            <a:endParaRPr lang="en-US" sz="1900" dirty="0"/>
          </a:p>
        </p:txBody>
      </p:sp>
      <p:sp>
        <p:nvSpPr>
          <p:cNvPr id="7" name="Text 4"/>
          <p:cNvSpPr txBox="1"/>
          <p:nvPr/>
        </p:nvSpPr>
        <p:spPr>
          <a:xfrm>
            <a:off x="914400" y="4389120"/>
            <a:ext cx="6035040" cy="822960"/>
          </a:xfrm>
          <a:prstGeom prst="rect">
            <a:avLst/>
          </a:prstGeom>
          <a:noFill/>
          <a:ln/>
        </p:spPr>
        <p:txBody>
          <a:bodyPr wrap="square" lIns="0" tIns="0" rIns="0" bIns="0" rtlCol="0" anchor="t"/>
          <a:lstStyle/>
          <a:p>
            <a:pPr indent="0" marL="0">
              <a:buNone/>
            </a:pPr>
            <a:r>
              <a:rPr lang="en-US" sz="1700" dirty="0">
                <a:solidFill>
                  <a:schemeClr val="accent6"/>
                </a:solidFill>
              </a:rPr>
              <a:t>Use the four steps. Show the fixed point binary.</a:t>
            </a:r>
            <a:endParaRPr lang="en-US" sz="1700" dirty="0"/>
          </a:p>
        </p:txBody>
      </p:sp>
      <p:sp>
        <p:nvSpPr>
          <p:cNvPr id="8" name="Shape 5"/>
          <p:cNvSpPr/>
          <p:nvPr/>
        </p:nvSpPr>
        <p:spPr>
          <a:xfrm>
            <a:off x="7772400" y="1417320"/>
            <a:ext cx="3840480" cy="4480560"/>
          </a:xfrm>
          <a:prstGeom prst="roundRect">
            <a:avLst>
              <a:gd name="adj" fmla="val 2857"/>
            </a:avLst>
          </a:prstGeom>
          <a:solidFill>
            <a:schemeClr val="tx1"/>
          </a:solidFill>
          <a:ln w="12700">
            <a:solidFill>
              <a:schemeClr val="tx1"/>
            </a:solidFill>
            <a:prstDash val="solid"/>
          </a:ln>
        </p:spPr>
      </p:sp>
      <p:sp>
        <p:nvSpPr>
          <p:cNvPr id="9" name="Text 6"/>
          <p:cNvSpPr txBox="1"/>
          <p:nvPr/>
        </p:nvSpPr>
        <p:spPr>
          <a:xfrm>
            <a:off x="8046720" y="1691640"/>
            <a:ext cx="3291840" cy="457200"/>
          </a:xfrm>
          <a:prstGeom prst="rect">
            <a:avLst/>
          </a:prstGeom>
          <a:noFill/>
          <a:ln/>
        </p:spPr>
        <p:txBody>
          <a:bodyPr wrap="square" lIns="0" tIns="0" rIns="0" bIns="0" rtlCol="0" anchor="t"/>
          <a:lstStyle/>
          <a:p>
            <a:pPr indent="0" marL="0">
              <a:buNone/>
            </a:pPr>
            <a:r>
              <a:rPr lang="en-US" sz="2000" b="1" dirty="0">
                <a:solidFill>
                  <a:schemeClr val="accent2"/>
                </a:solidFill>
              </a:rPr>
              <a:t>Stretch  (2018, Q5b-i)</a:t>
            </a:r>
            <a:endParaRPr lang="en-US" sz="2000" dirty="0"/>
          </a:p>
        </p:txBody>
      </p:sp>
      <p:sp>
        <p:nvSpPr>
          <p:cNvPr id="10" name="Text 7"/>
          <p:cNvSpPr txBox="1"/>
          <p:nvPr/>
        </p:nvSpPr>
        <p:spPr>
          <a:xfrm>
            <a:off x="8046720" y="2286000"/>
            <a:ext cx="3291840" cy="2286000"/>
          </a:xfrm>
          <a:prstGeom prst="rect">
            <a:avLst/>
          </a:prstGeom>
          <a:noFill/>
          <a:ln/>
        </p:spPr>
        <p:txBody>
          <a:bodyPr wrap="square" lIns="0" tIns="0" rIns="0" bIns="0" rtlCol="0" anchor="t"/>
          <a:lstStyle/>
          <a:p>
            <a:pPr indent="0" marL="0">
              <a:buNone/>
            </a:pPr>
            <a:r>
              <a:rPr lang="en-US" sz="1800" dirty="0">
                <a:solidFill>
                  <a:schemeClr val="bg1"/>
                </a:solidFill>
              </a:rPr>
              <a:t>Convert 16.125 into floating point form with a 12-bit mantissa and a 4-bit exponent.  [3]</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Answers</a:t>
            </a:r>
            <a:endParaRPr lang="en-US" sz="3400" dirty="0"/>
          </a:p>
        </p:txBody>
      </p:sp>
      <p:sp>
        <p:nvSpPr>
          <p:cNvPr id="4" name="Text 1"/>
          <p:cNvSpPr txBox="1"/>
          <p:nvPr/>
        </p:nvSpPr>
        <p:spPr>
          <a:xfrm>
            <a:off x="548640" y="1280160"/>
            <a:ext cx="11064240" cy="45720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4.125 = 100.001  →  0.100001, point moved 3 left</a:t>
            </a:r>
            <a:endParaRPr lang="en-US" sz="2000" dirty="0"/>
          </a:p>
        </p:txBody>
      </p:sp>
      <p:sp>
        <p:nvSpPr>
          <p:cNvPr id="5" name="Text 2"/>
          <p:cNvSpPr/>
          <p:nvPr/>
        </p:nvSpPr>
        <p:spPr>
          <a:xfrm>
            <a:off x="914400" y="2514600"/>
            <a:ext cx="475488" cy="570586"/>
          </a:xfrm>
          <a:prstGeom prst="roundRect">
            <a:avLst>
              <a:gd name="adj" fmla="val 13462"/>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6" name="Text 3"/>
          <p:cNvSpPr txBox="1"/>
          <p:nvPr/>
        </p:nvSpPr>
        <p:spPr>
          <a:xfrm>
            <a:off x="822960" y="2221992"/>
            <a:ext cx="658368"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7" name="Text 4"/>
          <p:cNvSpPr txBox="1"/>
          <p:nvPr/>
        </p:nvSpPr>
        <p:spPr>
          <a:xfrm>
            <a:off x="1408176" y="2514600"/>
            <a:ext cx="201168" cy="570586"/>
          </a:xfrm>
          <a:prstGeom prst="rect">
            <a:avLst/>
          </a:prstGeom>
          <a:noFill/>
          <a:ln/>
        </p:spPr>
        <p:txBody>
          <a:bodyPr wrap="square" lIns="0" tIns="0" rIns="0" bIns="0" rtlCol="0" anchor="b"/>
          <a:lstStyle/>
          <a:p>
            <a:pPr algn="ctr" indent="0" marL="0">
              <a:buNone/>
            </a:pPr>
            <a:r>
              <a:rPr lang="en-US" sz="2800" b="1" dirty="0">
                <a:solidFill>
                  <a:schemeClr val="tx1"/>
                </a:solidFill>
              </a:rPr>
              <a:t>.</a:t>
            </a:r>
            <a:endParaRPr lang="en-US" sz="2800" dirty="0"/>
          </a:p>
        </p:txBody>
      </p:sp>
      <p:sp>
        <p:nvSpPr>
          <p:cNvPr id="8" name="Text 5"/>
          <p:cNvSpPr/>
          <p:nvPr/>
        </p:nvSpPr>
        <p:spPr>
          <a:xfrm>
            <a:off x="1609344" y="2514600"/>
            <a:ext cx="475488" cy="570586"/>
          </a:xfrm>
          <a:prstGeom prst="roundRect">
            <a:avLst>
              <a:gd name="adj" fmla="val 13462"/>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9" name="Text 6"/>
          <p:cNvSpPr txBox="1"/>
          <p:nvPr/>
        </p:nvSpPr>
        <p:spPr>
          <a:xfrm>
            <a:off x="1517904"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10" name="Text 7"/>
          <p:cNvSpPr/>
          <p:nvPr/>
        </p:nvSpPr>
        <p:spPr>
          <a:xfrm>
            <a:off x="2139696" y="2514600"/>
            <a:ext cx="475488" cy="570586"/>
          </a:xfrm>
          <a:prstGeom prst="roundRect">
            <a:avLst>
              <a:gd name="adj" fmla="val 13462"/>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11" name="Text 8"/>
          <p:cNvSpPr txBox="1"/>
          <p:nvPr/>
        </p:nvSpPr>
        <p:spPr>
          <a:xfrm>
            <a:off x="2048256"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2" name="Text 9"/>
          <p:cNvSpPr/>
          <p:nvPr/>
        </p:nvSpPr>
        <p:spPr>
          <a:xfrm>
            <a:off x="2670048" y="2514600"/>
            <a:ext cx="475488" cy="570586"/>
          </a:xfrm>
          <a:prstGeom prst="roundRect">
            <a:avLst>
              <a:gd name="adj" fmla="val 13462"/>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13" name="Text 10"/>
          <p:cNvSpPr txBox="1"/>
          <p:nvPr/>
        </p:nvSpPr>
        <p:spPr>
          <a:xfrm>
            <a:off x="2578608"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4" name="Text 11"/>
          <p:cNvSpPr/>
          <p:nvPr/>
        </p:nvSpPr>
        <p:spPr>
          <a:xfrm>
            <a:off x="3200400" y="2514600"/>
            <a:ext cx="475488" cy="570586"/>
          </a:xfrm>
          <a:prstGeom prst="roundRect">
            <a:avLst>
              <a:gd name="adj" fmla="val 13462"/>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15" name="Text 12"/>
          <p:cNvSpPr txBox="1"/>
          <p:nvPr/>
        </p:nvSpPr>
        <p:spPr>
          <a:xfrm>
            <a:off x="3108960"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6" name="Text 13"/>
          <p:cNvSpPr/>
          <p:nvPr/>
        </p:nvSpPr>
        <p:spPr>
          <a:xfrm>
            <a:off x="3730752" y="2514600"/>
            <a:ext cx="475488" cy="570586"/>
          </a:xfrm>
          <a:prstGeom prst="roundRect">
            <a:avLst>
              <a:gd name="adj" fmla="val 13462"/>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17" name="Text 14"/>
          <p:cNvSpPr txBox="1"/>
          <p:nvPr/>
        </p:nvSpPr>
        <p:spPr>
          <a:xfrm>
            <a:off x="3639312"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8" name="Text 15"/>
          <p:cNvSpPr/>
          <p:nvPr/>
        </p:nvSpPr>
        <p:spPr>
          <a:xfrm>
            <a:off x="4261104" y="2514600"/>
            <a:ext cx="475488" cy="570586"/>
          </a:xfrm>
          <a:prstGeom prst="roundRect">
            <a:avLst>
              <a:gd name="adj" fmla="val 13462"/>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19" name="Text 16"/>
          <p:cNvSpPr txBox="1"/>
          <p:nvPr/>
        </p:nvSpPr>
        <p:spPr>
          <a:xfrm>
            <a:off x="4169664"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20" name="Text 17"/>
          <p:cNvSpPr/>
          <p:nvPr/>
        </p:nvSpPr>
        <p:spPr>
          <a:xfrm>
            <a:off x="4791456" y="2514600"/>
            <a:ext cx="475488" cy="570586"/>
          </a:xfrm>
          <a:prstGeom prst="roundRect">
            <a:avLst>
              <a:gd name="adj" fmla="val 13462"/>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21" name="Text 18"/>
          <p:cNvSpPr txBox="1"/>
          <p:nvPr/>
        </p:nvSpPr>
        <p:spPr>
          <a:xfrm>
            <a:off x="4700016"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2" name="Text 19"/>
          <p:cNvSpPr/>
          <p:nvPr/>
        </p:nvSpPr>
        <p:spPr>
          <a:xfrm>
            <a:off x="5779008" y="2514600"/>
            <a:ext cx="475488" cy="570586"/>
          </a:xfrm>
          <a:prstGeom prst="roundRect">
            <a:avLst>
              <a:gd name="adj" fmla="val 13462"/>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23" name="Text 20"/>
          <p:cNvSpPr txBox="1"/>
          <p:nvPr/>
        </p:nvSpPr>
        <p:spPr>
          <a:xfrm>
            <a:off x="5687568" y="2221992"/>
            <a:ext cx="658368"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24" name="Text 21"/>
          <p:cNvSpPr/>
          <p:nvPr/>
        </p:nvSpPr>
        <p:spPr>
          <a:xfrm>
            <a:off x="6309360" y="2514600"/>
            <a:ext cx="475488" cy="570586"/>
          </a:xfrm>
          <a:prstGeom prst="roundRect">
            <a:avLst>
              <a:gd name="adj" fmla="val 13462"/>
            </a:avLst>
          </a:prstGeom>
          <a:solidFill>
            <a:schemeClr val="bg1"/>
          </a:solidFill>
          <a:ln w="15875">
            <a:solidFill>
              <a:schemeClr val="tx1"/>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25" name="Text 22"/>
          <p:cNvSpPr txBox="1"/>
          <p:nvPr/>
        </p:nvSpPr>
        <p:spPr>
          <a:xfrm>
            <a:off x="6217920"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26" name="Text 23"/>
          <p:cNvSpPr/>
          <p:nvPr/>
        </p:nvSpPr>
        <p:spPr>
          <a:xfrm>
            <a:off x="6839712" y="2514600"/>
            <a:ext cx="475488" cy="570586"/>
          </a:xfrm>
          <a:prstGeom prst="roundRect">
            <a:avLst>
              <a:gd name="adj" fmla="val 13462"/>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27" name="Text 24"/>
          <p:cNvSpPr txBox="1"/>
          <p:nvPr/>
        </p:nvSpPr>
        <p:spPr>
          <a:xfrm>
            <a:off x="6748272"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8" name="Text 25"/>
          <p:cNvSpPr/>
          <p:nvPr/>
        </p:nvSpPr>
        <p:spPr>
          <a:xfrm>
            <a:off x="7370064" y="2514600"/>
            <a:ext cx="475488" cy="570586"/>
          </a:xfrm>
          <a:prstGeom prst="roundRect">
            <a:avLst>
              <a:gd name="adj" fmla="val 13462"/>
            </a:avLst>
          </a:prstGeom>
          <a:solidFill>
            <a:schemeClr val="accent1"/>
          </a:solidFill>
          <a:ln w="15875">
            <a:solidFill>
              <a:schemeClr val="accent1"/>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1</a:t>
            </a:r>
            <a:endParaRPr lang="en-US" sz="2200" dirty="0"/>
          </a:p>
        </p:txBody>
      </p:sp>
      <p:sp>
        <p:nvSpPr>
          <p:cNvPr id="29" name="Text 26"/>
          <p:cNvSpPr txBox="1"/>
          <p:nvPr/>
        </p:nvSpPr>
        <p:spPr>
          <a:xfrm>
            <a:off x="7278624" y="2221992"/>
            <a:ext cx="658368"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30" name="Text 27"/>
          <p:cNvSpPr txBox="1"/>
          <p:nvPr/>
        </p:nvSpPr>
        <p:spPr>
          <a:xfrm>
            <a:off x="914400" y="1892808"/>
            <a:ext cx="4352544"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1" name="Text 28"/>
          <p:cNvSpPr txBox="1"/>
          <p:nvPr/>
        </p:nvSpPr>
        <p:spPr>
          <a:xfrm>
            <a:off x="5596128" y="1892808"/>
            <a:ext cx="2432304"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2" name="Text 29"/>
          <p:cNvSpPr txBox="1"/>
          <p:nvPr/>
        </p:nvSpPr>
        <p:spPr>
          <a:xfrm>
            <a:off x="8229600" y="2514600"/>
            <a:ext cx="2286000" cy="548640"/>
          </a:xfrm>
          <a:prstGeom prst="rect">
            <a:avLst/>
          </a:prstGeom>
          <a:noFill/>
          <a:ln/>
        </p:spPr>
        <p:txBody>
          <a:bodyPr wrap="square" lIns="0" tIns="0" rIns="0" bIns="0" rtlCol="0" anchor="ctr"/>
          <a:lstStyle/>
          <a:p>
            <a:pPr indent="0" marL="0">
              <a:buNone/>
            </a:pPr>
            <a:r>
              <a:rPr lang="en-US" sz="2400" b="1" dirty="0">
                <a:solidFill>
                  <a:schemeClr val="accent1"/>
                </a:solidFill>
              </a:rPr>
              <a:t>= 4.125</a:t>
            </a:r>
            <a:endParaRPr lang="en-US" sz="2400" dirty="0"/>
          </a:p>
        </p:txBody>
      </p:sp>
      <p:sp>
        <p:nvSpPr>
          <p:cNvPr id="33" name="Shape 30"/>
          <p:cNvSpPr/>
          <p:nvPr/>
        </p:nvSpPr>
        <p:spPr>
          <a:xfrm>
            <a:off x="548640" y="3749040"/>
            <a:ext cx="11064240" cy="2148840"/>
          </a:xfrm>
          <a:prstGeom prst="roundRect">
            <a:avLst>
              <a:gd name="adj" fmla="val 5106"/>
            </a:avLst>
          </a:prstGeom>
          <a:solidFill>
            <a:schemeClr val="bg2"/>
          </a:solidFill>
          <a:ln w="12700">
            <a:solidFill>
              <a:schemeClr val="bg2"/>
            </a:solidFill>
            <a:prstDash val="solid"/>
          </a:ln>
        </p:spPr>
      </p:sp>
      <p:sp>
        <p:nvSpPr>
          <p:cNvPr id="34" name="Text 31"/>
          <p:cNvSpPr txBox="1"/>
          <p:nvPr/>
        </p:nvSpPr>
        <p:spPr>
          <a:xfrm>
            <a:off x="868680" y="3886200"/>
            <a:ext cx="10424160" cy="457200"/>
          </a:xfrm>
          <a:prstGeom prst="rect">
            <a:avLst/>
          </a:prstGeom>
          <a:noFill/>
          <a:ln/>
        </p:spPr>
        <p:txBody>
          <a:bodyPr wrap="square" lIns="0" tIns="0" rIns="0" bIns="0" rtlCol="0" anchor="t"/>
          <a:lstStyle/>
          <a:p>
            <a:pPr indent="0" marL="0">
              <a:buNone/>
            </a:pPr>
            <a:r>
              <a:rPr lang="en-US" sz="1800" b="1" dirty="0">
                <a:solidFill>
                  <a:schemeClr val="tx1"/>
                </a:solidFill>
                <a:latin typeface="Courier New" pitchFamily="34" charset="0"/>
                <a:ea typeface="Courier New" pitchFamily="34" charset="-122"/>
                <a:cs typeface="Courier New" pitchFamily="34" charset="-120"/>
              </a:rPr>
              <a:t>Stretch: 16.125 = 10000.001  →  0.10000001, point moved 5 left</a:t>
            </a:r>
            <a:endParaRPr lang="en-US" sz="1800" dirty="0"/>
          </a:p>
        </p:txBody>
      </p:sp>
      <p:sp>
        <p:nvSpPr>
          <p:cNvPr id="35" name="Text 32"/>
          <p:cNvSpPr txBox="1"/>
          <p:nvPr/>
        </p:nvSpPr>
        <p:spPr>
          <a:xfrm>
            <a:off x="868680" y="4389120"/>
            <a:ext cx="5486400" cy="365760"/>
          </a:xfrm>
          <a:prstGeom prst="rect">
            <a:avLst/>
          </a:prstGeom>
          <a:noFill/>
          <a:ln/>
        </p:spPr>
        <p:txBody>
          <a:bodyPr wrap="square" lIns="0" tIns="0" rIns="0" bIns="0" rtlCol="0" anchor="t"/>
          <a:lstStyle/>
          <a:p>
            <a:pPr indent="0" marL="0">
              <a:buNone/>
            </a:pPr>
            <a:r>
              <a:rPr lang="en-US" sz="1500" dirty="0">
                <a:solidFill>
                  <a:schemeClr val="accent6"/>
                </a:solidFill>
              </a:rPr>
              <a:t>12-bit mantissa, 4-bit exponent:</a:t>
            </a:r>
            <a:endParaRPr lang="en-US" sz="1500" dirty="0"/>
          </a:p>
        </p:txBody>
      </p:sp>
      <p:sp>
        <p:nvSpPr>
          <p:cNvPr id="36" name="Text 33"/>
          <p:cNvSpPr/>
          <p:nvPr/>
        </p:nvSpPr>
        <p:spPr>
          <a:xfrm>
            <a:off x="868680"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37" name="Text 34"/>
          <p:cNvSpPr txBox="1"/>
          <p:nvPr/>
        </p:nvSpPr>
        <p:spPr>
          <a:xfrm>
            <a:off x="1252728" y="4892040"/>
            <a:ext cx="201168" cy="438912"/>
          </a:xfrm>
          <a:prstGeom prst="rect">
            <a:avLst/>
          </a:prstGeom>
          <a:noFill/>
          <a:ln/>
        </p:spPr>
        <p:txBody>
          <a:bodyPr wrap="square" lIns="0" tIns="0" rIns="0" bIns="0" rtlCol="0" anchor="b"/>
          <a:lstStyle/>
          <a:p>
            <a:pPr algn="ctr" indent="0" marL="0">
              <a:buNone/>
            </a:pPr>
            <a:r>
              <a:rPr lang="en-US" sz="2300" b="1" dirty="0">
                <a:solidFill>
                  <a:schemeClr val="tx1"/>
                </a:solidFill>
              </a:rPr>
              <a:t>.</a:t>
            </a:r>
            <a:endParaRPr lang="en-US" sz="2300" dirty="0"/>
          </a:p>
        </p:txBody>
      </p:sp>
      <p:sp>
        <p:nvSpPr>
          <p:cNvPr id="38" name="Text 35"/>
          <p:cNvSpPr/>
          <p:nvPr/>
        </p:nvSpPr>
        <p:spPr>
          <a:xfrm>
            <a:off x="1453896" y="4892040"/>
            <a:ext cx="365760" cy="438912"/>
          </a:xfrm>
          <a:prstGeom prst="roundRect">
            <a:avLst>
              <a:gd name="adj" fmla="val 17500"/>
            </a:avLst>
          </a:prstGeom>
          <a:solidFill>
            <a:schemeClr val="accent1"/>
          </a:solidFill>
          <a:ln w="15875">
            <a:solidFill>
              <a:schemeClr val="accent1"/>
            </a:solidFill>
          </a:ln>
        </p:spPr>
        <p:txBody>
          <a:bodyPr wrap="square" lIns="0" tIns="0" rIns="0" bIns="0" rtlCol="0" anchor="ctr"/>
          <a:lstStyle/>
          <a:p>
            <a:pPr algn="ctr" indent="0" marL="0">
              <a:buNone/>
            </a:pPr>
            <a:r>
              <a:rPr lang="en-US" sz="1700" b="1" dirty="0">
                <a:solidFill>
                  <a:schemeClr val="bg1"/>
                </a:solidFill>
                <a:latin typeface="Courier New" pitchFamily="34" charset="0"/>
                <a:ea typeface="Courier New" pitchFamily="34" charset="-122"/>
                <a:cs typeface="Courier New" pitchFamily="34" charset="-120"/>
              </a:rPr>
              <a:t>1</a:t>
            </a:r>
            <a:endParaRPr lang="en-US" sz="1700" dirty="0"/>
          </a:p>
        </p:txBody>
      </p:sp>
      <p:sp>
        <p:nvSpPr>
          <p:cNvPr id="39" name="Text 36"/>
          <p:cNvSpPr/>
          <p:nvPr/>
        </p:nvSpPr>
        <p:spPr>
          <a:xfrm>
            <a:off x="1874520"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0" name="Text 37"/>
          <p:cNvSpPr/>
          <p:nvPr/>
        </p:nvSpPr>
        <p:spPr>
          <a:xfrm>
            <a:off x="2295144"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1" name="Text 38"/>
          <p:cNvSpPr/>
          <p:nvPr/>
        </p:nvSpPr>
        <p:spPr>
          <a:xfrm>
            <a:off x="2715768"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2" name="Text 39"/>
          <p:cNvSpPr/>
          <p:nvPr/>
        </p:nvSpPr>
        <p:spPr>
          <a:xfrm>
            <a:off x="3136392"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3" name="Text 40"/>
          <p:cNvSpPr/>
          <p:nvPr/>
        </p:nvSpPr>
        <p:spPr>
          <a:xfrm>
            <a:off x="3557016"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4" name="Text 41"/>
          <p:cNvSpPr/>
          <p:nvPr/>
        </p:nvSpPr>
        <p:spPr>
          <a:xfrm>
            <a:off x="3977640"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5" name="Text 42"/>
          <p:cNvSpPr/>
          <p:nvPr/>
        </p:nvSpPr>
        <p:spPr>
          <a:xfrm>
            <a:off x="4398264" y="4892040"/>
            <a:ext cx="365760" cy="438912"/>
          </a:xfrm>
          <a:prstGeom prst="roundRect">
            <a:avLst>
              <a:gd name="adj" fmla="val 17500"/>
            </a:avLst>
          </a:prstGeom>
          <a:solidFill>
            <a:schemeClr val="accent1"/>
          </a:solidFill>
          <a:ln w="15875">
            <a:solidFill>
              <a:schemeClr val="accent1"/>
            </a:solidFill>
          </a:ln>
        </p:spPr>
        <p:txBody>
          <a:bodyPr wrap="square" lIns="0" tIns="0" rIns="0" bIns="0" rtlCol="0" anchor="ctr"/>
          <a:lstStyle/>
          <a:p>
            <a:pPr algn="ctr" indent="0" marL="0">
              <a:buNone/>
            </a:pPr>
            <a:r>
              <a:rPr lang="en-US" sz="1700" b="1" dirty="0">
                <a:solidFill>
                  <a:schemeClr val="bg1"/>
                </a:solidFill>
                <a:latin typeface="Courier New" pitchFamily="34" charset="0"/>
                <a:ea typeface="Courier New" pitchFamily="34" charset="-122"/>
                <a:cs typeface="Courier New" pitchFamily="34" charset="-120"/>
              </a:rPr>
              <a:t>1</a:t>
            </a:r>
            <a:endParaRPr lang="en-US" sz="1700" dirty="0"/>
          </a:p>
        </p:txBody>
      </p:sp>
      <p:sp>
        <p:nvSpPr>
          <p:cNvPr id="46" name="Text 43"/>
          <p:cNvSpPr/>
          <p:nvPr/>
        </p:nvSpPr>
        <p:spPr>
          <a:xfrm>
            <a:off x="4818888"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7" name="Text 44"/>
          <p:cNvSpPr/>
          <p:nvPr/>
        </p:nvSpPr>
        <p:spPr>
          <a:xfrm>
            <a:off x="5239512"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8" name="Text 45"/>
          <p:cNvSpPr/>
          <p:nvPr/>
        </p:nvSpPr>
        <p:spPr>
          <a:xfrm>
            <a:off x="5660136"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49" name="Text 46"/>
          <p:cNvSpPr/>
          <p:nvPr/>
        </p:nvSpPr>
        <p:spPr>
          <a:xfrm>
            <a:off x="6537960"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50" name="Text 47"/>
          <p:cNvSpPr/>
          <p:nvPr/>
        </p:nvSpPr>
        <p:spPr>
          <a:xfrm>
            <a:off x="6958584" y="4892040"/>
            <a:ext cx="365760" cy="438912"/>
          </a:xfrm>
          <a:prstGeom prst="roundRect">
            <a:avLst>
              <a:gd name="adj" fmla="val 17500"/>
            </a:avLst>
          </a:prstGeom>
          <a:solidFill>
            <a:schemeClr val="accent1"/>
          </a:solidFill>
          <a:ln w="15875">
            <a:solidFill>
              <a:schemeClr val="accent1"/>
            </a:solidFill>
          </a:ln>
        </p:spPr>
        <p:txBody>
          <a:bodyPr wrap="square" lIns="0" tIns="0" rIns="0" bIns="0" rtlCol="0" anchor="ctr"/>
          <a:lstStyle/>
          <a:p>
            <a:pPr algn="ctr" indent="0" marL="0">
              <a:buNone/>
            </a:pPr>
            <a:r>
              <a:rPr lang="en-US" sz="1700" b="1" dirty="0">
                <a:solidFill>
                  <a:schemeClr val="bg1"/>
                </a:solidFill>
                <a:latin typeface="Courier New" pitchFamily="34" charset="0"/>
                <a:ea typeface="Courier New" pitchFamily="34" charset="-122"/>
                <a:cs typeface="Courier New" pitchFamily="34" charset="-120"/>
              </a:rPr>
              <a:t>1</a:t>
            </a:r>
            <a:endParaRPr lang="en-US" sz="1700" dirty="0"/>
          </a:p>
        </p:txBody>
      </p:sp>
      <p:sp>
        <p:nvSpPr>
          <p:cNvPr id="51" name="Text 48"/>
          <p:cNvSpPr/>
          <p:nvPr/>
        </p:nvSpPr>
        <p:spPr>
          <a:xfrm>
            <a:off x="7379208" y="48920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0</a:t>
            </a:r>
            <a:endParaRPr lang="en-US" sz="1700" dirty="0"/>
          </a:p>
        </p:txBody>
      </p:sp>
      <p:sp>
        <p:nvSpPr>
          <p:cNvPr id="52" name="Text 49"/>
          <p:cNvSpPr/>
          <p:nvPr/>
        </p:nvSpPr>
        <p:spPr>
          <a:xfrm>
            <a:off x="7799832" y="4892040"/>
            <a:ext cx="365760" cy="438912"/>
          </a:xfrm>
          <a:prstGeom prst="roundRect">
            <a:avLst>
              <a:gd name="adj" fmla="val 17500"/>
            </a:avLst>
          </a:prstGeom>
          <a:solidFill>
            <a:schemeClr val="accent1"/>
          </a:solidFill>
          <a:ln w="15875">
            <a:solidFill>
              <a:schemeClr val="accent1"/>
            </a:solidFill>
          </a:ln>
        </p:spPr>
        <p:txBody>
          <a:bodyPr wrap="square" lIns="0" tIns="0" rIns="0" bIns="0" rtlCol="0" anchor="ctr"/>
          <a:lstStyle/>
          <a:p>
            <a:pPr algn="ctr" indent="0" marL="0">
              <a:buNone/>
            </a:pPr>
            <a:r>
              <a:rPr lang="en-US" sz="1700" b="1" dirty="0">
                <a:solidFill>
                  <a:schemeClr val="bg1"/>
                </a:solidFill>
                <a:latin typeface="Courier New" pitchFamily="34" charset="0"/>
                <a:ea typeface="Courier New" pitchFamily="34" charset="-122"/>
                <a:cs typeface="Courier New" pitchFamily="34" charset="-120"/>
              </a:rPr>
              <a:t>1</a:t>
            </a:r>
            <a:endParaRPr lang="en-US" sz="17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Small numbers: negative exponents</a:t>
            </a:r>
            <a:endParaRPr lang="en-US" sz="3400" dirty="0"/>
          </a:p>
        </p:txBody>
      </p:sp>
      <p:sp>
        <p:nvSpPr>
          <p:cNvPr id="4" name="Text 1"/>
          <p:cNvSpPr/>
          <p:nvPr/>
        </p:nvSpPr>
        <p:spPr>
          <a:xfrm>
            <a:off x="8503920" y="502920"/>
            <a:ext cx="3108960" cy="411480"/>
          </a:xfrm>
          <a:prstGeom prst="roundRect">
            <a:avLst>
              <a:gd name="adj" fmla="val 44444"/>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tx1"/>
                </a:solidFill>
              </a:rPr>
              <a:t>Beyond the past papers</a:t>
            </a:r>
            <a:endParaRPr lang="en-US" sz="1500" dirty="0"/>
          </a:p>
        </p:txBody>
      </p:sp>
      <p:sp>
        <p:nvSpPr>
          <p:cNvPr id="5" name="Text 2"/>
          <p:cNvSpPr/>
          <p:nvPr/>
        </p:nvSpPr>
        <p:spPr>
          <a:xfrm>
            <a:off x="548640" y="1399032"/>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371600"/>
            <a:ext cx="3200400" cy="548640"/>
          </a:xfrm>
          <a:prstGeom prst="rect">
            <a:avLst/>
          </a:prstGeom>
          <a:noFill/>
          <a:ln/>
        </p:spPr>
        <p:txBody>
          <a:bodyPr wrap="square" lIns="0" tIns="0" rIns="0" bIns="0" rtlCol="0" anchor="ctr"/>
          <a:lstStyle/>
          <a:p>
            <a:pPr indent="0" marL="0">
              <a:buNone/>
            </a:pPr>
            <a:r>
              <a:rPr lang="en-US" sz="1900" b="1" dirty="0">
                <a:solidFill>
                  <a:schemeClr val="tx1"/>
                </a:solidFill>
              </a:rPr>
              <a:t>Fixed point binary</a:t>
            </a:r>
            <a:endParaRPr lang="en-US" sz="1900" dirty="0"/>
          </a:p>
        </p:txBody>
      </p:sp>
      <p:sp>
        <p:nvSpPr>
          <p:cNvPr id="7" name="Text 4"/>
          <p:cNvSpPr txBox="1"/>
          <p:nvPr/>
        </p:nvSpPr>
        <p:spPr>
          <a:xfrm>
            <a:off x="4480560" y="1371600"/>
            <a:ext cx="7132320" cy="54864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0.1875 = 0.0011</a:t>
            </a:r>
            <a:endParaRPr lang="en-US" sz="2100" dirty="0"/>
          </a:p>
        </p:txBody>
      </p:sp>
      <p:sp>
        <p:nvSpPr>
          <p:cNvPr id="8" name="Text 5"/>
          <p:cNvSpPr/>
          <p:nvPr/>
        </p:nvSpPr>
        <p:spPr>
          <a:xfrm>
            <a:off x="548640" y="2176272"/>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2148840"/>
            <a:ext cx="3200400" cy="548640"/>
          </a:xfrm>
          <a:prstGeom prst="rect">
            <a:avLst/>
          </a:prstGeom>
          <a:noFill/>
          <a:ln/>
        </p:spPr>
        <p:txBody>
          <a:bodyPr wrap="square" lIns="0" tIns="0" rIns="0" bIns="0" rtlCol="0" anchor="ctr"/>
          <a:lstStyle/>
          <a:p>
            <a:pPr indent="0" marL="0">
              <a:buNone/>
            </a:pPr>
            <a:r>
              <a:rPr lang="en-US" sz="1900" b="1" dirty="0">
                <a:solidFill>
                  <a:schemeClr val="tx1"/>
                </a:solidFill>
              </a:rPr>
              <a:t>Normalise</a:t>
            </a:r>
            <a:endParaRPr lang="en-US" sz="1900" dirty="0"/>
          </a:p>
        </p:txBody>
      </p:sp>
      <p:sp>
        <p:nvSpPr>
          <p:cNvPr id="10" name="Text 7"/>
          <p:cNvSpPr txBox="1"/>
          <p:nvPr/>
        </p:nvSpPr>
        <p:spPr>
          <a:xfrm>
            <a:off x="4480560" y="2148840"/>
            <a:ext cx="7132320" cy="54864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0.11  (point moved 2 right)</a:t>
            </a:r>
            <a:endParaRPr lang="en-US" sz="2100" dirty="0"/>
          </a:p>
        </p:txBody>
      </p:sp>
      <p:sp>
        <p:nvSpPr>
          <p:cNvPr id="11" name="Text 8"/>
          <p:cNvSpPr/>
          <p:nvPr/>
        </p:nvSpPr>
        <p:spPr>
          <a:xfrm>
            <a:off x="548640" y="2953512"/>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9"/>
          <p:cNvSpPr txBox="1"/>
          <p:nvPr/>
        </p:nvSpPr>
        <p:spPr>
          <a:xfrm>
            <a:off x="1234440" y="2926080"/>
            <a:ext cx="3200400" cy="548640"/>
          </a:xfrm>
          <a:prstGeom prst="rect">
            <a:avLst/>
          </a:prstGeom>
          <a:noFill/>
          <a:ln/>
        </p:spPr>
        <p:txBody>
          <a:bodyPr wrap="square" lIns="0" tIns="0" rIns="0" bIns="0" rtlCol="0" anchor="ctr"/>
          <a:lstStyle/>
          <a:p>
            <a:pPr indent="0" marL="0">
              <a:buNone/>
            </a:pPr>
            <a:r>
              <a:rPr lang="en-US" sz="1900" b="1" dirty="0">
                <a:solidFill>
                  <a:schemeClr val="tx1"/>
                </a:solidFill>
              </a:rPr>
              <a:t>Exponent</a:t>
            </a:r>
            <a:endParaRPr lang="en-US" sz="1900" dirty="0"/>
          </a:p>
        </p:txBody>
      </p:sp>
      <p:sp>
        <p:nvSpPr>
          <p:cNvPr id="13" name="Text 10"/>
          <p:cNvSpPr txBox="1"/>
          <p:nvPr/>
        </p:nvSpPr>
        <p:spPr>
          <a:xfrm>
            <a:off x="4480560" y="2926080"/>
            <a:ext cx="7132320" cy="54864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−2 = 1110</a:t>
            </a:r>
            <a:endParaRPr lang="en-US" sz="2100" dirty="0"/>
          </a:p>
        </p:txBody>
      </p:sp>
      <p:sp>
        <p:nvSpPr>
          <p:cNvPr id="14" name="Text 11"/>
          <p:cNvSpPr/>
          <p:nvPr/>
        </p:nvSpPr>
        <p:spPr>
          <a:xfrm>
            <a:off x="548640" y="3730752"/>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Text 12"/>
          <p:cNvSpPr txBox="1"/>
          <p:nvPr/>
        </p:nvSpPr>
        <p:spPr>
          <a:xfrm>
            <a:off x="1234440" y="3703320"/>
            <a:ext cx="3200400" cy="548640"/>
          </a:xfrm>
          <a:prstGeom prst="rect">
            <a:avLst/>
          </a:prstGeom>
          <a:noFill/>
          <a:ln/>
        </p:spPr>
        <p:txBody>
          <a:bodyPr wrap="square" lIns="0" tIns="0" rIns="0" bIns="0" rtlCol="0" anchor="ctr"/>
          <a:lstStyle/>
          <a:p>
            <a:pPr indent="0" marL="0">
              <a:buNone/>
            </a:pPr>
            <a:r>
              <a:rPr lang="en-US" sz="1900" b="1" dirty="0">
                <a:solidFill>
                  <a:schemeClr val="tx1"/>
                </a:solidFill>
              </a:rPr>
              <a:t>Finish</a:t>
            </a:r>
            <a:endParaRPr lang="en-US" sz="1900" dirty="0"/>
          </a:p>
        </p:txBody>
      </p:sp>
      <p:sp>
        <p:nvSpPr>
          <p:cNvPr id="16" name="Text 13"/>
          <p:cNvSpPr txBox="1"/>
          <p:nvPr/>
        </p:nvSpPr>
        <p:spPr>
          <a:xfrm>
            <a:off x="4480560" y="3703320"/>
            <a:ext cx="7132320" cy="548640"/>
          </a:xfrm>
          <a:prstGeom prst="rect">
            <a:avLst/>
          </a:prstGeom>
          <a:noFill/>
          <a:ln/>
        </p:spPr>
        <p:txBody>
          <a:bodyPr wrap="square" lIns="0" tIns="0" rIns="0" bIns="0" rtlCol="0" anchor="ctr"/>
          <a:lstStyle/>
          <a:p>
            <a:pPr indent="0" marL="0">
              <a:buNone/>
            </a:pPr>
            <a:r>
              <a:rPr lang="en-US" sz="2100" b="1" dirty="0">
                <a:solidFill>
                  <a:schemeClr val="tx1"/>
                </a:solidFill>
                <a:latin typeface="Courier New" pitchFamily="34" charset="0"/>
                <a:ea typeface="Courier New" pitchFamily="34" charset="-122"/>
                <a:cs typeface="Courier New" pitchFamily="34" charset="-120"/>
              </a:rPr>
              <a:t>Mantissa 0110 0000, exponent 1110</a:t>
            </a:r>
            <a:endParaRPr lang="en-US" sz="2100" dirty="0"/>
          </a:p>
        </p:txBody>
      </p:sp>
      <p:sp>
        <p:nvSpPr>
          <p:cNvPr id="17" name="Shape 14"/>
          <p:cNvSpPr/>
          <p:nvPr/>
        </p:nvSpPr>
        <p:spPr>
          <a:xfrm>
            <a:off x="548640" y="4572000"/>
            <a:ext cx="11064240" cy="1325880"/>
          </a:xfrm>
          <a:prstGeom prst="roundRect">
            <a:avLst>
              <a:gd name="adj" fmla="val 8276"/>
            </a:avLst>
          </a:prstGeom>
          <a:solidFill>
            <a:schemeClr val="accent3"/>
          </a:solidFill>
          <a:ln w="12700">
            <a:solidFill>
              <a:schemeClr val="accent3"/>
            </a:solidFill>
            <a:prstDash val="solid"/>
          </a:ln>
        </p:spPr>
      </p:sp>
      <p:sp>
        <p:nvSpPr>
          <p:cNvPr id="18" name="Text 15"/>
          <p:cNvSpPr txBox="1"/>
          <p:nvPr/>
        </p:nvSpPr>
        <p:spPr>
          <a:xfrm>
            <a:off x="868680" y="4709160"/>
            <a:ext cx="10424160" cy="1051560"/>
          </a:xfrm>
          <a:prstGeom prst="rect">
            <a:avLst/>
          </a:prstGeom>
          <a:noFill/>
          <a:ln/>
        </p:spPr>
        <p:txBody>
          <a:bodyPr wrap="square" lIns="0" tIns="0" rIns="0" bIns="0" rtlCol="0" anchor="ctr"/>
          <a:lstStyle/>
          <a:p>
            <a:pPr indent="0" marL="0">
              <a:buNone/>
            </a:pPr>
            <a:r>
              <a:rPr lang="en-US" sz="2200" b="1" dirty="0">
                <a:solidFill>
                  <a:schemeClr val="tx1"/>
                </a:solidFill>
              </a:rPr>
              <a:t>Point moves left → exponent goes up.
</a:t>
            </a:r>
            <a:pPr indent="0" marL="0">
              <a:buNone/>
            </a:pPr>
            <a:r>
              <a:rPr lang="en-US" sz="2200" b="1" dirty="0">
                <a:solidFill>
                  <a:schemeClr val="accent1"/>
                </a:solidFill>
              </a:rPr>
              <a:t>Point moves right → exponent goes down.</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Stretch: a negative mantissa</a:t>
            </a:r>
            <a:endParaRPr lang="en-US" sz="3400" dirty="0"/>
          </a:p>
        </p:txBody>
      </p:sp>
      <p:sp>
        <p:nvSpPr>
          <p:cNvPr id="4" name="Text 1"/>
          <p:cNvSpPr/>
          <p:nvPr/>
        </p:nvSpPr>
        <p:spPr>
          <a:xfrm>
            <a:off x="8503920" y="502920"/>
            <a:ext cx="3108960" cy="411480"/>
          </a:xfrm>
          <a:prstGeom prst="roundRect">
            <a:avLst>
              <a:gd name="adj" fmla="val 44444"/>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tx1"/>
                </a:solidFill>
              </a:rPr>
              <a:t>Beyond the past papers</a:t>
            </a:r>
            <a:endParaRPr lang="en-US" sz="1500" dirty="0"/>
          </a:p>
        </p:txBody>
      </p:sp>
      <p:sp>
        <p:nvSpPr>
          <p:cNvPr id="5" name="Text 2"/>
          <p:cNvSpPr/>
          <p:nvPr/>
        </p:nvSpPr>
        <p:spPr>
          <a:xfrm>
            <a:off x="914400" y="2011680"/>
            <a:ext cx="530352" cy="636422"/>
          </a:xfrm>
          <a:prstGeom prst="roundRect">
            <a:avLst>
              <a:gd name="adj" fmla="val 12069"/>
            </a:avLst>
          </a:prstGeom>
          <a:solidFill>
            <a:schemeClr val="accent2"/>
          </a:solidFill>
          <a:ln w="15875">
            <a:solidFill>
              <a:schemeClr val="accent2"/>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6" name="Text 3"/>
          <p:cNvSpPr txBox="1"/>
          <p:nvPr/>
        </p:nvSpPr>
        <p:spPr>
          <a:xfrm>
            <a:off x="822960" y="171907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7" name="Text 4"/>
          <p:cNvSpPr txBox="1"/>
          <p:nvPr/>
        </p:nvSpPr>
        <p:spPr>
          <a:xfrm>
            <a:off x="1463040" y="2011680"/>
            <a:ext cx="201168" cy="636422"/>
          </a:xfrm>
          <a:prstGeom prst="rect">
            <a:avLst/>
          </a:prstGeom>
          <a:noFill/>
          <a:ln/>
        </p:spPr>
        <p:txBody>
          <a:bodyPr wrap="square" lIns="0" tIns="0" rIns="0" bIns="0" rtlCol="0" anchor="b"/>
          <a:lstStyle/>
          <a:p>
            <a:pPr algn="ctr" indent="0" marL="0">
              <a:buNone/>
            </a:pPr>
            <a:r>
              <a:rPr lang="en-US" sz="3000" b="1" dirty="0">
                <a:solidFill>
                  <a:schemeClr val="tx1"/>
                </a:solidFill>
              </a:rPr>
              <a:t>.</a:t>
            </a:r>
            <a:endParaRPr lang="en-US" sz="3000" dirty="0"/>
          </a:p>
        </p:txBody>
      </p:sp>
      <p:sp>
        <p:nvSpPr>
          <p:cNvPr id="8" name="Text 5"/>
          <p:cNvSpPr/>
          <p:nvPr/>
        </p:nvSpPr>
        <p:spPr>
          <a:xfrm>
            <a:off x="1664208"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9" name="Text 6"/>
          <p:cNvSpPr txBox="1"/>
          <p:nvPr/>
        </p:nvSpPr>
        <p:spPr>
          <a:xfrm>
            <a:off x="1572768"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10" name="Text 7"/>
          <p:cNvSpPr/>
          <p:nvPr/>
        </p:nvSpPr>
        <p:spPr>
          <a:xfrm>
            <a:off x="2249424" y="201168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1" name="Text 8"/>
          <p:cNvSpPr txBox="1"/>
          <p:nvPr/>
        </p:nvSpPr>
        <p:spPr>
          <a:xfrm>
            <a:off x="2157984"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2" name="Text 9"/>
          <p:cNvSpPr/>
          <p:nvPr/>
        </p:nvSpPr>
        <p:spPr>
          <a:xfrm>
            <a:off x="2834640"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3" name="Text 10"/>
          <p:cNvSpPr txBox="1"/>
          <p:nvPr/>
        </p:nvSpPr>
        <p:spPr>
          <a:xfrm>
            <a:off x="2743200"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4" name="Text 11"/>
          <p:cNvSpPr/>
          <p:nvPr/>
        </p:nvSpPr>
        <p:spPr>
          <a:xfrm>
            <a:off x="3419856"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5" name="Text 12"/>
          <p:cNvSpPr txBox="1"/>
          <p:nvPr/>
        </p:nvSpPr>
        <p:spPr>
          <a:xfrm>
            <a:off x="3328416"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6" name="Text 13"/>
          <p:cNvSpPr/>
          <p:nvPr/>
        </p:nvSpPr>
        <p:spPr>
          <a:xfrm>
            <a:off x="4005072"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7" name="Text 14"/>
          <p:cNvSpPr txBox="1"/>
          <p:nvPr/>
        </p:nvSpPr>
        <p:spPr>
          <a:xfrm>
            <a:off x="3913632"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8" name="Text 15"/>
          <p:cNvSpPr/>
          <p:nvPr/>
        </p:nvSpPr>
        <p:spPr>
          <a:xfrm>
            <a:off x="4590288"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19" name="Text 16"/>
          <p:cNvSpPr txBox="1"/>
          <p:nvPr/>
        </p:nvSpPr>
        <p:spPr>
          <a:xfrm>
            <a:off x="4498848"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20" name="Text 17"/>
          <p:cNvSpPr/>
          <p:nvPr/>
        </p:nvSpPr>
        <p:spPr>
          <a:xfrm>
            <a:off x="5175504"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1" name="Text 18"/>
          <p:cNvSpPr txBox="1"/>
          <p:nvPr/>
        </p:nvSpPr>
        <p:spPr>
          <a:xfrm>
            <a:off x="5084064"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2" name="Text 19"/>
          <p:cNvSpPr/>
          <p:nvPr/>
        </p:nvSpPr>
        <p:spPr>
          <a:xfrm>
            <a:off x="6217920"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3" name="Text 20"/>
          <p:cNvSpPr txBox="1"/>
          <p:nvPr/>
        </p:nvSpPr>
        <p:spPr>
          <a:xfrm>
            <a:off x="6126480" y="171907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−8</a:t>
            </a:r>
            <a:endParaRPr lang="en-US" sz="1200" dirty="0"/>
          </a:p>
        </p:txBody>
      </p:sp>
      <p:sp>
        <p:nvSpPr>
          <p:cNvPr id="24" name="Text 21"/>
          <p:cNvSpPr/>
          <p:nvPr/>
        </p:nvSpPr>
        <p:spPr>
          <a:xfrm>
            <a:off x="6803136"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5" name="Text 22"/>
          <p:cNvSpPr txBox="1"/>
          <p:nvPr/>
        </p:nvSpPr>
        <p:spPr>
          <a:xfrm>
            <a:off x="6711696"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4</a:t>
            </a:r>
            <a:endParaRPr lang="en-US" sz="1200" dirty="0"/>
          </a:p>
        </p:txBody>
      </p:sp>
      <p:sp>
        <p:nvSpPr>
          <p:cNvPr id="26" name="Text 23"/>
          <p:cNvSpPr/>
          <p:nvPr/>
        </p:nvSpPr>
        <p:spPr>
          <a:xfrm>
            <a:off x="7388352"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7" name="Text 24"/>
          <p:cNvSpPr txBox="1"/>
          <p:nvPr/>
        </p:nvSpPr>
        <p:spPr>
          <a:xfrm>
            <a:off x="7296912"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8" name="Text 25"/>
          <p:cNvSpPr/>
          <p:nvPr/>
        </p:nvSpPr>
        <p:spPr>
          <a:xfrm>
            <a:off x="7973568" y="201168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9" name="Text 26"/>
          <p:cNvSpPr txBox="1"/>
          <p:nvPr/>
        </p:nvSpPr>
        <p:spPr>
          <a:xfrm>
            <a:off x="7882128" y="171907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30" name="Text 27"/>
          <p:cNvSpPr txBox="1"/>
          <p:nvPr/>
        </p:nvSpPr>
        <p:spPr>
          <a:xfrm>
            <a:off x="914400" y="1389888"/>
            <a:ext cx="4791456"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1" name="Text 28"/>
          <p:cNvSpPr txBox="1"/>
          <p:nvPr/>
        </p:nvSpPr>
        <p:spPr>
          <a:xfrm>
            <a:off x="6035040" y="1389888"/>
            <a:ext cx="2651760"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2" name="Shape 29"/>
          <p:cNvSpPr/>
          <p:nvPr/>
        </p:nvSpPr>
        <p:spPr>
          <a:xfrm>
            <a:off x="548640" y="3291840"/>
            <a:ext cx="11064240" cy="1188720"/>
          </a:xfrm>
          <a:prstGeom prst="roundRect">
            <a:avLst>
              <a:gd name="adj" fmla="val 9231"/>
            </a:avLst>
          </a:prstGeom>
          <a:solidFill>
            <a:schemeClr val="accent3"/>
          </a:solidFill>
          <a:ln w="12700">
            <a:solidFill>
              <a:schemeClr val="accent3"/>
            </a:solidFill>
            <a:prstDash val="solid"/>
          </a:ln>
        </p:spPr>
      </p:sp>
      <p:sp>
        <p:nvSpPr>
          <p:cNvPr id="33" name="Text 30"/>
          <p:cNvSpPr txBox="1"/>
          <p:nvPr/>
        </p:nvSpPr>
        <p:spPr>
          <a:xfrm>
            <a:off x="868680" y="3429000"/>
            <a:ext cx="10424160" cy="914400"/>
          </a:xfrm>
          <a:prstGeom prst="rect">
            <a:avLst/>
          </a:prstGeom>
          <a:noFill/>
          <a:ln/>
        </p:spPr>
        <p:txBody>
          <a:bodyPr wrap="square" lIns="0" tIns="0" rIns="0" bIns="0" rtlCol="0" anchor="ctr"/>
          <a:lstStyle/>
          <a:p>
            <a:pPr indent="0" marL="0">
              <a:buNone/>
            </a:pPr>
            <a:r>
              <a:rPr lang="en-US" sz="2200" b="1" dirty="0">
                <a:solidFill>
                  <a:schemeClr val="tx1"/>
                </a:solidFill>
                <a:latin typeface="Courier New" pitchFamily="34" charset="0"/>
                <a:ea typeface="Courier New" pitchFamily="34" charset="-122"/>
                <a:cs typeface="Courier New" pitchFamily="34" charset="-120"/>
              </a:rPr>
              <a:t>Mantissa: −1 + ¼ = −0.75      Exponent: 0      Answer: −0.75</a:t>
            </a:r>
            <a:endParaRPr lang="en-US" sz="2200" dirty="0"/>
          </a:p>
        </p:txBody>
      </p:sp>
      <p:sp>
        <p:nvSpPr>
          <p:cNvPr id="34" name="Text 31"/>
          <p:cNvSpPr txBox="1"/>
          <p:nvPr/>
        </p:nvSpPr>
        <p:spPr>
          <a:xfrm>
            <a:off x="548640" y="4800600"/>
            <a:ext cx="11064240" cy="548640"/>
          </a:xfrm>
          <a:prstGeom prst="rect">
            <a:avLst/>
          </a:prstGeom>
          <a:noFill/>
          <a:ln/>
        </p:spPr>
        <p:txBody>
          <a:bodyPr wrap="square" lIns="0" tIns="0" rIns="0" bIns="0" rtlCol="0" anchor="t"/>
          <a:lstStyle/>
          <a:p>
            <a:pPr indent="0" marL="0">
              <a:buNone/>
            </a:pPr>
            <a:r>
              <a:rPr lang="en-US" sz="2000" b="1" dirty="0">
                <a:solidFill>
                  <a:schemeClr val="accent1"/>
                </a:solidFill>
              </a:rPr>
              <a:t>Normalised negative mantissas start 1.0, just as positive ones start 0.1.</a:t>
            </a: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The largest number: fill the mantissa, max the exponent</a:t>
            </a:r>
            <a:endParaRPr lang="en-US" sz="3400" dirty="0"/>
          </a:p>
        </p:txBody>
      </p:sp>
      <p:sp>
        <p:nvSpPr>
          <p:cNvPr id="4"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800" dirty="0">
                <a:solidFill>
                  <a:schemeClr val="accent6"/>
                </a:solidFill>
              </a:rPr>
              <a:t>Largest positive number, 8-bit mantissa, 3-bit exponent  (2022, Q4d-ii)  [3]</a:t>
            </a:r>
            <a:endParaRPr lang="en-US" sz="1800" dirty="0"/>
          </a:p>
        </p:txBody>
      </p:sp>
      <p:sp>
        <p:nvSpPr>
          <p:cNvPr id="5" name="Text 2"/>
          <p:cNvSpPr/>
          <p:nvPr/>
        </p:nvSpPr>
        <p:spPr>
          <a:xfrm>
            <a:off x="914400"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6" name="Text 3"/>
          <p:cNvSpPr txBox="1"/>
          <p:nvPr/>
        </p:nvSpPr>
        <p:spPr>
          <a:xfrm>
            <a:off x="822960" y="222199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7" name="Text 4"/>
          <p:cNvSpPr txBox="1"/>
          <p:nvPr/>
        </p:nvSpPr>
        <p:spPr>
          <a:xfrm>
            <a:off x="1463040" y="2514600"/>
            <a:ext cx="201168" cy="636422"/>
          </a:xfrm>
          <a:prstGeom prst="rect">
            <a:avLst/>
          </a:prstGeom>
          <a:noFill/>
          <a:ln/>
        </p:spPr>
        <p:txBody>
          <a:bodyPr wrap="square" lIns="0" tIns="0" rIns="0" bIns="0" rtlCol="0" anchor="b"/>
          <a:lstStyle/>
          <a:p>
            <a:pPr algn="ctr" indent="0" marL="0">
              <a:buNone/>
            </a:pPr>
            <a:r>
              <a:rPr lang="en-US" sz="3000" b="1" dirty="0">
                <a:solidFill>
                  <a:schemeClr val="tx1"/>
                </a:solidFill>
              </a:rPr>
              <a:t>.</a:t>
            </a:r>
            <a:endParaRPr lang="en-US" sz="3000" dirty="0"/>
          </a:p>
        </p:txBody>
      </p:sp>
      <p:sp>
        <p:nvSpPr>
          <p:cNvPr id="8" name="Text 5"/>
          <p:cNvSpPr/>
          <p:nvPr/>
        </p:nvSpPr>
        <p:spPr>
          <a:xfrm>
            <a:off x="1664208"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9" name="Text 6"/>
          <p:cNvSpPr txBox="1"/>
          <p:nvPr/>
        </p:nvSpPr>
        <p:spPr>
          <a:xfrm>
            <a:off x="1572768"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10" name="Text 7"/>
          <p:cNvSpPr/>
          <p:nvPr/>
        </p:nvSpPr>
        <p:spPr>
          <a:xfrm>
            <a:off x="2249424"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1" name="Text 8"/>
          <p:cNvSpPr txBox="1"/>
          <p:nvPr/>
        </p:nvSpPr>
        <p:spPr>
          <a:xfrm>
            <a:off x="2157984"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2" name="Text 9"/>
          <p:cNvSpPr/>
          <p:nvPr/>
        </p:nvSpPr>
        <p:spPr>
          <a:xfrm>
            <a:off x="2834640"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3" name="Text 10"/>
          <p:cNvSpPr txBox="1"/>
          <p:nvPr/>
        </p:nvSpPr>
        <p:spPr>
          <a:xfrm>
            <a:off x="2743200"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4" name="Text 11"/>
          <p:cNvSpPr/>
          <p:nvPr/>
        </p:nvSpPr>
        <p:spPr>
          <a:xfrm>
            <a:off x="3419856"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5" name="Text 12"/>
          <p:cNvSpPr txBox="1"/>
          <p:nvPr/>
        </p:nvSpPr>
        <p:spPr>
          <a:xfrm>
            <a:off x="3328416"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6" name="Text 13"/>
          <p:cNvSpPr/>
          <p:nvPr/>
        </p:nvSpPr>
        <p:spPr>
          <a:xfrm>
            <a:off x="4005072"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7" name="Text 14"/>
          <p:cNvSpPr txBox="1"/>
          <p:nvPr/>
        </p:nvSpPr>
        <p:spPr>
          <a:xfrm>
            <a:off x="3913632"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1/32</a:t>
            </a:r>
            <a:endParaRPr lang="en-US" sz="1200" dirty="0"/>
          </a:p>
        </p:txBody>
      </p:sp>
      <p:sp>
        <p:nvSpPr>
          <p:cNvPr id="18" name="Text 15"/>
          <p:cNvSpPr/>
          <p:nvPr/>
        </p:nvSpPr>
        <p:spPr>
          <a:xfrm>
            <a:off x="4590288"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19" name="Text 16"/>
          <p:cNvSpPr txBox="1"/>
          <p:nvPr/>
        </p:nvSpPr>
        <p:spPr>
          <a:xfrm>
            <a:off x="4498848"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1/64</a:t>
            </a:r>
            <a:endParaRPr lang="en-US" sz="1200" dirty="0"/>
          </a:p>
        </p:txBody>
      </p:sp>
      <p:sp>
        <p:nvSpPr>
          <p:cNvPr id="20" name="Text 17"/>
          <p:cNvSpPr/>
          <p:nvPr/>
        </p:nvSpPr>
        <p:spPr>
          <a:xfrm>
            <a:off x="5175504"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1" name="Text 18"/>
          <p:cNvSpPr txBox="1"/>
          <p:nvPr/>
        </p:nvSpPr>
        <p:spPr>
          <a:xfrm>
            <a:off x="5084064"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1/128</a:t>
            </a:r>
            <a:endParaRPr lang="en-US" sz="1200" dirty="0"/>
          </a:p>
        </p:txBody>
      </p:sp>
      <p:sp>
        <p:nvSpPr>
          <p:cNvPr id="22" name="Text 19"/>
          <p:cNvSpPr/>
          <p:nvPr/>
        </p:nvSpPr>
        <p:spPr>
          <a:xfrm>
            <a:off x="6217920" y="2514600"/>
            <a:ext cx="530352" cy="636422"/>
          </a:xfrm>
          <a:prstGeom prst="roundRect">
            <a:avLst>
              <a:gd name="adj" fmla="val 12069"/>
            </a:avLst>
          </a:prstGeom>
          <a:solidFill>
            <a:schemeClr val="bg1"/>
          </a:solidFill>
          <a:ln w="15875">
            <a:solidFill>
              <a:schemeClr val="tx1"/>
            </a:solid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0</a:t>
            </a:r>
            <a:endParaRPr lang="en-US" sz="2400" dirty="0"/>
          </a:p>
        </p:txBody>
      </p:sp>
      <p:sp>
        <p:nvSpPr>
          <p:cNvPr id="23" name="Text 20"/>
          <p:cNvSpPr txBox="1"/>
          <p:nvPr/>
        </p:nvSpPr>
        <p:spPr>
          <a:xfrm>
            <a:off x="6126480" y="2221992"/>
            <a:ext cx="713232" cy="256032"/>
          </a:xfrm>
          <a:prstGeom prst="rect">
            <a:avLst/>
          </a:prstGeom>
          <a:noFill/>
          <a:ln/>
        </p:spPr>
        <p:txBody>
          <a:bodyPr wrap="square" lIns="0" tIns="0" rIns="0" bIns="0" rtlCol="0" anchor="ctr"/>
          <a:lstStyle/>
          <a:p>
            <a:pPr algn="ctr" indent="0" marL="0">
              <a:buNone/>
            </a:pPr>
            <a:r>
              <a:rPr lang="en-US" sz="1200" b="1" dirty="0">
                <a:solidFill>
                  <a:schemeClr val="accent2"/>
                </a:solidFill>
              </a:rPr>
              <a:t>−4</a:t>
            </a:r>
            <a:endParaRPr lang="en-US" sz="1200" dirty="0"/>
          </a:p>
        </p:txBody>
      </p:sp>
      <p:sp>
        <p:nvSpPr>
          <p:cNvPr id="24" name="Text 21"/>
          <p:cNvSpPr/>
          <p:nvPr/>
        </p:nvSpPr>
        <p:spPr>
          <a:xfrm>
            <a:off x="6803136"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5" name="Text 22"/>
          <p:cNvSpPr txBox="1"/>
          <p:nvPr/>
        </p:nvSpPr>
        <p:spPr>
          <a:xfrm>
            <a:off x="6711696"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26" name="Text 23"/>
          <p:cNvSpPr/>
          <p:nvPr/>
        </p:nvSpPr>
        <p:spPr>
          <a:xfrm>
            <a:off x="7388352" y="2514600"/>
            <a:ext cx="530352" cy="636422"/>
          </a:xfrm>
          <a:prstGeom prst="roundRect">
            <a:avLst>
              <a:gd name="adj" fmla="val 12069"/>
            </a:avLst>
          </a:prstGeom>
          <a:solidFill>
            <a:schemeClr val="accent1"/>
          </a:solidFill>
          <a:ln w="15875">
            <a:solidFill>
              <a:schemeClr val="accent1"/>
            </a:solidFill>
          </a:ln>
        </p:spPr>
        <p:txBody>
          <a:bodyPr wrap="square" lIns="0" tIns="0" rIns="0" bIns="0" rtlCol="0" anchor="ctr"/>
          <a:lstStyle/>
          <a:p>
            <a:pPr algn="ctr" indent="0" marL="0">
              <a:buNone/>
            </a:pPr>
            <a:r>
              <a:rPr lang="en-US" sz="2400" b="1" dirty="0">
                <a:solidFill>
                  <a:schemeClr val="bg1"/>
                </a:solidFill>
                <a:latin typeface="Courier New" pitchFamily="34" charset="0"/>
                <a:ea typeface="Courier New" pitchFamily="34" charset="-122"/>
                <a:cs typeface="Courier New" pitchFamily="34" charset="-120"/>
              </a:rPr>
              <a:t>1</a:t>
            </a:r>
            <a:endParaRPr lang="en-US" sz="2400" dirty="0"/>
          </a:p>
        </p:txBody>
      </p:sp>
      <p:sp>
        <p:nvSpPr>
          <p:cNvPr id="27" name="Text 24"/>
          <p:cNvSpPr txBox="1"/>
          <p:nvPr/>
        </p:nvSpPr>
        <p:spPr>
          <a:xfrm>
            <a:off x="7296912" y="2221992"/>
            <a:ext cx="713232"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28" name="Text 25"/>
          <p:cNvSpPr txBox="1"/>
          <p:nvPr/>
        </p:nvSpPr>
        <p:spPr>
          <a:xfrm>
            <a:off x="914400" y="1892808"/>
            <a:ext cx="4791456"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29" name="Text 26"/>
          <p:cNvSpPr txBox="1"/>
          <p:nvPr/>
        </p:nvSpPr>
        <p:spPr>
          <a:xfrm>
            <a:off x="6035040" y="1892808"/>
            <a:ext cx="2066544"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0" name="Shape 27"/>
          <p:cNvSpPr/>
          <p:nvPr/>
        </p:nvSpPr>
        <p:spPr>
          <a:xfrm>
            <a:off x="548640" y="3657600"/>
            <a:ext cx="3474720" cy="1234440"/>
          </a:xfrm>
          <a:prstGeom prst="roundRect">
            <a:avLst>
              <a:gd name="adj" fmla="val 8889"/>
            </a:avLst>
          </a:prstGeom>
          <a:solidFill>
            <a:schemeClr val="bg2"/>
          </a:solidFill>
          <a:ln w="12700">
            <a:solidFill>
              <a:schemeClr val="bg2"/>
            </a:solidFill>
            <a:prstDash val="solid"/>
          </a:ln>
        </p:spPr>
      </p:sp>
      <p:sp>
        <p:nvSpPr>
          <p:cNvPr id="31" name="Text 28"/>
          <p:cNvSpPr/>
          <p:nvPr/>
        </p:nvSpPr>
        <p:spPr>
          <a:xfrm>
            <a:off x="777240" y="379476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32" name="Text 29"/>
          <p:cNvSpPr txBox="1"/>
          <p:nvPr/>
        </p:nvSpPr>
        <p:spPr>
          <a:xfrm>
            <a:off x="777240" y="425196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0.1111111</a:t>
            </a:r>
            <a:endParaRPr lang="en-US" sz="2000" dirty="0"/>
          </a:p>
        </p:txBody>
      </p:sp>
      <p:sp>
        <p:nvSpPr>
          <p:cNvPr id="33" name="Shape 30"/>
          <p:cNvSpPr/>
          <p:nvPr/>
        </p:nvSpPr>
        <p:spPr>
          <a:xfrm>
            <a:off x="4297680" y="3657600"/>
            <a:ext cx="3474720" cy="1234440"/>
          </a:xfrm>
          <a:prstGeom prst="roundRect">
            <a:avLst>
              <a:gd name="adj" fmla="val 8889"/>
            </a:avLst>
          </a:prstGeom>
          <a:solidFill>
            <a:schemeClr val="bg2"/>
          </a:solidFill>
          <a:ln w="12700">
            <a:solidFill>
              <a:schemeClr val="bg2"/>
            </a:solidFill>
            <a:prstDash val="solid"/>
          </a:ln>
        </p:spPr>
      </p:sp>
      <p:sp>
        <p:nvSpPr>
          <p:cNvPr id="34" name="Text 31"/>
          <p:cNvSpPr/>
          <p:nvPr/>
        </p:nvSpPr>
        <p:spPr>
          <a:xfrm>
            <a:off x="4526280" y="379476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35" name="Text 32"/>
          <p:cNvSpPr txBox="1"/>
          <p:nvPr/>
        </p:nvSpPr>
        <p:spPr>
          <a:xfrm>
            <a:off x="4526280" y="425196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011 = 3</a:t>
            </a:r>
            <a:endParaRPr lang="en-US" sz="2000" dirty="0"/>
          </a:p>
        </p:txBody>
      </p:sp>
      <p:sp>
        <p:nvSpPr>
          <p:cNvPr id="36" name="Shape 33"/>
          <p:cNvSpPr/>
          <p:nvPr/>
        </p:nvSpPr>
        <p:spPr>
          <a:xfrm>
            <a:off x="8046720" y="3657600"/>
            <a:ext cx="3474720" cy="1234440"/>
          </a:xfrm>
          <a:prstGeom prst="roundRect">
            <a:avLst>
              <a:gd name="adj" fmla="val 8889"/>
            </a:avLst>
          </a:prstGeom>
          <a:solidFill>
            <a:schemeClr val="accent3"/>
          </a:solidFill>
          <a:ln w="12700">
            <a:solidFill>
              <a:schemeClr val="accent3"/>
            </a:solidFill>
            <a:prstDash val="solid"/>
          </a:ln>
        </p:spPr>
      </p:sp>
      <p:sp>
        <p:nvSpPr>
          <p:cNvPr id="37" name="Text 34"/>
          <p:cNvSpPr/>
          <p:nvPr/>
        </p:nvSpPr>
        <p:spPr>
          <a:xfrm>
            <a:off x="8275320" y="379476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38" name="Text 35"/>
          <p:cNvSpPr txBox="1"/>
          <p:nvPr/>
        </p:nvSpPr>
        <p:spPr>
          <a:xfrm>
            <a:off x="8275320" y="425196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7.9375</a:t>
            </a:r>
            <a:endParaRPr lang="en-US" sz="2000" dirty="0"/>
          </a:p>
        </p:txBody>
      </p:sp>
      <p:sp>
        <p:nvSpPr>
          <p:cNvPr id="39" name="Text 36"/>
          <p:cNvSpPr txBox="1"/>
          <p:nvPr/>
        </p:nvSpPr>
        <p:spPr>
          <a:xfrm>
            <a:off x="548640" y="5257800"/>
            <a:ext cx="11064240" cy="548640"/>
          </a:xfrm>
          <a:prstGeom prst="rect">
            <a:avLst/>
          </a:prstGeom>
          <a:noFill/>
          <a:ln/>
        </p:spPr>
        <p:txBody>
          <a:bodyPr wrap="square" lIns="0" tIns="0" rIns="0" bIns="0" rtlCol="0" anchor="t"/>
          <a:lstStyle/>
          <a:p>
            <a:pPr indent="0" marL="0">
              <a:buNone/>
            </a:pPr>
            <a:r>
              <a:rPr lang="en-US" sz="2000" b="1" dirty="0">
                <a:solidFill>
                  <a:schemeClr val="accent1"/>
                </a:solidFill>
              </a:rPr>
              <a:t>Largest: mantissa 0.111… and the biggest positive exponent</a:t>
            </a: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The smallest positive normalised number</a:t>
            </a:r>
            <a:endParaRPr lang="en-US" sz="3400" dirty="0"/>
          </a:p>
        </p:txBody>
      </p:sp>
      <p:sp>
        <p:nvSpPr>
          <p:cNvPr id="4" name="Shape 1"/>
          <p:cNvSpPr/>
          <p:nvPr/>
        </p:nvSpPr>
        <p:spPr>
          <a:xfrm>
            <a:off x="548640" y="1417320"/>
            <a:ext cx="5394960" cy="4480560"/>
          </a:xfrm>
          <a:prstGeom prst="roundRect">
            <a:avLst>
              <a:gd name="adj" fmla="val 2449"/>
            </a:avLst>
          </a:prstGeom>
          <a:solidFill>
            <a:schemeClr val="accent3"/>
          </a:solidFill>
          <a:ln w="12700">
            <a:solidFill>
              <a:schemeClr val="accent3"/>
            </a:solidFill>
            <a:prstDash val="solid"/>
          </a:ln>
        </p:spPr>
      </p:sp>
      <p:sp>
        <p:nvSpPr>
          <p:cNvPr id="5" name="Text 2"/>
          <p:cNvSpPr txBox="1"/>
          <p:nvPr/>
        </p:nvSpPr>
        <p:spPr>
          <a:xfrm>
            <a:off x="868680" y="1600200"/>
            <a:ext cx="4846320" cy="457200"/>
          </a:xfrm>
          <a:prstGeom prst="rect">
            <a:avLst/>
          </a:prstGeom>
          <a:noFill/>
          <a:ln/>
        </p:spPr>
        <p:txBody>
          <a:bodyPr wrap="square" lIns="0" tIns="0" rIns="0" bIns="0" rtlCol="0" anchor="t"/>
          <a:lstStyle/>
          <a:p>
            <a:pPr indent="0" marL="0">
              <a:buNone/>
            </a:pPr>
            <a:r>
              <a:rPr lang="en-US" sz="2200" b="1" dirty="0">
                <a:solidFill>
                  <a:schemeClr val="accent1"/>
                </a:solidFill>
              </a:rPr>
              <a:t>Exam answer</a:t>
            </a:r>
            <a:endParaRPr lang="en-US" sz="2200" dirty="0"/>
          </a:p>
        </p:txBody>
      </p:sp>
      <p:sp>
        <p:nvSpPr>
          <p:cNvPr id="6" name="Text 3"/>
          <p:cNvSpPr txBox="1"/>
          <p:nvPr/>
        </p:nvSpPr>
        <p:spPr>
          <a:xfrm>
            <a:off x="868680" y="2103120"/>
            <a:ext cx="4846320" cy="731520"/>
          </a:xfrm>
          <a:prstGeom prst="rect">
            <a:avLst/>
          </a:prstGeom>
          <a:noFill/>
          <a:ln/>
        </p:spPr>
        <p:txBody>
          <a:bodyPr wrap="square" lIns="0" tIns="0" rIns="0" bIns="0" rtlCol="0" anchor="t"/>
          <a:lstStyle/>
          <a:p>
            <a:pPr indent="0" marL="0">
              <a:buNone/>
            </a:pPr>
            <a:r>
              <a:rPr lang="en-US" sz="1700" dirty="0">
                <a:solidFill>
                  <a:schemeClr val="tx1"/>
                </a:solidFill>
              </a:rPr>
              <a:t>WJEC mark schemes use 0 as the lowest exponent</a:t>
            </a:r>
            <a:endParaRPr lang="en-US" sz="1700" dirty="0"/>
          </a:p>
        </p:txBody>
      </p:sp>
      <p:sp>
        <p:nvSpPr>
          <p:cNvPr id="7" name="Text 4"/>
          <p:cNvSpPr/>
          <p:nvPr/>
        </p:nvSpPr>
        <p:spPr>
          <a:xfrm>
            <a:off x="868680"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8" name="Text 5"/>
          <p:cNvSpPr txBox="1"/>
          <p:nvPr/>
        </p:nvSpPr>
        <p:spPr>
          <a:xfrm>
            <a:off x="777240" y="3227832"/>
            <a:ext cx="548640" cy="256032"/>
          </a:xfrm>
          <a:prstGeom prst="rect">
            <a:avLst/>
          </a:prstGeom>
          <a:noFill/>
          <a:ln/>
        </p:spPr>
        <p:txBody>
          <a:bodyPr wrap="square" lIns="0" tIns="0" rIns="0" bIns="0" rtlCol="0" anchor="ctr"/>
          <a:lstStyle/>
          <a:p>
            <a:pPr algn="ctr" indent="0" marL="0">
              <a:buNone/>
            </a:pPr>
            <a:r>
              <a:rPr lang="en-US" sz="900" b="1" dirty="0">
                <a:solidFill>
                  <a:schemeClr val="accent2"/>
                </a:solidFill>
              </a:rPr>
              <a:t>−1</a:t>
            </a:r>
            <a:endParaRPr lang="en-US" sz="900" dirty="0"/>
          </a:p>
        </p:txBody>
      </p:sp>
      <p:sp>
        <p:nvSpPr>
          <p:cNvPr id="9" name="Text 6"/>
          <p:cNvSpPr txBox="1"/>
          <p:nvPr/>
        </p:nvSpPr>
        <p:spPr>
          <a:xfrm>
            <a:off x="1252728" y="3520440"/>
            <a:ext cx="201168" cy="438912"/>
          </a:xfrm>
          <a:prstGeom prst="rect">
            <a:avLst/>
          </a:prstGeom>
          <a:noFill/>
          <a:ln/>
        </p:spPr>
        <p:txBody>
          <a:bodyPr wrap="square" lIns="0" tIns="0" rIns="0" bIns="0" rtlCol="0" anchor="b"/>
          <a:lstStyle/>
          <a:p>
            <a:pPr algn="ctr" indent="0" marL="0">
              <a:buNone/>
            </a:pPr>
            <a:r>
              <a:rPr lang="en-US" sz="2200" b="1" dirty="0">
                <a:solidFill>
                  <a:schemeClr val="tx1"/>
                </a:solidFill>
              </a:rPr>
              <a:t>.</a:t>
            </a:r>
            <a:endParaRPr lang="en-US" sz="2200" dirty="0"/>
          </a:p>
        </p:txBody>
      </p:sp>
      <p:sp>
        <p:nvSpPr>
          <p:cNvPr id="10" name="Text 7"/>
          <p:cNvSpPr/>
          <p:nvPr/>
        </p:nvSpPr>
        <p:spPr>
          <a:xfrm>
            <a:off x="1453896" y="3520440"/>
            <a:ext cx="365760" cy="438912"/>
          </a:xfrm>
          <a:prstGeom prst="roundRect">
            <a:avLst>
              <a:gd name="adj" fmla="val 17500"/>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1</a:t>
            </a:r>
            <a:endParaRPr lang="en-US" sz="1600" dirty="0"/>
          </a:p>
        </p:txBody>
      </p:sp>
      <p:sp>
        <p:nvSpPr>
          <p:cNvPr id="11" name="Text 8"/>
          <p:cNvSpPr txBox="1"/>
          <p:nvPr/>
        </p:nvSpPr>
        <p:spPr>
          <a:xfrm>
            <a:off x="1362456"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½</a:t>
            </a:r>
            <a:endParaRPr lang="en-US" sz="900" dirty="0"/>
          </a:p>
        </p:txBody>
      </p:sp>
      <p:sp>
        <p:nvSpPr>
          <p:cNvPr id="12" name="Text 9"/>
          <p:cNvSpPr/>
          <p:nvPr/>
        </p:nvSpPr>
        <p:spPr>
          <a:xfrm>
            <a:off x="1874520"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13" name="Text 10"/>
          <p:cNvSpPr txBox="1"/>
          <p:nvPr/>
        </p:nvSpPr>
        <p:spPr>
          <a:xfrm>
            <a:off x="1783080"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¼</a:t>
            </a:r>
            <a:endParaRPr lang="en-US" sz="900" dirty="0"/>
          </a:p>
        </p:txBody>
      </p:sp>
      <p:sp>
        <p:nvSpPr>
          <p:cNvPr id="14" name="Text 11"/>
          <p:cNvSpPr/>
          <p:nvPr/>
        </p:nvSpPr>
        <p:spPr>
          <a:xfrm>
            <a:off x="2295144"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15" name="Text 12"/>
          <p:cNvSpPr txBox="1"/>
          <p:nvPr/>
        </p:nvSpPr>
        <p:spPr>
          <a:xfrm>
            <a:off x="2203704"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⅛</a:t>
            </a:r>
            <a:endParaRPr lang="en-US" sz="900" dirty="0"/>
          </a:p>
        </p:txBody>
      </p:sp>
      <p:sp>
        <p:nvSpPr>
          <p:cNvPr id="16" name="Text 13"/>
          <p:cNvSpPr/>
          <p:nvPr/>
        </p:nvSpPr>
        <p:spPr>
          <a:xfrm>
            <a:off x="2715768"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17" name="Text 14"/>
          <p:cNvSpPr txBox="1"/>
          <p:nvPr/>
        </p:nvSpPr>
        <p:spPr>
          <a:xfrm>
            <a:off x="2624328"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1/16</a:t>
            </a:r>
            <a:endParaRPr lang="en-US" sz="900" dirty="0"/>
          </a:p>
        </p:txBody>
      </p:sp>
      <p:sp>
        <p:nvSpPr>
          <p:cNvPr id="18" name="Text 15"/>
          <p:cNvSpPr/>
          <p:nvPr/>
        </p:nvSpPr>
        <p:spPr>
          <a:xfrm>
            <a:off x="3136392"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19" name="Text 16"/>
          <p:cNvSpPr txBox="1"/>
          <p:nvPr/>
        </p:nvSpPr>
        <p:spPr>
          <a:xfrm>
            <a:off x="3044952"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1/32</a:t>
            </a:r>
            <a:endParaRPr lang="en-US" sz="900" dirty="0"/>
          </a:p>
        </p:txBody>
      </p:sp>
      <p:sp>
        <p:nvSpPr>
          <p:cNvPr id="20" name="Text 17"/>
          <p:cNvSpPr/>
          <p:nvPr/>
        </p:nvSpPr>
        <p:spPr>
          <a:xfrm>
            <a:off x="3557016"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21" name="Text 18"/>
          <p:cNvSpPr txBox="1"/>
          <p:nvPr/>
        </p:nvSpPr>
        <p:spPr>
          <a:xfrm>
            <a:off x="3465576"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1/64</a:t>
            </a:r>
            <a:endParaRPr lang="en-US" sz="900" dirty="0"/>
          </a:p>
        </p:txBody>
      </p:sp>
      <p:sp>
        <p:nvSpPr>
          <p:cNvPr id="22" name="Text 19"/>
          <p:cNvSpPr/>
          <p:nvPr/>
        </p:nvSpPr>
        <p:spPr>
          <a:xfrm>
            <a:off x="3977640"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23" name="Text 20"/>
          <p:cNvSpPr txBox="1"/>
          <p:nvPr/>
        </p:nvSpPr>
        <p:spPr>
          <a:xfrm>
            <a:off x="3886200"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1/128</a:t>
            </a:r>
            <a:endParaRPr lang="en-US" sz="900" dirty="0"/>
          </a:p>
        </p:txBody>
      </p:sp>
      <p:sp>
        <p:nvSpPr>
          <p:cNvPr id="24" name="Text 21"/>
          <p:cNvSpPr/>
          <p:nvPr/>
        </p:nvSpPr>
        <p:spPr>
          <a:xfrm>
            <a:off x="4855464"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25" name="Text 22"/>
          <p:cNvSpPr txBox="1"/>
          <p:nvPr/>
        </p:nvSpPr>
        <p:spPr>
          <a:xfrm>
            <a:off x="4764024" y="3227832"/>
            <a:ext cx="548640" cy="256032"/>
          </a:xfrm>
          <a:prstGeom prst="rect">
            <a:avLst/>
          </a:prstGeom>
          <a:noFill/>
          <a:ln/>
        </p:spPr>
        <p:txBody>
          <a:bodyPr wrap="square" lIns="0" tIns="0" rIns="0" bIns="0" rtlCol="0" anchor="ctr"/>
          <a:lstStyle/>
          <a:p>
            <a:pPr algn="ctr" indent="0" marL="0">
              <a:buNone/>
            </a:pPr>
            <a:r>
              <a:rPr lang="en-US" sz="900" b="1" dirty="0">
                <a:solidFill>
                  <a:schemeClr val="accent2"/>
                </a:solidFill>
              </a:rPr>
              <a:t>−4</a:t>
            </a:r>
            <a:endParaRPr lang="en-US" sz="900" dirty="0"/>
          </a:p>
        </p:txBody>
      </p:sp>
      <p:sp>
        <p:nvSpPr>
          <p:cNvPr id="26" name="Text 23"/>
          <p:cNvSpPr/>
          <p:nvPr/>
        </p:nvSpPr>
        <p:spPr>
          <a:xfrm>
            <a:off x="5276088"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27" name="Text 24"/>
          <p:cNvSpPr txBox="1"/>
          <p:nvPr/>
        </p:nvSpPr>
        <p:spPr>
          <a:xfrm>
            <a:off x="5184648"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2</a:t>
            </a:r>
            <a:endParaRPr lang="en-US" sz="900" dirty="0"/>
          </a:p>
        </p:txBody>
      </p:sp>
      <p:sp>
        <p:nvSpPr>
          <p:cNvPr id="28" name="Text 25"/>
          <p:cNvSpPr/>
          <p:nvPr/>
        </p:nvSpPr>
        <p:spPr>
          <a:xfrm>
            <a:off x="5696712"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29" name="Text 26"/>
          <p:cNvSpPr txBox="1"/>
          <p:nvPr/>
        </p:nvSpPr>
        <p:spPr>
          <a:xfrm>
            <a:off x="5605272"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a:t>
            </a:r>
            <a:endParaRPr lang="en-US" sz="900" dirty="0"/>
          </a:p>
        </p:txBody>
      </p:sp>
      <p:sp>
        <p:nvSpPr>
          <p:cNvPr id="30" name="Text 27"/>
          <p:cNvSpPr txBox="1"/>
          <p:nvPr/>
        </p:nvSpPr>
        <p:spPr>
          <a:xfrm>
            <a:off x="868680" y="2898648"/>
            <a:ext cx="3474720"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31" name="Text 28"/>
          <p:cNvSpPr txBox="1"/>
          <p:nvPr/>
        </p:nvSpPr>
        <p:spPr>
          <a:xfrm>
            <a:off x="4672584" y="2898648"/>
            <a:ext cx="1572768"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32" name="Text 29"/>
          <p:cNvSpPr txBox="1"/>
          <p:nvPr/>
        </p:nvSpPr>
        <p:spPr>
          <a:xfrm>
            <a:off x="868680" y="4343400"/>
            <a:ext cx="4846320" cy="548640"/>
          </a:xfrm>
          <a:prstGeom prst="rect">
            <a:avLst/>
          </a:prstGeom>
          <a:noFill/>
          <a:ln/>
        </p:spPr>
        <p:txBody>
          <a:bodyPr wrap="square" lIns="0" tIns="0" rIns="0" bIns="0" rtlCol="0" anchor="t"/>
          <a:lstStyle/>
          <a:p>
            <a:pPr indent="0" marL="0">
              <a:buNone/>
            </a:pPr>
            <a:r>
              <a:rPr lang="en-US" sz="2200" b="1" dirty="0">
                <a:solidFill>
                  <a:schemeClr val="tx1"/>
                </a:solidFill>
              </a:rPr>
              <a:t>0.1000000 × 2⁰ = 0.5</a:t>
            </a:r>
            <a:endParaRPr lang="en-US" sz="2200" dirty="0"/>
          </a:p>
        </p:txBody>
      </p:sp>
      <p:sp>
        <p:nvSpPr>
          <p:cNvPr id="33" name="Shape 30"/>
          <p:cNvSpPr/>
          <p:nvPr/>
        </p:nvSpPr>
        <p:spPr>
          <a:xfrm>
            <a:off x="6217920" y="1417320"/>
            <a:ext cx="5394960" cy="4480560"/>
          </a:xfrm>
          <a:prstGeom prst="roundRect">
            <a:avLst>
              <a:gd name="adj" fmla="val 2449"/>
            </a:avLst>
          </a:prstGeom>
          <a:solidFill>
            <a:schemeClr val="bg2"/>
          </a:solidFill>
          <a:ln w="12700">
            <a:solidFill>
              <a:schemeClr val="bg2"/>
            </a:solidFill>
            <a:prstDash val="solid"/>
          </a:ln>
        </p:spPr>
      </p:sp>
      <p:sp>
        <p:nvSpPr>
          <p:cNvPr id="34" name="Text 31"/>
          <p:cNvSpPr txBox="1"/>
          <p:nvPr/>
        </p:nvSpPr>
        <p:spPr>
          <a:xfrm>
            <a:off x="6537960" y="1600200"/>
            <a:ext cx="4846320" cy="457200"/>
          </a:xfrm>
          <a:prstGeom prst="rect">
            <a:avLst/>
          </a:prstGeom>
          <a:noFill/>
          <a:ln/>
        </p:spPr>
        <p:txBody>
          <a:bodyPr wrap="square" lIns="0" tIns="0" rIns="0" bIns="0" rtlCol="0" anchor="t"/>
          <a:lstStyle/>
          <a:p>
            <a:pPr indent="0" marL="0">
              <a:buNone/>
            </a:pPr>
            <a:r>
              <a:rPr lang="en-US" sz="2200" b="1" dirty="0">
                <a:solidFill>
                  <a:schemeClr val="accent2"/>
                </a:solidFill>
              </a:rPr>
              <a:t>Beyond the past papers</a:t>
            </a:r>
            <a:endParaRPr lang="en-US" sz="2200" dirty="0"/>
          </a:p>
        </p:txBody>
      </p:sp>
      <p:sp>
        <p:nvSpPr>
          <p:cNvPr id="35" name="Text 32"/>
          <p:cNvSpPr txBox="1"/>
          <p:nvPr/>
        </p:nvSpPr>
        <p:spPr>
          <a:xfrm>
            <a:off x="6537960" y="2103120"/>
            <a:ext cx="4846320" cy="731520"/>
          </a:xfrm>
          <a:prstGeom prst="rect">
            <a:avLst/>
          </a:prstGeom>
          <a:noFill/>
          <a:ln/>
        </p:spPr>
        <p:txBody>
          <a:bodyPr wrap="square" lIns="0" tIns="0" rIns="0" bIns="0" rtlCol="0" anchor="t"/>
          <a:lstStyle/>
          <a:p>
            <a:pPr indent="0" marL="0">
              <a:buNone/>
            </a:pPr>
            <a:r>
              <a:rPr lang="en-US" sz="1700" dirty="0">
                <a:solidFill>
                  <a:schemeClr val="tx1"/>
                </a:solidFill>
              </a:rPr>
              <a:t>Use the most negative exponent</a:t>
            </a:r>
            <a:endParaRPr lang="en-US" sz="1700" dirty="0"/>
          </a:p>
        </p:txBody>
      </p:sp>
      <p:sp>
        <p:nvSpPr>
          <p:cNvPr id="36" name="Text 33"/>
          <p:cNvSpPr/>
          <p:nvPr/>
        </p:nvSpPr>
        <p:spPr>
          <a:xfrm>
            <a:off x="6537960"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37" name="Text 34"/>
          <p:cNvSpPr txBox="1"/>
          <p:nvPr/>
        </p:nvSpPr>
        <p:spPr>
          <a:xfrm>
            <a:off x="6446520" y="3227832"/>
            <a:ext cx="548640" cy="256032"/>
          </a:xfrm>
          <a:prstGeom prst="rect">
            <a:avLst/>
          </a:prstGeom>
          <a:noFill/>
          <a:ln/>
        </p:spPr>
        <p:txBody>
          <a:bodyPr wrap="square" lIns="0" tIns="0" rIns="0" bIns="0" rtlCol="0" anchor="ctr"/>
          <a:lstStyle/>
          <a:p>
            <a:pPr algn="ctr" indent="0" marL="0">
              <a:buNone/>
            </a:pPr>
            <a:r>
              <a:rPr lang="en-US" sz="900" b="1" dirty="0">
                <a:solidFill>
                  <a:schemeClr val="accent2"/>
                </a:solidFill>
              </a:rPr>
              <a:t>−1</a:t>
            </a:r>
            <a:endParaRPr lang="en-US" sz="900" dirty="0"/>
          </a:p>
        </p:txBody>
      </p:sp>
      <p:sp>
        <p:nvSpPr>
          <p:cNvPr id="38" name="Text 35"/>
          <p:cNvSpPr txBox="1"/>
          <p:nvPr/>
        </p:nvSpPr>
        <p:spPr>
          <a:xfrm>
            <a:off x="6922008" y="3520440"/>
            <a:ext cx="201168" cy="438912"/>
          </a:xfrm>
          <a:prstGeom prst="rect">
            <a:avLst/>
          </a:prstGeom>
          <a:noFill/>
          <a:ln/>
        </p:spPr>
        <p:txBody>
          <a:bodyPr wrap="square" lIns="0" tIns="0" rIns="0" bIns="0" rtlCol="0" anchor="b"/>
          <a:lstStyle/>
          <a:p>
            <a:pPr algn="ctr" indent="0" marL="0">
              <a:buNone/>
            </a:pPr>
            <a:r>
              <a:rPr lang="en-US" sz="2200" b="1" dirty="0">
                <a:solidFill>
                  <a:schemeClr val="tx1"/>
                </a:solidFill>
              </a:rPr>
              <a:t>.</a:t>
            </a:r>
            <a:endParaRPr lang="en-US" sz="2200" dirty="0"/>
          </a:p>
        </p:txBody>
      </p:sp>
      <p:sp>
        <p:nvSpPr>
          <p:cNvPr id="39" name="Text 36"/>
          <p:cNvSpPr/>
          <p:nvPr/>
        </p:nvSpPr>
        <p:spPr>
          <a:xfrm>
            <a:off x="7123176" y="3520440"/>
            <a:ext cx="365760" cy="438912"/>
          </a:xfrm>
          <a:prstGeom prst="roundRect">
            <a:avLst>
              <a:gd name="adj" fmla="val 17500"/>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1</a:t>
            </a:r>
            <a:endParaRPr lang="en-US" sz="1600" dirty="0"/>
          </a:p>
        </p:txBody>
      </p:sp>
      <p:sp>
        <p:nvSpPr>
          <p:cNvPr id="40" name="Text 37"/>
          <p:cNvSpPr txBox="1"/>
          <p:nvPr/>
        </p:nvSpPr>
        <p:spPr>
          <a:xfrm>
            <a:off x="7031736"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½</a:t>
            </a:r>
            <a:endParaRPr lang="en-US" sz="900" dirty="0"/>
          </a:p>
        </p:txBody>
      </p:sp>
      <p:sp>
        <p:nvSpPr>
          <p:cNvPr id="41" name="Text 38"/>
          <p:cNvSpPr/>
          <p:nvPr/>
        </p:nvSpPr>
        <p:spPr>
          <a:xfrm>
            <a:off x="7543800"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42" name="Text 39"/>
          <p:cNvSpPr txBox="1"/>
          <p:nvPr/>
        </p:nvSpPr>
        <p:spPr>
          <a:xfrm>
            <a:off x="7452360"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¼</a:t>
            </a:r>
            <a:endParaRPr lang="en-US" sz="900" dirty="0"/>
          </a:p>
        </p:txBody>
      </p:sp>
      <p:sp>
        <p:nvSpPr>
          <p:cNvPr id="43" name="Text 40"/>
          <p:cNvSpPr/>
          <p:nvPr/>
        </p:nvSpPr>
        <p:spPr>
          <a:xfrm>
            <a:off x="7964424"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44" name="Text 41"/>
          <p:cNvSpPr txBox="1"/>
          <p:nvPr/>
        </p:nvSpPr>
        <p:spPr>
          <a:xfrm>
            <a:off x="7872984"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⅛</a:t>
            </a:r>
            <a:endParaRPr lang="en-US" sz="900" dirty="0"/>
          </a:p>
        </p:txBody>
      </p:sp>
      <p:sp>
        <p:nvSpPr>
          <p:cNvPr id="45" name="Text 42"/>
          <p:cNvSpPr/>
          <p:nvPr/>
        </p:nvSpPr>
        <p:spPr>
          <a:xfrm>
            <a:off x="8385048"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46" name="Text 43"/>
          <p:cNvSpPr txBox="1"/>
          <p:nvPr/>
        </p:nvSpPr>
        <p:spPr>
          <a:xfrm>
            <a:off x="8293608"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1/16</a:t>
            </a:r>
            <a:endParaRPr lang="en-US" sz="900" dirty="0"/>
          </a:p>
        </p:txBody>
      </p:sp>
      <p:sp>
        <p:nvSpPr>
          <p:cNvPr id="47" name="Text 44"/>
          <p:cNvSpPr/>
          <p:nvPr/>
        </p:nvSpPr>
        <p:spPr>
          <a:xfrm>
            <a:off x="8805672"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48" name="Text 45"/>
          <p:cNvSpPr txBox="1"/>
          <p:nvPr/>
        </p:nvSpPr>
        <p:spPr>
          <a:xfrm>
            <a:off x="8714232"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1/32</a:t>
            </a:r>
            <a:endParaRPr lang="en-US" sz="900" dirty="0"/>
          </a:p>
        </p:txBody>
      </p:sp>
      <p:sp>
        <p:nvSpPr>
          <p:cNvPr id="49" name="Text 46"/>
          <p:cNvSpPr/>
          <p:nvPr/>
        </p:nvSpPr>
        <p:spPr>
          <a:xfrm>
            <a:off x="9226296"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50" name="Text 47"/>
          <p:cNvSpPr txBox="1"/>
          <p:nvPr/>
        </p:nvSpPr>
        <p:spPr>
          <a:xfrm>
            <a:off x="9134856"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1/64</a:t>
            </a:r>
            <a:endParaRPr lang="en-US" sz="900" dirty="0"/>
          </a:p>
        </p:txBody>
      </p:sp>
      <p:sp>
        <p:nvSpPr>
          <p:cNvPr id="51" name="Text 48"/>
          <p:cNvSpPr/>
          <p:nvPr/>
        </p:nvSpPr>
        <p:spPr>
          <a:xfrm>
            <a:off x="9646920"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52" name="Text 49"/>
          <p:cNvSpPr txBox="1"/>
          <p:nvPr/>
        </p:nvSpPr>
        <p:spPr>
          <a:xfrm>
            <a:off x="9555480"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1/128</a:t>
            </a:r>
            <a:endParaRPr lang="en-US" sz="900" dirty="0"/>
          </a:p>
        </p:txBody>
      </p:sp>
      <p:sp>
        <p:nvSpPr>
          <p:cNvPr id="53" name="Text 50"/>
          <p:cNvSpPr/>
          <p:nvPr/>
        </p:nvSpPr>
        <p:spPr>
          <a:xfrm>
            <a:off x="10524744" y="3520440"/>
            <a:ext cx="365760" cy="438912"/>
          </a:xfrm>
          <a:prstGeom prst="roundRect">
            <a:avLst>
              <a:gd name="adj" fmla="val 17500"/>
            </a:avLst>
          </a:prstGeom>
          <a:solidFill>
            <a:schemeClr val="accent2"/>
          </a:solidFill>
          <a:ln w="15875">
            <a:solidFill>
              <a:schemeClr val="accent2"/>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1</a:t>
            </a:r>
            <a:endParaRPr lang="en-US" sz="1600" dirty="0"/>
          </a:p>
        </p:txBody>
      </p:sp>
      <p:sp>
        <p:nvSpPr>
          <p:cNvPr id="54" name="Text 51"/>
          <p:cNvSpPr txBox="1"/>
          <p:nvPr/>
        </p:nvSpPr>
        <p:spPr>
          <a:xfrm>
            <a:off x="10433304" y="3227832"/>
            <a:ext cx="548640" cy="256032"/>
          </a:xfrm>
          <a:prstGeom prst="rect">
            <a:avLst/>
          </a:prstGeom>
          <a:noFill/>
          <a:ln/>
        </p:spPr>
        <p:txBody>
          <a:bodyPr wrap="square" lIns="0" tIns="0" rIns="0" bIns="0" rtlCol="0" anchor="ctr"/>
          <a:lstStyle/>
          <a:p>
            <a:pPr algn="ctr" indent="0" marL="0">
              <a:buNone/>
            </a:pPr>
            <a:r>
              <a:rPr lang="en-US" sz="900" b="1" dirty="0">
                <a:solidFill>
                  <a:schemeClr val="accent2"/>
                </a:solidFill>
              </a:rPr>
              <a:t>−4</a:t>
            </a:r>
            <a:endParaRPr lang="en-US" sz="900" dirty="0"/>
          </a:p>
        </p:txBody>
      </p:sp>
      <p:sp>
        <p:nvSpPr>
          <p:cNvPr id="55" name="Text 52"/>
          <p:cNvSpPr/>
          <p:nvPr/>
        </p:nvSpPr>
        <p:spPr>
          <a:xfrm>
            <a:off x="10945368"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56" name="Text 53"/>
          <p:cNvSpPr txBox="1"/>
          <p:nvPr/>
        </p:nvSpPr>
        <p:spPr>
          <a:xfrm>
            <a:off x="10853928"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2</a:t>
            </a:r>
            <a:endParaRPr lang="en-US" sz="900" dirty="0"/>
          </a:p>
        </p:txBody>
      </p:sp>
      <p:sp>
        <p:nvSpPr>
          <p:cNvPr id="57" name="Text 54"/>
          <p:cNvSpPr/>
          <p:nvPr/>
        </p:nvSpPr>
        <p:spPr>
          <a:xfrm>
            <a:off x="11365992" y="3520440"/>
            <a:ext cx="365760" cy="438912"/>
          </a:xfrm>
          <a:prstGeom prst="roundRect">
            <a:avLst>
              <a:gd name="adj" fmla="val 17500"/>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58" name="Text 55"/>
          <p:cNvSpPr txBox="1"/>
          <p:nvPr/>
        </p:nvSpPr>
        <p:spPr>
          <a:xfrm>
            <a:off x="11274552" y="3227832"/>
            <a:ext cx="548640" cy="256032"/>
          </a:xfrm>
          <a:prstGeom prst="rect">
            <a:avLst/>
          </a:prstGeom>
          <a:noFill/>
          <a:ln/>
        </p:spPr>
        <p:txBody>
          <a:bodyPr wrap="square" lIns="0" tIns="0" rIns="0" bIns="0" rtlCol="0" anchor="ctr"/>
          <a:lstStyle/>
          <a:p>
            <a:pPr algn="ctr" indent="0" marL="0">
              <a:buNone/>
            </a:pPr>
            <a:r>
              <a:rPr lang="en-US" sz="900" dirty="0">
                <a:solidFill>
                  <a:schemeClr val="accent6"/>
                </a:solidFill>
              </a:rPr>
              <a:t>1</a:t>
            </a:r>
            <a:endParaRPr lang="en-US" sz="900" dirty="0"/>
          </a:p>
        </p:txBody>
      </p:sp>
      <p:sp>
        <p:nvSpPr>
          <p:cNvPr id="59" name="Text 56"/>
          <p:cNvSpPr txBox="1"/>
          <p:nvPr/>
        </p:nvSpPr>
        <p:spPr>
          <a:xfrm>
            <a:off x="6537960" y="2898648"/>
            <a:ext cx="3474720"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60" name="Text 57"/>
          <p:cNvSpPr txBox="1"/>
          <p:nvPr/>
        </p:nvSpPr>
        <p:spPr>
          <a:xfrm>
            <a:off x="10341864" y="2898648"/>
            <a:ext cx="1572768"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61" name="Text 58"/>
          <p:cNvSpPr txBox="1"/>
          <p:nvPr/>
        </p:nvSpPr>
        <p:spPr>
          <a:xfrm>
            <a:off x="6537960" y="4343400"/>
            <a:ext cx="4846320" cy="548640"/>
          </a:xfrm>
          <a:prstGeom prst="rect">
            <a:avLst/>
          </a:prstGeom>
          <a:noFill/>
          <a:ln/>
        </p:spPr>
        <p:txBody>
          <a:bodyPr wrap="square" lIns="0" tIns="0" rIns="0" bIns="0" rtlCol="0" anchor="t"/>
          <a:lstStyle/>
          <a:p>
            <a:pPr indent="0" marL="0">
              <a:buNone/>
            </a:pPr>
            <a:r>
              <a:rPr lang="en-US" sz="2200" b="1" dirty="0">
                <a:solidFill>
                  <a:schemeClr val="tx1"/>
                </a:solidFill>
              </a:rPr>
              <a:t>0.5 × 2⁻⁴ = 0.03125</a:t>
            </a:r>
            <a:endParaRPr lang="en-US" sz="2200" dirty="0"/>
          </a:p>
        </p:txBody>
      </p:sp>
      <p:sp>
        <p:nvSpPr>
          <p:cNvPr id="62" name="Text 59"/>
          <p:cNvSpPr txBox="1"/>
          <p:nvPr/>
        </p:nvSpPr>
        <p:spPr>
          <a:xfrm>
            <a:off x="6537960" y="5074920"/>
            <a:ext cx="4846320" cy="548640"/>
          </a:xfrm>
          <a:prstGeom prst="rect">
            <a:avLst/>
          </a:prstGeom>
          <a:noFill/>
          <a:ln/>
        </p:spPr>
        <p:txBody>
          <a:bodyPr wrap="square" lIns="0" tIns="0" rIns="0" bIns="0" rtlCol="0" anchor="t"/>
          <a:lstStyle/>
          <a:p>
            <a:pPr indent="0" marL="0">
              <a:buNone/>
            </a:pPr>
            <a:r>
              <a:rPr lang="en-US" sz="1500" dirty="0">
                <a:solidFill>
                  <a:schemeClr val="accent6"/>
                </a:solidFill>
              </a:rPr>
              <a:t>4-bit exponent 1000: 0.5 × 2⁻⁸ = 0.001953125</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Pairs: 2018, Q5(b)(ii)</a:t>
            </a:r>
            <a:endParaRPr lang="en-US" sz="3400" dirty="0"/>
          </a:p>
        </p:txBody>
      </p:sp>
      <p:sp>
        <p:nvSpPr>
          <p:cNvPr id="4" name="Shape 1"/>
          <p:cNvSpPr/>
          <p:nvPr/>
        </p:nvSpPr>
        <p:spPr>
          <a:xfrm>
            <a:off x="548640" y="1417320"/>
            <a:ext cx="6766560" cy="4480560"/>
          </a:xfrm>
          <a:prstGeom prst="roundRect">
            <a:avLst>
              <a:gd name="adj" fmla="val 2449"/>
            </a:avLst>
          </a:prstGeom>
          <a:solidFill>
            <a:schemeClr val="bg1"/>
          </a:solidFill>
          <a:ln w="12700">
            <a:solidFill>
              <a:schemeClr val="bg1"/>
            </a:solidFill>
            <a:prstDash val="solid"/>
          </a:ln>
        </p:spPr>
      </p:sp>
      <p:sp>
        <p:nvSpPr>
          <p:cNvPr id="5" name="Text 2"/>
          <p:cNvSpPr txBox="1"/>
          <p:nvPr/>
        </p:nvSpPr>
        <p:spPr>
          <a:xfrm>
            <a:off x="914400" y="1691640"/>
            <a:ext cx="6035040" cy="457200"/>
          </a:xfrm>
          <a:prstGeom prst="rect">
            <a:avLst/>
          </a:prstGeom>
          <a:noFill/>
          <a:ln/>
        </p:spPr>
        <p:txBody>
          <a:bodyPr wrap="square" lIns="0" tIns="0" rIns="0" bIns="0" rtlCol="0" anchor="t"/>
          <a:lstStyle/>
          <a:p>
            <a:pPr indent="0" marL="0">
              <a:buNone/>
            </a:pPr>
            <a:r>
              <a:rPr lang="en-US" sz="2400" b="1" dirty="0">
                <a:solidFill>
                  <a:schemeClr val="accent1"/>
                </a:solidFill>
              </a:rPr>
              <a:t>In pairs, 4 minutes</a:t>
            </a:r>
            <a:endParaRPr lang="en-US" sz="2400" dirty="0"/>
          </a:p>
        </p:txBody>
      </p:sp>
      <p:sp>
        <p:nvSpPr>
          <p:cNvPr id="6" name="Text 3"/>
          <p:cNvSpPr txBox="1"/>
          <p:nvPr/>
        </p:nvSpPr>
        <p:spPr>
          <a:xfrm>
            <a:off x="914400" y="2286000"/>
            <a:ext cx="6035040" cy="2377440"/>
          </a:xfrm>
          <a:prstGeom prst="rect">
            <a:avLst/>
          </a:prstGeom>
          <a:noFill/>
          <a:ln/>
        </p:spPr>
        <p:txBody>
          <a:bodyPr wrap="square" lIns="0" tIns="0" rIns="0" bIns="0" rtlCol="0" anchor="t"/>
          <a:lstStyle/>
          <a:p>
            <a:pPr indent="0" marL="0">
              <a:buNone/>
            </a:pPr>
            <a:r>
              <a:rPr lang="en-US" sz="1900" dirty="0">
                <a:solidFill>
                  <a:schemeClr val="tx1"/>
                </a:solidFill>
              </a:rPr>
              <a:t>Real numbers are stored in floating point form using two's complementation, a 5-bit mantissa and a 3-bit exponent. Showing your workings, calculate the largest positive denary number that this computer system can store.  [3]</a:t>
            </a:r>
            <a:endParaRPr lang="en-US" sz="1900" dirty="0"/>
          </a:p>
        </p:txBody>
      </p:sp>
      <p:sp>
        <p:nvSpPr>
          <p:cNvPr id="7" name="Shape 4"/>
          <p:cNvSpPr/>
          <p:nvPr/>
        </p:nvSpPr>
        <p:spPr>
          <a:xfrm>
            <a:off x="7772400" y="1417320"/>
            <a:ext cx="3840480" cy="4480560"/>
          </a:xfrm>
          <a:prstGeom prst="roundRect">
            <a:avLst>
              <a:gd name="adj" fmla="val 2857"/>
            </a:avLst>
          </a:prstGeom>
          <a:solidFill>
            <a:schemeClr val="tx1"/>
          </a:solidFill>
          <a:ln w="12700">
            <a:solidFill>
              <a:schemeClr val="tx1"/>
            </a:solidFill>
            <a:prstDash val="solid"/>
          </a:ln>
        </p:spPr>
      </p:sp>
      <p:sp>
        <p:nvSpPr>
          <p:cNvPr id="8" name="Text 5"/>
          <p:cNvSpPr/>
          <p:nvPr/>
        </p:nvSpPr>
        <p:spPr>
          <a:xfrm>
            <a:off x="8046720" y="2743200"/>
            <a:ext cx="347472" cy="416966"/>
          </a:xfrm>
          <a:prstGeom prst="roundRect">
            <a:avLst>
              <a:gd name="adj" fmla="val 18421"/>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a:t>
            </a:r>
            <a:endParaRPr lang="en-US" sz="1600" dirty="0"/>
          </a:p>
        </p:txBody>
      </p:sp>
      <p:sp>
        <p:nvSpPr>
          <p:cNvPr id="9" name="Text 6"/>
          <p:cNvSpPr txBox="1"/>
          <p:nvPr/>
        </p:nvSpPr>
        <p:spPr>
          <a:xfrm>
            <a:off x="8412480" y="2743200"/>
            <a:ext cx="201168" cy="416966"/>
          </a:xfrm>
          <a:prstGeom prst="rect">
            <a:avLst/>
          </a:prstGeom>
          <a:noFill/>
          <a:ln/>
        </p:spPr>
        <p:txBody>
          <a:bodyPr wrap="square" lIns="0" tIns="0" rIns="0" bIns="0" rtlCol="0" anchor="b"/>
          <a:lstStyle/>
          <a:p>
            <a:pPr algn="ctr" indent="0" marL="0">
              <a:buNone/>
            </a:pPr>
            <a:r>
              <a:rPr lang="en-US" sz="2200" b="1" dirty="0">
                <a:solidFill>
                  <a:schemeClr val="tx1"/>
                </a:solidFill>
              </a:rPr>
              <a:t>.</a:t>
            </a:r>
            <a:endParaRPr lang="en-US" sz="2200" dirty="0"/>
          </a:p>
        </p:txBody>
      </p:sp>
      <p:sp>
        <p:nvSpPr>
          <p:cNvPr id="10" name="Text 7"/>
          <p:cNvSpPr/>
          <p:nvPr/>
        </p:nvSpPr>
        <p:spPr>
          <a:xfrm>
            <a:off x="8613648" y="2743200"/>
            <a:ext cx="347472" cy="416966"/>
          </a:xfrm>
          <a:prstGeom prst="roundRect">
            <a:avLst>
              <a:gd name="adj" fmla="val 18421"/>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a:t>
            </a:r>
            <a:endParaRPr lang="en-US" sz="1600" dirty="0"/>
          </a:p>
        </p:txBody>
      </p:sp>
      <p:sp>
        <p:nvSpPr>
          <p:cNvPr id="11" name="Text 8"/>
          <p:cNvSpPr/>
          <p:nvPr/>
        </p:nvSpPr>
        <p:spPr>
          <a:xfrm>
            <a:off x="9015984" y="2743200"/>
            <a:ext cx="347472" cy="416966"/>
          </a:xfrm>
          <a:prstGeom prst="roundRect">
            <a:avLst>
              <a:gd name="adj" fmla="val 18421"/>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a:t>
            </a:r>
            <a:endParaRPr lang="en-US" sz="1600" dirty="0"/>
          </a:p>
        </p:txBody>
      </p:sp>
      <p:sp>
        <p:nvSpPr>
          <p:cNvPr id="12" name="Text 9"/>
          <p:cNvSpPr/>
          <p:nvPr/>
        </p:nvSpPr>
        <p:spPr>
          <a:xfrm>
            <a:off x="9418320" y="2743200"/>
            <a:ext cx="347472" cy="416966"/>
          </a:xfrm>
          <a:prstGeom prst="roundRect">
            <a:avLst>
              <a:gd name="adj" fmla="val 18421"/>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a:t>
            </a:r>
            <a:endParaRPr lang="en-US" sz="1600" dirty="0"/>
          </a:p>
        </p:txBody>
      </p:sp>
      <p:sp>
        <p:nvSpPr>
          <p:cNvPr id="13" name="Text 10"/>
          <p:cNvSpPr/>
          <p:nvPr/>
        </p:nvSpPr>
        <p:spPr>
          <a:xfrm>
            <a:off x="9820656" y="2743200"/>
            <a:ext cx="347472" cy="416966"/>
          </a:xfrm>
          <a:prstGeom prst="roundRect">
            <a:avLst>
              <a:gd name="adj" fmla="val 18421"/>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a:t>
            </a:r>
            <a:endParaRPr lang="en-US" sz="1600" dirty="0"/>
          </a:p>
        </p:txBody>
      </p:sp>
      <p:sp>
        <p:nvSpPr>
          <p:cNvPr id="14" name="Text 11"/>
          <p:cNvSpPr/>
          <p:nvPr/>
        </p:nvSpPr>
        <p:spPr>
          <a:xfrm>
            <a:off x="10451592" y="2743200"/>
            <a:ext cx="347472" cy="416966"/>
          </a:xfrm>
          <a:prstGeom prst="roundRect">
            <a:avLst>
              <a:gd name="adj" fmla="val 18421"/>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a:t>
            </a:r>
            <a:endParaRPr lang="en-US" sz="1600" dirty="0"/>
          </a:p>
        </p:txBody>
      </p:sp>
      <p:sp>
        <p:nvSpPr>
          <p:cNvPr id="15" name="Text 12"/>
          <p:cNvSpPr/>
          <p:nvPr/>
        </p:nvSpPr>
        <p:spPr>
          <a:xfrm>
            <a:off x="10853928" y="2743200"/>
            <a:ext cx="347472" cy="416966"/>
          </a:xfrm>
          <a:prstGeom prst="roundRect">
            <a:avLst>
              <a:gd name="adj" fmla="val 18421"/>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a:t>
            </a:r>
            <a:endParaRPr lang="en-US" sz="1600" dirty="0"/>
          </a:p>
        </p:txBody>
      </p:sp>
      <p:sp>
        <p:nvSpPr>
          <p:cNvPr id="16" name="Text 13"/>
          <p:cNvSpPr/>
          <p:nvPr/>
        </p:nvSpPr>
        <p:spPr>
          <a:xfrm>
            <a:off x="11256264" y="2743200"/>
            <a:ext cx="347472" cy="416966"/>
          </a:xfrm>
          <a:prstGeom prst="roundRect">
            <a:avLst>
              <a:gd name="adj" fmla="val 18421"/>
            </a:avLst>
          </a:prstGeom>
          <a:solidFill>
            <a:schemeClr val="bg1"/>
          </a:solidFill>
          <a:ln w="15875">
            <a:solidFill>
              <a:schemeClr val="tx1"/>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a:t>
            </a:r>
            <a:endParaRPr lang="en-US" sz="1600" dirty="0"/>
          </a:p>
        </p:txBody>
      </p:sp>
      <p:sp>
        <p:nvSpPr>
          <p:cNvPr id="17" name="Text 14"/>
          <p:cNvSpPr txBox="1"/>
          <p:nvPr/>
        </p:nvSpPr>
        <p:spPr>
          <a:xfrm>
            <a:off x="8046720" y="3931920"/>
            <a:ext cx="3291840" cy="914400"/>
          </a:xfrm>
          <a:prstGeom prst="rect">
            <a:avLst/>
          </a:prstGeom>
          <a:noFill/>
          <a:ln/>
        </p:spPr>
        <p:txBody>
          <a:bodyPr wrap="square" lIns="0" tIns="0" rIns="0" bIns="0" rtlCol="0" anchor="t"/>
          <a:lstStyle/>
          <a:p>
            <a:pPr indent="0" marL="0">
              <a:buNone/>
            </a:pPr>
            <a:r>
              <a:rPr lang="en-US" sz="1800" b="1" dirty="0">
                <a:solidFill>
                  <a:schemeClr val="bg1"/>
                </a:solidFill>
              </a:rPr>
              <a:t>Fill the mantissa. Max the exponent.</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Answer: 2018, Q5(b)(ii)</a:t>
            </a:r>
            <a:endParaRPr lang="en-US" sz="3400" dirty="0"/>
          </a:p>
        </p:txBody>
      </p:sp>
      <p:sp>
        <p:nvSpPr>
          <p:cNvPr id="4" name="Text 1"/>
          <p:cNvSpPr/>
          <p:nvPr/>
        </p:nvSpPr>
        <p:spPr>
          <a:xfrm>
            <a:off x="914400" y="17830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5" name="Text 2"/>
          <p:cNvSpPr txBox="1"/>
          <p:nvPr/>
        </p:nvSpPr>
        <p:spPr>
          <a:xfrm>
            <a:off x="822960" y="1490472"/>
            <a:ext cx="749808" cy="256032"/>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6" name="Text 3"/>
          <p:cNvSpPr txBox="1"/>
          <p:nvPr/>
        </p:nvSpPr>
        <p:spPr>
          <a:xfrm>
            <a:off x="1499616" y="1783080"/>
            <a:ext cx="201168" cy="680314"/>
          </a:xfrm>
          <a:prstGeom prst="rect">
            <a:avLst/>
          </a:prstGeom>
          <a:noFill/>
          <a:ln/>
        </p:spPr>
        <p:txBody>
          <a:bodyPr wrap="square" lIns="0" tIns="0" rIns="0" bIns="0" rtlCol="0" anchor="b"/>
          <a:lstStyle/>
          <a:p>
            <a:pPr algn="ctr" indent="0" marL="0">
              <a:buNone/>
            </a:pPr>
            <a:r>
              <a:rPr lang="en-US" sz="3200" b="1" dirty="0">
                <a:solidFill>
                  <a:schemeClr val="tx1"/>
                </a:solidFill>
              </a:rPr>
              <a:t>.</a:t>
            </a:r>
            <a:endParaRPr lang="en-US" sz="3200" dirty="0"/>
          </a:p>
        </p:txBody>
      </p:sp>
      <p:sp>
        <p:nvSpPr>
          <p:cNvPr id="7" name="Text 4"/>
          <p:cNvSpPr/>
          <p:nvPr/>
        </p:nvSpPr>
        <p:spPr>
          <a:xfrm>
            <a:off x="1700784" y="178308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8" name="Text 5"/>
          <p:cNvSpPr txBox="1"/>
          <p:nvPr/>
        </p:nvSpPr>
        <p:spPr>
          <a:xfrm>
            <a:off x="1609344" y="14904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½</a:t>
            </a:r>
            <a:endParaRPr lang="en-US" sz="1200" dirty="0"/>
          </a:p>
        </p:txBody>
      </p:sp>
      <p:sp>
        <p:nvSpPr>
          <p:cNvPr id="9" name="Text 6"/>
          <p:cNvSpPr/>
          <p:nvPr/>
        </p:nvSpPr>
        <p:spPr>
          <a:xfrm>
            <a:off x="2322576" y="178308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10" name="Text 7"/>
          <p:cNvSpPr txBox="1"/>
          <p:nvPr/>
        </p:nvSpPr>
        <p:spPr>
          <a:xfrm>
            <a:off x="2231136" y="14904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¼</a:t>
            </a:r>
            <a:endParaRPr lang="en-US" sz="1200" dirty="0"/>
          </a:p>
        </p:txBody>
      </p:sp>
      <p:sp>
        <p:nvSpPr>
          <p:cNvPr id="11" name="Text 8"/>
          <p:cNvSpPr/>
          <p:nvPr/>
        </p:nvSpPr>
        <p:spPr>
          <a:xfrm>
            <a:off x="2944368" y="178308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12" name="Text 9"/>
          <p:cNvSpPr txBox="1"/>
          <p:nvPr/>
        </p:nvSpPr>
        <p:spPr>
          <a:xfrm>
            <a:off x="2852928" y="14904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⅛</a:t>
            </a:r>
            <a:endParaRPr lang="en-US" sz="1200" dirty="0"/>
          </a:p>
        </p:txBody>
      </p:sp>
      <p:sp>
        <p:nvSpPr>
          <p:cNvPr id="13" name="Text 10"/>
          <p:cNvSpPr/>
          <p:nvPr/>
        </p:nvSpPr>
        <p:spPr>
          <a:xfrm>
            <a:off x="3566160" y="178308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14" name="Text 11"/>
          <p:cNvSpPr txBox="1"/>
          <p:nvPr/>
        </p:nvSpPr>
        <p:spPr>
          <a:xfrm>
            <a:off x="3474720" y="14904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1/16</a:t>
            </a:r>
            <a:endParaRPr lang="en-US" sz="1200" dirty="0"/>
          </a:p>
        </p:txBody>
      </p:sp>
      <p:sp>
        <p:nvSpPr>
          <p:cNvPr id="15" name="Text 12"/>
          <p:cNvSpPr/>
          <p:nvPr/>
        </p:nvSpPr>
        <p:spPr>
          <a:xfrm>
            <a:off x="4645152" y="1783080"/>
            <a:ext cx="566928" cy="680314"/>
          </a:xfrm>
          <a:prstGeom prst="roundRect">
            <a:avLst>
              <a:gd name="adj" fmla="val 11290"/>
            </a:avLst>
          </a:prstGeom>
          <a:solidFill>
            <a:schemeClr val="bg1"/>
          </a:solidFill>
          <a:ln w="15875">
            <a:solidFill>
              <a:schemeClr val="tx1"/>
            </a:solid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0</a:t>
            </a:r>
            <a:endParaRPr lang="en-US" sz="2600" dirty="0"/>
          </a:p>
        </p:txBody>
      </p:sp>
      <p:sp>
        <p:nvSpPr>
          <p:cNvPr id="16" name="Text 13"/>
          <p:cNvSpPr txBox="1"/>
          <p:nvPr/>
        </p:nvSpPr>
        <p:spPr>
          <a:xfrm>
            <a:off x="4553712" y="1490472"/>
            <a:ext cx="749808" cy="256032"/>
          </a:xfrm>
          <a:prstGeom prst="rect">
            <a:avLst/>
          </a:prstGeom>
          <a:noFill/>
          <a:ln/>
        </p:spPr>
        <p:txBody>
          <a:bodyPr wrap="square" lIns="0" tIns="0" rIns="0" bIns="0" rtlCol="0" anchor="ctr"/>
          <a:lstStyle/>
          <a:p>
            <a:pPr algn="ctr" indent="0" marL="0">
              <a:buNone/>
            </a:pPr>
            <a:r>
              <a:rPr lang="en-US" sz="1200" b="1" dirty="0">
                <a:solidFill>
                  <a:schemeClr val="accent2"/>
                </a:solidFill>
              </a:rPr>
              <a:t>−4</a:t>
            </a:r>
            <a:endParaRPr lang="en-US" sz="1200" dirty="0"/>
          </a:p>
        </p:txBody>
      </p:sp>
      <p:sp>
        <p:nvSpPr>
          <p:cNvPr id="17" name="Text 14"/>
          <p:cNvSpPr/>
          <p:nvPr/>
        </p:nvSpPr>
        <p:spPr>
          <a:xfrm>
            <a:off x="5266944" y="178308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18" name="Text 15"/>
          <p:cNvSpPr txBox="1"/>
          <p:nvPr/>
        </p:nvSpPr>
        <p:spPr>
          <a:xfrm>
            <a:off x="5175504" y="14904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2</a:t>
            </a:r>
            <a:endParaRPr lang="en-US" sz="1200" dirty="0"/>
          </a:p>
        </p:txBody>
      </p:sp>
      <p:sp>
        <p:nvSpPr>
          <p:cNvPr id="19" name="Text 16"/>
          <p:cNvSpPr/>
          <p:nvPr/>
        </p:nvSpPr>
        <p:spPr>
          <a:xfrm>
            <a:off x="5888736" y="1783080"/>
            <a:ext cx="566928" cy="680314"/>
          </a:xfrm>
          <a:prstGeom prst="roundRect">
            <a:avLst>
              <a:gd name="adj" fmla="val 11290"/>
            </a:avLst>
          </a:prstGeom>
          <a:solidFill>
            <a:schemeClr val="accent1"/>
          </a:solidFill>
          <a:ln w="15875">
            <a:solidFill>
              <a:schemeClr val="accent1"/>
            </a:solidFill>
          </a:ln>
        </p:spPr>
        <p:txBody>
          <a:bodyPr wrap="square" lIns="0" tIns="0" rIns="0" bIns="0" rtlCol="0" anchor="ctr"/>
          <a:lstStyle/>
          <a:p>
            <a:pPr algn="ctr" indent="0" marL="0">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20" name="Text 17"/>
          <p:cNvSpPr txBox="1"/>
          <p:nvPr/>
        </p:nvSpPr>
        <p:spPr>
          <a:xfrm>
            <a:off x="5797296" y="1490472"/>
            <a:ext cx="749808" cy="256032"/>
          </a:xfrm>
          <a:prstGeom prst="rect">
            <a:avLst/>
          </a:prstGeom>
          <a:noFill/>
          <a:ln/>
        </p:spPr>
        <p:txBody>
          <a:bodyPr wrap="square" lIns="0" tIns="0" rIns="0" bIns="0" rtlCol="0" anchor="ctr"/>
          <a:lstStyle/>
          <a:p>
            <a:pPr algn="ctr" indent="0" marL="0">
              <a:buNone/>
            </a:pPr>
            <a:r>
              <a:rPr lang="en-US" sz="1200" dirty="0">
                <a:solidFill>
                  <a:schemeClr val="accent6"/>
                </a:solidFill>
              </a:rPr>
              <a:t>1</a:t>
            </a:r>
            <a:endParaRPr lang="en-US" sz="1200" dirty="0"/>
          </a:p>
        </p:txBody>
      </p:sp>
      <p:sp>
        <p:nvSpPr>
          <p:cNvPr id="21" name="Text 18"/>
          <p:cNvSpPr txBox="1"/>
          <p:nvPr/>
        </p:nvSpPr>
        <p:spPr>
          <a:xfrm>
            <a:off x="914400" y="1161288"/>
            <a:ext cx="3218688" cy="274320"/>
          </a:xfrm>
          <a:prstGeom prst="rect">
            <a:avLst/>
          </a:prstGeom>
          <a:noFill/>
          <a:ln/>
        </p:spPr>
        <p:txBody>
          <a:bodyPr wrap="square" lIns="0" tIns="0" rIns="0" bIns="0" rtlCol="0" anchor="ctr"/>
          <a:lstStyle/>
          <a:p>
            <a:pPr algn="ctr" indent="0" marL="0">
              <a:buNone/>
            </a:pPr>
            <a:r>
              <a:rPr lang="en-US" sz="1400" b="1" dirty="0">
                <a:solidFill>
                  <a:schemeClr val="tx1"/>
                </a:solidFill>
              </a:rPr>
              <a:t>Mantissa</a:t>
            </a:r>
            <a:endParaRPr lang="en-US" sz="1400" dirty="0"/>
          </a:p>
        </p:txBody>
      </p:sp>
      <p:sp>
        <p:nvSpPr>
          <p:cNvPr id="22" name="Text 19"/>
          <p:cNvSpPr txBox="1"/>
          <p:nvPr/>
        </p:nvSpPr>
        <p:spPr>
          <a:xfrm>
            <a:off x="4462272" y="1161288"/>
            <a:ext cx="2176272" cy="274320"/>
          </a:xfrm>
          <a:prstGeom prst="rect">
            <a:avLst/>
          </a:prstGeom>
          <a:noFill/>
          <a:ln/>
        </p:spPr>
        <p:txBody>
          <a:bodyPr wrap="square" lIns="0" tIns="0" rIns="0" bIns="0" rtlCol="0" anchor="ctr"/>
          <a:lstStyle/>
          <a:p>
            <a:pPr algn="ctr" indent="0" marL="0">
              <a:buNone/>
            </a:pPr>
            <a:r>
              <a:rPr lang="en-US" sz="1400" b="1" dirty="0">
                <a:solidFill>
                  <a:schemeClr val="tx1"/>
                </a:solidFill>
              </a:rPr>
              <a:t>Exponent</a:t>
            </a:r>
            <a:endParaRPr lang="en-US" sz="1400" dirty="0"/>
          </a:p>
        </p:txBody>
      </p:sp>
      <p:sp>
        <p:nvSpPr>
          <p:cNvPr id="23" name="Shape 20"/>
          <p:cNvSpPr/>
          <p:nvPr/>
        </p:nvSpPr>
        <p:spPr>
          <a:xfrm>
            <a:off x="548640" y="3017520"/>
            <a:ext cx="3474720" cy="1234440"/>
          </a:xfrm>
          <a:prstGeom prst="roundRect">
            <a:avLst>
              <a:gd name="adj" fmla="val 8889"/>
            </a:avLst>
          </a:prstGeom>
          <a:solidFill>
            <a:schemeClr val="bg2"/>
          </a:solidFill>
          <a:ln w="12700">
            <a:solidFill>
              <a:schemeClr val="bg2"/>
            </a:solidFill>
            <a:prstDash val="solid"/>
          </a:ln>
        </p:spPr>
      </p:sp>
      <p:sp>
        <p:nvSpPr>
          <p:cNvPr id="24" name="Text 21"/>
          <p:cNvSpPr/>
          <p:nvPr/>
        </p:nvSpPr>
        <p:spPr>
          <a:xfrm>
            <a:off x="777240" y="315468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25" name="Text 22"/>
          <p:cNvSpPr txBox="1"/>
          <p:nvPr/>
        </p:nvSpPr>
        <p:spPr>
          <a:xfrm>
            <a:off x="777240" y="361188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0.1111 = 0.9375</a:t>
            </a:r>
            <a:endParaRPr lang="en-US" sz="2000" dirty="0"/>
          </a:p>
        </p:txBody>
      </p:sp>
      <p:sp>
        <p:nvSpPr>
          <p:cNvPr id="26" name="Shape 23"/>
          <p:cNvSpPr/>
          <p:nvPr/>
        </p:nvSpPr>
        <p:spPr>
          <a:xfrm>
            <a:off x="4297680" y="3017520"/>
            <a:ext cx="3474720" cy="1234440"/>
          </a:xfrm>
          <a:prstGeom prst="roundRect">
            <a:avLst>
              <a:gd name="adj" fmla="val 8889"/>
            </a:avLst>
          </a:prstGeom>
          <a:solidFill>
            <a:schemeClr val="bg2"/>
          </a:solidFill>
          <a:ln w="12700">
            <a:solidFill>
              <a:schemeClr val="bg2"/>
            </a:solidFill>
            <a:prstDash val="solid"/>
          </a:ln>
        </p:spPr>
      </p:sp>
      <p:sp>
        <p:nvSpPr>
          <p:cNvPr id="27" name="Text 24"/>
          <p:cNvSpPr/>
          <p:nvPr/>
        </p:nvSpPr>
        <p:spPr>
          <a:xfrm>
            <a:off x="4526280" y="315468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28" name="Text 25"/>
          <p:cNvSpPr txBox="1"/>
          <p:nvPr/>
        </p:nvSpPr>
        <p:spPr>
          <a:xfrm>
            <a:off x="4526280" y="361188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011 = 3</a:t>
            </a:r>
            <a:endParaRPr lang="en-US" sz="2000" dirty="0"/>
          </a:p>
        </p:txBody>
      </p:sp>
      <p:sp>
        <p:nvSpPr>
          <p:cNvPr id="29" name="Shape 26"/>
          <p:cNvSpPr/>
          <p:nvPr/>
        </p:nvSpPr>
        <p:spPr>
          <a:xfrm>
            <a:off x="8046720" y="3017520"/>
            <a:ext cx="3474720" cy="1234440"/>
          </a:xfrm>
          <a:prstGeom prst="roundRect">
            <a:avLst>
              <a:gd name="adj" fmla="val 8889"/>
            </a:avLst>
          </a:prstGeom>
          <a:solidFill>
            <a:schemeClr val="accent3"/>
          </a:solidFill>
          <a:ln w="12700">
            <a:solidFill>
              <a:schemeClr val="accent3"/>
            </a:solidFill>
            <a:prstDash val="solid"/>
          </a:ln>
        </p:spPr>
      </p:sp>
      <p:sp>
        <p:nvSpPr>
          <p:cNvPr id="30" name="Text 27"/>
          <p:cNvSpPr/>
          <p:nvPr/>
        </p:nvSpPr>
        <p:spPr>
          <a:xfrm>
            <a:off x="8275320" y="3154680"/>
            <a:ext cx="1005840" cy="411480"/>
          </a:xfrm>
          <a:prstGeom prst="roundRect">
            <a:avLst>
              <a:gd name="adj" fmla="val 44444"/>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mark</a:t>
            </a:r>
            <a:endParaRPr lang="en-US" sz="1500" dirty="0"/>
          </a:p>
        </p:txBody>
      </p:sp>
      <p:sp>
        <p:nvSpPr>
          <p:cNvPr id="31" name="Text 28"/>
          <p:cNvSpPr txBox="1"/>
          <p:nvPr/>
        </p:nvSpPr>
        <p:spPr>
          <a:xfrm>
            <a:off x="8275320" y="361188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0.9375 × 2³ = 7.5</a:t>
            </a: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Exam watch: 2019, Q11(b)</a:t>
            </a:r>
            <a:endParaRPr lang="en-US" sz="3400" dirty="0"/>
          </a:p>
        </p:txBody>
      </p:sp>
      <p:sp>
        <p:nvSpPr>
          <p:cNvPr id="4" name="Shape 1"/>
          <p:cNvSpPr/>
          <p:nvPr/>
        </p:nvSpPr>
        <p:spPr>
          <a:xfrm>
            <a:off x="548640" y="1417320"/>
            <a:ext cx="11064240" cy="1645920"/>
          </a:xfrm>
          <a:prstGeom prst="roundRect">
            <a:avLst>
              <a:gd name="adj" fmla="val 6667"/>
            </a:avLst>
          </a:prstGeom>
          <a:solidFill>
            <a:schemeClr val="bg2"/>
          </a:solidFill>
          <a:ln w="12700">
            <a:solidFill>
              <a:schemeClr val="bg2"/>
            </a:solidFill>
            <a:prstDash val="solid"/>
          </a:ln>
        </p:spPr>
      </p:sp>
      <p:sp>
        <p:nvSpPr>
          <p:cNvPr id="5" name="Text 2"/>
          <p:cNvSpPr txBox="1"/>
          <p:nvPr/>
        </p:nvSpPr>
        <p:spPr>
          <a:xfrm>
            <a:off x="868680" y="1554480"/>
            <a:ext cx="10424160" cy="1371600"/>
          </a:xfrm>
          <a:prstGeom prst="rect">
            <a:avLst/>
          </a:prstGeom>
          <a:noFill/>
          <a:ln/>
        </p:spPr>
        <p:txBody>
          <a:bodyPr wrap="square" lIns="0" tIns="0" rIns="0" bIns="0" rtlCol="0" anchor="ctr"/>
          <a:lstStyle/>
          <a:p>
            <a:pPr indent="0" marL="0">
              <a:buNone/>
            </a:pPr>
            <a:r>
              <a:rPr lang="en-US" sz="1900" dirty="0">
                <a:solidFill>
                  <a:schemeClr val="tx1"/>
                </a:solidFill>
              </a:rPr>
              <a:t>Real numbers are stored in normalised floating-point form using a positive 4-bit mantissa and a positive 4-bit exponent. Calculate the denary range of positive real numbers that can be stored. Show all your workings.  [6]</a:t>
            </a:r>
            <a:endParaRPr lang="en-US" sz="1900" dirty="0"/>
          </a:p>
        </p:txBody>
      </p:sp>
      <p:sp>
        <p:nvSpPr>
          <p:cNvPr id="6" name="Shape 3"/>
          <p:cNvSpPr/>
          <p:nvPr/>
        </p:nvSpPr>
        <p:spPr>
          <a:xfrm>
            <a:off x="548640" y="3337560"/>
            <a:ext cx="3474720" cy="2560320"/>
          </a:xfrm>
          <a:prstGeom prst="roundRect">
            <a:avLst>
              <a:gd name="adj" fmla="val 4286"/>
            </a:avLst>
          </a:prstGeom>
          <a:solidFill>
            <a:schemeClr val="accent3"/>
          </a:solidFill>
          <a:ln w="12700">
            <a:solidFill>
              <a:schemeClr val="accent3"/>
            </a:solidFill>
            <a:prstDash val="solid"/>
          </a:ln>
        </p:spPr>
      </p:sp>
      <p:sp>
        <p:nvSpPr>
          <p:cNvPr id="7" name="Text 4"/>
          <p:cNvSpPr txBox="1"/>
          <p:nvPr/>
        </p:nvSpPr>
        <p:spPr>
          <a:xfrm>
            <a:off x="777240" y="3520440"/>
            <a:ext cx="3017520" cy="457200"/>
          </a:xfrm>
          <a:prstGeom prst="rect">
            <a:avLst/>
          </a:prstGeom>
          <a:noFill/>
          <a:ln/>
        </p:spPr>
        <p:txBody>
          <a:bodyPr wrap="square" lIns="0" tIns="0" rIns="0" bIns="0" rtlCol="0" anchor="t"/>
          <a:lstStyle/>
          <a:p>
            <a:pPr indent="0" marL="0">
              <a:buNone/>
            </a:pPr>
            <a:r>
              <a:rPr lang="en-US" sz="2000" b="1" dirty="0">
                <a:solidFill>
                  <a:schemeClr val="accent1"/>
                </a:solidFill>
              </a:rPr>
              <a:t>Two answers</a:t>
            </a:r>
            <a:endParaRPr lang="en-US" sz="2000" dirty="0"/>
          </a:p>
        </p:txBody>
      </p:sp>
      <p:sp>
        <p:nvSpPr>
          <p:cNvPr id="8" name="Text 5"/>
          <p:cNvSpPr txBox="1"/>
          <p:nvPr/>
        </p:nvSpPr>
        <p:spPr>
          <a:xfrm>
            <a:off x="777240" y="4069080"/>
            <a:ext cx="3017520" cy="1645920"/>
          </a:xfrm>
          <a:prstGeom prst="rect">
            <a:avLst/>
          </a:prstGeom>
          <a:noFill/>
          <a:ln/>
        </p:spPr>
        <p:txBody>
          <a:bodyPr wrap="square" lIns="0" tIns="0" rIns="0" bIns="0" rtlCol="0" anchor="t"/>
          <a:lstStyle/>
          <a:p>
            <a:pPr indent="0" marL="0">
              <a:buNone/>
            </a:pPr>
            <a:r>
              <a:rPr lang="en-US" sz="1700" dirty="0">
                <a:solidFill>
                  <a:schemeClr val="tx1"/>
                </a:solidFill>
              </a:rPr>
              <a:t>Smallest and largest, each with a mantissa, an exponent and a value</a:t>
            </a:r>
            <a:endParaRPr lang="en-US" sz="1700" dirty="0"/>
          </a:p>
        </p:txBody>
      </p:sp>
      <p:sp>
        <p:nvSpPr>
          <p:cNvPr id="9" name="Shape 6"/>
          <p:cNvSpPr/>
          <p:nvPr/>
        </p:nvSpPr>
        <p:spPr>
          <a:xfrm>
            <a:off x="4297680" y="3337560"/>
            <a:ext cx="3474720" cy="2560320"/>
          </a:xfrm>
          <a:prstGeom prst="roundRect">
            <a:avLst>
              <a:gd name="adj" fmla="val 4286"/>
            </a:avLst>
          </a:prstGeom>
          <a:solidFill>
            <a:schemeClr val="accent3"/>
          </a:solidFill>
          <a:ln w="12700">
            <a:solidFill>
              <a:schemeClr val="accent3"/>
            </a:solidFill>
            <a:prstDash val="solid"/>
          </a:ln>
        </p:spPr>
      </p:sp>
      <p:sp>
        <p:nvSpPr>
          <p:cNvPr id="10" name="Text 7"/>
          <p:cNvSpPr txBox="1"/>
          <p:nvPr/>
        </p:nvSpPr>
        <p:spPr>
          <a:xfrm>
            <a:off x="4526280" y="3520440"/>
            <a:ext cx="3017520" cy="457200"/>
          </a:xfrm>
          <a:prstGeom prst="rect">
            <a:avLst/>
          </a:prstGeom>
          <a:noFill/>
          <a:ln/>
        </p:spPr>
        <p:txBody>
          <a:bodyPr wrap="square" lIns="0" tIns="0" rIns="0" bIns="0" rtlCol="0" anchor="t"/>
          <a:lstStyle/>
          <a:p>
            <a:pPr indent="0" marL="0">
              <a:buNone/>
            </a:pPr>
            <a:r>
              <a:rPr lang="en-US" sz="2000" b="1" dirty="0">
                <a:solidFill>
                  <a:schemeClr val="accent1"/>
                </a:solidFill>
              </a:rPr>
              <a:t>State your assumption</a:t>
            </a:r>
            <a:endParaRPr lang="en-US" sz="2000" dirty="0"/>
          </a:p>
        </p:txBody>
      </p:sp>
      <p:sp>
        <p:nvSpPr>
          <p:cNvPr id="11" name="Text 8"/>
          <p:cNvSpPr txBox="1"/>
          <p:nvPr/>
        </p:nvSpPr>
        <p:spPr>
          <a:xfrm>
            <a:off x="4526280" y="4069080"/>
            <a:ext cx="3017520" cy="1645920"/>
          </a:xfrm>
          <a:prstGeom prst="rect">
            <a:avLst/>
          </a:prstGeom>
          <a:noFill/>
          <a:ln/>
        </p:spPr>
        <p:txBody>
          <a:bodyPr wrap="square" lIns="0" tIns="0" rIns="0" bIns="0" rtlCol="0" anchor="t"/>
          <a:lstStyle/>
          <a:p>
            <a:pPr indent="0" marL="0">
              <a:buNone/>
            </a:pPr>
            <a:r>
              <a:rPr lang="en-US" sz="1700" dirty="0">
                <a:solidFill>
                  <a:schemeClr val="tx1"/>
                </a:solidFill>
              </a:rPr>
              <a:t>Is the exponent unsigned or two's complement? Say which, then stick to it</a:t>
            </a:r>
            <a:endParaRPr lang="en-US" sz="1700" dirty="0"/>
          </a:p>
        </p:txBody>
      </p:sp>
      <p:sp>
        <p:nvSpPr>
          <p:cNvPr id="12" name="Shape 9"/>
          <p:cNvSpPr/>
          <p:nvPr/>
        </p:nvSpPr>
        <p:spPr>
          <a:xfrm>
            <a:off x="8046720" y="3337560"/>
            <a:ext cx="3474720" cy="2560320"/>
          </a:xfrm>
          <a:prstGeom prst="roundRect">
            <a:avLst>
              <a:gd name="adj" fmla="val 4286"/>
            </a:avLst>
          </a:prstGeom>
          <a:solidFill>
            <a:schemeClr val="accent3"/>
          </a:solidFill>
          <a:ln w="12700">
            <a:solidFill>
              <a:schemeClr val="accent3"/>
            </a:solidFill>
            <a:prstDash val="solid"/>
          </a:ln>
        </p:spPr>
      </p:sp>
      <p:sp>
        <p:nvSpPr>
          <p:cNvPr id="13" name="Text 10"/>
          <p:cNvSpPr txBox="1"/>
          <p:nvPr/>
        </p:nvSpPr>
        <p:spPr>
          <a:xfrm>
            <a:off x="8275320" y="3520440"/>
            <a:ext cx="3017520" cy="457200"/>
          </a:xfrm>
          <a:prstGeom prst="rect">
            <a:avLst/>
          </a:prstGeom>
          <a:noFill/>
          <a:ln/>
        </p:spPr>
        <p:txBody>
          <a:bodyPr wrap="square" lIns="0" tIns="0" rIns="0" bIns="0" rtlCol="0" anchor="t"/>
          <a:lstStyle/>
          <a:p>
            <a:pPr indent="0" marL="0">
              <a:buNone/>
            </a:pPr>
            <a:r>
              <a:rPr lang="en-US" sz="2000" b="1" dirty="0">
                <a:solidFill>
                  <a:schemeClr val="accent1"/>
                </a:solidFill>
              </a:rPr>
              <a:t>Normalised</a:t>
            </a:r>
            <a:endParaRPr lang="en-US" sz="2000" dirty="0"/>
          </a:p>
        </p:txBody>
      </p:sp>
      <p:sp>
        <p:nvSpPr>
          <p:cNvPr id="14" name="Text 11"/>
          <p:cNvSpPr txBox="1"/>
          <p:nvPr/>
        </p:nvSpPr>
        <p:spPr>
          <a:xfrm>
            <a:off x="8275320" y="4069080"/>
            <a:ext cx="3017520" cy="1645920"/>
          </a:xfrm>
          <a:prstGeom prst="rect">
            <a:avLst/>
          </a:prstGeom>
          <a:noFill/>
          <a:ln/>
        </p:spPr>
        <p:txBody>
          <a:bodyPr wrap="square" lIns="0" tIns="0" rIns="0" bIns="0" rtlCol="0" anchor="t"/>
          <a:lstStyle/>
          <a:p>
            <a:pPr indent="0" marL="0">
              <a:buNone/>
            </a:pPr>
            <a:r>
              <a:rPr lang="en-US" sz="1700" dirty="0">
                <a:solidFill>
                  <a:schemeClr val="tx1"/>
                </a:solidFill>
              </a:rPr>
              <a:t>The smallest mantissa is 0.100, not 0.001</a:t>
            </a:r>
            <a:endParaRPr lang="en-US" sz="17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Integer or floating point: the mark scheme points</a:t>
            </a:r>
            <a:endParaRPr lang="en-US" sz="3400" dirty="0"/>
          </a:p>
        </p:txBody>
      </p:sp>
      <p:sp>
        <p:nvSpPr>
          <p:cNvPr id="4" name="Shape 1"/>
          <p:cNvSpPr/>
          <p:nvPr/>
        </p:nvSpPr>
        <p:spPr>
          <a:xfrm>
            <a:off x="548640" y="1417320"/>
            <a:ext cx="5394960" cy="4480560"/>
          </a:xfrm>
          <a:prstGeom prst="roundRect">
            <a:avLst>
              <a:gd name="adj" fmla="val 2449"/>
            </a:avLst>
          </a:prstGeom>
          <a:solidFill>
            <a:schemeClr val="bg2"/>
          </a:solidFill>
          <a:ln w="12700">
            <a:solidFill>
              <a:schemeClr val="bg2"/>
            </a:solidFill>
            <a:prstDash val="solid"/>
          </a:ln>
        </p:spPr>
      </p:sp>
      <p:sp>
        <p:nvSpPr>
          <p:cNvPr id="5" name="Text 2"/>
          <p:cNvSpPr txBox="1"/>
          <p:nvPr/>
        </p:nvSpPr>
        <p:spPr>
          <a:xfrm>
            <a:off x="822960" y="1600200"/>
            <a:ext cx="4846320" cy="502920"/>
          </a:xfrm>
          <a:prstGeom prst="rect">
            <a:avLst/>
          </a:prstGeom>
          <a:noFill/>
          <a:ln/>
        </p:spPr>
        <p:txBody>
          <a:bodyPr wrap="square" lIns="0" tIns="0" rIns="0" bIns="0" rtlCol="0" anchor="t"/>
          <a:lstStyle/>
          <a:p>
            <a:pPr indent="0" marL="0">
              <a:buNone/>
            </a:pPr>
            <a:r>
              <a:rPr lang="en-US" sz="2400" b="1" dirty="0">
                <a:solidFill>
                  <a:schemeClr val="accent1"/>
                </a:solidFill>
              </a:rPr>
              <a:t>Advantages: Integer</a:t>
            </a:r>
            <a:endParaRPr lang="en-US" sz="2400" dirty="0"/>
          </a:p>
        </p:txBody>
      </p:sp>
      <p:sp>
        <p:nvSpPr>
          <p:cNvPr id="6" name="Text 3"/>
          <p:cNvSpPr txBox="1"/>
          <p:nvPr/>
        </p:nvSpPr>
        <p:spPr>
          <a:xfrm>
            <a:off x="822960" y="2286000"/>
            <a:ext cx="48463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Numbers are stored accurately</a:t>
            </a:r>
            <a:endParaRPr lang="en-US" sz="2000" dirty="0"/>
          </a:p>
          <a:p>
            <a:pPr marL="342900" indent="-342900">
              <a:spcAft>
                <a:spcPts val="1200"/>
              </a:spcAft>
              <a:buSzPct val="100000"/>
              <a:buChar char="•"/>
            </a:pPr>
            <a:r>
              <a:rPr lang="en-US" sz="2000" dirty="0">
                <a:solidFill>
                  <a:schemeClr val="tx1"/>
                </a:solidFill>
              </a:rPr>
              <a:t>Less complex processing</a:t>
            </a:r>
            <a:endParaRPr lang="en-US" sz="2000" dirty="0"/>
          </a:p>
          <a:p>
            <a:pPr marL="342900" indent="-342900">
              <a:spcAft>
                <a:spcPts val="1200"/>
              </a:spcAft>
              <a:buSzPct val="100000"/>
              <a:buChar char="•"/>
            </a:pPr>
            <a:r>
              <a:rPr lang="en-US" sz="2000" dirty="0">
                <a:solidFill>
                  <a:schemeClr val="tx1"/>
                </a:solidFill>
              </a:rPr>
              <a:t>Exact representation of zero</a:t>
            </a:r>
            <a:endParaRPr lang="en-US" sz="2000" dirty="0"/>
          </a:p>
          <a:p>
            <a:pPr marL="342900" indent="-342900">
              <a:spcAft>
                <a:spcPts val="1200"/>
              </a:spcAft>
              <a:buSzPct val="100000"/>
              <a:buChar char="•"/>
            </a:pPr>
            <a:r>
              <a:rPr lang="en-US" sz="2000" dirty="0">
                <a:solidFill>
                  <a:schemeClr val="tx1"/>
                </a:solidFill>
              </a:rPr>
              <a:t>Less storage space</a:t>
            </a:r>
            <a:endParaRPr lang="en-US" sz="2000" dirty="0"/>
          </a:p>
        </p:txBody>
      </p:sp>
      <p:sp>
        <p:nvSpPr>
          <p:cNvPr id="7" name="Shape 4"/>
          <p:cNvSpPr/>
          <p:nvPr/>
        </p:nvSpPr>
        <p:spPr>
          <a:xfrm>
            <a:off x="6217920" y="1417320"/>
            <a:ext cx="5394960" cy="4480560"/>
          </a:xfrm>
          <a:prstGeom prst="roundRect">
            <a:avLst>
              <a:gd name="adj" fmla="val 2449"/>
            </a:avLst>
          </a:prstGeom>
          <a:solidFill>
            <a:schemeClr val="accent3"/>
          </a:solidFill>
          <a:ln w="12700">
            <a:solidFill>
              <a:schemeClr val="accent3"/>
            </a:solidFill>
            <a:prstDash val="solid"/>
          </a:ln>
        </p:spPr>
      </p:sp>
      <p:sp>
        <p:nvSpPr>
          <p:cNvPr id="8" name="Text 5"/>
          <p:cNvSpPr txBox="1"/>
          <p:nvPr/>
        </p:nvSpPr>
        <p:spPr>
          <a:xfrm>
            <a:off x="6492240" y="1600200"/>
            <a:ext cx="4846320" cy="502920"/>
          </a:xfrm>
          <a:prstGeom prst="rect">
            <a:avLst/>
          </a:prstGeom>
          <a:noFill/>
          <a:ln/>
        </p:spPr>
        <p:txBody>
          <a:bodyPr wrap="square" lIns="0" tIns="0" rIns="0" bIns="0" rtlCol="0" anchor="t"/>
          <a:lstStyle/>
          <a:p>
            <a:pPr indent="0" marL="0">
              <a:buNone/>
            </a:pPr>
            <a:r>
              <a:rPr lang="en-US" sz="2400" b="1" dirty="0">
                <a:solidFill>
                  <a:schemeClr val="accent1"/>
                </a:solidFill>
              </a:rPr>
              <a:t>Advantages: Floating point</a:t>
            </a:r>
            <a:endParaRPr lang="en-US" sz="2400" dirty="0"/>
          </a:p>
        </p:txBody>
      </p:sp>
      <p:sp>
        <p:nvSpPr>
          <p:cNvPr id="9" name="Text 6"/>
          <p:cNvSpPr txBox="1"/>
          <p:nvPr/>
        </p:nvSpPr>
        <p:spPr>
          <a:xfrm>
            <a:off x="6492240" y="2286000"/>
            <a:ext cx="48463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Very large and very small numbers can be stored</a:t>
            </a:r>
            <a:endParaRPr lang="en-US" sz="2000" dirty="0"/>
          </a:p>
          <a:p>
            <a:pPr marL="342900" indent="-342900">
              <a:spcAft>
                <a:spcPts val="1200"/>
              </a:spcAft>
              <a:buSzPct val="100000"/>
              <a:buChar char="•"/>
            </a:pPr>
            <a:r>
              <a:rPr lang="en-US" sz="2000" dirty="0">
                <a:solidFill>
                  <a:schemeClr val="tx1"/>
                </a:solidFill>
              </a:rPr>
              <a:t>A larger range of numbers can be represented</a:t>
            </a:r>
            <a:endParaRPr lang="en-US" sz="2000" dirty="0"/>
          </a:p>
          <a:p>
            <a:pPr marL="342900" indent="-342900">
              <a:spcAft>
                <a:spcPts val="1200"/>
              </a:spcAft>
              <a:buSzPct val="100000"/>
              <a:buChar char="•"/>
            </a:pPr>
            <a:r>
              <a:rPr lang="en-US" sz="2000" dirty="0">
                <a:solidFill>
                  <a:schemeClr val="tx1"/>
                </a:solidFill>
              </a:rPr>
              <a:t>Fractions and decimal places can be represented</a:t>
            </a:r>
            <a:endParaRPr lang="en-US" sz="2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Same bits, different split</a:t>
            </a:r>
            <a:endParaRPr lang="en-US" sz="3400" dirty="0"/>
          </a:p>
        </p:txBody>
      </p:sp>
      <p:sp>
        <p:nvSpPr>
          <p:cNvPr id="4" name="Shape 1"/>
          <p:cNvSpPr/>
          <p:nvPr/>
        </p:nvSpPr>
        <p:spPr>
          <a:xfrm>
            <a:off x="548640" y="1417320"/>
            <a:ext cx="11064240" cy="2011680"/>
          </a:xfrm>
          <a:prstGeom prst="roundRect">
            <a:avLst>
              <a:gd name="adj" fmla="val 5455"/>
            </a:avLst>
          </a:prstGeom>
          <a:solidFill>
            <a:schemeClr val="bg2"/>
          </a:solidFill>
          <a:ln w="12700">
            <a:solidFill>
              <a:schemeClr val="bg2"/>
            </a:solidFill>
            <a:prstDash val="solid"/>
          </a:ln>
        </p:spPr>
      </p:sp>
      <p:sp>
        <p:nvSpPr>
          <p:cNvPr id="5" name="Text 2"/>
          <p:cNvSpPr txBox="1"/>
          <p:nvPr/>
        </p:nvSpPr>
        <p:spPr>
          <a:xfrm>
            <a:off x="868680" y="1554480"/>
            <a:ext cx="6400800" cy="457200"/>
          </a:xfrm>
          <a:prstGeom prst="rect">
            <a:avLst/>
          </a:prstGeom>
          <a:noFill/>
          <a:ln/>
        </p:spPr>
        <p:txBody>
          <a:bodyPr wrap="square" lIns="0" tIns="0" rIns="0" bIns="0" rtlCol="0" anchor="t"/>
          <a:lstStyle/>
          <a:p>
            <a:pPr indent="0" marL="0">
              <a:buNone/>
            </a:pPr>
            <a:r>
              <a:rPr lang="en-US" sz="2000" b="1" dirty="0">
                <a:solidFill>
                  <a:schemeClr val="tx1"/>
                </a:solidFill>
              </a:rPr>
              <a:t>5-bit mantissa + 3-bit exponent</a:t>
            </a:r>
            <a:endParaRPr lang="en-US" sz="2000" dirty="0"/>
          </a:p>
        </p:txBody>
      </p:sp>
      <p:sp>
        <p:nvSpPr>
          <p:cNvPr id="6" name="Text 3"/>
          <p:cNvSpPr/>
          <p:nvPr/>
        </p:nvSpPr>
        <p:spPr>
          <a:xfrm>
            <a:off x="868680" y="2468880"/>
            <a:ext cx="411480" cy="493776"/>
          </a:xfrm>
          <a:prstGeom prst="roundRect">
            <a:avLst>
              <a:gd name="adj" fmla="val 15556"/>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7" name="Text 4"/>
          <p:cNvSpPr txBox="1"/>
          <p:nvPr/>
        </p:nvSpPr>
        <p:spPr>
          <a:xfrm>
            <a:off x="777240" y="2176272"/>
            <a:ext cx="594360" cy="256032"/>
          </a:xfrm>
          <a:prstGeom prst="rect">
            <a:avLst/>
          </a:prstGeom>
          <a:noFill/>
          <a:ln/>
        </p:spPr>
        <p:txBody>
          <a:bodyPr wrap="square" lIns="0" tIns="0" rIns="0" bIns="0" rtlCol="0" anchor="ctr"/>
          <a:lstStyle/>
          <a:p>
            <a:pPr algn="ctr" indent="0" marL="0">
              <a:buNone/>
            </a:pPr>
            <a:r>
              <a:rPr lang="en-US" sz="900" b="1" dirty="0">
                <a:solidFill>
                  <a:schemeClr val="accent2"/>
                </a:solidFill>
              </a:rPr>
              <a:t>−1</a:t>
            </a:r>
            <a:endParaRPr lang="en-US" sz="900" dirty="0"/>
          </a:p>
        </p:txBody>
      </p:sp>
      <p:sp>
        <p:nvSpPr>
          <p:cNvPr id="8" name="Text 5"/>
          <p:cNvSpPr txBox="1"/>
          <p:nvPr/>
        </p:nvSpPr>
        <p:spPr>
          <a:xfrm>
            <a:off x="1298448" y="2468880"/>
            <a:ext cx="201168" cy="493776"/>
          </a:xfrm>
          <a:prstGeom prst="rect">
            <a:avLst/>
          </a:prstGeom>
          <a:noFill/>
          <a:ln/>
        </p:spPr>
        <p:txBody>
          <a:bodyPr wrap="square" lIns="0" tIns="0" rIns="0" bIns="0" rtlCol="0" anchor="b"/>
          <a:lstStyle/>
          <a:p>
            <a:pPr algn="ctr" indent="0" marL="0">
              <a:buNone/>
            </a:pPr>
            <a:r>
              <a:rPr lang="en-US" sz="2400" b="1" dirty="0">
                <a:solidFill>
                  <a:schemeClr val="tx1"/>
                </a:solidFill>
              </a:rPr>
              <a:t>.</a:t>
            </a:r>
            <a:endParaRPr lang="en-US" sz="2400" dirty="0"/>
          </a:p>
        </p:txBody>
      </p:sp>
      <p:sp>
        <p:nvSpPr>
          <p:cNvPr id="9" name="Text 6"/>
          <p:cNvSpPr/>
          <p:nvPr/>
        </p:nvSpPr>
        <p:spPr>
          <a:xfrm>
            <a:off x="1499616" y="246888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10" name="Text 7"/>
          <p:cNvSpPr txBox="1"/>
          <p:nvPr/>
        </p:nvSpPr>
        <p:spPr>
          <a:xfrm>
            <a:off x="1408176" y="217627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½</a:t>
            </a:r>
            <a:endParaRPr lang="en-US" sz="900" dirty="0"/>
          </a:p>
        </p:txBody>
      </p:sp>
      <p:sp>
        <p:nvSpPr>
          <p:cNvPr id="11" name="Text 8"/>
          <p:cNvSpPr/>
          <p:nvPr/>
        </p:nvSpPr>
        <p:spPr>
          <a:xfrm>
            <a:off x="1965960" y="246888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12" name="Text 9"/>
          <p:cNvSpPr txBox="1"/>
          <p:nvPr/>
        </p:nvSpPr>
        <p:spPr>
          <a:xfrm>
            <a:off x="1874520" y="217627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¼</a:t>
            </a:r>
            <a:endParaRPr lang="en-US" sz="900" dirty="0"/>
          </a:p>
        </p:txBody>
      </p:sp>
      <p:sp>
        <p:nvSpPr>
          <p:cNvPr id="13" name="Text 10"/>
          <p:cNvSpPr/>
          <p:nvPr/>
        </p:nvSpPr>
        <p:spPr>
          <a:xfrm>
            <a:off x="2432304" y="246888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14" name="Text 11"/>
          <p:cNvSpPr txBox="1"/>
          <p:nvPr/>
        </p:nvSpPr>
        <p:spPr>
          <a:xfrm>
            <a:off x="2340864" y="217627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⅛</a:t>
            </a:r>
            <a:endParaRPr lang="en-US" sz="900" dirty="0"/>
          </a:p>
        </p:txBody>
      </p:sp>
      <p:sp>
        <p:nvSpPr>
          <p:cNvPr id="15" name="Text 12"/>
          <p:cNvSpPr/>
          <p:nvPr/>
        </p:nvSpPr>
        <p:spPr>
          <a:xfrm>
            <a:off x="2898648" y="246888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16" name="Text 13"/>
          <p:cNvSpPr txBox="1"/>
          <p:nvPr/>
        </p:nvSpPr>
        <p:spPr>
          <a:xfrm>
            <a:off x="2807208" y="217627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1/16</a:t>
            </a:r>
            <a:endParaRPr lang="en-US" sz="900" dirty="0"/>
          </a:p>
        </p:txBody>
      </p:sp>
      <p:sp>
        <p:nvSpPr>
          <p:cNvPr id="17" name="Text 14"/>
          <p:cNvSpPr/>
          <p:nvPr/>
        </p:nvSpPr>
        <p:spPr>
          <a:xfrm>
            <a:off x="3822192" y="2468880"/>
            <a:ext cx="411480" cy="493776"/>
          </a:xfrm>
          <a:prstGeom prst="roundRect">
            <a:avLst>
              <a:gd name="adj" fmla="val 15556"/>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18" name="Text 15"/>
          <p:cNvSpPr txBox="1"/>
          <p:nvPr/>
        </p:nvSpPr>
        <p:spPr>
          <a:xfrm>
            <a:off x="3730752" y="2176272"/>
            <a:ext cx="594360" cy="256032"/>
          </a:xfrm>
          <a:prstGeom prst="rect">
            <a:avLst/>
          </a:prstGeom>
          <a:noFill/>
          <a:ln/>
        </p:spPr>
        <p:txBody>
          <a:bodyPr wrap="square" lIns="0" tIns="0" rIns="0" bIns="0" rtlCol="0" anchor="ctr"/>
          <a:lstStyle/>
          <a:p>
            <a:pPr algn="ctr" indent="0" marL="0">
              <a:buNone/>
            </a:pPr>
            <a:r>
              <a:rPr lang="en-US" sz="900" b="1" dirty="0">
                <a:solidFill>
                  <a:schemeClr val="accent2"/>
                </a:solidFill>
              </a:rPr>
              <a:t>−4</a:t>
            </a:r>
            <a:endParaRPr lang="en-US" sz="900" dirty="0"/>
          </a:p>
        </p:txBody>
      </p:sp>
      <p:sp>
        <p:nvSpPr>
          <p:cNvPr id="19" name="Text 16"/>
          <p:cNvSpPr/>
          <p:nvPr/>
        </p:nvSpPr>
        <p:spPr>
          <a:xfrm>
            <a:off x="4288536" y="246888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20" name="Text 17"/>
          <p:cNvSpPr txBox="1"/>
          <p:nvPr/>
        </p:nvSpPr>
        <p:spPr>
          <a:xfrm>
            <a:off x="4197096" y="217627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2</a:t>
            </a:r>
            <a:endParaRPr lang="en-US" sz="900" dirty="0"/>
          </a:p>
        </p:txBody>
      </p:sp>
      <p:sp>
        <p:nvSpPr>
          <p:cNvPr id="21" name="Text 18"/>
          <p:cNvSpPr/>
          <p:nvPr/>
        </p:nvSpPr>
        <p:spPr>
          <a:xfrm>
            <a:off x="4754880" y="246888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22" name="Text 19"/>
          <p:cNvSpPr txBox="1"/>
          <p:nvPr/>
        </p:nvSpPr>
        <p:spPr>
          <a:xfrm>
            <a:off x="4663440" y="217627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1</a:t>
            </a:r>
            <a:endParaRPr lang="en-US" sz="900" dirty="0"/>
          </a:p>
        </p:txBody>
      </p:sp>
      <p:sp>
        <p:nvSpPr>
          <p:cNvPr id="23" name="Text 20"/>
          <p:cNvSpPr txBox="1"/>
          <p:nvPr/>
        </p:nvSpPr>
        <p:spPr>
          <a:xfrm>
            <a:off x="6949440" y="1920240"/>
            <a:ext cx="4389120" cy="54864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Largest: 7.5</a:t>
            </a:r>
            <a:endParaRPr lang="en-US" sz="2600" dirty="0"/>
          </a:p>
        </p:txBody>
      </p:sp>
      <p:sp>
        <p:nvSpPr>
          <p:cNvPr id="24" name="Text 21"/>
          <p:cNvSpPr txBox="1"/>
          <p:nvPr/>
        </p:nvSpPr>
        <p:spPr>
          <a:xfrm>
            <a:off x="6949440" y="2560320"/>
            <a:ext cx="4389120" cy="457200"/>
          </a:xfrm>
          <a:prstGeom prst="rect">
            <a:avLst/>
          </a:prstGeom>
          <a:noFill/>
          <a:ln/>
        </p:spPr>
        <p:txBody>
          <a:bodyPr wrap="square" lIns="0" tIns="0" rIns="0" bIns="0" rtlCol="0" anchor="t"/>
          <a:lstStyle/>
          <a:p>
            <a:pPr indent="0" marL="0">
              <a:buNone/>
            </a:pPr>
            <a:r>
              <a:rPr lang="en-US" sz="2000" b="1" dirty="0">
                <a:solidFill>
                  <a:schemeClr val="tx1"/>
                </a:solidFill>
              </a:rPr>
              <a:t>More precision</a:t>
            </a:r>
            <a:endParaRPr lang="en-US" sz="2000" dirty="0"/>
          </a:p>
        </p:txBody>
      </p:sp>
      <p:sp>
        <p:nvSpPr>
          <p:cNvPr id="25" name="Shape 22"/>
          <p:cNvSpPr/>
          <p:nvPr/>
        </p:nvSpPr>
        <p:spPr>
          <a:xfrm>
            <a:off x="548640" y="3657600"/>
            <a:ext cx="11064240" cy="2011680"/>
          </a:xfrm>
          <a:prstGeom prst="roundRect">
            <a:avLst>
              <a:gd name="adj" fmla="val 5455"/>
            </a:avLst>
          </a:prstGeom>
          <a:solidFill>
            <a:schemeClr val="accent3"/>
          </a:solidFill>
          <a:ln w="12700">
            <a:solidFill>
              <a:schemeClr val="accent3"/>
            </a:solidFill>
            <a:prstDash val="solid"/>
          </a:ln>
        </p:spPr>
      </p:sp>
      <p:sp>
        <p:nvSpPr>
          <p:cNvPr id="26" name="Text 23"/>
          <p:cNvSpPr txBox="1"/>
          <p:nvPr/>
        </p:nvSpPr>
        <p:spPr>
          <a:xfrm>
            <a:off x="868680" y="3794760"/>
            <a:ext cx="6400800" cy="457200"/>
          </a:xfrm>
          <a:prstGeom prst="rect">
            <a:avLst/>
          </a:prstGeom>
          <a:noFill/>
          <a:ln/>
        </p:spPr>
        <p:txBody>
          <a:bodyPr wrap="square" lIns="0" tIns="0" rIns="0" bIns="0" rtlCol="0" anchor="t"/>
          <a:lstStyle/>
          <a:p>
            <a:pPr indent="0" marL="0">
              <a:buNone/>
            </a:pPr>
            <a:r>
              <a:rPr lang="en-US" sz="2000" b="1" dirty="0">
                <a:solidFill>
                  <a:schemeClr val="tx1"/>
                </a:solidFill>
              </a:rPr>
              <a:t>4-bit mantissa + 4-bit exponent</a:t>
            </a:r>
            <a:endParaRPr lang="en-US" sz="2000" dirty="0"/>
          </a:p>
        </p:txBody>
      </p:sp>
      <p:sp>
        <p:nvSpPr>
          <p:cNvPr id="27" name="Text 24"/>
          <p:cNvSpPr/>
          <p:nvPr/>
        </p:nvSpPr>
        <p:spPr>
          <a:xfrm>
            <a:off x="868680" y="4709160"/>
            <a:ext cx="411480" cy="493776"/>
          </a:xfrm>
          <a:prstGeom prst="roundRect">
            <a:avLst>
              <a:gd name="adj" fmla="val 15556"/>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28" name="Text 25"/>
          <p:cNvSpPr txBox="1"/>
          <p:nvPr/>
        </p:nvSpPr>
        <p:spPr>
          <a:xfrm>
            <a:off x="777240" y="4416552"/>
            <a:ext cx="594360" cy="256032"/>
          </a:xfrm>
          <a:prstGeom prst="rect">
            <a:avLst/>
          </a:prstGeom>
          <a:noFill/>
          <a:ln/>
        </p:spPr>
        <p:txBody>
          <a:bodyPr wrap="square" lIns="0" tIns="0" rIns="0" bIns="0" rtlCol="0" anchor="ctr"/>
          <a:lstStyle/>
          <a:p>
            <a:pPr algn="ctr" indent="0" marL="0">
              <a:buNone/>
            </a:pPr>
            <a:r>
              <a:rPr lang="en-US" sz="900" b="1" dirty="0">
                <a:solidFill>
                  <a:schemeClr val="accent2"/>
                </a:solidFill>
              </a:rPr>
              <a:t>−1</a:t>
            </a:r>
            <a:endParaRPr lang="en-US" sz="900" dirty="0"/>
          </a:p>
        </p:txBody>
      </p:sp>
      <p:sp>
        <p:nvSpPr>
          <p:cNvPr id="29" name="Text 26"/>
          <p:cNvSpPr txBox="1"/>
          <p:nvPr/>
        </p:nvSpPr>
        <p:spPr>
          <a:xfrm>
            <a:off x="1298448" y="4709160"/>
            <a:ext cx="201168" cy="493776"/>
          </a:xfrm>
          <a:prstGeom prst="rect">
            <a:avLst/>
          </a:prstGeom>
          <a:noFill/>
          <a:ln/>
        </p:spPr>
        <p:txBody>
          <a:bodyPr wrap="square" lIns="0" tIns="0" rIns="0" bIns="0" rtlCol="0" anchor="b"/>
          <a:lstStyle/>
          <a:p>
            <a:pPr algn="ctr" indent="0" marL="0">
              <a:buNone/>
            </a:pPr>
            <a:r>
              <a:rPr lang="en-US" sz="2400" b="1" dirty="0">
                <a:solidFill>
                  <a:schemeClr val="tx1"/>
                </a:solidFill>
              </a:rPr>
              <a:t>.</a:t>
            </a:r>
            <a:endParaRPr lang="en-US" sz="2400" dirty="0"/>
          </a:p>
        </p:txBody>
      </p:sp>
      <p:sp>
        <p:nvSpPr>
          <p:cNvPr id="30" name="Text 27"/>
          <p:cNvSpPr/>
          <p:nvPr/>
        </p:nvSpPr>
        <p:spPr>
          <a:xfrm>
            <a:off x="1499616" y="470916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31" name="Text 28"/>
          <p:cNvSpPr txBox="1"/>
          <p:nvPr/>
        </p:nvSpPr>
        <p:spPr>
          <a:xfrm>
            <a:off x="1408176" y="441655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½</a:t>
            </a:r>
            <a:endParaRPr lang="en-US" sz="900" dirty="0"/>
          </a:p>
        </p:txBody>
      </p:sp>
      <p:sp>
        <p:nvSpPr>
          <p:cNvPr id="32" name="Text 29"/>
          <p:cNvSpPr/>
          <p:nvPr/>
        </p:nvSpPr>
        <p:spPr>
          <a:xfrm>
            <a:off x="1965960" y="470916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33" name="Text 30"/>
          <p:cNvSpPr txBox="1"/>
          <p:nvPr/>
        </p:nvSpPr>
        <p:spPr>
          <a:xfrm>
            <a:off x="1874520" y="441655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¼</a:t>
            </a:r>
            <a:endParaRPr lang="en-US" sz="900" dirty="0"/>
          </a:p>
        </p:txBody>
      </p:sp>
      <p:sp>
        <p:nvSpPr>
          <p:cNvPr id="34" name="Text 31"/>
          <p:cNvSpPr/>
          <p:nvPr/>
        </p:nvSpPr>
        <p:spPr>
          <a:xfrm>
            <a:off x="2432304" y="470916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35" name="Text 32"/>
          <p:cNvSpPr txBox="1"/>
          <p:nvPr/>
        </p:nvSpPr>
        <p:spPr>
          <a:xfrm>
            <a:off x="2340864" y="441655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⅛</a:t>
            </a:r>
            <a:endParaRPr lang="en-US" sz="900" dirty="0"/>
          </a:p>
        </p:txBody>
      </p:sp>
      <p:sp>
        <p:nvSpPr>
          <p:cNvPr id="36" name="Text 33"/>
          <p:cNvSpPr/>
          <p:nvPr/>
        </p:nvSpPr>
        <p:spPr>
          <a:xfrm>
            <a:off x="3355848" y="4709160"/>
            <a:ext cx="411480" cy="493776"/>
          </a:xfrm>
          <a:prstGeom prst="roundRect">
            <a:avLst>
              <a:gd name="adj" fmla="val 15556"/>
            </a:avLst>
          </a:prstGeom>
          <a:solidFill>
            <a:schemeClr val="bg1"/>
          </a:solidFill>
          <a:ln w="15875">
            <a:solidFill>
              <a:schemeClr val="tx1"/>
            </a:solid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0</a:t>
            </a:r>
            <a:endParaRPr lang="en-US" sz="1800" dirty="0"/>
          </a:p>
        </p:txBody>
      </p:sp>
      <p:sp>
        <p:nvSpPr>
          <p:cNvPr id="37" name="Text 34"/>
          <p:cNvSpPr txBox="1"/>
          <p:nvPr/>
        </p:nvSpPr>
        <p:spPr>
          <a:xfrm>
            <a:off x="3264408" y="4416552"/>
            <a:ext cx="594360" cy="256032"/>
          </a:xfrm>
          <a:prstGeom prst="rect">
            <a:avLst/>
          </a:prstGeom>
          <a:noFill/>
          <a:ln/>
        </p:spPr>
        <p:txBody>
          <a:bodyPr wrap="square" lIns="0" tIns="0" rIns="0" bIns="0" rtlCol="0" anchor="ctr"/>
          <a:lstStyle/>
          <a:p>
            <a:pPr algn="ctr" indent="0" marL="0">
              <a:buNone/>
            </a:pPr>
            <a:r>
              <a:rPr lang="en-US" sz="900" b="1" dirty="0">
                <a:solidFill>
                  <a:schemeClr val="accent2"/>
                </a:solidFill>
              </a:rPr>
              <a:t>−8</a:t>
            </a:r>
            <a:endParaRPr lang="en-US" sz="900" dirty="0"/>
          </a:p>
        </p:txBody>
      </p:sp>
      <p:sp>
        <p:nvSpPr>
          <p:cNvPr id="38" name="Text 35"/>
          <p:cNvSpPr/>
          <p:nvPr/>
        </p:nvSpPr>
        <p:spPr>
          <a:xfrm>
            <a:off x="3822192" y="470916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39" name="Text 36"/>
          <p:cNvSpPr txBox="1"/>
          <p:nvPr/>
        </p:nvSpPr>
        <p:spPr>
          <a:xfrm>
            <a:off x="3730752" y="441655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4</a:t>
            </a:r>
            <a:endParaRPr lang="en-US" sz="900" dirty="0"/>
          </a:p>
        </p:txBody>
      </p:sp>
      <p:sp>
        <p:nvSpPr>
          <p:cNvPr id="40" name="Text 37"/>
          <p:cNvSpPr/>
          <p:nvPr/>
        </p:nvSpPr>
        <p:spPr>
          <a:xfrm>
            <a:off x="4288536" y="470916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41" name="Text 38"/>
          <p:cNvSpPr txBox="1"/>
          <p:nvPr/>
        </p:nvSpPr>
        <p:spPr>
          <a:xfrm>
            <a:off x="4197096" y="441655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2</a:t>
            </a:r>
            <a:endParaRPr lang="en-US" sz="900" dirty="0"/>
          </a:p>
        </p:txBody>
      </p:sp>
      <p:sp>
        <p:nvSpPr>
          <p:cNvPr id="42" name="Text 39"/>
          <p:cNvSpPr/>
          <p:nvPr/>
        </p:nvSpPr>
        <p:spPr>
          <a:xfrm>
            <a:off x="4754880" y="4709160"/>
            <a:ext cx="411480" cy="493776"/>
          </a:xfrm>
          <a:prstGeom prst="roundRect">
            <a:avLst>
              <a:gd name="adj" fmla="val 15556"/>
            </a:avLst>
          </a:prstGeom>
          <a:solidFill>
            <a:schemeClr val="accent1"/>
          </a:solidFill>
          <a:ln w="15875">
            <a:solidFill>
              <a:schemeClr val="accent1"/>
            </a:solid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43" name="Text 40"/>
          <p:cNvSpPr txBox="1"/>
          <p:nvPr/>
        </p:nvSpPr>
        <p:spPr>
          <a:xfrm>
            <a:off x="4663440" y="4416552"/>
            <a:ext cx="594360" cy="256032"/>
          </a:xfrm>
          <a:prstGeom prst="rect">
            <a:avLst/>
          </a:prstGeom>
          <a:noFill/>
          <a:ln/>
        </p:spPr>
        <p:txBody>
          <a:bodyPr wrap="square" lIns="0" tIns="0" rIns="0" bIns="0" rtlCol="0" anchor="ctr"/>
          <a:lstStyle/>
          <a:p>
            <a:pPr algn="ctr" indent="0" marL="0">
              <a:buNone/>
            </a:pPr>
            <a:r>
              <a:rPr lang="en-US" sz="900" dirty="0">
                <a:solidFill>
                  <a:schemeClr val="accent6"/>
                </a:solidFill>
              </a:rPr>
              <a:t>1</a:t>
            </a:r>
            <a:endParaRPr lang="en-US" sz="900" dirty="0"/>
          </a:p>
        </p:txBody>
      </p:sp>
      <p:sp>
        <p:nvSpPr>
          <p:cNvPr id="44" name="Text 41"/>
          <p:cNvSpPr txBox="1"/>
          <p:nvPr/>
        </p:nvSpPr>
        <p:spPr>
          <a:xfrm>
            <a:off x="6949440" y="4160520"/>
            <a:ext cx="4389120" cy="54864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Largest: 112</a:t>
            </a:r>
            <a:endParaRPr lang="en-US" sz="2600" dirty="0"/>
          </a:p>
        </p:txBody>
      </p:sp>
      <p:sp>
        <p:nvSpPr>
          <p:cNvPr id="45" name="Text 42"/>
          <p:cNvSpPr txBox="1"/>
          <p:nvPr/>
        </p:nvSpPr>
        <p:spPr>
          <a:xfrm>
            <a:off x="6949440" y="4800600"/>
            <a:ext cx="4389120" cy="457200"/>
          </a:xfrm>
          <a:prstGeom prst="rect">
            <a:avLst/>
          </a:prstGeom>
          <a:noFill/>
          <a:ln/>
        </p:spPr>
        <p:txBody>
          <a:bodyPr wrap="square" lIns="0" tIns="0" rIns="0" bIns="0" rtlCol="0" anchor="t"/>
          <a:lstStyle/>
          <a:p>
            <a:pPr indent="0" marL="0">
              <a:buNone/>
            </a:pPr>
            <a:r>
              <a:rPr lang="en-US" sz="2000" b="1" dirty="0">
                <a:solidFill>
                  <a:schemeClr val="tx1"/>
                </a:solidFill>
              </a:rPr>
              <a:t>More range</a:t>
            </a:r>
            <a:endParaRPr lang="en-US" sz="2000" dirty="0"/>
          </a:p>
        </p:txBody>
      </p:sp>
      <p:sp>
        <p:nvSpPr>
          <p:cNvPr id="46" name="Text 43"/>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800" b="1" dirty="0">
                <a:solidFill>
                  <a:schemeClr val="accent1"/>
                </a:solidFill>
              </a:rPr>
              <a:t>More mantissa bits → precision.   More exponent bits → range.</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Pairs: integer or floating point?</a:t>
            </a:r>
            <a:endParaRPr lang="en-US" sz="3400" dirty="0"/>
          </a:p>
        </p:txBody>
      </p:sp>
      <p:sp>
        <p:nvSpPr>
          <p:cNvPr id="4" name="Shape 1"/>
          <p:cNvSpPr/>
          <p:nvPr/>
        </p:nvSpPr>
        <p:spPr>
          <a:xfrm>
            <a:off x="548640" y="1417320"/>
            <a:ext cx="6766560" cy="4480560"/>
          </a:xfrm>
          <a:prstGeom prst="roundRect">
            <a:avLst>
              <a:gd name="adj" fmla="val 2449"/>
            </a:avLst>
          </a:prstGeom>
          <a:solidFill>
            <a:schemeClr val="bg1"/>
          </a:solidFill>
          <a:ln w="12700">
            <a:solidFill>
              <a:schemeClr val="bg1"/>
            </a:solidFill>
            <a:prstDash val="solid"/>
          </a:ln>
        </p:spPr>
      </p:sp>
      <p:sp>
        <p:nvSpPr>
          <p:cNvPr id="5" name="Text 2"/>
          <p:cNvSpPr txBox="1"/>
          <p:nvPr/>
        </p:nvSpPr>
        <p:spPr>
          <a:xfrm>
            <a:off x="914400" y="1691640"/>
            <a:ext cx="6035040" cy="457200"/>
          </a:xfrm>
          <a:prstGeom prst="rect">
            <a:avLst/>
          </a:prstGeom>
          <a:noFill/>
          <a:ln/>
        </p:spPr>
        <p:txBody>
          <a:bodyPr wrap="square" lIns="0" tIns="0" rIns="0" bIns="0" rtlCol="0" anchor="t"/>
          <a:lstStyle/>
          <a:p>
            <a:pPr indent="0" marL="0">
              <a:buNone/>
            </a:pPr>
            <a:r>
              <a:rPr lang="en-US" sz="2400" b="1" dirty="0">
                <a:solidFill>
                  <a:schemeClr val="accent1"/>
                </a:solidFill>
              </a:rPr>
              <a:t>In pairs, 5 minutes</a:t>
            </a:r>
            <a:endParaRPr lang="en-US" sz="2400" dirty="0"/>
          </a:p>
        </p:txBody>
      </p:sp>
      <p:sp>
        <p:nvSpPr>
          <p:cNvPr id="6" name="Text 3"/>
          <p:cNvSpPr txBox="1"/>
          <p:nvPr/>
        </p:nvSpPr>
        <p:spPr>
          <a:xfrm>
            <a:off x="914400" y="2331720"/>
            <a:ext cx="603504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chemeClr val="tx1"/>
                </a:solidFill>
              </a:rPr>
              <a:t>Open the Integer or floating point? tab</a:t>
            </a:r>
            <a:endParaRPr lang="en-US" sz="2000" dirty="0"/>
          </a:p>
          <a:p>
            <a:pPr marL="342900" indent="-342900">
              <a:spcAft>
                <a:spcPts val="1200"/>
              </a:spcAft>
              <a:buSzPct val="100000"/>
              <a:buFont typeface="+mj-lt"/>
              <a:buAutoNum type="arabicPeriod" startAt="1"/>
            </a:pPr>
            <a:r>
              <a:rPr lang="en-US" sz="2000" dirty="0">
                <a:solidFill>
                  <a:schemeClr val="tx1"/>
                </a:solidFill>
              </a:rPr>
              <a:t>Agree before you place each card</a:t>
            </a:r>
            <a:endParaRPr lang="en-US" sz="2000" dirty="0"/>
          </a:p>
          <a:p>
            <a:pPr marL="342900" indent="-342900">
              <a:spcAft>
                <a:spcPts val="1200"/>
              </a:spcAft>
              <a:buSzPct val="100000"/>
              <a:buFont typeface="+mj-lt"/>
              <a:buAutoNum type="arabicPeriod" startAt="1"/>
            </a:pPr>
            <a:r>
              <a:rPr lang="en-US" sz="2000" dirty="0">
                <a:solidFill>
                  <a:schemeClr val="tx1"/>
                </a:solidFill>
              </a:rPr>
              <a:t>Be ready to explain one choice to the class</a:t>
            </a:r>
            <a:endParaRPr lang="en-US" sz="2000" dirty="0"/>
          </a:p>
        </p:txBody>
      </p:sp>
      <p:sp>
        <p:nvSpPr>
          <p:cNvPr id="7" name="Text 4"/>
          <p:cNvSpPr/>
          <p:nvPr/>
        </p:nvSpPr>
        <p:spPr>
          <a:xfrm>
            <a:off x="7863840" y="2194560"/>
            <a:ext cx="3657600" cy="411480"/>
          </a:xfrm>
          <a:prstGeom prst="roundRect">
            <a:avLst>
              <a:gd name="adj" fmla="val 44444"/>
            </a:avLst>
          </a:prstGeom>
          <a:solidFill>
            <a:schemeClr val="tx1"/>
          </a:solidFill>
          <a:ln>
            <a:solidFill>
              <a:schemeClr val="tx1"/>
            </a:solidFill>
          </a:ln>
        </p:spPr>
        <p:txBody>
          <a:bodyPr wrap="square" lIns="0" tIns="0" rIns="0" bIns="0" rtlCol="0" anchor="ctr"/>
          <a:lstStyle/>
          <a:p>
            <a:pPr algn="ctr" indent="0" marL="0">
              <a:buNone/>
            </a:pPr>
            <a:r>
              <a:rPr lang="en-US" sz="1500" b="1" dirty="0">
                <a:solidFill>
                  <a:schemeClr val="bg1"/>
                </a:solidFill>
              </a:rPr>
              <a:t>Integer</a:t>
            </a:r>
            <a:endParaRPr lang="en-US" sz="1500" dirty="0"/>
          </a:p>
        </p:txBody>
      </p:sp>
      <p:sp>
        <p:nvSpPr>
          <p:cNvPr id="8" name="Text 5"/>
          <p:cNvSpPr/>
          <p:nvPr/>
        </p:nvSpPr>
        <p:spPr>
          <a:xfrm>
            <a:off x="7863840" y="2926080"/>
            <a:ext cx="3657600" cy="411480"/>
          </a:xfrm>
          <a:prstGeom prst="roundRect">
            <a:avLst>
              <a:gd name="adj" fmla="val 44444"/>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tx1"/>
                </a:solidFill>
              </a:rPr>
              <a:t>Floating point</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Quiz: Microsoft Forms</a:t>
            </a:r>
            <a:endParaRPr lang="en-US" sz="3400" dirty="0"/>
          </a:p>
        </p:txBody>
      </p:sp>
      <p:sp>
        <p:nvSpPr>
          <p:cNvPr id="4" name="Shape 1"/>
          <p:cNvSpPr/>
          <p:nvPr/>
        </p:nvSpPr>
        <p:spPr>
          <a:xfrm>
            <a:off x="548640" y="1417320"/>
            <a:ext cx="11064240" cy="2926080"/>
          </a:xfrm>
          <a:prstGeom prst="roundRect">
            <a:avLst>
              <a:gd name="adj" fmla="val 3750"/>
            </a:avLst>
          </a:prstGeom>
          <a:solidFill>
            <a:schemeClr val="bg1"/>
          </a:solidFill>
          <a:ln w="12700">
            <a:solidFill>
              <a:schemeClr val="bg1"/>
            </a:solidFill>
            <a:prstDash val="solid"/>
          </a:ln>
        </p:spPr>
      </p:sp>
      <p:sp>
        <p:nvSpPr>
          <p:cNvPr id="5" name="Text 2"/>
          <p:cNvSpPr txBox="1"/>
          <p:nvPr/>
        </p:nvSpPr>
        <p:spPr>
          <a:xfrm>
            <a:off x="914400" y="1691640"/>
            <a:ext cx="10058400" cy="548640"/>
          </a:xfrm>
          <a:prstGeom prst="rect">
            <a:avLst/>
          </a:prstGeom>
          <a:noFill/>
          <a:ln/>
        </p:spPr>
        <p:txBody>
          <a:bodyPr wrap="square" lIns="0" tIns="0" rIns="0" bIns="0" rtlCol="0" anchor="t"/>
          <a:lstStyle/>
          <a:p>
            <a:pPr indent="0" marL="0">
              <a:buNone/>
            </a:pPr>
            <a:r>
              <a:rPr lang="en-US" sz="2600" b="1" dirty="0">
                <a:solidFill>
                  <a:schemeClr val="accent1"/>
                </a:solidFill>
              </a:rPr>
              <a:t>On your own, no notes</a:t>
            </a:r>
            <a:endParaRPr lang="en-US" sz="2600" dirty="0"/>
          </a:p>
        </p:txBody>
      </p:sp>
      <p:sp>
        <p:nvSpPr>
          <p:cNvPr id="6" name="Text 3"/>
          <p:cNvSpPr txBox="1"/>
          <p:nvPr/>
        </p:nvSpPr>
        <p:spPr>
          <a:xfrm>
            <a:off x="914400" y="2377440"/>
            <a:ext cx="10332720" cy="1463040"/>
          </a:xfrm>
          <a:prstGeom prst="rect">
            <a:avLst/>
          </a:prstGeom>
          <a:noFill/>
          <a:ln/>
        </p:spPr>
        <p:txBody>
          <a:bodyPr wrap="square" lIns="0" tIns="0" rIns="0" bIns="0" rtlCol="0" anchor="t"/>
          <a:lstStyle/>
          <a:p>
            <a:pPr indent="0" marL="0">
              <a:buNone/>
            </a:pPr>
            <a:r>
              <a:rPr lang="en-US" sz="2200" dirty="0">
                <a:solidFill>
                  <a:schemeClr val="tx1"/>
                </a:solidFill>
              </a:rPr>
              <a:t>Open the Topic 4 Lesson 3 quiz from the Teams channel. Work out each answer on paper first, then choose.</a:t>
            </a:r>
            <a:endParaRPr lang="en-US" sz="2200" dirty="0"/>
          </a:p>
        </p:txBody>
      </p:sp>
      <p:sp>
        <p:nvSpPr>
          <p:cNvPr id="7" name="Text 4"/>
          <p:cNvSpPr/>
          <p:nvPr/>
        </p:nvSpPr>
        <p:spPr>
          <a:xfrm>
            <a:off x="548640" y="4846320"/>
            <a:ext cx="2606040" cy="411480"/>
          </a:xfrm>
          <a:prstGeom prst="roundRect">
            <a:avLst>
              <a:gd name="adj" fmla="val 44444"/>
            </a:avLst>
          </a:prstGeom>
          <a:solidFill>
            <a:schemeClr val="tx1"/>
          </a:solidFill>
          <a:ln>
            <a:solidFill>
              <a:schemeClr val="tx1"/>
            </a:solidFill>
          </a:ln>
        </p:spPr>
        <p:txBody>
          <a:bodyPr wrap="square" lIns="0" tIns="0" rIns="0" bIns="0" rtlCol="0" anchor="ctr"/>
          <a:lstStyle/>
          <a:p>
            <a:pPr algn="ctr" indent="0" marL="0">
              <a:buNone/>
            </a:pPr>
            <a:r>
              <a:rPr lang="en-US" sz="1500" b="1" dirty="0">
                <a:solidFill>
                  <a:schemeClr val="bg1"/>
                </a:solidFill>
              </a:rPr>
              <a:t>To denary</a:t>
            </a:r>
            <a:endParaRPr lang="en-US" sz="1500" dirty="0"/>
          </a:p>
        </p:txBody>
      </p:sp>
      <p:sp>
        <p:nvSpPr>
          <p:cNvPr id="8" name="Text 5"/>
          <p:cNvSpPr/>
          <p:nvPr/>
        </p:nvSpPr>
        <p:spPr>
          <a:xfrm>
            <a:off x="3364992" y="4846320"/>
            <a:ext cx="2606040" cy="411480"/>
          </a:xfrm>
          <a:prstGeom prst="roundRect">
            <a:avLst>
              <a:gd name="adj" fmla="val 44444"/>
            </a:avLst>
          </a:prstGeom>
          <a:solidFill>
            <a:schemeClr val="tx1"/>
          </a:solidFill>
          <a:ln>
            <a:solidFill>
              <a:schemeClr val="tx1"/>
            </a:solidFill>
          </a:ln>
        </p:spPr>
        <p:txBody>
          <a:bodyPr wrap="square" lIns="0" tIns="0" rIns="0" bIns="0" rtlCol="0" anchor="ctr"/>
          <a:lstStyle/>
          <a:p>
            <a:pPr algn="ctr" indent="0" marL="0">
              <a:buNone/>
            </a:pPr>
            <a:r>
              <a:rPr lang="en-US" sz="1500" b="1" dirty="0">
                <a:solidFill>
                  <a:schemeClr val="bg1"/>
                </a:solidFill>
              </a:rPr>
              <a:t>From denary</a:t>
            </a:r>
            <a:endParaRPr lang="en-US" sz="1500" dirty="0"/>
          </a:p>
        </p:txBody>
      </p:sp>
      <p:sp>
        <p:nvSpPr>
          <p:cNvPr id="9" name="Text 6"/>
          <p:cNvSpPr/>
          <p:nvPr/>
        </p:nvSpPr>
        <p:spPr>
          <a:xfrm>
            <a:off x="6181344" y="4846320"/>
            <a:ext cx="2606040" cy="411480"/>
          </a:xfrm>
          <a:prstGeom prst="roundRect">
            <a:avLst>
              <a:gd name="adj" fmla="val 44444"/>
            </a:avLst>
          </a:prstGeom>
          <a:solidFill>
            <a:schemeClr val="tx1"/>
          </a:solidFill>
          <a:ln>
            <a:solidFill>
              <a:schemeClr val="tx1"/>
            </a:solidFill>
          </a:ln>
        </p:spPr>
        <p:txBody>
          <a:bodyPr wrap="square" lIns="0" tIns="0" rIns="0" bIns="0" rtlCol="0" anchor="ctr"/>
          <a:lstStyle/>
          <a:p>
            <a:pPr algn="ctr" indent="0" marL="0">
              <a:buNone/>
            </a:pPr>
            <a:r>
              <a:rPr lang="en-US" sz="1500" b="1" dirty="0">
                <a:solidFill>
                  <a:schemeClr val="bg1"/>
                </a:solidFill>
              </a:rPr>
              <a:t>Range</a:t>
            </a:r>
            <a:endParaRPr lang="en-US" sz="1500" dirty="0"/>
          </a:p>
        </p:txBody>
      </p:sp>
      <p:sp>
        <p:nvSpPr>
          <p:cNvPr id="10" name="Text 7"/>
          <p:cNvSpPr/>
          <p:nvPr/>
        </p:nvSpPr>
        <p:spPr>
          <a:xfrm>
            <a:off x="8997696" y="4846320"/>
            <a:ext cx="2606040" cy="411480"/>
          </a:xfrm>
          <a:prstGeom prst="roundRect">
            <a:avLst>
              <a:gd name="adj" fmla="val 44444"/>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tx1"/>
                </a:solidFill>
              </a:rPr>
              <a:t>Integer or float</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Exit question  (2019, Q11c)</a:t>
            </a:r>
            <a:endParaRPr lang="en-US" sz="3400" dirty="0"/>
          </a:p>
        </p:txBody>
      </p:sp>
      <p:sp>
        <p:nvSpPr>
          <p:cNvPr id="4" name="Shape 1"/>
          <p:cNvSpPr/>
          <p:nvPr/>
        </p:nvSpPr>
        <p:spPr>
          <a:xfrm>
            <a:off x="548640" y="1417320"/>
            <a:ext cx="11064240" cy="1828800"/>
          </a:xfrm>
          <a:prstGeom prst="roundRect">
            <a:avLst>
              <a:gd name="adj" fmla="val 6000"/>
            </a:avLst>
          </a:prstGeom>
          <a:solidFill>
            <a:schemeClr val="accent3"/>
          </a:solidFill>
          <a:ln w="12700">
            <a:solidFill>
              <a:schemeClr val="accent3"/>
            </a:solidFill>
            <a:prstDash val="solid"/>
          </a:ln>
        </p:spPr>
      </p:sp>
      <p:sp>
        <p:nvSpPr>
          <p:cNvPr id="5" name="Text 2"/>
          <p:cNvSpPr txBox="1"/>
          <p:nvPr/>
        </p:nvSpPr>
        <p:spPr>
          <a:xfrm>
            <a:off x="868680" y="1600200"/>
            <a:ext cx="9418320" cy="1463040"/>
          </a:xfrm>
          <a:prstGeom prst="rect">
            <a:avLst/>
          </a:prstGeom>
          <a:noFill/>
          <a:ln/>
        </p:spPr>
        <p:txBody>
          <a:bodyPr wrap="square" lIns="0" tIns="0" rIns="0" bIns="0" rtlCol="0" anchor="ctr"/>
          <a:lstStyle/>
          <a:p>
            <a:pPr indent="0" marL="0">
              <a:buNone/>
            </a:pPr>
            <a:r>
              <a:rPr lang="en-US" sz="3000" b="1" dirty="0">
                <a:solidFill>
                  <a:schemeClr val="tx1"/>
                </a:solidFill>
              </a:rPr>
              <a:t>Give the advantages of representing numbers in integer form and in floating-point form.</a:t>
            </a:r>
            <a:endParaRPr lang="en-US" sz="3000" dirty="0"/>
          </a:p>
        </p:txBody>
      </p:sp>
      <p:sp>
        <p:nvSpPr>
          <p:cNvPr id="6" name="Text 3"/>
          <p:cNvSpPr txBox="1"/>
          <p:nvPr/>
        </p:nvSpPr>
        <p:spPr>
          <a:xfrm>
            <a:off x="10515600" y="1600200"/>
            <a:ext cx="822960" cy="1463040"/>
          </a:xfrm>
          <a:prstGeom prst="rect">
            <a:avLst/>
          </a:prstGeom>
          <a:noFill/>
          <a:ln/>
        </p:spPr>
        <p:txBody>
          <a:bodyPr wrap="square" lIns="0" tIns="0" rIns="0" bIns="0" rtlCol="0" anchor="ctr"/>
          <a:lstStyle/>
          <a:p>
            <a:pPr algn="r" indent="0" marL="0">
              <a:buNone/>
            </a:pPr>
            <a:r>
              <a:rPr lang="en-US" sz="2800" b="1" dirty="0">
                <a:solidFill>
                  <a:schemeClr val="accent1"/>
                </a:solidFill>
              </a:rPr>
              <a:t>[4]</a:t>
            </a:r>
            <a:endParaRPr lang="en-US" sz="2800" dirty="0"/>
          </a:p>
        </p:txBody>
      </p:sp>
      <p:sp>
        <p:nvSpPr>
          <p:cNvPr id="7" name="Shape 4"/>
          <p:cNvSpPr/>
          <p:nvPr/>
        </p:nvSpPr>
        <p:spPr>
          <a:xfrm>
            <a:off x="548640" y="3657600"/>
            <a:ext cx="5394960" cy="1554480"/>
          </a:xfrm>
          <a:prstGeom prst="roundRect">
            <a:avLst>
              <a:gd name="adj" fmla="val 7059"/>
            </a:avLst>
          </a:prstGeom>
          <a:solidFill>
            <a:schemeClr val="bg2"/>
          </a:solidFill>
          <a:ln w="12700">
            <a:solidFill>
              <a:schemeClr val="bg2"/>
            </a:solidFill>
            <a:prstDash val="solid"/>
          </a:ln>
        </p:spPr>
      </p:sp>
      <p:sp>
        <p:nvSpPr>
          <p:cNvPr id="8" name="Text 5"/>
          <p:cNvSpPr/>
          <p:nvPr/>
        </p:nvSpPr>
        <p:spPr>
          <a:xfrm>
            <a:off x="822960" y="41605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554480" y="3840480"/>
            <a:ext cx="4206240" cy="1188720"/>
          </a:xfrm>
          <a:prstGeom prst="rect">
            <a:avLst/>
          </a:prstGeom>
          <a:noFill/>
          <a:ln/>
        </p:spPr>
        <p:txBody>
          <a:bodyPr wrap="square" lIns="0" tIns="0" rIns="0" bIns="0" rtlCol="0" anchor="ctr"/>
          <a:lstStyle/>
          <a:p>
            <a:pPr indent="0" marL="0">
              <a:buNone/>
            </a:pPr>
            <a:r>
              <a:rPr lang="en-US" sz="2000" b="1" dirty="0">
                <a:solidFill>
                  <a:schemeClr val="tx1"/>
                </a:solidFill>
              </a:rPr>
              <a:t>Integer
</a:t>
            </a:r>
            <a:pPr indent="0" marL="0">
              <a:buNone/>
            </a:pPr>
            <a:r>
              <a:rPr lang="en-US" sz="2000" dirty="0">
                <a:solidFill>
                  <a:schemeClr val="accent6"/>
                </a:solidFill>
              </a:rPr>
              <a:t>Two advantages</a:t>
            </a:r>
            <a:endParaRPr lang="en-US" sz="2000" dirty="0"/>
          </a:p>
        </p:txBody>
      </p:sp>
      <p:sp>
        <p:nvSpPr>
          <p:cNvPr id="10" name="Shape 7"/>
          <p:cNvSpPr/>
          <p:nvPr/>
        </p:nvSpPr>
        <p:spPr>
          <a:xfrm>
            <a:off x="6217920" y="3657600"/>
            <a:ext cx="5394960" cy="1554480"/>
          </a:xfrm>
          <a:prstGeom prst="roundRect">
            <a:avLst>
              <a:gd name="adj" fmla="val 7059"/>
            </a:avLst>
          </a:prstGeom>
          <a:solidFill>
            <a:schemeClr val="bg2"/>
          </a:solidFill>
          <a:ln w="12700">
            <a:solidFill>
              <a:schemeClr val="bg2"/>
            </a:solidFill>
            <a:prstDash val="solid"/>
          </a:ln>
        </p:spPr>
      </p:sp>
      <p:sp>
        <p:nvSpPr>
          <p:cNvPr id="11" name="Text 8"/>
          <p:cNvSpPr/>
          <p:nvPr/>
        </p:nvSpPr>
        <p:spPr>
          <a:xfrm>
            <a:off x="6492240" y="41605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7223760" y="3840480"/>
            <a:ext cx="4206240" cy="1188720"/>
          </a:xfrm>
          <a:prstGeom prst="rect">
            <a:avLst/>
          </a:prstGeom>
          <a:noFill/>
          <a:ln/>
        </p:spPr>
        <p:txBody>
          <a:bodyPr wrap="square" lIns="0" tIns="0" rIns="0" bIns="0" rtlCol="0" anchor="ctr"/>
          <a:lstStyle/>
          <a:p>
            <a:pPr indent="0" marL="0">
              <a:buNone/>
            </a:pPr>
            <a:r>
              <a:rPr lang="en-US" sz="2000" b="1" dirty="0">
                <a:solidFill>
                  <a:schemeClr val="tx1"/>
                </a:solidFill>
              </a:rPr>
              <a:t>Floating point
</a:t>
            </a:r>
            <a:pPr indent="0" marL="0">
              <a:buNone/>
            </a:pPr>
            <a:r>
              <a:rPr lang="en-US" sz="2000" dirty="0">
                <a:solidFill>
                  <a:schemeClr val="accent6"/>
                </a:solidFill>
              </a:rPr>
              <a:t>Two advantages</a:t>
            </a:r>
            <a:endParaRPr lang="en-US" sz="2000" dirty="0"/>
          </a:p>
        </p:txBody>
      </p:sp>
      <p:sp>
        <p:nvSpPr>
          <p:cNvPr id="13" name="Text 10"/>
          <p:cNvSpPr txBox="1"/>
          <p:nvPr/>
        </p:nvSpPr>
        <p:spPr>
          <a:xfrm>
            <a:off x="548640" y="5486400"/>
            <a:ext cx="5486400" cy="457200"/>
          </a:xfrm>
          <a:prstGeom prst="rect">
            <a:avLst/>
          </a:prstGeom>
          <a:noFill/>
          <a:ln/>
        </p:spPr>
        <p:txBody>
          <a:bodyPr wrap="square" lIns="0" tIns="0" rIns="0" bIns="0" rtlCol="0" anchor="t"/>
          <a:lstStyle/>
          <a:p>
            <a:pPr indent="0" marL="0">
              <a:buNone/>
            </a:pPr>
            <a:r>
              <a:rPr lang="en-US" sz="1800" b="1" dirty="0">
                <a:solidFill>
                  <a:schemeClr val="accent1"/>
                </a:solidFill>
              </a:rPr>
              <a:t>Reply on the Teams post</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Key terms and homework</a:t>
            </a:r>
            <a:endParaRPr lang="en-US" sz="3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852160" cy="914400"/>
        </p:xfrm>
        <a:graphic>
          <a:graphicData uri="http://schemas.openxmlformats.org/drawingml/2006/table">
            <a:tbl>
              <a:tblPr/>
              <a:tblGrid>
                <a:gridCol w="2834640"/>
                <a:gridCol w="3017520"/>
              </a:tblGrid>
              <a:tr h="457200">
                <a:tc>
                  <a:txBody>
                    <a:bodyPr/>
                    <a:lstStyle/>
                    <a:p>
                      <a:pPr indent="0" marL="0">
                        <a:buNone/>
                      </a:pPr>
                      <a:r>
                        <a:rPr lang="en-US" sz="1500" b="1" dirty="0">
                          <a:solidFill>
                            <a:srgbClr val="FFFFFF"/>
                          </a:solidFill>
                        </a:rPr>
                        <a:t>English</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rPr>
                        <a:t>Cymraeg (draft)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r>
              <a:tr h="457200">
                <a:tc>
                  <a:txBody>
                    <a:bodyPr/>
                    <a:lstStyle/>
                    <a:p>
                      <a:pPr indent="0" marL="0">
                        <a:buNone/>
                      </a:pPr>
                      <a:r>
                        <a:rPr lang="en-US" sz="1500" dirty="0">
                          <a:solidFill>
                            <a:srgbClr val="14213D"/>
                          </a:solidFill>
                        </a:rPr>
                        <a:t>Floating point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500" dirty="0">
                          <a:solidFill>
                            <a:srgbClr val="14213D"/>
                          </a:solidFill>
                        </a:rPr>
                        <a:t>Pwynt arnawf</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57200">
                <a:tc>
                  <a:txBody>
                    <a:bodyPr/>
                    <a:lstStyle/>
                    <a:p>
                      <a:pPr indent="0" marL="0">
                        <a:buNone/>
                      </a:pPr>
                      <a:r>
                        <a:rPr lang="en-US" sz="1500" dirty="0">
                          <a:solidFill>
                            <a:srgbClr val="14213D"/>
                          </a:solidFill>
                        </a:rPr>
                        <a:t>Mantissa</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500" dirty="0">
                          <a:solidFill>
                            <a:srgbClr val="14213D"/>
                          </a:solidFill>
                        </a:rPr>
                        <a:t>Mantisa</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57200">
                <a:tc>
                  <a:txBody>
                    <a:bodyPr/>
                    <a:lstStyle/>
                    <a:p>
                      <a:pPr indent="0" marL="0">
                        <a:buNone/>
                      </a:pPr>
                      <a:r>
                        <a:rPr lang="en-US" sz="1500" dirty="0">
                          <a:solidFill>
                            <a:srgbClr val="14213D"/>
                          </a:solidFill>
                        </a:rPr>
                        <a:t>Exponent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500" dirty="0">
                          <a:solidFill>
                            <a:srgbClr val="14213D"/>
                          </a:solidFill>
                        </a:rPr>
                        <a:t>Esbonydd</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57200">
                <a:tc>
                  <a:txBody>
                    <a:bodyPr/>
                    <a:lstStyle/>
                    <a:p>
                      <a:pPr indent="0" marL="0">
                        <a:buNone/>
                      </a:pPr>
                      <a:r>
                        <a:rPr lang="en-US" sz="1500" dirty="0">
                          <a:solidFill>
                            <a:srgbClr val="14213D"/>
                          </a:solidFill>
                        </a:rPr>
                        <a:t>Normalised</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500" dirty="0">
                          <a:solidFill>
                            <a:srgbClr val="14213D"/>
                          </a:solidFill>
                        </a:rPr>
                        <a:t>Wedi'i normaleiddio</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57200">
                <a:tc>
                  <a:txBody>
                    <a:bodyPr/>
                    <a:lstStyle/>
                    <a:p>
                      <a:pPr indent="0" marL="0">
                        <a:buNone/>
                      </a:pPr>
                      <a:r>
                        <a:rPr lang="en-US" sz="1500" dirty="0">
                          <a:solidFill>
                            <a:srgbClr val="14213D"/>
                          </a:solidFill>
                        </a:rPr>
                        <a:t>Precision</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500" dirty="0">
                          <a:solidFill>
                            <a:srgbClr val="14213D"/>
                          </a:solidFill>
                        </a:rPr>
                        <a:t>Manwl gywirdeb</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57200">
                <a:tc>
                  <a:txBody>
                    <a:bodyPr/>
                    <a:lstStyle/>
                    <a:p>
                      <a:pPr indent="0" marL="0">
                        <a:buNone/>
                      </a:pPr>
                      <a:r>
                        <a:rPr lang="en-US" sz="1500" dirty="0">
                          <a:solidFill>
                            <a:srgbClr val="14213D"/>
                          </a:solidFill>
                        </a:rPr>
                        <a:t>Range</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500" dirty="0">
                          <a:solidFill>
                            <a:srgbClr val="14213D"/>
                          </a:solidFill>
                        </a:rPr>
                        <a:t>Amrediad</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57200">
                <a:tc>
                  <a:txBody>
                    <a:bodyPr/>
                    <a:lstStyle/>
                    <a:p>
                      <a:pPr indent="0" marL="0">
                        <a:buNone/>
                      </a:pPr>
                      <a:r>
                        <a:rPr lang="en-US" sz="1500" dirty="0">
                          <a:solidFill>
                            <a:srgbClr val="14213D"/>
                          </a:solidFill>
                        </a:rPr>
                        <a:t>Integer</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500" dirty="0">
                          <a:solidFill>
                            <a:srgbClr val="14213D"/>
                          </a:solidFill>
                        </a:rPr>
                        <a:t>Cyfanrif</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457200">
                <a:tc>
                  <a:txBody>
                    <a:bodyPr/>
                    <a:lstStyle/>
                    <a:p>
                      <a:pPr indent="0" marL="0">
                        <a:buNone/>
                      </a:pPr>
                      <a:r>
                        <a:rPr lang="en-US" sz="1500" dirty="0">
                          <a:solidFill>
                            <a:srgbClr val="14213D"/>
                          </a:solidFill>
                        </a:rPr>
                        <a:t>Real number</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500" dirty="0">
                          <a:solidFill>
                            <a:srgbClr val="14213D"/>
                          </a:solidFill>
                        </a:rPr>
                        <a:t>Rhif real</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5" name="Shape 1"/>
          <p:cNvSpPr/>
          <p:nvPr/>
        </p:nvSpPr>
        <p:spPr>
          <a:xfrm>
            <a:off x="6858000" y="1417320"/>
            <a:ext cx="4754880" cy="2788920"/>
          </a:xfrm>
          <a:prstGeom prst="roundRect">
            <a:avLst>
              <a:gd name="adj" fmla="val 3934"/>
            </a:avLst>
          </a:prstGeom>
          <a:solidFill>
            <a:schemeClr val="accent3"/>
          </a:solidFill>
          <a:ln w="12700">
            <a:solidFill>
              <a:schemeClr val="accent3"/>
            </a:solidFill>
            <a:prstDash val="solid"/>
          </a:ln>
        </p:spPr>
      </p:sp>
      <p:sp>
        <p:nvSpPr>
          <p:cNvPr id="6" name="Text 2"/>
          <p:cNvSpPr txBox="1"/>
          <p:nvPr/>
        </p:nvSpPr>
        <p:spPr>
          <a:xfrm>
            <a:off x="7132320" y="1600200"/>
            <a:ext cx="4206240" cy="457200"/>
          </a:xfrm>
          <a:prstGeom prst="rect">
            <a:avLst/>
          </a:prstGeom>
          <a:noFill/>
          <a:ln/>
        </p:spPr>
        <p:txBody>
          <a:bodyPr wrap="square" lIns="0" tIns="0" rIns="0" bIns="0" rtlCol="0" anchor="t"/>
          <a:lstStyle/>
          <a:p>
            <a:pPr indent="0" marL="0">
              <a:buNone/>
            </a:pPr>
            <a:r>
              <a:rPr lang="en-US" sz="2200" b="1" dirty="0">
                <a:solidFill>
                  <a:schemeClr val="accent1"/>
                </a:solidFill>
              </a:rPr>
              <a:t>Homework</a:t>
            </a:r>
            <a:endParaRPr lang="en-US" sz="2200" dirty="0"/>
          </a:p>
        </p:txBody>
      </p:sp>
      <p:sp>
        <p:nvSpPr>
          <p:cNvPr id="7" name="Text 3"/>
          <p:cNvSpPr txBox="1"/>
          <p:nvPr/>
        </p:nvSpPr>
        <p:spPr>
          <a:xfrm>
            <a:off x="7132320" y="2103120"/>
            <a:ext cx="4206240" cy="1920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Complete the exam practice sheet on Teams, including the 12-mark question</a:t>
            </a:r>
            <a:endParaRPr lang="en-US" sz="1800" dirty="0"/>
          </a:p>
          <a:p>
            <a:pPr marL="342900" indent="-342900">
              <a:spcAft>
                <a:spcPts val="1000"/>
              </a:spcAft>
              <a:buSzPct val="100000"/>
              <a:buChar char="•"/>
            </a:pPr>
            <a:r>
              <a:rPr lang="en-US" sz="1800" dirty="0">
                <a:solidFill>
                  <a:schemeClr val="tx1"/>
                </a:solidFill>
              </a:rPr>
              <a:t>One round on each floating point tab</a:t>
            </a:r>
            <a:endParaRPr lang="en-US" sz="1800" dirty="0"/>
          </a:p>
        </p:txBody>
      </p:sp>
      <p:sp>
        <p:nvSpPr>
          <p:cNvPr id="8" name="Shape 4"/>
          <p:cNvSpPr/>
          <p:nvPr/>
        </p:nvSpPr>
        <p:spPr>
          <a:xfrm>
            <a:off x="6858000" y="4434840"/>
            <a:ext cx="4754880" cy="1463040"/>
          </a:xfrm>
          <a:prstGeom prst="roundRect">
            <a:avLst>
              <a:gd name="adj" fmla="val 7500"/>
            </a:avLst>
          </a:prstGeom>
          <a:solidFill>
            <a:schemeClr val="tx1"/>
          </a:solidFill>
          <a:ln w="12700">
            <a:solidFill>
              <a:schemeClr val="tx1"/>
            </a:solidFill>
            <a:prstDash val="solid"/>
          </a:ln>
        </p:spPr>
      </p:sp>
      <p:sp>
        <p:nvSpPr>
          <p:cNvPr id="9" name="Text 5"/>
          <p:cNvSpPr txBox="1"/>
          <p:nvPr/>
        </p:nvSpPr>
        <p:spPr>
          <a:xfrm>
            <a:off x="7132320" y="4572000"/>
            <a:ext cx="4206240" cy="411480"/>
          </a:xfrm>
          <a:prstGeom prst="rect">
            <a:avLst/>
          </a:prstGeom>
          <a:noFill/>
          <a:ln/>
        </p:spPr>
        <p:txBody>
          <a:bodyPr wrap="square" lIns="0" tIns="0" rIns="0" bIns="0" rtlCol="0" anchor="t"/>
          <a:lstStyle/>
          <a:p>
            <a:pPr indent="0" marL="0">
              <a:buNone/>
            </a:pPr>
            <a:r>
              <a:rPr lang="en-US" sz="1800" b="1" dirty="0">
                <a:solidFill>
                  <a:schemeClr val="accent2"/>
                </a:solidFill>
              </a:rPr>
              <a:t>Next lesson</a:t>
            </a:r>
            <a:endParaRPr lang="en-US" sz="1800" dirty="0"/>
          </a:p>
        </p:txBody>
      </p:sp>
      <p:sp>
        <p:nvSpPr>
          <p:cNvPr id="10" name="Text 6"/>
          <p:cNvSpPr txBox="1"/>
          <p:nvPr/>
        </p:nvSpPr>
        <p:spPr>
          <a:xfrm>
            <a:off x="7132320" y="4983480"/>
            <a:ext cx="4206240" cy="822960"/>
          </a:xfrm>
          <a:prstGeom prst="rect">
            <a:avLst/>
          </a:prstGeom>
          <a:noFill/>
          <a:ln/>
        </p:spPr>
        <p:txBody>
          <a:bodyPr wrap="square" lIns="0" tIns="0" rIns="0" bIns="0" rtlCol="0" anchor="t"/>
          <a:lstStyle/>
          <a:p>
            <a:pPr indent="0" marL="0">
              <a:buNone/>
            </a:pPr>
            <a:r>
              <a:rPr lang="en-US" sz="1700" dirty="0">
                <a:solidFill>
                  <a:schemeClr val="bg1"/>
                </a:solidFill>
              </a:rPr>
              <a:t>Character sets and data types, then the end-of-topic test</a:t>
            </a:r>
            <a:endParaRPr lang="en-US" sz="17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A667A"/>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CAVC CS Navy Teal">
  <a:themeElements>
    <a:clrScheme name="CAVC CS Navy Teal">
      <a:dk1>
        <a:srgbClr val="14213D"/>
      </a:dk1>
      <a:lt1>
        <a:srgbClr val="FFFFFF"/>
      </a:lt1>
      <a:dk2>
        <a:srgbClr val="22335A"/>
      </a:dk2>
      <a:lt2>
        <a:srgbClr val="EEF3F8"/>
      </a:lt2>
      <a:accent1>
        <a:srgbClr val="0F8B8D"/>
      </a:accent1>
      <a:accent2>
        <a:srgbClr val="F28C28"/>
      </a:accent2>
      <a:accent3>
        <a:srgbClr val="D6EFEF"/>
      </a:accent3>
      <a:accent4>
        <a:srgbClr val="1E8A4C"/>
      </a:accent4>
      <a:accent5>
        <a:srgbClr val="C0392B"/>
      </a:accent5>
      <a:accent6>
        <a:srgbClr val="5A667A"/>
      </a:accent6>
      <a:hlink>
        <a:srgbClr val="0F8B8D"/>
      </a:hlink>
      <a:folHlink>
        <a:srgbClr val="22335A"/>
      </a:folHlink>
    </a:clrScheme>
    <a:fontScheme name="CAVC CS Navy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4 Lesson 3: Floating point</dc:title>
  <dc:subject>PptxGenJS Presentation</dc:subject>
  <dc:creator>Aled Evans</dc:creator>
  <cp:lastModifiedBy>Aled Evans</cp:lastModifiedBy>
  <cp:revision>1</cp:revision>
  <dcterms:created xsi:type="dcterms:W3CDTF">2026-10-19T07:09:38Z</dcterms:created>
  <dcterms:modified xsi:type="dcterms:W3CDTF">2026-10-19T07:09:38Z</dcterms:modified>
</cp:coreProperties>
</file>