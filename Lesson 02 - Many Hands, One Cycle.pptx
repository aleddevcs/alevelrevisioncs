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2D709-A725-44FF-8061-654FD8F12BCC}" type="datetimeFigureOut"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93174-5D7A-442F-AD6F-7835038D88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2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Second Unit 1 lesson. We left off at 1.2.2 last time. Today: 1.2.3 parallel processing, 1.3.1 the fetch-execute cycle (the big one — registers finally do something), and a light pass over 1.4.1/1.4.2 input and output. Welsh terms appear as a small violet caption strip on section slides and under a few key diagram labels — bilingual reinforcement, not the main content; check compound terms against the WJEC Welsh-medium glossary before teaching through the medium of Welsh.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fetch-execute block (35–76) is the longest because it's the highest-value spec point in Topic 1. 1.4 is deliberately compressed — straightforward content, consolidated through the quizzes rather than a long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Quizzes 1.2.1 and 1.2.2 were homework after Lesson 01. This is the payoff — both feed straight into today, especially the five registers, which are about to do real work for the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Same format as Lesson 01. Park any 'want explained' items on the board — the fetch-execute ones especially, since the interactive task later will answer most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Frame with the Von Neumann bottleneck from Lesson 01: parallel processing is one of the ways round it. Welsh terms in the panel are for reinforcement — introduce them briefly, don't dwell.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Visual contrast: one lane vs several lanes. Ask: if 4 tasks take 2 minutes each, how long sequentially (8 min) vs on 4 cores (about 2 min, plus overhead)? That overhead is the bridge into the next slide's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four are the building blocks the 'describe and explain' exam answer is built from. Quick check: which of the four is the one most likely to go wrong? (Coordination — race conditions, waiting on each other.)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Pair with an advantage against a challenge: speed vs synchronisation overhead is the classic 'explain' pairing in mark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the 1.2.3 quiz. If short on time, this is the one to trim first — the fetch-execute block that follows is the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centrepiece of the lesson. Lesson 01 introduced the five registers as things that 'hold' values — today they finally do something. Keep this teach segment tight (12 min); the interactive task is where the depth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Lesson 01 — this time every register is about to do real work in the cycle on the next slide. Welsh names shown small under the English; don't read them all out, they're for the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reference diagram — the interactive task walks the same six stages one at a time with a question gating each. Point out MAR (address) vs MDR (data) explicitly here; that's the confusion the debrief slide expects to resurface.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Keep this to about 5 minutes — the point is to see the six stages happen in a real (simplified) machine before students work through it themselves in the interactive task. Have a short add-two-numbers program ready to load rather than writing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Individually or in pairs, one device per pair. Link/QR code goes here once built. Circulate and watch for the same two sticking points named on the debrief slide: MAR vs MDR, and exactly when PC increments.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Pull these from the task's completion summaries if you can see them, or just ask the class which questions tripped them up. These two are the classic sticking points regardless.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Should be quick given the task and debrief just happened. If the class flew through it, bank the extra minutes for the I/O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Deliberately short — this is the lightest content in Topic 1. Combine 'describe' and 'explain suitability' into one pass rather than teaching them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Fast pace — this is reference material more than a teach. Ask a few quick 'why not X here' questions (e.g. why not a touchscreen for a stock-take? too slow/imprecise vs a scanner) to hit the 'explain suitability' half of the spec without dwelling.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Both quizzes are short — run them together rather than as two separate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Q1 checks 1.2.3, Q2 checks 1.3.1, Q3 checks 1.4.1/1.4.2. Model answers: (1) e.g. speed up vs synchronisation overhead; (2) PC (next address) → MAR (address to access) → MDR (data found) → CIR (instruction to decode) → ACC (result); (3) e.g. touchscreen for detailed spreadsheet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Homework is deliberately light — today's four quizzes were all completed in lesson, so this is consolidation/extension only, not new content. 'Da iawn' = 'well done'.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43000"/>
            <a:ext cx="739199" cy="53706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046370" y="1680060"/>
            <a:ext cx="282349" cy="868981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670" y="2549040"/>
            <a:ext cx="91370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0321" y="1680060"/>
            <a:ext cx="282349" cy="868981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850321" y="1143000"/>
            <a:ext cx="739199" cy="53706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051560"/>
            <a:ext cx="182880" cy="1828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37279" y="1588620"/>
            <a:ext cx="182880" cy="1828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4930" y="2457600"/>
            <a:ext cx="182880" cy="1828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1230" y="2457600"/>
            <a:ext cx="182880" cy="1828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58881" y="1588620"/>
            <a:ext cx="182880" cy="1828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Computer Science · Unit 1 · Topic 1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54864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02</a:t>
            </a:r>
            <a:endParaRPr lang="en-US" sz="2200"/>
          </a:p>
        </p:txBody>
      </p:sp>
      <p:sp>
        <p:nvSpPr>
          <p:cNvPr id="14" name="Text 12"/>
          <p:cNvSpPr txBox="1"/>
          <p:nvPr/>
        </p:nvSpPr>
        <p:spPr>
          <a:xfrm>
            <a:off x="548640" y="190195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Hands, One Cycle</a:t>
            </a:r>
            <a:endParaRPr lang="en-US" sz="4200"/>
          </a:p>
        </p:txBody>
      </p:sp>
      <p:sp>
        <p:nvSpPr>
          <p:cNvPr id="15" name="Text 13"/>
          <p:cNvSpPr txBox="1"/>
          <p:nvPr/>
        </p:nvSpPr>
        <p:spPr>
          <a:xfrm>
            <a:off x="548640" y="26700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B9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Llawer o Ddwylo, Un Gylchred</a:t>
            </a:r>
            <a:endParaRPr lang="en-US" sz="1500"/>
          </a:p>
        </p:txBody>
      </p:sp>
      <p:sp>
        <p:nvSpPr>
          <p:cNvPr id="16" name="Text 14"/>
          <p:cNvSpPr txBox="1"/>
          <p:nvPr/>
        </p:nvSpPr>
        <p:spPr>
          <a:xfrm>
            <a:off x="548640" y="3200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 · The fetch-execute cycle · Input &amp; output devices</a:t>
            </a:r>
            <a:endParaRPr lang="en-US" sz="1450"/>
          </a:p>
        </p:txBody>
      </p:sp>
      <p:sp>
        <p:nvSpPr>
          <p:cNvPr id="17" name="Text 15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1.2.3 · 1.3.1 · 1.4.1 · 1.4.2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90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005840" cy="173736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6916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0–8</a:t>
            </a:r>
            <a:endParaRPr lang="en-US" sz="950"/>
          </a:p>
        </p:txBody>
      </p:sp>
      <p:sp>
        <p:nvSpPr>
          <p:cNvPr id="10" name="Text 8"/>
          <p:cNvSpPr txBox="1"/>
          <p:nvPr/>
        </p:nvSpPr>
        <p:spPr>
          <a:xfrm>
            <a:off x="530352" y="194767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50"/>
          </a:p>
        </p:txBody>
      </p:sp>
      <p:sp>
        <p:nvSpPr>
          <p:cNvPr id="11" name="Text 9"/>
          <p:cNvSpPr txBox="1"/>
          <p:nvPr/>
        </p:nvSpPr>
        <p:spPr>
          <a:xfrm>
            <a:off x="530352" y="2441448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1.2.1 / 1.2.2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1554480" y="1600200"/>
            <a:ext cx="1005840" cy="173736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16916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8–15</a:t>
            </a:r>
            <a:endParaRPr lang="en-US" sz="950"/>
          </a:p>
        </p:txBody>
      </p:sp>
      <p:sp>
        <p:nvSpPr>
          <p:cNvPr id="14" name="Text 12"/>
          <p:cNvSpPr txBox="1"/>
          <p:nvPr/>
        </p:nvSpPr>
        <p:spPr>
          <a:xfrm>
            <a:off x="1627632" y="194767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50"/>
          </a:p>
        </p:txBody>
      </p:sp>
      <p:sp>
        <p:nvSpPr>
          <p:cNvPr id="15" name="Text 13"/>
          <p:cNvSpPr txBox="1"/>
          <p:nvPr/>
        </p:nvSpPr>
        <p:spPr>
          <a:xfrm>
            <a:off x="1627632" y="2441448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takeaways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2651760" y="1600200"/>
            <a:ext cx="1005840" cy="173736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24912" y="16916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15–35</a:t>
            </a:r>
            <a:endParaRPr lang="en-US" sz="950"/>
          </a:p>
        </p:txBody>
      </p:sp>
      <p:sp>
        <p:nvSpPr>
          <p:cNvPr id="18" name="Text 16"/>
          <p:cNvSpPr txBox="1"/>
          <p:nvPr/>
        </p:nvSpPr>
        <p:spPr>
          <a:xfrm>
            <a:off x="2724912" y="194767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+ Check</a:t>
            </a:r>
            <a:endParaRPr lang="en-US" sz="1150"/>
          </a:p>
        </p:txBody>
      </p:sp>
      <p:sp>
        <p:nvSpPr>
          <p:cNvPr id="19" name="Text 17"/>
          <p:cNvSpPr txBox="1"/>
          <p:nvPr/>
        </p:nvSpPr>
        <p:spPr>
          <a:xfrm>
            <a:off x="2724912" y="2441448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 Parallel processing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749040" y="1600200"/>
            <a:ext cx="1005840" cy="17373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22192" y="16916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35–47</a:t>
            </a:r>
            <a:endParaRPr lang="en-US" sz="950"/>
          </a:p>
        </p:txBody>
      </p:sp>
      <p:sp>
        <p:nvSpPr>
          <p:cNvPr id="22" name="Text 20"/>
          <p:cNvSpPr txBox="1"/>
          <p:nvPr/>
        </p:nvSpPr>
        <p:spPr>
          <a:xfrm>
            <a:off x="3822192" y="194767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150"/>
          </a:p>
        </p:txBody>
      </p:sp>
      <p:sp>
        <p:nvSpPr>
          <p:cNvPr id="23" name="Text 21"/>
          <p:cNvSpPr txBox="1"/>
          <p:nvPr/>
        </p:nvSpPr>
        <p:spPr>
          <a:xfrm>
            <a:off x="3822192" y="2441448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 Fetch-execute core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846320" y="1600200"/>
            <a:ext cx="1005840" cy="173736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19472" y="16916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47–65</a:t>
            </a:r>
            <a:endParaRPr lang="en-US" sz="950"/>
          </a:p>
        </p:txBody>
      </p:sp>
      <p:sp>
        <p:nvSpPr>
          <p:cNvPr id="26" name="Text 24"/>
          <p:cNvSpPr txBox="1"/>
          <p:nvPr/>
        </p:nvSpPr>
        <p:spPr>
          <a:xfrm>
            <a:off x="4919472" y="194767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task</a:t>
            </a:r>
            <a:endParaRPr lang="en-US" sz="1150"/>
          </a:p>
        </p:txBody>
      </p:sp>
      <p:sp>
        <p:nvSpPr>
          <p:cNvPr id="27" name="Text 25"/>
          <p:cNvSpPr txBox="1"/>
          <p:nvPr/>
        </p:nvSpPr>
        <p:spPr>
          <a:xfrm>
            <a:off x="4919472" y="2441448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tracker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5943600" y="1600200"/>
            <a:ext cx="1005840" cy="173736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16752" y="16916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65–76</a:t>
            </a:r>
            <a:endParaRPr lang="en-US" sz="950"/>
          </a:p>
        </p:txBody>
      </p:sp>
      <p:sp>
        <p:nvSpPr>
          <p:cNvPr id="30" name="Text 28"/>
          <p:cNvSpPr txBox="1"/>
          <p:nvPr/>
        </p:nvSpPr>
        <p:spPr>
          <a:xfrm>
            <a:off x="6016752" y="194767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+ Check</a:t>
            </a:r>
            <a:endParaRPr lang="en-US" sz="1150"/>
          </a:p>
        </p:txBody>
      </p:sp>
      <p:sp>
        <p:nvSpPr>
          <p:cNvPr id="31" name="Text 29"/>
          <p:cNvSpPr txBox="1"/>
          <p:nvPr/>
        </p:nvSpPr>
        <p:spPr>
          <a:xfrm>
            <a:off x="6016752" y="2441448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 sticking points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7040880" y="1600200"/>
            <a:ext cx="1005840" cy="173736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14032" y="16916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76–88</a:t>
            </a:r>
            <a:endParaRPr lang="en-US" sz="950"/>
          </a:p>
        </p:txBody>
      </p:sp>
      <p:sp>
        <p:nvSpPr>
          <p:cNvPr id="34" name="Text 32"/>
          <p:cNvSpPr txBox="1"/>
          <p:nvPr/>
        </p:nvSpPr>
        <p:spPr>
          <a:xfrm>
            <a:off x="7114032" y="194767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+ Check</a:t>
            </a:r>
            <a:endParaRPr lang="en-US" sz="1150"/>
          </a:p>
        </p:txBody>
      </p:sp>
      <p:sp>
        <p:nvSpPr>
          <p:cNvPr id="35" name="Text 33"/>
          <p:cNvSpPr txBox="1"/>
          <p:nvPr/>
        </p:nvSpPr>
        <p:spPr>
          <a:xfrm>
            <a:off x="7114032" y="2441448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 / 1.4.2 I/O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8138160" y="1600200"/>
            <a:ext cx="1005840" cy="173736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11312" y="16916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88–90</a:t>
            </a:r>
            <a:endParaRPr lang="en-US" sz="950"/>
          </a:p>
        </p:txBody>
      </p:sp>
      <p:sp>
        <p:nvSpPr>
          <p:cNvPr id="38" name="Text 36"/>
          <p:cNvSpPr txBox="1"/>
          <p:nvPr/>
        </p:nvSpPr>
        <p:spPr>
          <a:xfrm>
            <a:off x="8211312" y="194767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50"/>
          </a:p>
        </p:txBody>
      </p:sp>
      <p:sp>
        <p:nvSpPr>
          <p:cNvPr id="39" name="Text 37"/>
          <p:cNvSpPr txBox="1"/>
          <p:nvPr/>
        </p:nvSpPr>
        <p:spPr>
          <a:xfrm>
            <a:off x="8211312" y="2441448"/>
            <a:ext cx="85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+ homework</a:t>
            </a:r>
            <a:endParaRPr lang="en-US" sz="950"/>
          </a:p>
        </p:txBody>
      </p:sp>
      <p:sp>
        <p:nvSpPr>
          <p:cNvPr id="40" name="Text 38"/>
          <p:cNvSpPr txBox="1"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200"/>
          </a:p>
        </p:txBody>
      </p:sp>
      <p:sp>
        <p:nvSpPr>
          <p:cNvPr id="41" name="Text 39"/>
          <p:cNvSpPr txBox="1"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and explain parallel processing — task division, concurrency, coordination, scalability</a:t>
            </a:r>
            <a:endParaRPr lang="en-US" sz="120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fetch-execute cycle, showing how data moves from RAM into PC, MAR, MDR, CIR and ACC</a:t>
            </a:r>
            <a:endParaRPr lang="en-US" sz="120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contemporary input/output methods and devices, and explain what makes each suitable for a situation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 ·  8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lesson, quick-fire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20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37033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Whole-class quick-fire through homework quizzes 1.2.1 and 1.2.2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 whiteboards, boards up together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which questions the class got wrong — revisit if they resurface today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/>
          </a:p>
        </p:txBody>
      </p:sp>
      <p:sp>
        <p:nvSpPr>
          <p:cNvPr id="16" name="Text 14"/>
          <p:cNvSpPr txBox="1"/>
          <p:nvPr/>
        </p:nvSpPr>
        <p:spPr>
          <a:xfrm>
            <a:off x="5257800" y="1618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here</a:t>
            </a:r>
            <a:endParaRPr lang="en-US" sz="1500"/>
          </a:p>
        </p:txBody>
      </p:sp>
      <p:sp>
        <p:nvSpPr>
          <p:cNvPr id="17" name="Text 15"/>
          <p:cNvSpPr txBox="1"/>
          <p:nvPr/>
        </p:nvSpPr>
        <p:spPr>
          <a:xfrm>
            <a:off x="4846320" y="2039112"/>
            <a:ext cx="37033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 (architecture, registers) feeds directly into today's fetch-execute cycle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 (memory) is what the cycle reads from and writes to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this retrieval improves what sticks from Lesson 01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·  7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takeaways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937760" cy="2788920"/>
          </a:xfrm>
          <a:prstGeom prst="roundRect">
            <a:avLst>
              <a:gd name="adj" fmla="val 2623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2423160"/>
            <a:ext cx="914400" cy="9144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4572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summary video — embed or link here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5669280" y="1508760"/>
            <a:ext cx="3017520" cy="2788920"/>
          </a:xfrm>
          <a:prstGeom prst="roundRect">
            <a:avLst>
              <a:gd name="adj" fmla="val 262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>
          <a:xfrm>
            <a:off x="6217920" y="1618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watch</a:t>
            </a:r>
            <a:endParaRPr lang="en-US" sz="1500"/>
          </a:p>
        </p:txBody>
      </p:sp>
      <p:sp>
        <p:nvSpPr>
          <p:cNvPr id="16" name="Text 14"/>
          <p:cNvSpPr txBox="1"/>
          <p:nvPr/>
        </p:nvSpPr>
        <p:spPr>
          <a:xfrm>
            <a:off x="5806440" y="2039112"/>
            <a:ext cx="2743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3 key takeaways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1 thing you want explained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out at the end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566928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1.2.3 · 1.3.1 · 1.4.1 · 1.4.2 at summary level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12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1.2.3</a:t>
            </a:r>
            <a:endParaRPr lang="en-US" sz="360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B9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Prosesu Cyfochrog</a:t>
            </a:r>
            <a:endParaRPr lang="en-US" sz="1500"/>
          </a:p>
        </p:txBody>
      </p:sp>
      <p:sp>
        <p:nvSpPr>
          <p:cNvPr id="9" name="Text 7"/>
          <p:cNvSpPr txBox="1"/>
          <p:nvPr/>
        </p:nvSpPr>
        <p:spPr>
          <a:xfrm>
            <a:off x="457200" y="1965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and explain parallel processing.</a:t>
            </a:r>
            <a:endParaRPr 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45720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 parallel execution</a:t>
            </a:r>
            <a:endParaRPr lang="en-US" sz="125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division, concurrency, coordination, scalability</a:t>
            </a:r>
            <a:endParaRPr lang="en-US" sz="125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vs challenges, and where it's used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5623560" y="2971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9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GEIRFA ALLWEDDOL  ·  KEY VOCABULARY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5623560" y="3273552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3291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Prosesu cyfochrog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5623560" y="3657600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675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multi-core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Craidd / amlgraidd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623560" y="4041648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40599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Cydamseru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1.2.3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queue, or many at once?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37360"/>
            <a:ext cx="868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1463040" y="17373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1737360"/>
            <a:ext cx="868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468880" y="17373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1737360"/>
            <a:ext cx="868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474720" y="17373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1737360"/>
            <a:ext cx="868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/>
          </a:p>
        </p:txBody>
      </p:sp>
      <p:sp>
        <p:nvSpPr>
          <p:cNvPr id="17" name="Text 15"/>
          <p:cNvSpPr txBox="1"/>
          <p:nvPr/>
        </p:nvSpPr>
        <p:spPr>
          <a:xfrm>
            <a:off x="4572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core. Tasks queue and run one after another — total time is the sum of every task.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737360"/>
            <a:ext cx="868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2103120"/>
            <a:ext cx="868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2468880"/>
            <a:ext cx="868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2834640"/>
            <a:ext cx="868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4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715000" y="1737360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15000" y="1737360"/>
            <a:ext cx="2971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5715000" y="2103120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5000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715000" y="2468880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15000" y="2468880"/>
            <a:ext cx="2971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5715000" y="2834640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15000" y="2834640"/>
            <a:ext cx="2971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950"/>
          </a:p>
        </p:txBody>
      </p:sp>
      <p:sp>
        <p:nvSpPr>
          <p:cNvPr id="35" name="Text 33"/>
          <p:cNvSpPr txBox="1"/>
          <p:nvPr/>
        </p:nvSpPr>
        <p:spPr>
          <a:xfrm>
            <a:off x="4754880" y="3246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cores. Tasks are divided and run at the same time — total time shrinks towards the length of the longest single task.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397764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38" name="Text 36"/>
          <p:cNvSpPr txBox="1"/>
          <p:nvPr/>
        </p:nvSpPr>
        <p:spPr>
          <a:xfrm>
            <a:off x="594360" y="43251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dividing the work, coordinating the cores and combining results all cost time too — parallel isn't free.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1.2.3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behind parallel processing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division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1691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big job into smaller independent pieces that can run separately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2560320" y="1508760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6" name="Text 14"/>
          <p:cNvSpPr txBox="1"/>
          <p:nvPr/>
        </p:nvSpPr>
        <p:spPr>
          <a:xfrm>
            <a:off x="3108960" y="1618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2697480" y="2039112"/>
            <a:ext cx="1691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pieces genuinely running at the same time, on separate cores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21" name="Text 19"/>
          <p:cNvSpPr txBox="1"/>
          <p:nvPr/>
        </p:nvSpPr>
        <p:spPr>
          <a:xfrm>
            <a:off x="5212080" y="1618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300"/>
          </a:p>
        </p:txBody>
      </p:sp>
      <p:sp>
        <p:nvSpPr>
          <p:cNvPr id="22" name="Text 20"/>
          <p:cNvSpPr txBox="1"/>
          <p:nvPr/>
        </p:nvSpPr>
        <p:spPr>
          <a:xfrm>
            <a:off x="4800600" y="2039112"/>
            <a:ext cx="1691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must communicate and stay in step so results combine correctly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6766560" y="150876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7315200" y="16184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/>
          </a:p>
        </p:txBody>
      </p:sp>
      <p:sp>
        <p:nvSpPr>
          <p:cNvPr id="27" name="Text 25"/>
          <p:cNvSpPr txBox="1"/>
          <p:nvPr/>
        </p:nvSpPr>
        <p:spPr>
          <a:xfrm>
            <a:off x="6903720" y="2039112"/>
            <a:ext cx="16459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cores, handle more work — up to a point</a:t>
            </a:r>
            <a:endParaRPr lang="en-US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1.2.3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— and where it bites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23774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speed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— more done per second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 data sets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4DCD7"/>
          </a:solidFill>
          <a:ln w="12700">
            <a:solidFill>
              <a:srgbClr val="F4DC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636776"/>
            <a:ext cx="329184" cy="329184"/>
          </a:xfrm>
          <a:prstGeom prst="ellipse">
            <a:avLst/>
          </a:prstGeom>
          <a:solidFill>
            <a:srgbClr val="B3412F"/>
          </a:solidFill>
          <a:ln w="12700">
            <a:solidFill>
              <a:srgbClr val="B341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/>
          </a:p>
        </p:txBody>
      </p:sp>
      <p:sp>
        <p:nvSpPr>
          <p:cNvPr id="16" name="Text 14"/>
          <p:cNvSpPr txBox="1"/>
          <p:nvPr/>
        </p:nvSpPr>
        <p:spPr>
          <a:xfrm>
            <a:off x="379476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3383280" y="2039112"/>
            <a:ext cx="23774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dependency — some steps must wait for others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overhead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contention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complexity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636776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/>
          </a:p>
        </p:txBody>
      </p:sp>
      <p:sp>
        <p:nvSpPr>
          <p:cNvPr id="21" name="Text 19"/>
          <p:cNvSpPr txBox="1"/>
          <p:nvPr/>
        </p:nvSpPr>
        <p:spPr>
          <a:xfrm>
            <a:off x="658368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6172200" y="2039112"/>
            <a:ext cx="23774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Supercomputers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processing (GPUs)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15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·  8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1.2.3 — quick-fire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and explain parallel processing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457200" y="21488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on screen → answer on whiteboard</a:t>
            </a:r>
            <a:endParaRPr lang="en-US" sz="15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up on 3</a:t>
            </a:r>
            <a:endParaRPr lang="en-US" sz="15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volunteer justifies their answer</a:t>
            </a:r>
            <a:endParaRPr lang="en-US" sz="15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the score — carry weak points into the debrief</a:t>
            </a:r>
            <a:endParaRPr lang="en-US" sz="1500"/>
          </a:p>
        </p:txBody>
      </p:sp>
      <p:sp>
        <p:nvSpPr>
          <p:cNvPr id="10" name="Text 8"/>
          <p:cNvSpPr txBox="1"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01 › Quizzes › 1.2.3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12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1.3.1</a:t>
            </a:r>
            <a:endParaRPr lang="en-US" sz="360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B9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Cylchred Cyrchu-Gweithredu</a:t>
            </a:r>
            <a:endParaRPr lang="en-US" sz="1500"/>
          </a:p>
        </p:txBody>
      </p:sp>
      <p:sp>
        <p:nvSpPr>
          <p:cNvPr id="9" name="Text 7"/>
          <p:cNvSpPr txBox="1"/>
          <p:nvPr/>
        </p:nvSpPr>
        <p:spPr>
          <a:xfrm>
            <a:off x="457200" y="1965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fetch-execute cycle, showing how data can be read from RAM into registers.</a:t>
            </a:r>
            <a:endParaRPr 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45720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registers, now in motion</a:t>
            </a:r>
            <a:endParaRPr lang="en-US" sz="125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→ Decode → Execute, stage by stage</a:t>
            </a:r>
            <a:endParaRPr lang="en-US" sz="125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address in RAM becomes data in a register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5623560" y="2971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9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GEIRFA ALLWEDDOL  ·  KEY VOCABULARY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5623560" y="3273552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3291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Decode / Execute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Cyrchu / Datgodio / Gweithredu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5623560" y="3657600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675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Cofrestr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623560" y="4041648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40599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Cyfarwyddyd</a:t>
            </a:r>
            <a:endParaRPr lang="en-US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1.3.1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registers — quick recap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173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250"/>
          </a:p>
        </p:txBody>
      </p:sp>
      <p:sp>
        <p:nvSpPr>
          <p:cNvPr id="11" name="Text 9"/>
          <p:cNvSpPr txBox="1"/>
          <p:nvPr/>
        </p:nvSpPr>
        <p:spPr>
          <a:xfrm>
            <a:off x="1417320" y="1728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Cyfrif Rhaglen</a:t>
            </a:r>
            <a:endParaRPr lang="en-US" sz="900"/>
          </a:p>
        </p:txBody>
      </p:sp>
      <p:sp>
        <p:nvSpPr>
          <p:cNvPr id="12" name="Text 10"/>
          <p:cNvSpPr txBox="1"/>
          <p:nvPr/>
        </p:nvSpPr>
        <p:spPr>
          <a:xfrm>
            <a:off x="4297680" y="141732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of the next instruction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2039112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03911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1417320" y="20391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 Register</a:t>
            </a:r>
            <a:endParaRPr lang="en-US" sz="1250"/>
          </a:p>
        </p:txBody>
      </p:sp>
      <p:sp>
        <p:nvSpPr>
          <p:cNvPr id="16" name="Text 14"/>
          <p:cNvSpPr txBox="1"/>
          <p:nvPr/>
        </p:nvSpPr>
        <p:spPr>
          <a:xfrm>
            <a:off x="1417320" y="2350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Cofrestr Cyfeiriad Cof</a:t>
            </a:r>
            <a:endParaRPr lang="en-US" sz="900"/>
          </a:p>
        </p:txBody>
      </p:sp>
      <p:sp>
        <p:nvSpPr>
          <p:cNvPr id="17" name="Text 15"/>
          <p:cNvSpPr txBox="1"/>
          <p:nvPr/>
        </p:nvSpPr>
        <p:spPr>
          <a:xfrm>
            <a:off x="4297680" y="203911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currently being accessed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57200" y="2660904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6609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MDR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1417320" y="26609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Data Register</a:t>
            </a:r>
            <a:endParaRPr lang="en-US" sz="1250"/>
          </a:p>
        </p:txBody>
      </p:sp>
      <p:sp>
        <p:nvSpPr>
          <p:cNvPr id="21" name="Text 19"/>
          <p:cNvSpPr txBox="1"/>
          <p:nvPr/>
        </p:nvSpPr>
        <p:spPr>
          <a:xfrm>
            <a:off x="1417320" y="2971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Cofrestr Data Cof</a:t>
            </a:r>
            <a:endParaRPr lang="en-US" sz="900"/>
          </a:p>
        </p:txBody>
      </p:sp>
      <p:sp>
        <p:nvSpPr>
          <p:cNvPr id="22" name="Text 20"/>
          <p:cNvSpPr txBox="1"/>
          <p:nvPr/>
        </p:nvSpPr>
        <p:spPr>
          <a:xfrm>
            <a:off x="4297680" y="266090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just read from, or about to be written to, memory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57200" y="3282696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28269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</a:t>
            </a:r>
            <a:endParaRPr lang="en-US" sz="1400"/>
          </a:p>
        </p:txBody>
      </p:sp>
      <p:sp>
        <p:nvSpPr>
          <p:cNvPr id="25" name="Text 23"/>
          <p:cNvSpPr txBox="1"/>
          <p:nvPr/>
        </p:nvSpPr>
        <p:spPr>
          <a:xfrm>
            <a:off x="1417320" y="32826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Instruction Register</a:t>
            </a:r>
            <a:endParaRPr lang="en-US" sz="1250"/>
          </a:p>
        </p:txBody>
      </p:sp>
      <p:sp>
        <p:nvSpPr>
          <p:cNvPr id="26" name="Text 24"/>
          <p:cNvSpPr txBox="1"/>
          <p:nvPr/>
        </p:nvSpPr>
        <p:spPr>
          <a:xfrm>
            <a:off x="1417320" y="35935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Cofrestr Cyfarwyddyd Cyfredol</a:t>
            </a:r>
            <a:endParaRPr lang="en-US" sz="900"/>
          </a:p>
        </p:txBody>
      </p:sp>
      <p:sp>
        <p:nvSpPr>
          <p:cNvPr id="27" name="Text 25"/>
          <p:cNvSpPr txBox="1"/>
          <p:nvPr/>
        </p:nvSpPr>
        <p:spPr>
          <a:xfrm>
            <a:off x="4297680" y="328269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being decoded / executed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9044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endParaRPr lang="en-US" sz="1400"/>
          </a:p>
        </p:txBody>
      </p:sp>
      <p:sp>
        <p:nvSpPr>
          <p:cNvPr id="30" name="Text 28"/>
          <p:cNvSpPr txBox="1"/>
          <p:nvPr/>
        </p:nvSpPr>
        <p:spPr>
          <a:xfrm>
            <a:off x="1417320" y="39044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</a:t>
            </a:r>
            <a:endParaRPr lang="en-US" sz="1250"/>
          </a:p>
        </p:txBody>
      </p:sp>
      <p:sp>
        <p:nvSpPr>
          <p:cNvPr id="31" name="Text 29"/>
          <p:cNvSpPr txBox="1"/>
          <p:nvPr/>
        </p:nvSpPr>
        <p:spPr>
          <a:xfrm>
            <a:off x="1417320" y="42153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Cronnwr</a:t>
            </a:r>
            <a:endParaRPr lang="en-US" sz="900"/>
          </a:p>
        </p:txBody>
      </p:sp>
      <p:sp>
        <p:nvSpPr>
          <p:cNvPr id="32" name="Text 30"/>
          <p:cNvSpPr txBox="1"/>
          <p:nvPr/>
        </p:nvSpPr>
        <p:spPr>
          <a:xfrm>
            <a:off x="4297680" y="390448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 from the ALU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1.3.1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fetch-execute cycle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371600" cy="1965960"/>
          </a:xfrm>
          <a:prstGeom prst="roundRect">
            <a:avLst>
              <a:gd name="adj" fmla="val 4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292608" cy="29260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/>
          </a:p>
        </p:txBody>
      </p:sp>
      <p:sp>
        <p:nvSpPr>
          <p:cNvPr id="11" name="Text 9"/>
          <p:cNvSpPr txBox="1"/>
          <p:nvPr/>
        </p:nvSpPr>
        <p:spPr>
          <a:xfrm>
            <a:off x="530352" y="196596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 → MAR</a:t>
            </a:r>
            <a:endParaRPr lang="en-US" sz="1100"/>
          </a:p>
        </p:txBody>
      </p:sp>
      <p:sp>
        <p:nvSpPr>
          <p:cNvPr id="12" name="Text 10"/>
          <p:cNvSpPr txBox="1"/>
          <p:nvPr/>
        </p:nvSpPr>
        <p:spPr>
          <a:xfrm>
            <a:off x="530352" y="228600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530352" y="256032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of the next instruction is copied into MAR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1810512" y="2468880"/>
            <a:ext cx="54864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47088" y="1508760"/>
            <a:ext cx="1371600" cy="1965960"/>
          </a:xfrm>
          <a:prstGeom prst="roundRect">
            <a:avLst>
              <a:gd name="adj" fmla="val 4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38528" y="1600200"/>
            <a:ext cx="292608" cy="29260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38528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1920240" y="196596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→ RAM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1920240" y="228600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50"/>
          </a:p>
        </p:txBody>
      </p:sp>
      <p:sp>
        <p:nvSpPr>
          <p:cNvPr id="20" name="Text 18"/>
          <p:cNvSpPr txBox="1"/>
          <p:nvPr/>
        </p:nvSpPr>
        <p:spPr>
          <a:xfrm>
            <a:off x="1920240" y="256032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sends that address out on the address bus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3200400" y="2468880"/>
            <a:ext cx="54864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36976" y="1508760"/>
            <a:ext cx="1371600" cy="1965960"/>
          </a:xfrm>
          <a:prstGeom prst="roundRect">
            <a:avLst>
              <a:gd name="adj" fmla="val 4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28416" y="1600200"/>
            <a:ext cx="292608" cy="29260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28416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3310128" y="196596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→ MDR</a:t>
            </a:r>
            <a:endParaRPr lang="en-US" sz="1100"/>
          </a:p>
        </p:txBody>
      </p:sp>
      <p:sp>
        <p:nvSpPr>
          <p:cNvPr id="26" name="Text 24"/>
          <p:cNvSpPr txBox="1"/>
          <p:nvPr/>
        </p:nvSpPr>
        <p:spPr>
          <a:xfrm>
            <a:off x="3310128" y="228600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</a:t>
            </a:r>
            <a:endParaRPr lang="en-US" sz="950"/>
          </a:p>
        </p:txBody>
      </p:sp>
      <p:sp>
        <p:nvSpPr>
          <p:cNvPr id="27" name="Text 25"/>
          <p:cNvSpPr txBox="1"/>
          <p:nvPr/>
        </p:nvSpPr>
        <p:spPr>
          <a:xfrm>
            <a:off x="3310128" y="256032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stored there is copied into MDR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4590288" y="2468880"/>
            <a:ext cx="54864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26864" y="1508760"/>
            <a:ext cx="1371600" cy="1965960"/>
          </a:xfrm>
          <a:prstGeom prst="roundRect">
            <a:avLst>
              <a:gd name="adj" fmla="val 4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304" y="1600200"/>
            <a:ext cx="292608" cy="29260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18304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/>
          </a:p>
        </p:txBody>
      </p:sp>
      <p:sp>
        <p:nvSpPr>
          <p:cNvPr id="32" name="Text 30"/>
          <p:cNvSpPr txBox="1"/>
          <p:nvPr/>
        </p:nvSpPr>
        <p:spPr>
          <a:xfrm>
            <a:off x="4700016" y="196596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MDR → CIR</a:t>
            </a:r>
            <a:endParaRPr lang="en-US" sz="1100"/>
          </a:p>
        </p:txBody>
      </p:sp>
      <p:sp>
        <p:nvSpPr>
          <p:cNvPr id="33" name="Text 31"/>
          <p:cNvSpPr txBox="1"/>
          <p:nvPr/>
        </p:nvSpPr>
        <p:spPr>
          <a:xfrm>
            <a:off x="4700016" y="228600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</a:t>
            </a:r>
            <a:endParaRPr lang="en-US" sz="950"/>
          </a:p>
        </p:txBody>
      </p:sp>
      <p:sp>
        <p:nvSpPr>
          <p:cNvPr id="34" name="Text 32"/>
          <p:cNvSpPr txBox="1"/>
          <p:nvPr/>
        </p:nvSpPr>
        <p:spPr>
          <a:xfrm>
            <a:off x="4700016" y="256032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moves into CIR to be decoded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5980176" y="2468880"/>
            <a:ext cx="54864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016752" y="1508760"/>
            <a:ext cx="1371600" cy="1965960"/>
          </a:xfrm>
          <a:prstGeom prst="roundRect">
            <a:avLst>
              <a:gd name="adj" fmla="val 4000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08192" y="1600200"/>
            <a:ext cx="292608" cy="29260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08192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/>
          </a:p>
        </p:txBody>
      </p:sp>
      <p:sp>
        <p:nvSpPr>
          <p:cNvPr id="39" name="Text 37"/>
          <p:cNvSpPr txBox="1"/>
          <p:nvPr/>
        </p:nvSpPr>
        <p:spPr>
          <a:xfrm>
            <a:off x="6089904" y="196596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endParaRPr lang="en-US" sz="1100"/>
          </a:p>
        </p:txBody>
      </p:sp>
      <p:sp>
        <p:nvSpPr>
          <p:cNvPr id="40" name="Text 38"/>
          <p:cNvSpPr txBox="1"/>
          <p:nvPr/>
        </p:nvSpPr>
        <p:spPr>
          <a:xfrm>
            <a:off x="6089904" y="228600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950"/>
          </a:p>
        </p:txBody>
      </p:sp>
      <p:sp>
        <p:nvSpPr>
          <p:cNvPr id="41" name="Text 39"/>
          <p:cNvSpPr txBox="1"/>
          <p:nvPr/>
        </p:nvSpPr>
        <p:spPr>
          <a:xfrm>
            <a:off x="6089904" y="256032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splits CIR into opcode + operand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7370064" y="2468880"/>
            <a:ext cx="54864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406640" y="1508760"/>
            <a:ext cx="1371600" cy="1965960"/>
          </a:xfrm>
          <a:prstGeom prst="roundRect">
            <a:avLst>
              <a:gd name="adj" fmla="val 4000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8080" y="1600200"/>
            <a:ext cx="292608" cy="29260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9808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/>
          </a:p>
        </p:txBody>
      </p:sp>
      <p:sp>
        <p:nvSpPr>
          <p:cNvPr id="46" name="Text 44"/>
          <p:cNvSpPr txBox="1"/>
          <p:nvPr/>
        </p:nvSpPr>
        <p:spPr>
          <a:xfrm>
            <a:off x="7479792" y="196596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100"/>
          </a:p>
        </p:txBody>
      </p:sp>
      <p:sp>
        <p:nvSpPr>
          <p:cNvPr id="47" name="Text 45"/>
          <p:cNvSpPr txBox="1"/>
          <p:nvPr/>
        </p:nvSpPr>
        <p:spPr>
          <a:xfrm>
            <a:off x="7479792" y="228600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/ ACC</a:t>
            </a:r>
            <a:endParaRPr lang="en-US" sz="950"/>
          </a:p>
        </p:txBody>
      </p:sp>
      <p:sp>
        <p:nvSpPr>
          <p:cNvPr id="48" name="Text 46"/>
          <p:cNvSpPr txBox="1"/>
          <p:nvPr/>
        </p:nvSpPr>
        <p:spPr>
          <a:xfrm>
            <a:off x="7479792" y="256032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runs the operation; result goes to ACC. PC increments, ready for the next fetch.</a:t>
            </a:r>
            <a:endParaRPr lang="en-US" sz="900"/>
          </a:p>
        </p:txBody>
      </p:sp>
      <p:sp>
        <p:nvSpPr>
          <p:cNvPr id="49" name="Text 47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(1–4) · Decode (5) · Execute (6) — then the cycle repeats from the new PC.</a:t>
            </a:r>
            <a:endParaRPr lang="en-US" sz="1150"/>
          </a:p>
        </p:txBody>
      </p:sp>
      <p:sp>
        <p:nvSpPr>
          <p:cNvPr id="50" name="Text 48"/>
          <p:cNvSpPr txBox="1"/>
          <p:nvPr/>
        </p:nvSpPr>
        <p:spPr>
          <a:xfrm>
            <a:off x="457200" y="3950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Cyrchu (1–4) · Datgodio (5) · Gweithredu (6)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1.3.1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happen — Little Man Computer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0876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 simulator — live demo</a:t>
            </a:r>
            <a:endParaRPr lang="en-US" sz="1400"/>
          </a:p>
          <a:p>
            <a:pPr marL="0" indent="0" algn="ctr">
              <a:buNone/>
            </a:pPr>
            <a:r>
              <a:rPr lang="en-US" sz="1400" i="1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 / screenshot here)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5669280" y="150876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/>
          </a:p>
        </p:txBody>
      </p:sp>
      <p:sp>
        <p:nvSpPr>
          <p:cNvPr id="13" name="Text 11"/>
          <p:cNvSpPr txBox="1"/>
          <p:nvPr/>
        </p:nvSpPr>
        <p:spPr>
          <a:xfrm>
            <a:off x="6217920" y="1618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short program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5806440" y="2039112"/>
            <a:ext cx="27432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add two numbers and output the result</a:t>
            </a:r>
            <a:endParaRPr lang="en-US" sz="12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one instruction at a time</a:t>
            </a:r>
            <a:endParaRPr lang="en-US" sz="12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each register change against the diagram on the last slide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task  ·  18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Fetch-execute register tracker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one instruction cycle. Answer the question at each stage before you can continue.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 → MAR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737360" y="2446020"/>
            <a:ext cx="109728" cy="914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47088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47088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→ RAM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127248" y="2446020"/>
            <a:ext cx="109728" cy="914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36976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36976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→ MDR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517136" y="2446020"/>
            <a:ext cx="109728" cy="914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26864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26864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MDR → CIR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907024" y="2446020"/>
            <a:ext cx="109728" cy="914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16752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16752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7296912" y="2446020"/>
            <a:ext cx="109728" cy="914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200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gates progress — “which register just changed?”, “what does MAR hold right now?”. Immediate feedback explains a wrong answer before you continue.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3200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completion summary shows which stages needed a retry — that's what drives the debrief that follows.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 ·  5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cycle catch people out?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4DCD7"/>
          </a:solidFill>
          <a:ln w="12700">
            <a:solidFill>
              <a:srgbClr val="F4DC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B3412F"/>
          </a:solidFill>
          <a:ln w="12700">
            <a:solidFill>
              <a:srgbClr val="B341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vs MDR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37490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holds an ADDRESS — where to look</a:t>
            </a:r>
            <a:endParaRPr lang="en-US" sz="12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holds the DATA — what was found there</a:t>
            </a:r>
            <a:endParaRPr lang="en-US" sz="12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mix-up: both are 4-letter registers that look similar on the diagram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636776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/>
          </a:p>
        </p:txBody>
      </p:sp>
      <p:sp>
        <p:nvSpPr>
          <p:cNvPr id="16" name="Text 14"/>
          <p:cNvSpPr txBox="1"/>
          <p:nvPr/>
        </p:nvSpPr>
        <p:spPr>
          <a:xfrm>
            <a:off x="521208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PC increment?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4800600" y="2039112"/>
            <a:ext cx="37490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instruction is fetched — not after it's executed</a:t>
            </a:r>
            <a:endParaRPr lang="en-US" sz="12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PC is already pointing at the NEXT instruction while the current one is still being decoded/executed</a:t>
            </a:r>
            <a:endParaRPr lang="en-US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·  6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1.3.1 — quick-fire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fetch-execute cycle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01 › Quizzes › 1.3.1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45720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tracker and the debrief this should move quickly — treat it as confirmation, not first exposure.</a:t>
            </a:r>
            <a:endParaRPr lang="en-US" sz="1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6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1.4.1 · 1.4.2</a:t>
            </a:r>
            <a:endParaRPr lang="en-US" sz="360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B9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Dulliau Mewnbwn ac Allbwn</a:t>
            </a:r>
            <a:endParaRPr lang="en-US" sz="1500"/>
          </a:p>
        </p:txBody>
      </p:sp>
      <p:sp>
        <p:nvSpPr>
          <p:cNvPr id="9" name="Text 7"/>
          <p:cNvSpPr txBox="1"/>
          <p:nvPr/>
        </p:nvSpPr>
        <p:spPr>
          <a:xfrm>
            <a:off x="457200" y="1965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use of contemporary methods and devices for input and output — and explain their suitability in different situations.</a:t>
            </a:r>
            <a:endParaRPr 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45720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I/O methods and devices</a:t>
            </a:r>
            <a:endParaRPr lang="en-US" sz="125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each one the right (or wrong) choice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5623560" y="2971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9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GEIRFA ALLWEDDOL  ·  KEY VOCABULARY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5623560" y="3273552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3291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Dyfais fewnbwn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5623560" y="3657600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675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device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Dyfais allbwn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623560" y="4041648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40599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/ appropriate</a:t>
            </a:r>
            <a:endParaRPr lang="en-US" sz="115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>
                <a:solidFill>
                  <a:srgbClr val="C9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Addas</a:t>
            </a:r>
            <a:endParaRPr lang="en-US" sz="11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1.4.1 · 1.4.2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and where it's the right choice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 · 1.4.2</a:t>
            </a:r>
            <a:endParaRPr lang="en-US" sz="9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to…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Touchscreen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Kiosks, tablets — intuitive, no extra hardware, but imprecise for detailed work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&amp; mouse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text entry and navigation — desktop / office work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/ QR scanner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and stock control — fast, low error rate on repetitive data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Microphone (voice input)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Hands-free or accessibility contexts — driving, mobility impairment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visual output — most contexts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/ laser printer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documents, or prototyping and manufacture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feedback, accessibility for visually impaired users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Braille display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— tactile output for blind or low-vision users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·  6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1.4.1 and 1.4.2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 · 1.4.2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quizzes, back to back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01 › Quizzes › 1.4.1, 1.4.2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·  2 min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whiteboard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1207008" y="14173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advantage AND one challenge of parallel processing.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/>
          </a:p>
        </p:txBody>
      </p:sp>
      <p:sp>
        <p:nvSpPr>
          <p:cNvPr id="13" name="Text 11"/>
          <p:cNvSpPr txBox="1"/>
          <p:nvPr/>
        </p:nvSpPr>
        <p:spPr>
          <a:xfrm>
            <a:off x="1207008" y="2377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PC, MAR, MDR, CIR, ACC in fetch-execute order and say what each holds.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1207008" y="33375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device and one situation where it would be the wrong choice.</a:t>
            </a:r>
            <a:endParaRPr 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·  for next lesson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iawn — before Lesson 03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02</a:t>
            </a:r>
            <a:endParaRPr lang="en-US" sz="90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(optional)</a:t>
            </a:r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LMC program to run at home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register values each cycle in a trace table — same format as the Topic 9 trace tables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200"/>
          </a:p>
        </p:txBody>
      </p:sp>
      <p:sp>
        <p:nvSpPr>
          <p:cNvPr id="16" name="Text 14"/>
          <p:cNvSpPr txBox="1"/>
          <p:nvPr/>
        </p:nvSpPr>
        <p:spPr>
          <a:xfrm>
            <a:off x="521208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felt shaky</a:t>
            </a:r>
            <a:endParaRPr lang="en-US" sz="1600"/>
          </a:p>
        </p:txBody>
      </p:sp>
      <p:sp>
        <p:nvSpPr>
          <p:cNvPr id="17" name="Text 15"/>
          <p:cNvSpPr txBox="1"/>
          <p:nvPr/>
        </p:nvSpPr>
        <p:spPr>
          <a:xfrm>
            <a:off x="4800600" y="2039112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the fetch-execute section of the Topic 1 notes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any tracker question you got wrong first time</a:t>
            </a:r>
            <a:endParaRPr lang="en-US" sz="13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of today's quizzes were completed in lesson — nothing new to do there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2638</Words>
  <Application>Microsoft Office PowerPoint</Application>
  <PresentationFormat>On-screen Show (16:9)</PresentationFormat>
  <Paragraphs>376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02 - Many Hands, One Cycle</dc:title>
  <dc:subject>PptxGenJS Presentation</dc:subject>
  <dc:creator>Aled Evans</dc:creator>
  <cp:lastModifiedBy>Aled Evans</cp:lastModifiedBy>
  <cp:revision>1</cp:revision>
  <dcterms:created xsi:type="dcterms:W3CDTF">2026-09-08T11:07:02Z</dcterms:created>
  <dcterms:modified xsi:type="dcterms:W3CDTF">2026-09-09T09:33:41Z</dcterms:modified>
</cp:coreProperties>
</file>