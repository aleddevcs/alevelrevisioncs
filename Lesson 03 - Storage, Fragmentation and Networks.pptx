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Unit 1 lesson. We left off at 1.4.2 last time. Today: 1.5.1 secondary storage, 1.6.1 fragmentation (builds directly off the HDD content from 1.5.1), and a lighter pass over 1.7.1 network basics — protocols/standards/handshaking are a later lesson, not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Storage and fragmentation share a teach block naturally — HDD characteristics from 1.5.1 feed straight into why fragmentation matters in 1.6.1. Networks is deliberately lighter: 1.7.1 is just network types and how they communicate — protocols, standards and handshaking are separate spec points for a future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Quizzes from Lesson 02 were homework. Kept brief today — unlike Lessons 01→02, today's content doesn't build directly on the retrieval, so 5 minutes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format as Lessons 01 and 02. Park any 'want explained' items on the board — the storage/fragmentation ones especially, since the interactive tasks later will answer most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revisiting the memory hierarchy from Lesson 01 — secondary storage is 'below' RAM, non-volatile, and the choice between devices always comes down to trading off the same handful of characteristics.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tour — one sentence of character per device. The comparison table on the next slide is where the detail (and the exam-style language)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reference for the interactive task that follows — every scenario in 'Pick the Right Storage' is really asking students to weigh these same five columns against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Individually or in pairs. Link/QR code goes here once built. Circulate and listen for justification language — 'because it's cheaper per byte' or 'because access needs to be fast' is the exam-style phrasing we want to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1.5.1 quiz. Should move quickly after the comparison table and the interactive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Builds directly on the HDD content just taught — the physical moving parts that make HDDs slower than SSD are exactly what makes fragmentation a performance problem in the first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deliberately simple — platter, spindle, arm, head. The key idea for the mark scheme: fragmentation means a file's data is split and stored on different parts of the disk, and HDD's magnetic technology (a physically moving head) is what makes that costly.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SSD/TRIM card is flagged because it's a very common source of confused exam answers — students sometimes describe 'defragmenting an SSD'. Keep the TRIM detail brief; it's context, not required spec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Individually or in pairs. Link/QR code goes here once built. The visual before/after mirrors this slide's diagram — point that continuity out if students seem unsure what they're looking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1.6.1 quiz. If short on time, this is fine to run at a brisk pace given the visualiser just covered the mechanics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kept narrow — just network types and the basic idea of how devices communicate over them. Protocols, networking standards and handshaking are separate spec points, saved for a later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is the organising idea — PAN smallest, WAN largest, and the Internet is explicitly named as the largest WAN (sets up the later 'internet as world-wide infrastructure' spec point without teaching it yet).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the key distinction is 'central server vs no central server'. Wired vs wireless as a second dimension can be a quick verbal add-on rather than its own diagram: cable vs radio waves, both can carry either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1.7.1 quiz. Keep pace brisk — this segment was intentionally light on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checks 1.5.1, Q2 checks 1.6.1, Q3 checks 1.7.1. Model answers: (1) e.g. magnetic tape for a portable field data collector — too slow; (2) HDD has a moving read/write head that must travel between scattered sectors, SSD has no moving parts so any location costs the same to access; (3) e.g. a LAN covers one site, a WAN connects LANs across a large area / the Internet is a WAN.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is deliberately light — today's three quizzes were all completed in lesson, so this is consolidation/extension only, not new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417320"/>
            <a:ext cx="1371600" cy="292608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1801368"/>
            <a:ext cx="1371600" cy="29260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185416"/>
            <a:ext cx="1371600" cy="292608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3246120"/>
            <a:ext cx="548640" cy="45720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3246120"/>
            <a:ext cx="548640" cy="45720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3246120"/>
            <a:ext cx="914" cy="86868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3703320"/>
            <a:ext cx="1097280" cy="914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3703320"/>
            <a:ext cx="548640" cy="41148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3703320"/>
            <a:ext cx="548640" cy="41148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18704" y="316382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70064" y="362102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7344" y="362102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18704" y="403250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Computer Science · Unit 1 · Topic 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901952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Fragmentation &amp; Networks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63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 devices · Fragmentation &amp; defragmentation · How networks communicate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1.5.1 · 1.6.1 · 1.7.1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90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0–5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Lesson 02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3444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930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5–15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takeaways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1168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6654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15–27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06654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06654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1.5.1 Secondary storage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8892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4378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27–40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284378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84378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Storage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6616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2102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40–45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362102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62102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1.5.1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4340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9826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45–55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39826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39826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 Fragmentation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2064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7550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55–66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17550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17550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Defrag visualiser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9788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5274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66–71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95274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95274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1.6.1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7512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2998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71–81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72998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72998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1.7.1 Networks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5236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0722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81–86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750722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50722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1.7.1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29600" y="1554480"/>
            <a:ext cx="726948" cy="1965960"/>
          </a:xfrm>
          <a:prstGeom prst="roundRect">
            <a:avLst>
              <a:gd name="adj" fmla="val 8805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84464" y="1627632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86–90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8284464" y="1865376"/>
            <a:ext cx="6172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284464" y="2450592"/>
            <a:ext cx="61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+ homework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functional characteristics of contemporary secondary storage devices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fragmentation and its consequences, and describe why defragmentation is needed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networks and how they communicate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 ·  5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lesson, quick-fire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37033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Whole-class quick-fire through homework quizzes 1.3.1, 1.4.1 and 1.4.2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 whiteboards, boards up together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which questions the class got wrong — revisit if they resurface today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618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here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039112"/>
            <a:ext cx="37033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storage and networking content is new — no direct dependency on the fetch-execute cycle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keeping registers and I/O ticking over protects earlier learning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and quick, so most of the lesson is new content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·  10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takeaways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937760" cy="2788920"/>
          </a:xfrm>
          <a:prstGeom prst="roundRect">
            <a:avLst>
              <a:gd name="adj" fmla="val 2623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2423160"/>
            <a:ext cx="914400" cy="9144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summary video — embed or link here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1508760"/>
            <a:ext cx="3017520" cy="2788920"/>
          </a:xfrm>
          <a:prstGeom prst="roundRect">
            <a:avLst>
              <a:gd name="adj" fmla="val 262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618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watch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039112"/>
            <a:ext cx="2743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3 key takeaways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1 thing you want explained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out at the end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1.5.1 · 1.6.1 · 1.7.1 at summary level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·  12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1.5.1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functional characteristics of contemporary secondary storage devices.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46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contemporary storage devices, side by side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characteristics that make one device better suited than another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access, cost per unit, portability, capacity, durability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1.5.1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contemporary storage devices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508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56232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platters, moving read/write head. Cheap per byte, large capacity, slower than SSD.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508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856232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moving parts, flash memory. Fast access, more expensive per byte than HDD.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508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(CD/DVD/Blu-ray)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856232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Laser-read discs. Cheap, portable, limited capacity, easily damaged.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063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tape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410712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access, very cheap per byte. Slow, but reliable for large-scale archival backup.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3063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/ USB drive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410712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portable solid-state storage. Fast, convenient, limited capacity.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3063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410712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on remote servers over a network. Accessible anywhere, depends on network speed.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1.5.1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them on the same characteristics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1.5.1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554480"/>
                <a:gridCol w="155448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of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capacity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(but slower than SSD)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(TBs)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disc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(GBs)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tape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(serial access)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(archival)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/ USB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Small–medium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(subscription)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Accessible anywhere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/ very 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1605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507992"/>
            <a:ext cx="79552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'compare' answer always trades characteristics against each other — e.g. tape is cheap and huge but far too slow for daily access; SSD is fast but costs more per byte.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task  ·  13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Storage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real-world scenario. Choose the best-fit storage device, and justify it against the characteristics you've just learned.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95728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large company needs to keep 10 years of financial records, rarely accessed but must never be lost.”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395728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scenarios, each with 4 device options. Pick one, then choose the characteristic that justifies it best. Feedback explains why the top choice wins.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·  5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1.5.1 — quick-fire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1.5.1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 characteristics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01 › Quizzes › 1.5.1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·  10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1.6.1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fragmentation and its consequences, and describe the need for defragmentation.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46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HDD files end up scattered across the disk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fragmentation slows down access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defragmentation does — and why SSDs are different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1.6.1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gets fragmented on a HDD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834640" cy="283464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C9D3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2402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2788920"/>
            <a:ext cx="365760" cy="365760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371600"/>
            <a:ext cx="73152" cy="16002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1325880"/>
            <a:ext cx="457200" cy="201168"/>
          </a:xfrm>
          <a:prstGeom prst="rect">
            <a:avLst>
              <a:gd name="adj" fmla="val 13636"/>
            </a:avLst>
          </a:prstGeom>
          <a:solidFill>
            <a:srgbClr val="7A4512"/>
          </a:solidFill>
          <a:ln w="12700">
            <a:solidFill>
              <a:srgbClr val="7A45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480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platter + read/write head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49040" y="150876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862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16184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picture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2039112"/>
            <a:ext cx="4663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on a spinning magnetic platter, in tracks and sectors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read/write head moves across the disk to reach each sector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49040" y="283464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96265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29443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fragmentation comes from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3364992"/>
            <a:ext cx="4663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doesn't always fit in one contiguous space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split and stored in whatever free sectors are available — often scattered across the disk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the disk fills and empties over time, the more fragmented it becomes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1.6.1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Consequences, and what defragmentation does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4DCD7"/>
          </a:solidFill>
          <a:ln w="12700">
            <a:solidFill>
              <a:srgbClr val="F4DC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B3412F"/>
          </a:solidFill>
          <a:ln w="12700">
            <a:solidFill>
              <a:srgbClr val="B341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fragmentation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read/write head must move to several different positions to read one file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takes time — slower access speeds overall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fragmentation → more head movement → more wear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636776"/>
            <a:ext cx="329184" cy="329184"/>
          </a:xfrm>
          <a:prstGeom prst="ellipse">
            <a:avLst/>
          </a:prstGeom>
          <a:solidFill>
            <a:srgbClr val="3C8D5A"/>
          </a:solidFill>
          <a:ln w="12700">
            <a:solidFill>
              <a:srgbClr val="3C8D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defragmentation does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03911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rearranges fragmented data so each file's parts sit closer together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positions for the head to move between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speeds improve as a result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739896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739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721608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 mix-up: SSDs don't need defragmenting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1422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SSDs have no moving head — random access to any location costs the same, so scattered data isn't slower to read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SSDs use a different maintenance process (TRIM) instead — worth a sentence, not required depth for this spec point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task  ·  11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fragmentation visualiser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disk map with a file scattered across it. Defragment it and watch what changes.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41248" y="2286000"/>
            <a:ext cx="329184" cy="329184"/>
          </a:xfrm>
          <a:prstGeom prst="rect">
            <a:avLst/>
          </a:prstGeom>
          <a:solidFill>
            <a:srgbClr val="2B3A4A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5296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25296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09344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9344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93392" y="2286000"/>
            <a:ext cx="329184" cy="329184"/>
          </a:xfrm>
          <a:prstGeom prst="rect">
            <a:avLst/>
          </a:prstGeom>
          <a:solidFill>
            <a:srgbClr val="2B3A4A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2286000"/>
            <a:ext cx="329184" cy="329184"/>
          </a:xfrm>
          <a:prstGeom prst="rect">
            <a:avLst/>
          </a:prstGeom>
          <a:solidFill>
            <a:srgbClr val="2B3A4A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61488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61488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45536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45536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29584" y="2286000"/>
            <a:ext cx="329184" cy="329184"/>
          </a:xfrm>
          <a:prstGeom prst="rect">
            <a:avLst/>
          </a:prstGeom>
          <a:solidFill>
            <a:srgbClr val="2B3A4A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13632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13632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670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scattered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60520" y="2450592"/>
            <a:ext cx="502920" cy="914"/>
          </a:xfrm>
          <a:prstGeom prst="line">
            <a:avLst/>
          </a:prstGeom>
          <a:noFill/>
          <a:ln w="2540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46320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230368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30368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14416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14416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98464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98464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82512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82512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66560" y="2286000"/>
            <a:ext cx="329184" cy="329184"/>
          </a:xfrm>
          <a:prstGeom prst="rect">
            <a:avLst/>
          </a:prstGeom>
          <a:solidFill>
            <a:srgbClr val="D982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50608" y="2286000"/>
            <a:ext cx="329184" cy="329184"/>
          </a:xfrm>
          <a:prstGeom prst="rect">
            <a:avLst/>
          </a:prstGeom>
          <a:solidFill>
            <a:srgbClr val="2B3A4A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34656" y="2286000"/>
            <a:ext cx="329184" cy="329184"/>
          </a:xfrm>
          <a:prstGeom prst="rect">
            <a:avLst/>
          </a:prstGeom>
          <a:solidFill>
            <a:srgbClr val="2B3A4A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18704" y="2286000"/>
            <a:ext cx="329184" cy="329184"/>
          </a:xfrm>
          <a:prstGeom prst="rect">
            <a:avLst/>
          </a:prstGeom>
          <a:solidFill>
            <a:srgbClr val="2B3A4A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02752" y="2286000"/>
            <a:ext cx="329184" cy="329184"/>
          </a:xfrm>
          <a:prstGeom prst="rect">
            <a:avLst/>
          </a:prstGeom>
          <a:solidFill>
            <a:srgbClr val="2B3A4A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0" y="2670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defragmented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310896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32369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436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05840" y="3218688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94360" y="3639312"/>
            <a:ext cx="7955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or tap to move blocks — the task tracks how many head movements each file needs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Defragment and compare the movement count before vs after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question set checks the 'why' behind what you just watched happen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·  5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1.6.1 — quick-fire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and defragmentation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01 › Quizzes › 1.6.1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·  10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1.7.1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networks and how they communicate.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46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types of network, from personal to worldwide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vs peer-to-peer communication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vs wireless transmission, at a basic level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1.7.1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personal to worldwide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57276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02996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Area Network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606040"/>
            <a:ext cx="1746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person's own devices — e.g. phone to smartwatch or wireless earbuds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91363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114800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4630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70048" y="157276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670048" y="202996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Area Network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670048" y="2606040"/>
            <a:ext cx="1746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site — e.g. a school or office building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391363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670048" y="4114800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building / site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73168" y="157276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WLAN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773168" y="202996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LAN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2606040"/>
            <a:ext cx="1746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 using wireless connections instead of cables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773168" y="391363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773168" y="4114800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building / site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4630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76288" y="157276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45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876288" y="202996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76288" y="2606040"/>
            <a:ext cx="1746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LANs across a large area — the Internet is the largest WAN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76288" y="391363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876288" y="4114800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/ countries / global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1.7.1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devices on a network communicate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1.7.1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91640" y="173736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80360"/>
            <a:ext cx="1005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43000" y="2286000"/>
            <a:ext cx="914" cy="594360"/>
          </a:xfrm>
          <a:prstGeom prst="line">
            <a:avLst/>
          </a:prstGeom>
          <a:noFill/>
          <a:ln w="19050">
            <a:solidFill>
              <a:srgbClr val="2B3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0240" y="2880360"/>
            <a:ext cx="1005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2286000"/>
            <a:ext cx="914" cy="594360"/>
          </a:xfrm>
          <a:prstGeom prst="line">
            <a:avLst/>
          </a:prstGeom>
          <a:noFill/>
          <a:ln w="19050">
            <a:solidFill>
              <a:srgbClr val="2B3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2880360"/>
            <a:ext cx="10058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03320" y="2286000"/>
            <a:ext cx="914" cy="594360"/>
          </a:xfrm>
          <a:prstGeom prst="line">
            <a:avLst/>
          </a:prstGeom>
          <a:noFill/>
          <a:ln w="19050">
            <a:solidFill>
              <a:srgbClr val="2B3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request; a central server provides the resource or service — e.g. a website, a file share.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1828800"/>
            <a:ext cx="731520" cy="64008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828800"/>
            <a:ext cx="731520" cy="64008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828800"/>
            <a:ext cx="914" cy="128016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2468880"/>
            <a:ext cx="1463040" cy="914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2468880"/>
            <a:ext cx="731520" cy="64008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468880"/>
            <a:ext cx="731520" cy="640080"/>
          </a:xfrm>
          <a:prstGeom prst="line">
            <a:avLst/>
          </a:prstGeom>
          <a:noFill/>
          <a:ln w="15875">
            <a:solidFill>
              <a:srgbClr val="2B3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627632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97880" y="1627632"/>
            <a:ext cx="82296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66360" y="2267712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66360" y="2267712"/>
            <a:ext cx="82296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29400" y="2267712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9400" y="2267712"/>
            <a:ext cx="82296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97880" y="2907792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97880" y="2907792"/>
            <a:ext cx="82296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4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4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can act as both client and server — sharing directly with each other, with no central server.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·  5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1.7.1 — quick-fire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1.7.1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and how they communicate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01 › Quizzes › 1.7.1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·  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whiteboard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4173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storage device and one situation where it would be the wrong choice.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3774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fragmentation slows down a HDD but not an SSD.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3375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difference between a LAN and a WAN.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·  for next lesson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Lesson 04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(optional)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one contemporary cloud storage provider and note its stated durability/reliability claims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the characteristics table from today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felt shaky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039112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the storage and fragmentation sections of the Topic 1 notes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any 'Pick the Right Storage' scenario you got wrong first time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of today's quizzes were completed in lesson — nothing new to do there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03 - Storage, Fragmentation and Networks</dc:title>
  <dc:subject>PptxGenJS Presentation</dc:subject>
  <dc:creator>Aled Evans</dc:creator>
  <cp:lastModifiedBy>Aled Evans</cp:lastModifiedBy>
  <cp:revision>1</cp:revision>
  <dcterms:created xsi:type="dcterms:W3CDTF">2026-09-14T07:37:36Z</dcterms:created>
  <dcterms:modified xsi:type="dcterms:W3CDTF">2026-09-14T07:37:36Z</dcterms:modified>
</cp:coreProperties>
</file>