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F171426-02A5-9511-C0D5-3503A7A10E2B}">
          <p14:sldIdLst>
            <p14:sldId id="256"/>
            <p14:sldId id="257"/>
            <p14:sldId id="258"/>
            <p14:sldId id="259"/>
            <p14:sldId id="260"/>
          </p14:sldIdLst>
        </p14:section>
        <p14:section name="Serial and parallel" id="{83D399CA-8FE2-B78F-5BED-456720107141}">
          <p14:sldIdLst>
            <p14:sldId id="261"/>
            <p14:sldId id="262"/>
            <p14:sldId id="263"/>
            <p14:sldId id="264"/>
            <p14:sldId id="265"/>
            <p14:sldId id="266"/>
            <p14:sldId id="267"/>
            <p14:sldId id="268"/>
            <p14:sldId id="269"/>
            <p14:sldId id="270"/>
          </p14:sldIdLst>
        </p14:section>
        <p14:section name="Simplex and duplex" id="{063AAC34-F5E2-8EBC-7DD9-4D5DE7217FAA}">
          <p14:sldIdLst>
            <p14:sldId id="271"/>
            <p14:sldId id="272"/>
            <p14:sldId id="273"/>
            <p14:sldId id="274"/>
            <p14:sldId id="275"/>
            <p14:sldId id="276"/>
          </p14:sldIdLst>
        </p14:section>
        <p14:section name="Exam practice and plenary" id="{F365540A-2BDE-19B4-F747-3ACACBC0F9EF}">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2" d="100"/>
          <a:sy n="162" d="100"/>
        </p:scale>
        <p:origin x="144"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d Evans" userId="6f7e106d-40fd-400d-8500-fbffefdddad3" providerId="ADAL" clId="{9C50400A-926F-4AC1-BAF0-09988A1F867F}"/>
    <pc:docChg chg="custSel modSld">
      <pc:chgData name="Aled Evans" userId="6f7e106d-40fd-400d-8500-fbffefdddad3" providerId="ADAL" clId="{9C50400A-926F-4AC1-BAF0-09988A1F867F}" dt="2026-10-07T08:00:37.152" v="54" actId="20577"/>
      <pc:docMkLst>
        <pc:docMk/>
      </pc:docMkLst>
      <pc:sldChg chg="delSp modSp mod">
        <pc:chgData name="Aled Evans" userId="6f7e106d-40fd-400d-8500-fbffefdddad3" providerId="ADAL" clId="{9C50400A-926F-4AC1-BAF0-09988A1F867F}" dt="2026-10-07T08:00:37.152" v="54" actId="20577"/>
        <pc:sldMkLst>
          <pc:docMk/>
          <pc:sldMk cId="0" sldId="258"/>
        </pc:sldMkLst>
        <pc:graphicFrameChg chg="modGraphic">
          <ac:chgData name="Aled Evans" userId="6f7e106d-40fd-400d-8500-fbffefdddad3" providerId="ADAL" clId="{9C50400A-926F-4AC1-BAF0-09988A1F867F}" dt="2026-10-07T08:00:37.152" v="54" actId="20577"/>
          <ac:graphicFrameMkLst>
            <pc:docMk/>
            <pc:sldMk cId="0" sldId="258"/>
            <ac:graphicFrameMk id="4"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603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Lesson 1 of 3 on Topic 3 (spec 3.1.1 and 3.1.2). Post the Teams message with objectives and key terms before the lesson starts.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and 2 cover 3.1.1 (first half of the lesson), 3 and 4 cover 3.1.2. Point out that the topic has appeared on every Unit 1 paper since 2022.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Welsh terminology: verify every term against Y Termiadur Addysg before posting to Teams. Skew and crosstalk in particular need checking.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terminology yet: students sort on intuition (as with the light-switch starter in Topic 2). Answers: one way = TV broadcast, keyboard to PC, baby monitor. Taking turns = walkie-talkie. At once = phone call, video call. Keep the groups visible; slide 17 names them. Self-paced HTML version to follow.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first: one bit at a time, single channel. Stress that "single wire" is a simplification: USB has power and ground wires too, but one data path in each direction.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both use the same clock speed, how much faster is parallel with 8 wires? (8 times, in theory.) Then ask why we stopped using parallel printer and IDE cables. That question leads into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for the top grades: skew is WHY parallel is limited to short distances. The mark scheme also credits needing thicker wire over long distances to reduce signal degradation.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or photograph this table. Push the speed row: older textbooks say "serial is slower", but modern serial links beat parallel because they can run at much higher clock speeds.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answer this fully yet. Students discover it themselves in Bit race mission 3, then return to it in the plenary.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one screen. Circulate during mission 2: ask "what is the word for that?" (skew). Mission 3 reveals that serial can be clocked faster. Answers are in the tool behind reveals.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credited in the 2023 mark scheme: keyboard (simplex), walkie-talkie (half duplex), broadband (full duplex). For half duplex the dashed arrow means "possible, but not while A is sending".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check their starter sort and relabel the groups with the technical terms.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Duplex detective HTML to follow. Tricky cards include a baby monitor (simplex) vs a two-way baby monitor with talk-back (half duplex), a CB radio, and a games controller with rumble.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self-mark in a different colour pen. Also accept other sensible examples (e.g. TV broadcast, CB radio, phone call). Collect a show of hands on 6/6.</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Parallel sends more bits per clock tick, but skew and crosstalk mean it must run at a lower clock speed and over short distances. Serial has one data wire, so it has no skew and can be clocked much faster, which makes it faster overall and reliable over longer cables. Next lesson: multiplexing, switching and packets.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2801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788920"/>
            <a:ext cx="8046720" cy="914400"/>
          </a:xfrm>
          <a:prstGeom prst="rect">
            <a:avLst/>
          </a:prstGeom>
          <a:noFill/>
          <a:ln/>
        </p:spPr>
        <p:txBody>
          <a:bodyPr wrap="square" rtlCol="0"/>
          <a:lstStyle>
            <a:lvl1pPr marL="0" indent="0">
              <a:buNone/>
              <a:defRPr lang="en-US" sz="1800" dirty="0">
                <a:solidFill>
                  <a:schemeClr val="accent6"/>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554480"/>
            <a:ext cx="8046720" cy="100584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3" name="Text 0"/>
          <p:cNvSpPr>
            <a:spLocks noGrp="1"/>
          </p:cNvSpPr>
          <p:nvPr>
            <p:ph type="body" idx="101" hasCustomPrompt="1"/>
          </p:nvPr>
        </p:nvSpPr>
        <p:spPr>
          <a:xfrm>
            <a:off x="548640" y="2697480"/>
            <a:ext cx="8046720" cy="822960"/>
          </a:xfrm>
          <a:prstGeom prst="rect">
            <a:avLst/>
          </a:prstGeom>
          <a:noFill/>
          <a:ln/>
        </p:spPr>
        <p:txBody>
          <a:bodyPr wrap="square" rtlCol="0"/>
          <a:lstStyle>
            <a:lvl1pPr marL="0" indent="0">
              <a:buNone/>
              <a:defRPr lang="en-US" sz="1800" dirty="0">
                <a:solidFill>
                  <a:schemeClr val="bg1"/>
                </a:solidFill>
              </a:defRPr>
            </a:lvl1pPr>
          </a:lstStyle>
          <a:p>
            <a:pPr marL="0" indent="0">
              <a:buNone/>
            </a:pPr>
            <a:endParaRPr lang="en-US" sz="1800" dirty="0"/>
          </a:p>
        </p:txBody>
      </p:sp>
      <p:sp>
        <p:nvSpPr>
          <p:cNvPr id="4"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900" dirty="0">
                <a:solidFill>
                  <a:schemeClr val="bg1"/>
                </a:solidFill>
              </a:rPr>
              <a:t>AS Computer Science  |  Unit 1 Topic 3  |  Lesson 1</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900" dirty="0">
                <a:solidFill>
                  <a:schemeClr val="accent6"/>
                </a:solidFill>
              </a:rPr>
              <a:t>AS Computer Science  |  Unit 1 Topic 3  |  Lesson 1</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ASK">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900" dirty="0">
                <a:solidFill>
                  <a:schemeClr val="accent6"/>
                </a:solidFill>
              </a:rPr>
              <a:t>AS Computer Science  |  Unit 1 Topic 3  |  Lesson 1</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280160"/>
          </a:xfrm>
          <a:prstGeom prst="rect">
            <a:avLst/>
          </a:prstGeom>
          <a:noFill/>
          <a:ln/>
        </p:spPr>
        <p:txBody>
          <a:bodyPr wrap="square" lIns="0" tIns="0" rIns="0" bIns="0" rtlCol="0" anchor="b"/>
          <a:lstStyle/>
          <a:p>
            <a:pPr marL="0" indent="0" algn="l">
              <a:buNone/>
            </a:pPr>
            <a:r>
              <a:rPr lang="en-US" sz="4000" b="1" dirty="0">
                <a:solidFill>
                  <a:schemeClr val="bg1"/>
                </a:solidFill>
              </a:rPr>
              <a:t>How data travels</a:t>
            </a:r>
            <a:endParaRPr lang="en-US" sz="4000" dirty="0"/>
          </a:p>
        </p:txBody>
      </p:sp>
      <p:sp>
        <p:nvSpPr>
          <p:cNvPr id="3" name="Text 0"/>
          <p:cNvSpPr>
            <a:spLocks noGrp="1"/>
          </p:cNvSpPr>
          <p:nvPr>
            <p:ph type="body" idx="101" hasCustomPrompt="1"/>
          </p:nvPr>
        </p:nvSpPr>
        <p:spPr>
          <a:xfrm>
            <a:off x="548640" y="2788920"/>
            <a:ext cx="8046720" cy="914400"/>
          </a:xfrm>
          <a:prstGeom prst="rect">
            <a:avLst/>
          </a:prstGeom>
          <a:noFill/>
          <a:ln/>
        </p:spPr>
        <p:txBody>
          <a:bodyPr wrap="square" lIns="0" tIns="0" rIns="0" bIns="0" rtlCol="0" anchor="t"/>
          <a:lstStyle/>
          <a:p>
            <a:pPr marL="0" indent="0">
              <a:buNone/>
            </a:pPr>
            <a:r>
              <a:rPr lang="en-US" sz="1800" dirty="0">
                <a:solidFill>
                  <a:schemeClr val="accent6"/>
                </a:solidFill>
              </a:rPr>
              <a:t>Topic 3: Data transmission  |  Lesson 1 of 3</a:t>
            </a:r>
            <a:endParaRPr lang="en-US" sz="1800" dirty="0"/>
          </a:p>
          <a:p>
            <a:pPr marL="0" indent="0">
              <a:buNone/>
            </a:pPr>
            <a:r>
              <a:rPr lang="en-US" sz="1800" dirty="0">
                <a:solidFill>
                  <a:schemeClr val="accent6"/>
                </a:solidFill>
              </a:rPr>
              <a:t>Serial and parallel  |  Simplex, half duplex and full duplex</a:t>
            </a:r>
            <a:endParaRPr lang="en-US" sz="1800" dirty="0"/>
          </a:p>
        </p:txBody>
      </p:sp>
      <p:sp>
        <p:nvSpPr>
          <p:cNvPr id="4" name="Shape 2"/>
          <p:cNvSpPr/>
          <p:nvPr/>
        </p:nvSpPr>
        <p:spPr>
          <a:xfrm>
            <a:off x="548640" y="411480"/>
            <a:ext cx="8046720" cy="0"/>
          </a:xfrm>
          <a:prstGeom prst="line">
            <a:avLst/>
          </a:prstGeom>
          <a:noFill/>
          <a:ln w="12700">
            <a:solidFill>
              <a:schemeClr val="accent6"/>
            </a:solidFill>
            <a:prstDash val="solid"/>
          </a:ln>
        </p:spPr>
        <p:txBody>
          <a:bodyPr/>
          <a:lstStyle/>
          <a:p>
            <a:endParaRPr lang="en-GB"/>
          </a:p>
        </p:txBody>
      </p:sp>
      <p:sp>
        <p:nvSpPr>
          <p:cNvPr id="5" name="Shape 3"/>
          <p:cNvSpPr/>
          <p:nvPr/>
        </p:nvSpPr>
        <p:spPr>
          <a:xfrm>
            <a:off x="548640" y="521208"/>
            <a:ext cx="8046720" cy="0"/>
          </a:xfrm>
          <a:prstGeom prst="line">
            <a:avLst/>
          </a:prstGeom>
          <a:noFill/>
          <a:ln w="12700">
            <a:solidFill>
              <a:schemeClr val="accent1"/>
            </a:solidFill>
            <a:prstDash val="solid"/>
          </a:ln>
        </p:spPr>
        <p:txBody>
          <a:bodyPr/>
          <a:lstStyle/>
          <a:p>
            <a:endParaRPr lang="en-GB"/>
          </a:p>
        </p:txBody>
      </p:sp>
      <p:sp>
        <p:nvSpPr>
          <p:cNvPr id="6" name="Shape 4"/>
          <p:cNvSpPr/>
          <p:nvPr/>
        </p:nvSpPr>
        <p:spPr>
          <a:xfrm>
            <a:off x="548640" y="630936"/>
            <a:ext cx="8046720" cy="0"/>
          </a:xfrm>
          <a:prstGeom prst="line">
            <a:avLst/>
          </a:prstGeom>
          <a:noFill/>
          <a:ln w="12700">
            <a:solidFill>
              <a:schemeClr val="accent6"/>
            </a:solidFill>
            <a:prstDash val="solid"/>
          </a:ln>
        </p:spPr>
        <p:txBody>
          <a:bodyPr/>
          <a:lstStyle/>
          <a:p>
            <a:endParaRPr lang="en-GB"/>
          </a:p>
        </p:txBody>
      </p:sp>
      <p:sp>
        <p:nvSpPr>
          <p:cNvPr id="7" name="Shape 5"/>
          <p:cNvSpPr/>
          <p:nvPr/>
        </p:nvSpPr>
        <p:spPr>
          <a:xfrm>
            <a:off x="548640" y="740664"/>
            <a:ext cx="8046720" cy="0"/>
          </a:xfrm>
          <a:prstGeom prst="line">
            <a:avLst/>
          </a:prstGeom>
          <a:noFill/>
          <a:ln w="12700">
            <a:solidFill>
              <a:schemeClr val="accent1"/>
            </a:solidFill>
            <a:prstDash val="solid"/>
          </a:ln>
        </p:spPr>
        <p:txBody>
          <a:bodyPr/>
          <a:lstStyle/>
          <a:p>
            <a:endParaRPr lang="en-GB"/>
          </a:p>
        </p:txBody>
      </p:sp>
      <p:sp>
        <p:nvSpPr>
          <p:cNvPr id="8" name="Shape 6"/>
          <p:cNvSpPr/>
          <p:nvPr/>
        </p:nvSpPr>
        <p:spPr>
          <a:xfrm>
            <a:off x="548640" y="850392"/>
            <a:ext cx="8046720" cy="0"/>
          </a:xfrm>
          <a:prstGeom prst="line">
            <a:avLst/>
          </a:prstGeom>
          <a:noFill/>
          <a:ln w="12700">
            <a:solidFill>
              <a:schemeClr val="accent6"/>
            </a:solidFill>
            <a:prstDash val="solid"/>
          </a:ln>
        </p:spPr>
        <p:txBody>
          <a:bodyPr/>
          <a:lstStyle/>
          <a:p>
            <a:endParaRPr lang="en-GB"/>
          </a:p>
        </p:txBody>
      </p:sp>
      <p:sp>
        <p:nvSpPr>
          <p:cNvPr id="9" name="Shape 7"/>
          <p:cNvSpPr/>
          <p:nvPr/>
        </p:nvSpPr>
        <p:spPr>
          <a:xfrm>
            <a:off x="548640" y="960120"/>
            <a:ext cx="8046720" cy="0"/>
          </a:xfrm>
          <a:prstGeom prst="line">
            <a:avLst/>
          </a:prstGeom>
          <a:noFill/>
          <a:ln w="12700">
            <a:solidFill>
              <a:schemeClr val="accent1"/>
            </a:solidFill>
            <a:prstDash val="solid"/>
          </a:ln>
        </p:spPr>
        <p:txBody>
          <a:bodyPr/>
          <a:lstStyle/>
          <a:p>
            <a:endParaRPr lang="en-GB"/>
          </a:p>
        </p:txBody>
      </p:sp>
      <p:sp>
        <p:nvSpPr>
          <p:cNvPr id="10" name="Shape 8"/>
          <p:cNvSpPr/>
          <p:nvPr/>
        </p:nvSpPr>
        <p:spPr>
          <a:xfrm>
            <a:off x="548640" y="1069848"/>
            <a:ext cx="8046720" cy="0"/>
          </a:xfrm>
          <a:prstGeom prst="line">
            <a:avLst/>
          </a:prstGeom>
          <a:noFill/>
          <a:ln w="12700">
            <a:solidFill>
              <a:schemeClr val="accent6"/>
            </a:solidFill>
            <a:prstDash val="solid"/>
          </a:ln>
        </p:spPr>
        <p:txBody>
          <a:bodyPr/>
          <a:lstStyle/>
          <a:p>
            <a:endParaRPr lang="en-GB"/>
          </a:p>
        </p:txBody>
      </p:sp>
      <p:sp>
        <p:nvSpPr>
          <p:cNvPr id="11" name="Shape 9"/>
          <p:cNvSpPr/>
          <p:nvPr/>
        </p:nvSpPr>
        <p:spPr>
          <a:xfrm>
            <a:off x="548640" y="1179576"/>
            <a:ext cx="8046720" cy="0"/>
          </a:xfrm>
          <a:prstGeom prst="line">
            <a:avLst/>
          </a:prstGeom>
          <a:noFill/>
          <a:ln w="12700">
            <a:solidFill>
              <a:schemeClr val="accent1"/>
            </a:solidFill>
            <a:prstDash val="solid"/>
          </a:ln>
        </p:spPr>
        <p:txBody>
          <a:bodyPr/>
          <a:lstStyle/>
          <a:p>
            <a:endParaRPr lang="en-GB"/>
          </a:p>
        </p:txBody>
      </p:sp>
      <p:sp>
        <p:nvSpPr>
          <p:cNvPr id="12" name="Shape 10"/>
          <p:cNvSpPr/>
          <p:nvPr/>
        </p:nvSpPr>
        <p:spPr>
          <a:xfrm>
            <a:off x="6903720" y="365760"/>
            <a:ext cx="91440" cy="91440"/>
          </a:xfrm>
          <a:prstGeom prst="ellipse">
            <a:avLst/>
          </a:prstGeom>
          <a:solidFill>
            <a:schemeClr val="accent6"/>
          </a:solidFill>
          <a:ln w="19050">
            <a:solidFill>
              <a:schemeClr val="accent6"/>
            </a:solidFill>
            <a:prstDash val="solid"/>
          </a:ln>
        </p:spPr>
        <p:txBody>
          <a:bodyPr/>
          <a:lstStyle/>
          <a:p>
            <a:endParaRPr lang="en-GB"/>
          </a:p>
        </p:txBody>
      </p:sp>
      <p:sp>
        <p:nvSpPr>
          <p:cNvPr id="13" name="Text 11"/>
          <p:cNvSpPr txBox="1"/>
          <p:nvPr/>
        </p:nvSpPr>
        <p:spPr>
          <a:xfrm>
            <a:off x="6903720" y="365760"/>
            <a:ext cx="91440" cy="9144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4" name="Shape 12"/>
          <p:cNvSpPr/>
          <p:nvPr/>
        </p:nvSpPr>
        <p:spPr>
          <a:xfrm>
            <a:off x="6903720" y="475488"/>
            <a:ext cx="91440" cy="91440"/>
          </a:xfrm>
          <a:prstGeom prst="ellipse">
            <a:avLst/>
          </a:prstGeom>
          <a:solidFill>
            <a:schemeClr val="accent2"/>
          </a:solidFill>
          <a:ln w="19050">
            <a:solidFill>
              <a:schemeClr val="accent2"/>
            </a:solidFill>
            <a:prstDash val="solid"/>
          </a:ln>
        </p:spPr>
        <p:txBody>
          <a:bodyPr/>
          <a:lstStyle/>
          <a:p>
            <a:endParaRPr lang="en-GB"/>
          </a:p>
        </p:txBody>
      </p:sp>
      <p:sp>
        <p:nvSpPr>
          <p:cNvPr id="15" name="Text 13"/>
          <p:cNvSpPr txBox="1"/>
          <p:nvPr/>
        </p:nvSpPr>
        <p:spPr>
          <a:xfrm>
            <a:off x="6903720" y="475488"/>
            <a:ext cx="91440" cy="9144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6" name="Shape 14"/>
          <p:cNvSpPr/>
          <p:nvPr/>
        </p:nvSpPr>
        <p:spPr>
          <a:xfrm>
            <a:off x="6903720" y="585216"/>
            <a:ext cx="91440" cy="91440"/>
          </a:xfrm>
          <a:prstGeom prst="ellipse">
            <a:avLst/>
          </a:prstGeom>
          <a:solidFill>
            <a:schemeClr val="accent6"/>
          </a:solidFill>
          <a:ln w="19050">
            <a:solidFill>
              <a:schemeClr val="accent6"/>
            </a:solidFill>
            <a:prstDash val="solid"/>
          </a:ln>
        </p:spPr>
        <p:txBody>
          <a:bodyPr/>
          <a:lstStyle/>
          <a:p>
            <a:endParaRPr lang="en-GB"/>
          </a:p>
        </p:txBody>
      </p:sp>
      <p:sp>
        <p:nvSpPr>
          <p:cNvPr id="17" name="Text 15"/>
          <p:cNvSpPr txBox="1"/>
          <p:nvPr/>
        </p:nvSpPr>
        <p:spPr>
          <a:xfrm>
            <a:off x="6903720" y="585216"/>
            <a:ext cx="91440" cy="9144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8" name="Shape 16"/>
          <p:cNvSpPr/>
          <p:nvPr/>
        </p:nvSpPr>
        <p:spPr>
          <a:xfrm>
            <a:off x="6903720" y="694944"/>
            <a:ext cx="91440" cy="91440"/>
          </a:xfrm>
          <a:prstGeom prst="ellipse">
            <a:avLst/>
          </a:prstGeom>
          <a:solidFill>
            <a:schemeClr val="accent6"/>
          </a:solidFill>
          <a:ln w="19050">
            <a:solidFill>
              <a:schemeClr val="accent6"/>
            </a:solidFill>
            <a:prstDash val="solid"/>
          </a:ln>
        </p:spPr>
        <p:txBody>
          <a:bodyPr/>
          <a:lstStyle/>
          <a:p>
            <a:endParaRPr lang="en-GB"/>
          </a:p>
        </p:txBody>
      </p:sp>
      <p:sp>
        <p:nvSpPr>
          <p:cNvPr id="19" name="Text 17"/>
          <p:cNvSpPr txBox="1"/>
          <p:nvPr/>
        </p:nvSpPr>
        <p:spPr>
          <a:xfrm>
            <a:off x="6903720" y="694944"/>
            <a:ext cx="91440" cy="9144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20" name="Shape 18"/>
          <p:cNvSpPr/>
          <p:nvPr/>
        </p:nvSpPr>
        <p:spPr>
          <a:xfrm>
            <a:off x="6903720" y="804672"/>
            <a:ext cx="91440" cy="91440"/>
          </a:xfrm>
          <a:prstGeom prst="ellipse">
            <a:avLst/>
          </a:prstGeom>
          <a:solidFill>
            <a:schemeClr val="accent6"/>
          </a:solidFill>
          <a:ln w="19050">
            <a:solidFill>
              <a:schemeClr val="accent6"/>
            </a:solidFill>
            <a:prstDash val="solid"/>
          </a:ln>
        </p:spPr>
        <p:txBody>
          <a:bodyPr/>
          <a:lstStyle/>
          <a:p>
            <a:endParaRPr lang="en-GB"/>
          </a:p>
        </p:txBody>
      </p:sp>
      <p:sp>
        <p:nvSpPr>
          <p:cNvPr id="21" name="Text 19"/>
          <p:cNvSpPr txBox="1"/>
          <p:nvPr/>
        </p:nvSpPr>
        <p:spPr>
          <a:xfrm>
            <a:off x="6903720" y="804672"/>
            <a:ext cx="91440" cy="9144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22" name="Shape 20"/>
          <p:cNvSpPr/>
          <p:nvPr/>
        </p:nvSpPr>
        <p:spPr>
          <a:xfrm>
            <a:off x="6903720" y="914400"/>
            <a:ext cx="91440" cy="91440"/>
          </a:xfrm>
          <a:prstGeom prst="ellipse">
            <a:avLst/>
          </a:prstGeom>
          <a:solidFill>
            <a:schemeClr val="accent2"/>
          </a:solidFill>
          <a:ln w="19050">
            <a:solidFill>
              <a:schemeClr val="accent2"/>
            </a:solidFill>
            <a:prstDash val="solid"/>
          </a:ln>
        </p:spPr>
        <p:txBody>
          <a:bodyPr/>
          <a:lstStyle/>
          <a:p>
            <a:endParaRPr lang="en-GB"/>
          </a:p>
        </p:txBody>
      </p:sp>
      <p:sp>
        <p:nvSpPr>
          <p:cNvPr id="23" name="Text 21"/>
          <p:cNvSpPr txBox="1"/>
          <p:nvPr/>
        </p:nvSpPr>
        <p:spPr>
          <a:xfrm>
            <a:off x="6903720" y="914400"/>
            <a:ext cx="91440" cy="9144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24" name="Shape 22"/>
          <p:cNvSpPr/>
          <p:nvPr/>
        </p:nvSpPr>
        <p:spPr>
          <a:xfrm>
            <a:off x="6903720" y="1024128"/>
            <a:ext cx="91440" cy="91440"/>
          </a:xfrm>
          <a:prstGeom prst="ellipse">
            <a:avLst/>
          </a:prstGeom>
          <a:solidFill>
            <a:schemeClr val="accent6"/>
          </a:solidFill>
          <a:ln w="19050">
            <a:solidFill>
              <a:schemeClr val="accent6"/>
            </a:solidFill>
            <a:prstDash val="solid"/>
          </a:ln>
        </p:spPr>
        <p:txBody>
          <a:bodyPr/>
          <a:lstStyle/>
          <a:p>
            <a:endParaRPr lang="en-GB"/>
          </a:p>
        </p:txBody>
      </p:sp>
      <p:sp>
        <p:nvSpPr>
          <p:cNvPr id="25" name="Text 23"/>
          <p:cNvSpPr txBox="1"/>
          <p:nvPr/>
        </p:nvSpPr>
        <p:spPr>
          <a:xfrm>
            <a:off x="6903720" y="1024128"/>
            <a:ext cx="91440" cy="9144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26" name="Shape 24"/>
          <p:cNvSpPr/>
          <p:nvPr/>
        </p:nvSpPr>
        <p:spPr>
          <a:xfrm>
            <a:off x="6903720" y="1133856"/>
            <a:ext cx="91440" cy="91440"/>
          </a:xfrm>
          <a:prstGeom prst="ellipse">
            <a:avLst/>
          </a:prstGeom>
          <a:solidFill>
            <a:schemeClr val="accent6"/>
          </a:solidFill>
          <a:ln w="19050">
            <a:solidFill>
              <a:schemeClr val="accent6"/>
            </a:solidFill>
            <a:prstDash val="solid"/>
          </a:ln>
        </p:spPr>
        <p:txBody>
          <a:bodyPr/>
          <a:lstStyle/>
          <a:p>
            <a:endParaRPr lang="en-GB"/>
          </a:p>
        </p:txBody>
      </p:sp>
      <p:sp>
        <p:nvSpPr>
          <p:cNvPr id="27" name="Text 25"/>
          <p:cNvSpPr txBox="1"/>
          <p:nvPr/>
        </p:nvSpPr>
        <p:spPr>
          <a:xfrm>
            <a:off x="6903720" y="1133856"/>
            <a:ext cx="91440" cy="9144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Lesson objectives</a:t>
            </a:r>
            <a:endParaRPr lang="en-US" sz="3000" dirty="0"/>
          </a:p>
        </p:txBody>
      </p:sp>
      <p:sp>
        <p:nvSpPr>
          <p:cNvPr id="3" name="obj0"/>
          <p:cNvSpPr/>
          <p:nvPr/>
        </p:nvSpPr>
        <p:spPr>
          <a:xfrm>
            <a:off x="457200" y="1143000"/>
            <a:ext cx="8229600" cy="713232"/>
          </a:xfrm>
          <a:prstGeom prst="roundRect">
            <a:avLst>
              <a:gd name="adj" fmla="val 1025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4" name="Shape 2"/>
          <p:cNvSpPr/>
          <p:nvPr/>
        </p:nvSpPr>
        <p:spPr>
          <a:xfrm>
            <a:off x="621792" y="1271016"/>
            <a:ext cx="457200" cy="457200"/>
          </a:xfrm>
          <a:prstGeom prst="ellipse">
            <a:avLst/>
          </a:prstGeom>
          <a:solidFill>
            <a:schemeClr val="accent1"/>
          </a:solidFill>
          <a:ln w="12700">
            <a:solidFill>
              <a:schemeClr val="accent1"/>
            </a:solidFill>
            <a:prstDash val="solid"/>
          </a:ln>
        </p:spPr>
        <p:txBody>
          <a:bodyPr/>
          <a:lstStyle/>
          <a:p>
            <a:endParaRPr lang="en-GB"/>
          </a:p>
        </p:txBody>
      </p:sp>
      <p:pic>
        <p:nvPicPr>
          <p:cNvPr id="5" name="Image 0" descr="preencoded.png"/>
          <p:cNvPicPr>
            <a:picLocks noChangeAspect="1"/>
          </p:cNvPicPr>
          <p:nvPr/>
        </p:nvPicPr>
        <p:blipFill>
          <a:blip r:embed="rId3"/>
          <a:stretch>
            <a:fillRect/>
          </a:stretch>
        </p:blipFill>
        <p:spPr>
          <a:xfrm>
            <a:off x="722376" y="1371600"/>
            <a:ext cx="256032" cy="256032"/>
          </a:xfrm>
          <a:prstGeom prst="rect">
            <a:avLst/>
          </a:prstGeom>
        </p:spPr>
      </p:pic>
      <p:sp>
        <p:nvSpPr>
          <p:cNvPr id="6" name="Text 3"/>
          <p:cNvSpPr txBox="1"/>
          <p:nvPr/>
        </p:nvSpPr>
        <p:spPr>
          <a:xfrm>
            <a:off x="1261872" y="1143000"/>
            <a:ext cx="6309360" cy="713232"/>
          </a:xfrm>
          <a:prstGeom prst="rect">
            <a:avLst/>
          </a:prstGeom>
          <a:noFill/>
          <a:ln/>
        </p:spPr>
        <p:txBody>
          <a:bodyPr wrap="square" lIns="0" tIns="0" rIns="0" bIns="0" rtlCol="0" anchor="ctr"/>
          <a:lstStyle/>
          <a:p>
            <a:pPr marL="0" indent="0">
              <a:buNone/>
            </a:pPr>
            <a:r>
              <a:rPr lang="en-US" sz="1700" b="1" dirty="0">
                <a:solidFill>
                  <a:schemeClr val="tx1"/>
                </a:solidFill>
              </a:rPr>
              <a:t>Describe </a:t>
            </a:r>
            <a:r>
              <a:rPr lang="en-US" sz="1700" dirty="0">
                <a:solidFill>
                  <a:schemeClr val="tx1"/>
                </a:solidFill>
              </a:rPr>
              <a:t>serial and parallel transmission</a:t>
            </a:r>
            <a:endParaRPr lang="en-US" sz="1700" dirty="0"/>
          </a:p>
        </p:txBody>
      </p:sp>
      <p:sp>
        <p:nvSpPr>
          <p:cNvPr id="7" name="Text 4"/>
          <p:cNvSpPr txBox="1"/>
          <p:nvPr/>
        </p:nvSpPr>
        <p:spPr>
          <a:xfrm>
            <a:off x="7589520" y="1143000"/>
            <a:ext cx="960120" cy="713232"/>
          </a:xfrm>
          <a:prstGeom prst="rect">
            <a:avLst/>
          </a:prstGeom>
          <a:noFill/>
          <a:ln/>
        </p:spPr>
        <p:txBody>
          <a:bodyPr wrap="square" lIns="0" tIns="0" rIns="0" bIns="0" rtlCol="0" anchor="ctr"/>
          <a:lstStyle/>
          <a:p>
            <a:pPr marL="0" indent="0" algn="r">
              <a:buNone/>
            </a:pPr>
            <a:r>
              <a:rPr lang="en-US" sz="1200" dirty="0">
                <a:solidFill>
                  <a:schemeClr val="accent6"/>
                </a:solidFill>
              </a:rPr>
              <a:t>Spec 3.1.1</a:t>
            </a:r>
            <a:endParaRPr lang="en-US" sz="1200" dirty="0"/>
          </a:p>
        </p:txBody>
      </p:sp>
      <p:sp>
        <p:nvSpPr>
          <p:cNvPr id="8" name="obj1"/>
          <p:cNvSpPr/>
          <p:nvPr/>
        </p:nvSpPr>
        <p:spPr>
          <a:xfrm>
            <a:off x="457200" y="2011680"/>
            <a:ext cx="8229600" cy="713232"/>
          </a:xfrm>
          <a:prstGeom prst="roundRect">
            <a:avLst>
              <a:gd name="adj" fmla="val 1025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9" name="Shape 6"/>
          <p:cNvSpPr/>
          <p:nvPr/>
        </p:nvSpPr>
        <p:spPr>
          <a:xfrm>
            <a:off x="621792" y="2139696"/>
            <a:ext cx="457200" cy="457200"/>
          </a:xfrm>
          <a:prstGeom prst="ellipse">
            <a:avLst/>
          </a:prstGeom>
          <a:solidFill>
            <a:schemeClr val="accent1"/>
          </a:solidFill>
          <a:ln w="12700">
            <a:solidFill>
              <a:schemeClr val="accent1"/>
            </a:solidFill>
            <a:prstDash val="solid"/>
          </a:ln>
        </p:spPr>
        <p:txBody>
          <a:bodyPr/>
          <a:lstStyle/>
          <a:p>
            <a:endParaRPr lang="en-GB"/>
          </a:p>
        </p:txBody>
      </p:sp>
      <p:pic>
        <p:nvPicPr>
          <p:cNvPr id="10" name="Image 1" descr="preencoded.png"/>
          <p:cNvPicPr>
            <a:picLocks noChangeAspect="1"/>
          </p:cNvPicPr>
          <p:nvPr/>
        </p:nvPicPr>
        <p:blipFill>
          <a:blip r:embed="rId3"/>
          <a:stretch>
            <a:fillRect/>
          </a:stretch>
        </p:blipFill>
        <p:spPr>
          <a:xfrm>
            <a:off x="722376" y="2240280"/>
            <a:ext cx="256032" cy="256032"/>
          </a:xfrm>
          <a:prstGeom prst="rect">
            <a:avLst/>
          </a:prstGeom>
        </p:spPr>
      </p:pic>
      <p:sp>
        <p:nvSpPr>
          <p:cNvPr id="11" name="Text 7"/>
          <p:cNvSpPr txBox="1"/>
          <p:nvPr/>
        </p:nvSpPr>
        <p:spPr>
          <a:xfrm>
            <a:off x="1261872" y="2011680"/>
            <a:ext cx="6309360" cy="713232"/>
          </a:xfrm>
          <a:prstGeom prst="rect">
            <a:avLst/>
          </a:prstGeom>
          <a:noFill/>
          <a:ln/>
        </p:spPr>
        <p:txBody>
          <a:bodyPr wrap="square" lIns="0" tIns="0" rIns="0" bIns="0" rtlCol="0" anchor="ctr"/>
          <a:lstStyle/>
          <a:p>
            <a:pPr marL="0" indent="0">
              <a:buNone/>
            </a:pPr>
            <a:r>
              <a:rPr lang="en-US" sz="1700" b="1" dirty="0">
                <a:solidFill>
                  <a:schemeClr val="tx1"/>
                </a:solidFill>
              </a:rPr>
              <a:t>Explain </a:t>
            </a:r>
            <a:r>
              <a:rPr lang="en-US" sz="1700" dirty="0">
                <a:solidFill>
                  <a:schemeClr val="tx1"/>
                </a:solidFill>
              </a:rPr>
              <a:t>the advantages and disadvantages of each, including skew and crosstalk</a:t>
            </a:r>
            <a:endParaRPr lang="en-US" sz="1700" dirty="0"/>
          </a:p>
        </p:txBody>
      </p:sp>
      <p:sp>
        <p:nvSpPr>
          <p:cNvPr id="12" name="Text 8"/>
          <p:cNvSpPr txBox="1"/>
          <p:nvPr/>
        </p:nvSpPr>
        <p:spPr>
          <a:xfrm>
            <a:off x="7589520" y="2011680"/>
            <a:ext cx="960120" cy="713232"/>
          </a:xfrm>
          <a:prstGeom prst="rect">
            <a:avLst/>
          </a:prstGeom>
          <a:noFill/>
          <a:ln/>
        </p:spPr>
        <p:txBody>
          <a:bodyPr wrap="square" lIns="0" tIns="0" rIns="0" bIns="0" rtlCol="0" anchor="ctr"/>
          <a:lstStyle/>
          <a:p>
            <a:pPr marL="0" indent="0" algn="r">
              <a:buNone/>
            </a:pPr>
            <a:r>
              <a:rPr lang="en-US" sz="1200" dirty="0">
                <a:solidFill>
                  <a:schemeClr val="accent6"/>
                </a:solidFill>
              </a:rPr>
              <a:t>Spec 3.1.1</a:t>
            </a:r>
            <a:endParaRPr lang="en-US" sz="1200" dirty="0"/>
          </a:p>
        </p:txBody>
      </p:sp>
      <p:sp>
        <p:nvSpPr>
          <p:cNvPr id="13" name="obj2"/>
          <p:cNvSpPr/>
          <p:nvPr/>
        </p:nvSpPr>
        <p:spPr>
          <a:xfrm>
            <a:off x="457200" y="2880360"/>
            <a:ext cx="8229600" cy="713232"/>
          </a:xfrm>
          <a:prstGeom prst="roundRect">
            <a:avLst>
              <a:gd name="adj" fmla="val 1025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14" name="Shape 10"/>
          <p:cNvSpPr/>
          <p:nvPr/>
        </p:nvSpPr>
        <p:spPr>
          <a:xfrm>
            <a:off x="621792" y="3008376"/>
            <a:ext cx="457200" cy="457200"/>
          </a:xfrm>
          <a:prstGeom prst="ellipse">
            <a:avLst/>
          </a:prstGeom>
          <a:solidFill>
            <a:schemeClr val="tx1"/>
          </a:solidFill>
          <a:ln w="12700">
            <a:solidFill>
              <a:schemeClr val="tx1"/>
            </a:solidFill>
            <a:prstDash val="solid"/>
          </a:ln>
        </p:spPr>
        <p:txBody>
          <a:bodyPr/>
          <a:lstStyle/>
          <a:p>
            <a:endParaRPr lang="en-GB"/>
          </a:p>
        </p:txBody>
      </p:sp>
      <p:pic>
        <p:nvPicPr>
          <p:cNvPr id="15" name="Image 2" descr="preencoded.png"/>
          <p:cNvPicPr>
            <a:picLocks noChangeAspect="1"/>
          </p:cNvPicPr>
          <p:nvPr/>
        </p:nvPicPr>
        <p:blipFill>
          <a:blip r:embed="rId3"/>
          <a:stretch>
            <a:fillRect/>
          </a:stretch>
        </p:blipFill>
        <p:spPr>
          <a:xfrm>
            <a:off x="722376" y="3108960"/>
            <a:ext cx="256032" cy="256032"/>
          </a:xfrm>
          <a:prstGeom prst="rect">
            <a:avLst/>
          </a:prstGeom>
        </p:spPr>
      </p:pic>
      <p:sp>
        <p:nvSpPr>
          <p:cNvPr id="16" name="Text 11"/>
          <p:cNvSpPr txBox="1"/>
          <p:nvPr/>
        </p:nvSpPr>
        <p:spPr>
          <a:xfrm>
            <a:off x="1261872" y="2880360"/>
            <a:ext cx="6309360" cy="713232"/>
          </a:xfrm>
          <a:prstGeom prst="rect">
            <a:avLst/>
          </a:prstGeom>
          <a:noFill/>
          <a:ln/>
        </p:spPr>
        <p:txBody>
          <a:bodyPr wrap="square" lIns="0" tIns="0" rIns="0" bIns="0" rtlCol="0" anchor="ctr"/>
          <a:lstStyle/>
          <a:p>
            <a:pPr marL="0" indent="0">
              <a:buNone/>
            </a:pPr>
            <a:r>
              <a:rPr lang="en-US" sz="1700" b="1" dirty="0">
                <a:solidFill>
                  <a:schemeClr val="tx1"/>
                </a:solidFill>
              </a:rPr>
              <a:t>Describe </a:t>
            </a:r>
            <a:r>
              <a:rPr lang="en-US" sz="1700" dirty="0">
                <a:solidFill>
                  <a:schemeClr val="tx1"/>
                </a:solidFill>
              </a:rPr>
              <a:t>simplex, half duplex and full duplex transmission</a:t>
            </a:r>
            <a:endParaRPr lang="en-US" sz="1700" dirty="0"/>
          </a:p>
        </p:txBody>
      </p:sp>
      <p:sp>
        <p:nvSpPr>
          <p:cNvPr id="17" name="Text 12"/>
          <p:cNvSpPr txBox="1"/>
          <p:nvPr/>
        </p:nvSpPr>
        <p:spPr>
          <a:xfrm>
            <a:off x="7589520" y="2880360"/>
            <a:ext cx="960120" cy="713232"/>
          </a:xfrm>
          <a:prstGeom prst="rect">
            <a:avLst/>
          </a:prstGeom>
          <a:noFill/>
          <a:ln/>
        </p:spPr>
        <p:txBody>
          <a:bodyPr wrap="square" lIns="0" tIns="0" rIns="0" bIns="0" rtlCol="0" anchor="ctr"/>
          <a:lstStyle/>
          <a:p>
            <a:pPr marL="0" indent="0" algn="r">
              <a:buNone/>
            </a:pPr>
            <a:r>
              <a:rPr lang="en-US" sz="1200" dirty="0">
                <a:solidFill>
                  <a:schemeClr val="accent6"/>
                </a:solidFill>
              </a:rPr>
              <a:t>Spec 3.1.2</a:t>
            </a:r>
            <a:endParaRPr lang="en-US" sz="1200" dirty="0"/>
          </a:p>
        </p:txBody>
      </p:sp>
      <p:sp>
        <p:nvSpPr>
          <p:cNvPr id="18" name="obj3"/>
          <p:cNvSpPr/>
          <p:nvPr/>
        </p:nvSpPr>
        <p:spPr>
          <a:xfrm>
            <a:off x="457200" y="3749040"/>
            <a:ext cx="8229600" cy="713232"/>
          </a:xfrm>
          <a:prstGeom prst="roundRect">
            <a:avLst>
              <a:gd name="adj" fmla="val 1025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19" name="Shape 14"/>
          <p:cNvSpPr/>
          <p:nvPr/>
        </p:nvSpPr>
        <p:spPr>
          <a:xfrm>
            <a:off x="621792" y="3877056"/>
            <a:ext cx="457200" cy="457200"/>
          </a:xfrm>
          <a:prstGeom prst="ellipse">
            <a:avLst/>
          </a:prstGeom>
          <a:solidFill>
            <a:schemeClr val="tx1"/>
          </a:solidFill>
          <a:ln w="12700">
            <a:solidFill>
              <a:schemeClr val="tx1"/>
            </a:solidFill>
            <a:prstDash val="solid"/>
          </a:ln>
        </p:spPr>
        <p:txBody>
          <a:bodyPr/>
          <a:lstStyle/>
          <a:p>
            <a:endParaRPr lang="en-GB"/>
          </a:p>
        </p:txBody>
      </p:sp>
      <p:pic>
        <p:nvPicPr>
          <p:cNvPr id="20" name="Image 3" descr="preencoded.png"/>
          <p:cNvPicPr>
            <a:picLocks noChangeAspect="1"/>
          </p:cNvPicPr>
          <p:nvPr/>
        </p:nvPicPr>
        <p:blipFill>
          <a:blip r:embed="rId3"/>
          <a:stretch>
            <a:fillRect/>
          </a:stretch>
        </p:blipFill>
        <p:spPr>
          <a:xfrm>
            <a:off x="722376" y="3977640"/>
            <a:ext cx="256032" cy="256032"/>
          </a:xfrm>
          <a:prstGeom prst="rect">
            <a:avLst/>
          </a:prstGeom>
        </p:spPr>
      </p:pic>
      <p:sp>
        <p:nvSpPr>
          <p:cNvPr id="21" name="Text 15"/>
          <p:cNvSpPr txBox="1"/>
          <p:nvPr/>
        </p:nvSpPr>
        <p:spPr>
          <a:xfrm>
            <a:off x="1261872" y="3749040"/>
            <a:ext cx="6309360" cy="713232"/>
          </a:xfrm>
          <a:prstGeom prst="rect">
            <a:avLst/>
          </a:prstGeom>
          <a:noFill/>
          <a:ln/>
        </p:spPr>
        <p:txBody>
          <a:bodyPr wrap="square" lIns="0" tIns="0" rIns="0" bIns="0" rtlCol="0" anchor="ctr"/>
          <a:lstStyle/>
          <a:p>
            <a:pPr marL="0" indent="0">
              <a:buNone/>
            </a:pPr>
            <a:r>
              <a:rPr lang="en-US" sz="1700" b="1" dirty="0">
                <a:solidFill>
                  <a:schemeClr val="tx1"/>
                </a:solidFill>
              </a:rPr>
              <a:t>Apply </a:t>
            </a:r>
            <a:r>
              <a:rPr lang="en-US" sz="1700" dirty="0">
                <a:solidFill>
                  <a:schemeClr val="tx1"/>
                </a:solidFill>
              </a:rPr>
              <a:t>each method to a real example, as the exam expects</a:t>
            </a:r>
            <a:endParaRPr lang="en-US" sz="1700" dirty="0"/>
          </a:p>
        </p:txBody>
      </p:sp>
      <p:sp>
        <p:nvSpPr>
          <p:cNvPr id="22" name="Text 16"/>
          <p:cNvSpPr txBox="1"/>
          <p:nvPr/>
        </p:nvSpPr>
        <p:spPr>
          <a:xfrm>
            <a:off x="7589520" y="3749040"/>
            <a:ext cx="960120" cy="713232"/>
          </a:xfrm>
          <a:prstGeom prst="rect">
            <a:avLst/>
          </a:prstGeom>
          <a:noFill/>
          <a:ln/>
        </p:spPr>
        <p:txBody>
          <a:bodyPr wrap="square" lIns="0" tIns="0" rIns="0" bIns="0" rtlCol="0" anchor="ctr"/>
          <a:lstStyle/>
          <a:p>
            <a:pPr marL="0" indent="0" algn="r">
              <a:buNone/>
            </a:pPr>
            <a:r>
              <a:rPr lang="en-US" sz="1200" dirty="0">
                <a:solidFill>
                  <a:schemeClr val="accent6"/>
                </a:solidFill>
              </a:rPr>
              <a:t>Spec 3.1.2</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Key terms  |  Termau allweddol</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866517698"/>
              </p:ext>
            </p:extLst>
          </p:nvPr>
        </p:nvGraphicFramePr>
        <p:xfrm>
          <a:off x="457200" y="1097280"/>
          <a:ext cx="5669280" cy="3072384"/>
        </p:xfrm>
        <a:graphic>
          <a:graphicData uri="http://schemas.openxmlformats.org/drawingml/2006/table">
            <a:tbl>
              <a:tblPr/>
              <a:tblGrid>
                <a:gridCol w="2834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384048">
                <a:tc>
                  <a:txBody>
                    <a:bodyPr/>
                    <a:lstStyle/>
                    <a:p>
                      <a:pPr marL="0" indent="0">
                        <a:buNone/>
                      </a:pPr>
                      <a:r>
                        <a:rPr lang="en-US" sz="1500" b="1" dirty="0">
                          <a:solidFill>
                            <a:schemeClr val="bg1"/>
                          </a:solidFill>
                        </a:rPr>
                        <a:t>English</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Cymraeg</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84048">
                <a:tc>
                  <a:txBody>
                    <a:bodyPr/>
                    <a:lstStyle/>
                    <a:p>
                      <a:pPr marL="0" indent="0">
                        <a:buNone/>
                      </a:pPr>
                      <a:r>
                        <a:rPr lang="en-US" sz="1500" dirty="0">
                          <a:solidFill>
                            <a:schemeClr val="tx1"/>
                          </a:solidFill>
                        </a:rPr>
                        <a:t>Serial transmission</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marL="0" indent="0">
                        <a:buNone/>
                      </a:pPr>
                      <a:r>
                        <a:rPr lang="en-US" sz="1500" dirty="0" err="1">
                          <a:solidFill>
                            <a:schemeClr val="tx1"/>
                          </a:solidFill>
                        </a:rPr>
                        <a:t>Trawsyrru</a:t>
                      </a:r>
                      <a:r>
                        <a:rPr lang="en-US" sz="1500" dirty="0">
                          <a:solidFill>
                            <a:schemeClr val="tx1"/>
                          </a:solidFill>
                        </a:rPr>
                        <a:t> cyfresol</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84048">
                <a:tc>
                  <a:txBody>
                    <a:bodyPr/>
                    <a:lstStyle/>
                    <a:p>
                      <a:pPr marL="0" indent="0">
                        <a:buNone/>
                      </a:pPr>
                      <a:r>
                        <a:rPr lang="en-US" sz="1500" dirty="0">
                          <a:solidFill>
                            <a:schemeClr val="tx1"/>
                          </a:solidFill>
                        </a:rPr>
                        <a:t>Parallel transmission</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marL="0" indent="0">
                        <a:buNone/>
                      </a:pPr>
                      <a:r>
                        <a:rPr lang="en-US" sz="1500" dirty="0" err="1">
                          <a:solidFill>
                            <a:schemeClr val="tx1"/>
                          </a:solidFill>
                        </a:rPr>
                        <a:t>Trawsyrru</a:t>
                      </a:r>
                      <a:r>
                        <a:rPr lang="en-US" sz="1500" dirty="0">
                          <a:solidFill>
                            <a:schemeClr val="tx1"/>
                          </a:solidFill>
                        </a:rPr>
                        <a:t> paralel</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048">
                <a:tc>
                  <a:txBody>
                    <a:bodyPr/>
                    <a:lstStyle/>
                    <a:p>
                      <a:pPr marL="0" indent="0">
                        <a:buNone/>
                      </a:pPr>
                      <a:r>
                        <a:rPr lang="en-US" sz="1500" dirty="0">
                          <a:solidFill>
                            <a:schemeClr val="tx1"/>
                          </a:solidFill>
                        </a:rPr>
                        <a:t>Skew</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Sgiw</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84048">
                <a:tc>
                  <a:txBody>
                    <a:bodyPr/>
                    <a:lstStyle/>
                    <a:p>
                      <a:pPr marL="0" indent="0">
                        <a:buNone/>
                      </a:pPr>
                      <a:r>
                        <a:rPr lang="en-US" sz="1500" dirty="0">
                          <a:solidFill>
                            <a:schemeClr val="tx1"/>
                          </a:solidFill>
                        </a:rPr>
                        <a:t>Crosstalk</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Croes-siarad</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84048">
                <a:tc>
                  <a:txBody>
                    <a:bodyPr/>
                    <a:lstStyle/>
                    <a:p>
                      <a:pPr marL="0" indent="0">
                        <a:buNone/>
                      </a:pPr>
                      <a:r>
                        <a:rPr lang="en-US" sz="1500" dirty="0">
                          <a:solidFill>
                            <a:schemeClr val="tx1"/>
                          </a:solidFill>
                        </a:rPr>
                        <a:t>Simplex</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Simplecs</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84048">
                <a:tc>
                  <a:txBody>
                    <a:bodyPr/>
                    <a:lstStyle/>
                    <a:p>
                      <a:pPr marL="0" indent="0">
                        <a:buNone/>
                      </a:pPr>
                      <a:r>
                        <a:rPr lang="en-US" sz="1500" dirty="0">
                          <a:solidFill>
                            <a:schemeClr val="tx1"/>
                          </a:solidFill>
                        </a:rPr>
                        <a:t>Half duplex</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Hanner </a:t>
                      </a:r>
                      <a:r>
                        <a:rPr lang="en-US" sz="1500" dirty="0" err="1">
                          <a:solidFill>
                            <a:schemeClr val="tx1"/>
                          </a:solidFill>
                        </a:rPr>
                        <a:t>duplecs</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84048">
                <a:tc>
                  <a:txBody>
                    <a:bodyPr/>
                    <a:lstStyle/>
                    <a:p>
                      <a:pPr marL="0" indent="0">
                        <a:buNone/>
                      </a:pPr>
                      <a:r>
                        <a:rPr lang="en-US" sz="1500" dirty="0">
                          <a:solidFill>
                            <a:schemeClr val="tx1"/>
                          </a:solidFill>
                        </a:rPr>
                        <a:t>Full duplex</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marL="0" indent="0">
                        <a:buNone/>
                      </a:pPr>
                      <a:r>
                        <a:rPr lang="en-US" sz="1500" dirty="0" err="1">
                          <a:solidFill>
                            <a:schemeClr val="tx1"/>
                          </a:solidFill>
                        </a:rPr>
                        <a:t>Dublecs</a:t>
                      </a:r>
                      <a:r>
                        <a:rPr lang="en-US" sz="1500" dirty="0">
                          <a:solidFill>
                            <a:schemeClr val="tx1"/>
                          </a:solidFill>
                        </a:rPr>
                        <a:t> llawn</a:t>
                      </a:r>
                      <a:endParaRPr lang="en-US" sz="15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Starter: which way does it travel?</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marL="0" indent="0">
              <a:buNone/>
            </a:pPr>
            <a:r>
              <a:rPr lang="en-US" sz="1400" b="1" dirty="0">
                <a:solidFill>
                  <a:schemeClr val="bg1"/>
                </a:solidFill>
              </a:rPr>
              <a:t>10 min  on your own</a:t>
            </a:r>
            <a:endParaRPr lang="en-US" sz="1400" dirty="0"/>
          </a:p>
        </p:txBody>
      </p:sp>
      <p:sp>
        <p:nvSpPr>
          <p:cNvPr id="6" name="Text 3"/>
          <p:cNvSpPr txBox="1"/>
          <p:nvPr/>
        </p:nvSpPr>
        <p:spPr>
          <a:xfrm>
            <a:off x="457200" y="1005840"/>
            <a:ext cx="8229600" cy="320040"/>
          </a:xfrm>
          <a:prstGeom prst="rect">
            <a:avLst/>
          </a:prstGeom>
          <a:noFill/>
          <a:ln/>
        </p:spPr>
        <p:txBody>
          <a:bodyPr wrap="square" lIns="0" tIns="0" rIns="0" bIns="0" rtlCol="0" anchor="t"/>
          <a:lstStyle/>
          <a:p>
            <a:pPr marL="0" indent="0">
              <a:buNone/>
            </a:pPr>
            <a:r>
              <a:rPr lang="en-US" sz="1600" dirty="0">
                <a:solidFill>
                  <a:schemeClr val="tx1"/>
                </a:solidFill>
              </a:rPr>
              <a:t>Sort each example into one of the three groups.</a:t>
            </a:r>
            <a:endParaRPr lang="en-US" sz="1600" dirty="0"/>
          </a:p>
        </p:txBody>
      </p:sp>
      <p:sp>
        <p:nvSpPr>
          <p:cNvPr id="7" name="ex0"/>
          <p:cNvSpPr/>
          <p:nvPr/>
        </p:nvSpPr>
        <p:spPr>
          <a:xfrm>
            <a:off x="457200" y="1463040"/>
            <a:ext cx="1280160" cy="502920"/>
          </a:xfrm>
          <a:prstGeom prst="roundRect">
            <a:avLst>
              <a:gd name="adj" fmla="val 14545"/>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8" name="Text 5"/>
          <p:cNvSpPr txBox="1"/>
          <p:nvPr/>
        </p:nvSpPr>
        <p:spPr>
          <a:xfrm>
            <a:off x="457200" y="1463040"/>
            <a:ext cx="1280160" cy="502920"/>
          </a:xfrm>
          <a:prstGeom prst="rect">
            <a:avLst/>
          </a:prstGeom>
          <a:noFill/>
          <a:ln/>
        </p:spPr>
        <p:txBody>
          <a:bodyPr wrap="square" lIns="0" tIns="0" rIns="0" bIns="0" rtlCol="0" anchor="ctr"/>
          <a:lstStyle/>
          <a:p>
            <a:pPr marL="0" indent="0" algn="ctr">
              <a:buNone/>
            </a:pPr>
            <a:r>
              <a:rPr lang="en-US" sz="1300" b="1" dirty="0">
                <a:solidFill>
                  <a:schemeClr val="tx1"/>
                </a:solidFill>
              </a:rPr>
              <a:t>TV broadcast</a:t>
            </a:r>
            <a:endParaRPr lang="en-US" sz="1300" dirty="0"/>
          </a:p>
        </p:txBody>
      </p:sp>
      <p:sp>
        <p:nvSpPr>
          <p:cNvPr id="9" name="ex1"/>
          <p:cNvSpPr/>
          <p:nvPr/>
        </p:nvSpPr>
        <p:spPr>
          <a:xfrm>
            <a:off x="1847088" y="1463040"/>
            <a:ext cx="1280160" cy="502920"/>
          </a:xfrm>
          <a:prstGeom prst="roundRect">
            <a:avLst>
              <a:gd name="adj" fmla="val 14545"/>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10" name="Text 7"/>
          <p:cNvSpPr txBox="1"/>
          <p:nvPr/>
        </p:nvSpPr>
        <p:spPr>
          <a:xfrm>
            <a:off x="1847088" y="1463040"/>
            <a:ext cx="1280160" cy="502920"/>
          </a:xfrm>
          <a:prstGeom prst="rect">
            <a:avLst/>
          </a:prstGeom>
          <a:noFill/>
          <a:ln/>
        </p:spPr>
        <p:txBody>
          <a:bodyPr wrap="square" lIns="0" tIns="0" rIns="0" bIns="0" rtlCol="0" anchor="ctr"/>
          <a:lstStyle/>
          <a:p>
            <a:pPr marL="0" indent="0" algn="ctr">
              <a:buNone/>
            </a:pPr>
            <a:r>
              <a:rPr lang="en-US" sz="1300" b="1" dirty="0">
                <a:solidFill>
                  <a:schemeClr val="tx1"/>
                </a:solidFill>
              </a:rPr>
              <a:t>Walkie-talkie</a:t>
            </a:r>
            <a:endParaRPr lang="en-US" sz="1300" dirty="0"/>
          </a:p>
        </p:txBody>
      </p:sp>
      <p:sp>
        <p:nvSpPr>
          <p:cNvPr id="11" name="ex2"/>
          <p:cNvSpPr/>
          <p:nvPr/>
        </p:nvSpPr>
        <p:spPr>
          <a:xfrm>
            <a:off x="3236976" y="1463040"/>
            <a:ext cx="1280160" cy="502920"/>
          </a:xfrm>
          <a:prstGeom prst="roundRect">
            <a:avLst>
              <a:gd name="adj" fmla="val 14545"/>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12" name="Text 9"/>
          <p:cNvSpPr txBox="1"/>
          <p:nvPr/>
        </p:nvSpPr>
        <p:spPr>
          <a:xfrm>
            <a:off x="3236976" y="1463040"/>
            <a:ext cx="1280160" cy="502920"/>
          </a:xfrm>
          <a:prstGeom prst="rect">
            <a:avLst/>
          </a:prstGeom>
          <a:noFill/>
          <a:ln/>
        </p:spPr>
        <p:txBody>
          <a:bodyPr wrap="square" lIns="0" tIns="0" rIns="0" bIns="0" rtlCol="0" anchor="ctr"/>
          <a:lstStyle/>
          <a:p>
            <a:pPr marL="0" indent="0" algn="ctr">
              <a:buNone/>
            </a:pPr>
            <a:r>
              <a:rPr lang="en-US" sz="1300" b="1" dirty="0">
                <a:solidFill>
                  <a:schemeClr val="tx1"/>
                </a:solidFill>
              </a:rPr>
              <a:t>Phone call</a:t>
            </a:r>
            <a:endParaRPr lang="en-US" sz="1300" dirty="0"/>
          </a:p>
        </p:txBody>
      </p:sp>
      <p:sp>
        <p:nvSpPr>
          <p:cNvPr id="13" name="ex3"/>
          <p:cNvSpPr/>
          <p:nvPr/>
        </p:nvSpPr>
        <p:spPr>
          <a:xfrm>
            <a:off x="4626864" y="1463040"/>
            <a:ext cx="1280160" cy="502920"/>
          </a:xfrm>
          <a:prstGeom prst="roundRect">
            <a:avLst>
              <a:gd name="adj" fmla="val 14545"/>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14" name="Text 11"/>
          <p:cNvSpPr txBox="1"/>
          <p:nvPr/>
        </p:nvSpPr>
        <p:spPr>
          <a:xfrm>
            <a:off x="4626864" y="1463040"/>
            <a:ext cx="1280160" cy="502920"/>
          </a:xfrm>
          <a:prstGeom prst="rect">
            <a:avLst/>
          </a:prstGeom>
          <a:noFill/>
          <a:ln/>
        </p:spPr>
        <p:txBody>
          <a:bodyPr wrap="square" lIns="0" tIns="0" rIns="0" bIns="0" rtlCol="0" anchor="ctr"/>
          <a:lstStyle/>
          <a:p>
            <a:pPr marL="0" indent="0" algn="ctr">
              <a:buNone/>
            </a:pPr>
            <a:r>
              <a:rPr lang="en-US" sz="1300" b="1" dirty="0">
                <a:solidFill>
                  <a:schemeClr val="tx1"/>
                </a:solidFill>
              </a:rPr>
              <a:t>Keyboard to PC</a:t>
            </a:r>
            <a:endParaRPr lang="en-US" sz="1300" dirty="0"/>
          </a:p>
        </p:txBody>
      </p:sp>
      <p:sp>
        <p:nvSpPr>
          <p:cNvPr id="15" name="ex4"/>
          <p:cNvSpPr/>
          <p:nvPr/>
        </p:nvSpPr>
        <p:spPr>
          <a:xfrm>
            <a:off x="6016752" y="1463040"/>
            <a:ext cx="1280160" cy="502920"/>
          </a:xfrm>
          <a:prstGeom prst="roundRect">
            <a:avLst>
              <a:gd name="adj" fmla="val 14545"/>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16" name="Text 13"/>
          <p:cNvSpPr txBox="1"/>
          <p:nvPr/>
        </p:nvSpPr>
        <p:spPr>
          <a:xfrm>
            <a:off x="6016752" y="1463040"/>
            <a:ext cx="1280160" cy="502920"/>
          </a:xfrm>
          <a:prstGeom prst="rect">
            <a:avLst/>
          </a:prstGeom>
          <a:noFill/>
          <a:ln/>
        </p:spPr>
        <p:txBody>
          <a:bodyPr wrap="square" lIns="0" tIns="0" rIns="0" bIns="0" rtlCol="0" anchor="ctr"/>
          <a:lstStyle/>
          <a:p>
            <a:pPr marL="0" indent="0" algn="ctr">
              <a:buNone/>
            </a:pPr>
            <a:r>
              <a:rPr lang="en-US" sz="1300" b="1" dirty="0">
                <a:solidFill>
                  <a:schemeClr val="tx1"/>
                </a:solidFill>
              </a:rPr>
              <a:t>Baby monitor</a:t>
            </a:r>
            <a:endParaRPr lang="en-US" sz="1300" dirty="0"/>
          </a:p>
        </p:txBody>
      </p:sp>
      <p:sp>
        <p:nvSpPr>
          <p:cNvPr id="17" name="ex5"/>
          <p:cNvSpPr/>
          <p:nvPr/>
        </p:nvSpPr>
        <p:spPr>
          <a:xfrm>
            <a:off x="7406640" y="1463040"/>
            <a:ext cx="1280160" cy="502920"/>
          </a:xfrm>
          <a:prstGeom prst="roundRect">
            <a:avLst>
              <a:gd name="adj" fmla="val 14545"/>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18" name="Text 15"/>
          <p:cNvSpPr txBox="1"/>
          <p:nvPr/>
        </p:nvSpPr>
        <p:spPr>
          <a:xfrm>
            <a:off x="7406640" y="1463040"/>
            <a:ext cx="1280160" cy="502920"/>
          </a:xfrm>
          <a:prstGeom prst="rect">
            <a:avLst/>
          </a:prstGeom>
          <a:noFill/>
          <a:ln/>
        </p:spPr>
        <p:txBody>
          <a:bodyPr wrap="square" lIns="0" tIns="0" rIns="0" bIns="0" rtlCol="0" anchor="ctr"/>
          <a:lstStyle/>
          <a:p>
            <a:pPr marL="0" indent="0" algn="ctr">
              <a:buNone/>
            </a:pPr>
            <a:r>
              <a:rPr lang="en-US" sz="1300" b="1" dirty="0">
                <a:solidFill>
                  <a:schemeClr val="tx1"/>
                </a:solidFill>
              </a:rPr>
              <a:t>Video call</a:t>
            </a:r>
            <a:endParaRPr lang="en-US" sz="1300" dirty="0"/>
          </a:p>
        </p:txBody>
      </p:sp>
      <p:sp>
        <p:nvSpPr>
          <p:cNvPr id="19" name="grp0"/>
          <p:cNvSpPr/>
          <p:nvPr/>
        </p:nvSpPr>
        <p:spPr>
          <a:xfrm>
            <a:off x="457200" y="2240280"/>
            <a:ext cx="2606040" cy="2331720"/>
          </a:xfrm>
          <a:prstGeom prst="roundRect">
            <a:avLst>
              <a:gd name="adj" fmla="val 313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20" name="Shape 17"/>
          <p:cNvSpPr/>
          <p:nvPr/>
        </p:nvSpPr>
        <p:spPr>
          <a:xfrm>
            <a:off x="457200" y="2240280"/>
            <a:ext cx="2606040" cy="502920"/>
          </a:xfrm>
          <a:prstGeom prst="roundRect">
            <a:avLst>
              <a:gd name="adj" fmla="val 14545"/>
            </a:avLst>
          </a:prstGeom>
          <a:solidFill>
            <a:schemeClr val="accent1"/>
          </a:solidFill>
          <a:ln w="12700">
            <a:solidFill>
              <a:schemeClr val="accent1"/>
            </a:solidFill>
            <a:prstDash val="solid"/>
          </a:ln>
        </p:spPr>
        <p:txBody>
          <a:bodyPr/>
          <a:lstStyle/>
          <a:p>
            <a:endParaRPr lang="en-GB"/>
          </a:p>
        </p:txBody>
      </p:sp>
      <p:sp>
        <p:nvSpPr>
          <p:cNvPr id="21" name="Text 18"/>
          <p:cNvSpPr txBox="1"/>
          <p:nvPr/>
        </p:nvSpPr>
        <p:spPr>
          <a:xfrm>
            <a:off x="457200" y="2240280"/>
            <a:ext cx="2606040" cy="502920"/>
          </a:xfrm>
          <a:prstGeom prst="rect">
            <a:avLst/>
          </a:prstGeom>
          <a:noFill/>
          <a:ln/>
        </p:spPr>
        <p:txBody>
          <a:bodyPr wrap="square" lIns="0" tIns="0" rIns="0" bIns="0" rtlCol="0" anchor="ctr"/>
          <a:lstStyle/>
          <a:p>
            <a:pPr marL="0" indent="0" algn="ctr">
              <a:buNone/>
            </a:pPr>
            <a:r>
              <a:rPr lang="en-US" sz="1500" b="1" dirty="0">
                <a:solidFill>
                  <a:schemeClr val="bg1"/>
                </a:solidFill>
              </a:rPr>
              <a:t>One way only</a:t>
            </a:r>
            <a:endParaRPr lang="en-US" sz="1500" dirty="0"/>
          </a:p>
        </p:txBody>
      </p:sp>
      <p:sp>
        <p:nvSpPr>
          <p:cNvPr id="22" name="grp1"/>
          <p:cNvSpPr/>
          <p:nvPr/>
        </p:nvSpPr>
        <p:spPr>
          <a:xfrm>
            <a:off x="3264408" y="2240280"/>
            <a:ext cx="2606040" cy="2331720"/>
          </a:xfrm>
          <a:prstGeom prst="roundRect">
            <a:avLst>
              <a:gd name="adj" fmla="val 313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23" name="Shape 20"/>
          <p:cNvSpPr/>
          <p:nvPr/>
        </p:nvSpPr>
        <p:spPr>
          <a:xfrm>
            <a:off x="3264408" y="2240280"/>
            <a:ext cx="2606040" cy="502920"/>
          </a:xfrm>
          <a:prstGeom prst="roundRect">
            <a:avLst>
              <a:gd name="adj" fmla="val 14545"/>
            </a:avLst>
          </a:prstGeom>
          <a:solidFill>
            <a:schemeClr val="tx1"/>
          </a:solidFill>
          <a:ln w="12700">
            <a:solidFill>
              <a:schemeClr val="tx1"/>
            </a:solidFill>
            <a:prstDash val="solid"/>
          </a:ln>
        </p:spPr>
        <p:txBody>
          <a:bodyPr/>
          <a:lstStyle/>
          <a:p>
            <a:endParaRPr lang="en-GB"/>
          </a:p>
        </p:txBody>
      </p:sp>
      <p:sp>
        <p:nvSpPr>
          <p:cNvPr id="24" name="Text 21"/>
          <p:cNvSpPr txBox="1"/>
          <p:nvPr/>
        </p:nvSpPr>
        <p:spPr>
          <a:xfrm>
            <a:off x="3264408" y="2240280"/>
            <a:ext cx="2606040" cy="502920"/>
          </a:xfrm>
          <a:prstGeom prst="rect">
            <a:avLst/>
          </a:prstGeom>
          <a:noFill/>
          <a:ln/>
        </p:spPr>
        <p:txBody>
          <a:bodyPr wrap="square" lIns="0" tIns="0" rIns="0" bIns="0" rtlCol="0" anchor="ctr"/>
          <a:lstStyle/>
          <a:p>
            <a:pPr marL="0" indent="0" algn="ctr">
              <a:buNone/>
            </a:pPr>
            <a:r>
              <a:rPr lang="en-US" sz="1500" b="1" dirty="0">
                <a:solidFill>
                  <a:schemeClr val="bg1"/>
                </a:solidFill>
              </a:rPr>
              <a:t>Both ways, taking turns</a:t>
            </a:r>
            <a:endParaRPr lang="en-US" sz="1500" dirty="0"/>
          </a:p>
        </p:txBody>
      </p:sp>
      <p:sp>
        <p:nvSpPr>
          <p:cNvPr id="25" name="grp2"/>
          <p:cNvSpPr/>
          <p:nvPr/>
        </p:nvSpPr>
        <p:spPr>
          <a:xfrm>
            <a:off x="6071616" y="2240280"/>
            <a:ext cx="2606040" cy="2331720"/>
          </a:xfrm>
          <a:prstGeom prst="roundRect">
            <a:avLst>
              <a:gd name="adj" fmla="val 3137"/>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26" name="Shape 23"/>
          <p:cNvSpPr/>
          <p:nvPr/>
        </p:nvSpPr>
        <p:spPr>
          <a:xfrm>
            <a:off x="6071616" y="2240280"/>
            <a:ext cx="2606040" cy="502920"/>
          </a:xfrm>
          <a:prstGeom prst="roundRect">
            <a:avLst>
              <a:gd name="adj" fmla="val 14545"/>
            </a:avLst>
          </a:prstGeom>
          <a:solidFill>
            <a:schemeClr val="accent2"/>
          </a:solidFill>
          <a:ln w="12700">
            <a:solidFill>
              <a:schemeClr val="accent2"/>
            </a:solidFill>
            <a:prstDash val="solid"/>
          </a:ln>
        </p:spPr>
        <p:txBody>
          <a:bodyPr/>
          <a:lstStyle/>
          <a:p>
            <a:endParaRPr lang="en-GB"/>
          </a:p>
        </p:txBody>
      </p:sp>
      <p:sp>
        <p:nvSpPr>
          <p:cNvPr id="27" name="Text 24"/>
          <p:cNvSpPr txBox="1"/>
          <p:nvPr/>
        </p:nvSpPr>
        <p:spPr>
          <a:xfrm>
            <a:off x="6071616" y="2240280"/>
            <a:ext cx="2606040" cy="502920"/>
          </a:xfrm>
          <a:prstGeom prst="rect">
            <a:avLst/>
          </a:prstGeom>
          <a:noFill/>
          <a:ln/>
        </p:spPr>
        <p:txBody>
          <a:bodyPr wrap="square" lIns="0" tIns="0" rIns="0" bIns="0" rtlCol="0" anchor="ctr"/>
          <a:lstStyle/>
          <a:p>
            <a:pPr marL="0" indent="0" algn="ctr">
              <a:buNone/>
            </a:pPr>
            <a:r>
              <a:rPr lang="en-US" sz="1500" b="1" dirty="0">
                <a:solidFill>
                  <a:schemeClr val="bg1"/>
                </a:solidFill>
              </a:rPr>
              <a:t>Both ways at once</a:t>
            </a:r>
            <a:endParaRPr lang="en-US" sz="1500" dirty="0"/>
          </a:p>
        </p:txBody>
      </p:sp>
      <p:sp>
        <p:nvSpPr>
          <p:cNvPr id="28"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Watch: data transmission in five minutes</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marL="0" indent="0">
              <a:buNone/>
            </a:pPr>
            <a:r>
              <a:rPr lang="en-US" sz="1400" b="1" dirty="0">
                <a:solidFill>
                  <a:schemeClr val="bg1"/>
                </a:solidFill>
              </a:rPr>
              <a:t>5 min</a:t>
            </a:r>
            <a:endParaRPr lang="en-US" sz="1400" dirty="0"/>
          </a:p>
        </p:txBody>
      </p:sp>
      <p:sp>
        <p:nvSpPr>
          <p:cNvPr id="6" name="video"/>
          <p:cNvSpPr/>
          <p:nvPr/>
        </p:nvSpPr>
        <p:spPr>
          <a:xfrm>
            <a:off x="457200" y="1097280"/>
            <a:ext cx="5120640" cy="3474720"/>
          </a:xfrm>
          <a:prstGeom prst="roundRect">
            <a:avLst>
              <a:gd name="adj" fmla="val 2105"/>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GB"/>
          </a:p>
        </p:txBody>
      </p:sp>
      <p:pic>
        <p:nvPicPr>
          <p:cNvPr id="7" name="Image 1" descr="preencoded.png"/>
          <p:cNvPicPr>
            <a:picLocks noChangeAspect="1"/>
          </p:cNvPicPr>
          <p:nvPr/>
        </p:nvPicPr>
        <p:blipFill>
          <a:blip r:embed="rId4"/>
          <a:stretch>
            <a:fillRect/>
          </a:stretch>
        </p:blipFill>
        <p:spPr>
          <a:xfrm>
            <a:off x="2514600" y="2331720"/>
            <a:ext cx="1005840" cy="1005840"/>
          </a:xfrm>
          <a:prstGeom prst="rect">
            <a:avLst/>
          </a:prstGeom>
        </p:spPr>
      </p:pic>
      <p:sp>
        <p:nvSpPr>
          <p:cNvPr id="8" name="Text 4"/>
          <p:cNvSpPr txBox="1"/>
          <p:nvPr/>
        </p:nvSpPr>
        <p:spPr>
          <a:xfrm>
            <a:off x="457200" y="3566160"/>
            <a:ext cx="5120640" cy="457200"/>
          </a:xfrm>
          <a:prstGeom prst="rect">
            <a:avLst/>
          </a:prstGeom>
          <a:noFill/>
          <a:ln/>
        </p:spPr>
        <p:txBody>
          <a:bodyPr wrap="square" lIns="0" tIns="0" rIns="0" bIns="0" rtlCol="0" anchor="t"/>
          <a:lstStyle/>
          <a:p>
            <a:pPr marL="0" indent="0" algn="ctr">
              <a:buNone/>
            </a:pPr>
            <a:r>
              <a:rPr lang="en-US" sz="1300" dirty="0">
                <a:solidFill>
                  <a:schemeClr val="accent6"/>
                </a:solidFill>
              </a:rPr>
              <a:t>Insert NotebookLM video here</a:t>
            </a:r>
            <a:endParaRPr lang="en-US" sz="1300" dirty="0"/>
          </a:p>
        </p:txBody>
      </p:sp>
      <p:sp>
        <p:nvSpPr>
          <p:cNvPr id="9" name="Text 5"/>
          <p:cNvSpPr txBox="1"/>
          <p:nvPr/>
        </p:nvSpPr>
        <p:spPr>
          <a:xfrm>
            <a:off x="5943600" y="1143000"/>
            <a:ext cx="2743200" cy="365760"/>
          </a:xfrm>
          <a:prstGeom prst="rect">
            <a:avLst/>
          </a:prstGeom>
          <a:noFill/>
          <a:ln/>
        </p:spPr>
        <p:txBody>
          <a:bodyPr wrap="square" lIns="0" tIns="0" rIns="0" bIns="0" rtlCol="0" anchor="t"/>
          <a:lstStyle/>
          <a:p>
            <a:pPr marL="0" indent="0">
              <a:buNone/>
            </a:pPr>
            <a:r>
              <a:rPr lang="en-US" sz="1600" b="1" dirty="0">
                <a:solidFill>
                  <a:schemeClr val="tx1"/>
                </a:solidFill>
              </a:rPr>
              <a:t>While you watch, note down:</a:t>
            </a:r>
            <a:endParaRPr lang="en-US" sz="1600" dirty="0"/>
          </a:p>
        </p:txBody>
      </p:sp>
      <p:sp>
        <p:nvSpPr>
          <p:cNvPr id="10" name="Text 6"/>
          <p:cNvSpPr txBox="1"/>
          <p:nvPr/>
        </p:nvSpPr>
        <p:spPr>
          <a:xfrm>
            <a:off x="5943600" y="1600200"/>
            <a:ext cx="274320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one difference between serial and parallel</a:t>
            </a:r>
            <a:endParaRPr lang="en-US" sz="1500" dirty="0"/>
          </a:p>
          <a:p>
            <a:pPr marL="342900" indent="-342900">
              <a:spcAft>
                <a:spcPts val="600"/>
              </a:spcAft>
              <a:buSzPct val="100000"/>
              <a:buChar char="•"/>
            </a:pPr>
            <a:r>
              <a:rPr lang="en-US" sz="1500" dirty="0">
                <a:solidFill>
                  <a:schemeClr val="tx1"/>
                </a:solidFill>
              </a:rPr>
              <a:t>one reason parallel is used less today</a:t>
            </a:r>
            <a:endParaRPr lang="en-US" sz="1500" dirty="0"/>
          </a:p>
          <a:p>
            <a:pPr marL="342900" indent="-342900">
              <a:spcAft>
                <a:spcPts val="600"/>
              </a:spcAft>
              <a:buSzPct val="100000"/>
              <a:buChar char="•"/>
            </a:pPr>
            <a:r>
              <a:rPr lang="en-US" sz="1500" dirty="0">
                <a:solidFill>
                  <a:schemeClr val="tx1"/>
                </a:solidFill>
              </a:rPr>
              <a:t>which starter group a phone call belongs to</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554480"/>
            <a:ext cx="8046720" cy="1005840"/>
          </a:xfrm>
          <a:prstGeom prst="rect">
            <a:avLst/>
          </a:prstGeom>
          <a:noFill/>
          <a:ln/>
        </p:spPr>
        <p:txBody>
          <a:bodyPr wrap="square" lIns="0" tIns="0" rIns="0" bIns="0" rtlCol="0" anchor="b"/>
          <a:lstStyle/>
          <a:p>
            <a:pPr marL="0" indent="0" algn="l">
              <a:buNone/>
            </a:pPr>
            <a:r>
              <a:rPr lang="en-US" sz="3800" b="1" dirty="0">
                <a:solidFill>
                  <a:schemeClr val="bg1"/>
                </a:solidFill>
              </a:rPr>
              <a:t>Serial and parallel</a:t>
            </a:r>
            <a:endParaRPr lang="en-US" sz="3800" dirty="0"/>
          </a:p>
        </p:txBody>
      </p:sp>
      <p:sp>
        <p:nvSpPr>
          <p:cNvPr id="3" name="Text 0"/>
          <p:cNvSpPr>
            <a:spLocks noGrp="1"/>
          </p:cNvSpPr>
          <p:nvPr>
            <p:ph type="body" idx="101" hasCustomPrompt="1"/>
          </p:nvPr>
        </p:nvSpPr>
        <p:spPr>
          <a:xfrm>
            <a:off x="548640" y="2697480"/>
            <a:ext cx="8046720" cy="822960"/>
          </a:xfrm>
          <a:prstGeom prst="rect">
            <a:avLst/>
          </a:prstGeom>
          <a:noFill/>
          <a:ln/>
        </p:spPr>
        <p:txBody>
          <a:bodyPr wrap="square" lIns="0" tIns="0" rIns="0" bIns="0" rtlCol="0" anchor="t"/>
          <a:lstStyle/>
          <a:p>
            <a:pPr marL="0" indent="0">
              <a:buNone/>
            </a:pPr>
            <a:r>
              <a:rPr lang="en-US" sz="1800" dirty="0">
                <a:solidFill>
                  <a:schemeClr val="bg1"/>
                </a:solidFill>
              </a:rPr>
              <a:t>Spec 3.1.1: describe serial and parallel transmission, their advantages and disadvantages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Serial transmission</a:t>
            </a:r>
            <a:endParaRPr lang="en-US" sz="3000" dirty="0"/>
          </a:p>
        </p:txBody>
      </p:sp>
      <p:sp>
        <p:nvSpPr>
          <p:cNvPr id="3" name="Shape 1"/>
          <p:cNvSpPr/>
          <p:nvPr/>
        </p:nvSpPr>
        <p:spPr>
          <a:xfrm>
            <a:off x="457200" y="1143000"/>
            <a:ext cx="1097280" cy="731520"/>
          </a:xfrm>
          <a:prstGeom prst="roundRect">
            <a:avLst>
              <a:gd name="adj" fmla="val 7500"/>
            </a:avLst>
          </a:prstGeom>
          <a:solidFill>
            <a:schemeClr val="tx1"/>
          </a:solidFill>
          <a:ln w="12700">
            <a:solidFill>
              <a:schemeClr val="tx1"/>
            </a:solidFill>
            <a:prstDash val="solid"/>
          </a:ln>
        </p:spPr>
        <p:txBody>
          <a:bodyPr/>
          <a:lstStyle/>
          <a:p>
            <a:endParaRPr lang="en-GB"/>
          </a:p>
        </p:txBody>
      </p:sp>
      <p:sp>
        <p:nvSpPr>
          <p:cNvPr id="4" name="Text 2"/>
          <p:cNvSpPr txBox="1"/>
          <p:nvPr/>
        </p:nvSpPr>
        <p:spPr>
          <a:xfrm>
            <a:off x="457200" y="1143000"/>
            <a:ext cx="1097280" cy="731520"/>
          </a:xfrm>
          <a:prstGeom prst="rect">
            <a:avLst/>
          </a:prstGeom>
          <a:noFill/>
          <a:ln/>
        </p:spPr>
        <p:txBody>
          <a:bodyPr wrap="square" lIns="0" tIns="0" rIns="0" bIns="0" rtlCol="0" anchor="ctr"/>
          <a:lstStyle/>
          <a:p>
            <a:pPr marL="0" indent="0" algn="ctr">
              <a:buNone/>
            </a:pPr>
            <a:r>
              <a:rPr lang="en-US" sz="1300" b="1" dirty="0">
                <a:solidFill>
                  <a:schemeClr val="bg1"/>
                </a:solidFill>
              </a:rPr>
              <a:t>Sender</a:t>
            </a:r>
            <a:endParaRPr lang="en-US" sz="1300" dirty="0"/>
          </a:p>
        </p:txBody>
      </p:sp>
      <p:sp>
        <p:nvSpPr>
          <p:cNvPr id="5" name="Shape 3"/>
          <p:cNvSpPr/>
          <p:nvPr/>
        </p:nvSpPr>
        <p:spPr>
          <a:xfrm>
            <a:off x="7589520" y="1143000"/>
            <a:ext cx="1097280" cy="731520"/>
          </a:xfrm>
          <a:prstGeom prst="roundRect">
            <a:avLst>
              <a:gd name="adj" fmla="val 7500"/>
            </a:avLst>
          </a:prstGeom>
          <a:solidFill>
            <a:schemeClr val="tx1"/>
          </a:solidFill>
          <a:ln w="12700">
            <a:solidFill>
              <a:schemeClr val="tx1"/>
            </a:solidFill>
            <a:prstDash val="solid"/>
          </a:ln>
        </p:spPr>
        <p:txBody>
          <a:bodyPr/>
          <a:lstStyle/>
          <a:p>
            <a:endParaRPr lang="en-GB"/>
          </a:p>
        </p:txBody>
      </p:sp>
      <p:sp>
        <p:nvSpPr>
          <p:cNvPr id="6" name="Text 4"/>
          <p:cNvSpPr txBox="1"/>
          <p:nvPr/>
        </p:nvSpPr>
        <p:spPr>
          <a:xfrm>
            <a:off x="7589520" y="1143000"/>
            <a:ext cx="1097280" cy="731520"/>
          </a:xfrm>
          <a:prstGeom prst="rect">
            <a:avLst/>
          </a:prstGeom>
          <a:noFill/>
          <a:ln/>
        </p:spPr>
        <p:txBody>
          <a:bodyPr wrap="square" lIns="0" tIns="0" rIns="0" bIns="0" rtlCol="0" anchor="ctr"/>
          <a:lstStyle/>
          <a:p>
            <a:pPr marL="0" indent="0" algn="ctr">
              <a:buNone/>
            </a:pPr>
            <a:r>
              <a:rPr lang="en-US" sz="1300" b="1" dirty="0">
                <a:solidFill>
                  <a:schemeClr val="bg1"/>
                </a:solidFill>
              </a:rPr>
              <a:t>Receiver</a:t>
            </a:r>
            <a:endParaRPr lang="en-US" sz="1300" dirty="0"/>
          </a:p>
        </p:txBody>
      </p:sp>
      <p:sp>
        <p:nvSpPr>
          <p:cNvPr id="7" name="Shape 5"/>
          <p:cNvSpPr/>
          <p:nvPr/>
        </p:nvSpPr>
        <p:spPr>
          <a:xfrm>
            <a:off x="1554480" y="1508760"/>
            <a:ext cx="6035040" cy="0"/>
          </a:xfrm>
          <a:prstGeom prst="line">
            <a:avLst/>
          </a:prstGeom>
          <a:noFill/>
          <a:ln w="31750">
            <a:solidFill>
              <a:schemeClr val="accent1"/>
            </a:solidFill>
            <a:prstDash val="solid"/>
          </a:ln>
        </p:spPr>
        <p:txBody>
          <a:bodyPr/>
          <a:lstStyle/>
          <a:p>
            <a:endParaRPr lang="en-GB"/>
          </a:p>
        </p:txBody>
      </p:sp>
      <p:sp>
        <p:nvSpPr>
          <p:cNvPr id="8" name="Shape 6"/>
          <p:cNvSpPr/>
          <p:nvPr/>
        </p:nvSpPr>
        <p:spPr>
          <a:xfrm>
            <a:off x="2002536" y="1316736"/>
            <a:ext cx="384048" cy="384048"/>
          </a:xfrm>
          <a:prstGeom prst="ellipse">
            <a:avLst/>
          </a:prstGeom>
          <a:solidFill>
            <a:schemeClr val="bg1"/>
          </a:solidFill>
          <a:ln w="19050">
            <a:solidFill>
              <a:schemeClr val="accent1"/>
            </a:solidFill>
            <a:prstDash val="solid"/>
          </a:ln>
        </p:spPr>
        <p:txBody>
          <a:bodyPr/>
          <a:lstStyle/>
          <a:p>
            <a:endParaRPr lang="en-GB"/>
          </a:p>
        </p:txBody>
      </p:sp>
      <p:sp>
        <p:nvSpPr>
          <p:cNvPr id="9" name="Text 7"/>
          <p:cNvSpPr txBox="1"/>
          <p:nvPr/>
        </p:nvSpPr>
        <p:spPr>
          <a:xfrm>
            <a:off x="2002536" y="1316736"/>
            <a:ext cx="384048" cy="384048"/>
          </a:xfrm>
          <a:prstGeom prst="rect">
            <a:avLst/>
          </a:prstGeom>
          <a:noFill/>
          <a:ln/>
        </p:spPr>
        <p:txBody>
          <a:bodyPr wrap="square" lIns="0" tIns="0" rIns="0" bIns="0" rtlCol="0" anchor="ctr"/>
          <a:lstStyle/>
          <a:p>
            <a:pPr marL="0" indent="0" algn="ctr">
              <a:buNone/>
            </a:pPr>
            <a:r>
              <a:rPr lang="en-US" sz="1100" b="1" dirty="0">
                <a:solidFill>
                  <a:schemeClr val="accent1"/>
                </a:solidFill>
              </a:rPr>
              <a:t>0</a:t>
            </a:r>
            <a:endParaRPr lang="en-US" sz="1100" dirty="0"/>
          </a:p>
        </p:txBody>
      </p:sp>
      <p:sp>
        <p:nvSpPr>
          <p:cNvPr id="10" name="Shape 8"/>
          <p:cNvSpPr/>
          <p:nvPr/>
        </p:nvSpPr>
        <p:spPr>
          <a:xfrm>
            <a:off x="2688336" y="1316736"/>
            <a:ext cx="384048" cy="384048"/>
          </a:xfrm>
          <a:prstGeom prst="ellipse">
            <a:avLst/>
          </a:prstGeom>
          <a:solidFill>
            <a:schemeClr val="bg1"/>
          </a:solidFill>
          <a:ln w="19050">
            <a:solidFill>
              <a:schemeClr val="accent1"/>
            </a:solidFill>
            <a:prstDash val="solid"/>
          </a:ln>
        </p:spPr>
        <p:txBody>
          <a:bodyPr/>
          <a:lstStyle/>
          <a:p>
            <a:endParaRPr lang="en-GB"/>
          </a:p>
        </p:txBody>
      </p:sp>
      <p:sp>
        <p:nvSpPr>
          <p:cNvPr id="11" name="Text 9"/>
          <p:cNvSpPr txBox="1"/>
          <p:nvPr/>
        </p:nvSpPr>
        <p:spPr>
          <a:xfrm>
            <a:off x="2688336" y="1316736"/>
            <a:ext cx="384048" cy="384048"/>
          </a:xfrm>
          <a:prstGeom prst="rect">
            <a:avLst/>
          </a:prstGeom>
          <a:noFill/>
          <a:ln/>
        </p:spPr>
        <p:txBody>
          <a:bodyPr wrap="square" lIns="0" tIns="0" rIns="0" bIns="0" rtlCol="0" anchor="ctr"/>
          <a:lstStyle/>
          <a:p>
            <a:pPr marL="0" indent="0" algn="ctr">
              <a:buNone/>
            </a:pPr>
            <a:r>
              <a:rPr lang="en-US" sz="1100" b="1" dirty="0">
                <a:solidFill>
                  <a:schemeClr val="accent1"/>
                </a:solidFill>
              </a:rPr>
              <a:t>0</a:t>
            </a:r>
            <a:endParaRPr lang="en-US" sz="1100" dirty="0"/>
          </a:p>
        </p:txBody>
      </p:sp>
      <p:sp>
        <p:nvSpPr>
          <p:cNvPr id="12" name="Shape 10"/>
          <p:cNvSpPr/>
          <p:nvPr/>
        </p:nvSpPr>
        <p:spPr>
          <a:xfrm>
            <a:off x="3374136" y="1316736"/>
            <a:ext cx="384048" cy="384048"/>
          </a:xfrm>
          <a:prstGeom prst="ellipse">
            <a:avLst/>
          </a:prstGeom>
          <a:solidFill>
            <a:schemeClr val="accent1"/>
          </a:solidFill>
          <a:ln w="19050">
            <a:solidFill>
              <a:schemeClr val="accent1"/>
            </a:solidFill>
            <a:prstDash val="solid"/>
          </a:ln>
        </p:spPr>
        <p:txBody>
          <a:bodyPr/>
          <a:lstStyle/>
          <a:p>
            <a:endParaRPr lang="en-GB"/>
          </a:p>
        </p:txBody>
      </p:sp>
      <p:sp>
        <p:nvSpPr>
          <p:cNvPr id="13" name="Text 11"/>
          <p:cNvSpPr txBox="1"/>
          <p:nvPr/>
        </p:nvSpPr>
        <p:spPr>
          <a:xfrm>
            <a:off x="3374136" y="1316736"/>
            <a:ext cx="384048" cy="384048"/>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4" name="Shape 12"/>
          <p:cNvSpPr/>
          <p:nvPr/>
        </p:nvSpPr>
        <p:spPr>
          <a:xfrm>
            <a:off x="4059936" y="1316736"/>
            <a:ext cx="384048" cy="384048"/>
          </a:xfrm>
          <a:prstGeom prst="ellipse">
            <a:avLst/>
          </a:prstGeom>
          <a:solidFill>
            <a:schemeClr val="bg1"/>
          </a:solidFill>
          <a:ln w="19050">
            <a:solidFill>
              <a:schemeClr val="accent1"/>
            </a:solidFill>
            <a:prstDash val="solid"/>
          </a:ln>
        </p:spPr>
        <p:txBody>
          <a:bodyPr/>
          <a:lstStyle/>
          <a:p>
            <a:endParaRPr lang="en-GB"/>
          </a:p>
        </p:txBody>
      </p:sp>
      <p:sp>
        <p:nvSpPr>
          <p:cNvPr id="15" name="Text 13"/>
          <p:cNvSpPr txBox="1"/>
          <p:nvPr/>
        </p:nvSpPr>
        <p:spPr>
          <a:xfrm>
            <a:off x="4059936" y="1316736"/>
            <a:ext cx="384048" cy="384048"/>
          </a:xfrm>
          <a:prstGeom prst="rect">
            <a:avLst/>
          </a:prstGeom>
          <a:noFill/>
          <a:ln/>
        </p:spPr>
        <p:txBody>
          <a:bodyPr wrap="square" lIns="0" tIns="0" rIns="0" bIns="0" rtlCol="0" anchor="ctr"/>
          <a:lstStyle/>
          <a:p>
            <a:pPr marL="0" indent="0" algn="ctr">
              <a:buNone/>
            </a:pPr>
            <a:r>
              <a:rPr lang="en-US" sz="1100" b="1" dirty="0">
                <a:solidFill>
                  <a:schemeClr val="accent1"/>
                </a:solidFill>
              </a:rPr>
              <a:t>0</a:t>
            </a:r>
            <a:endParaRPr lang="en-US" sz="1100" dirty="0"/>
          </a:p>
        </p:txBody>
      </p:sp>
      <p:sp>
        <p:nvSpPr>
          <p:cNvPr id="16" name="Shape 14"/>
          <p:cNvSpPr/>
          <p:nvPr/>
        </p:nvSpPr>
        <p:spPr>
          <a:xfrm>
            <a:off x="4745736" y="1316736"/>
            <a:ext cx="384048" cy="384048"/>
          </a:xfrm>
          <a:prstGeom prst="ellipse">
            <a:avLst/>
          </a:prstGeom>
          <a:solidFill>
            <a:schemeClr val="bg1"/>
          </a:solidFill>
          <a:ln w="19050">
            <a:solidFill>
              <a:schemeClr val="accent1"/>
            </a:solidFill>
            <a:prstDash val="solid"/>
          </a:ln>
        </p:spPr>
        <p:txBody>
          <a:bodyPr/>
          <a:lstStyle/>
          <a:p>
            <a:endParaRPr lang="en-GB"/>
          </a:p>
        </p:txBody>
      </p:sp>
      <p:sp>
        <p:nvSpPr>
          <p:cNvPr id="17" name="Text 15"/>
          <p:cNvSpPr txBox="1"/>
          <p:nvPr/>
        </p:nvSpPr>
        <p:spPr>
          <a:xfrm>
            <a:off x="4745736" y="1316736"/>
            <a:ext cx="384048" cy="384048"/>
          </a:xfrm>
          <a:prstGeom prst="rect">
            <a:avLst/>
          </a:prstGeom>
          <a:noFill/>
          <a:ln/>
        </p:spPr>
        <p:txBody>
          <a:bodyPr wrap="square" lIns="0" tIns="0" rIns="0" bIns="0" rtlCol="0" anchor="ctr"/>
          <a:lstStyle/>
          <a:p>
            <a:pPr marL="0" indent="0" algn="ctr">
              <a:buNone/>
            </a:pPr>
            <a:r>
              <a:rPr lang="en-US" sz="1100" b="1" dirty="0">
                <a:solidFill>
                  <a:schemeClr val="accent1"/>
                </a:solidFill>
              </a:rPr>
              <a:t>0</a:t>
            </a:r>
            <a:endParaRPr lang="en-US" sz="1100" dirty="0"/>
          </a:p>
        </p:txBody>
      </p:sp>
      <p:sp>
        <p:nvSpPr>
          <p:cNvPr id="18" name="Shape 16"/>
          <p:cNvSpPr/>
          <p:nvPr/>
        </p:nvSpPr>
        <p:spPr>
          <a:xfrm>
            <a:off x="5431536" y="1316736"/>
            <a:ext cx="384048" cy="384048"/>
          </a:xfrm>
          <a:prstGeom prst="ellipse">
            <a:avLst/>
          </a:prstGeom>
          <a:solidFill>
            <a:schemeClr val="bg1"/>
          </a:solidFill>
          <a:ln w="19050">
            <a:solidFill>
              <a:schemeClr val="accent1"/>
            </a:solidFill>
            <a:prstDash val="solid"/>
          </a:ln>
        </p:spPr>
        <p:txBody>
          <a:bodyPr/>
          <a:lstStyle/>
          <a:p>
            <a:endParaRPr lang="en-GB"/>
          </a:p>
        </p:txBody>
      </p:sp>
      <p:sp>
        <p:nvSpPr>
          <p:cNvPr id="19" name="Text 17"/>
          <p:cNvSpPr txBox="1"/>
          <p:nvPr/>
        </p:nvSpPr>
        <p:spPr>
          <a:xfrm>
            <a:off x="5431536" y="1316736"/>
            <a:ext cx="384048" cy="384048"/>
          </a:xfrm>
          <a:prstGeom prst="rect">
            <a:avLst/>
          </a:prstGeom>
          <a:noFill/>
          <a:ln/>
        </p:spPr>
        <p:txBody>
          <a:bodyPr wrap="square" lIns="0" tIns="0" rIns="0" bIns="0" rtlCol="0" anchor="ctr"/>
          <a:lstStyle/>
          <a:p>
            <a:pPr marL="0" indent="0" algn="ctr">
              <a:buNone/>
            </a:pPr>
            <a:r>
              <a:rPr lang="en-US" sz="1100" b="1" dirty="0">
                <a:solidFill>
                  <a:schemeClr val="accent1"/>
                </a:solidFill>
              </a:rPr>
              <a:t>0</a:t>
            </a:r>
            <a:endParaRPr lang="en-US" sz="1100" dirty="0"/>
          </a:p>
        </p:txBody>
      </p:sp>
      <p:sp>
        <p:nvSpPr>
          <p:cNvPr id="20" name="Shape 18"/>
          <p:cNvSpPr/>
          <p:nvPr/>
        </p:nvSpPr>
        <p:spPr>
          <a:xfrm>
            <a:off x="6117336" y="1316736"/>
            <a:ext cx="384048" cy="384048"/>
          </a:xfrm>
          <a:prstGeom prst="ellipse">
            <a:avLst/>
          </a:prstGeom>
          <a:solidFill>
            <a:schemeClr val="accent1"/>
          </a:solidFill>
          <a:ln w="19050">
            <a:solidFill>
              <a:schemeClr val="accent1"/>
            </a:solidFill>
            <a:prstDash val="solid"/>
          </a:ln>
        </p:spPr>
        <p:txBody>
          <a:bodyPr/>
          <a:lstStyle/>
          <a:p>
            <a:endParaRPr lang="en-GB"/>
          </a:p>
        </p:txBody>
      </p:sp>
      <p:sp>
        <p:nvSpPr>
          <p:cNvPr id="21" name="Text 19"/>
          <p:cNvSpPr txBox="1"/>
          <p:nvPr/>
        </p:nvSpPr>
        <p:spPr>
          <a:xfrm>
            <a:off x="6117336" y="1316736"/>
            <a:ext cx="384048" cy="384048"/>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22" name="Shape 20"/>
          <p:cNvSpPr/>
          <p:nvPr/>
        </p:nvSpPr>
        <p:spPr>
          <a:xfrm>
            <a:off x="6803136" y="1316736"/>
            <a:ext cx="384048" cy="384048"/>
          </a:xfrm>
          <a:prstGeom prst="ellipse">
            <a:avLst/>
          </a:prstGeom>
          <a:solidFill>
            <a:schemeClr val="bg1"/>
          </a:solidFill>
          <a:ln w="19050">
            <a:solidFill>
              <a:schemeClr val="accent1"/>
            </a:solidFill>
            <a:prstDash val="solid"/>
          </a:ln>
        </p:spPr>
        <p:txBody>
          <a:bodyPr/>
          <a:lstStyle/>
          <a:p>
            <a:endParaRPr lang="en-GB"/>
          </a:p>
        </p:txBody>
      </p:sp>
      <p:sp>
        <p:nvSpPr>
          <p:cNvPr id="23" name="Text 21"/>
          <p:cNvSpPr txBox="1"/>
          <p:nvPr/>
        </p:nvSpPr>
        <p:spPr>
          <a:xfrm>
            <a:off x="6803136" y="1316736"/>
            <a:ext cx="384048" cy="384048"/>
          </a:xfrm>
          <a:prstGeom prst="rect">
            <a:avLst/>
          </a:prstGeom>
          <a:noFill/>
          <a:ln/>
        </p:spPr>
        <p:txBody>
          <a:bodyPr wrap="square" lIns="0" tIns="0" rIns="0" bIns="0" rtlCol="0" anchor="ctr"/>
          <a:lstStyle/>
          <a:p>
            <a:pPr marL="0" indent="0" algn="ctr">
              <a:buNone/>
            </a:pPr>
            <a:r>
              <a:rPr lang="en-US" sz="1100" b="1" dirty="0">
                <a:solidFill>
                  <a:schemeClr val="accent1"/>
                </a:solidFill>
              </a:rPr>
              <a:t>0</a:t>
            </a:r>
            <a:endParaRPr lang="en-US" sz="1100" dirty="0"/>
          </a:p>
        </p:txBody>
      </p:sp>
      <p:sp>
        <p:nvSpPr>
          <p:cNvPr id="24" name="Text 22"/>
          <p:cNvSpPr txBox="1"/>
          <p:nvPr/>
        </p:nvSpPr>
        <p:spPr>
          <a:xfrm>
            <a:off x="1554480" y="1828800"/>
            <a:ext cx="6035040" cy="274320"/>
          </a:xfrm>
          <a:prstGeom prst="rect">
            <a:avLst/>
          </a:prstGeom>
          <a:noFill/>
          <a:ln/>
        </p:spPr>
        <p:txBody>
          <a:bodyPr wrap="square" lIns="0" tIns="0" rIns="0" bIns="0" rtlCol="0" anchor="t"/>
          <a:lstStyle/>
          <a:p>
            <a:pPr marL="0" indent="0" algn="ctr">
              <a:buNone/>
            </a:pPr>
            <a:r>
              <a:rPr lang="en-US" sz="1100" dirty="0">
                <a:solidFill>
                  <a:schemeClr val="accent6"/>
                </a:solidFill>
              </a:rPr>
              <a:t>The letter D (01000100) travelling one bit at a time down a single wire</a:t>
            </a:r>
            <a:endParaRPr lang="en-US" sz="1100" dirty="0"/>
          </a:p>
        </p:txBody>
      </p:sp>
      <p:sp>
        <p:nvSpPr>
          <p:cNvPr id="25" name="ser-how"/>
          <p:cNvSpPr/>
          <p:nvPr/>
        </p:nvSpPr>
        <p:spPr>
          <a:xfrm>
            <a:off x="457200" y="2377440"/>
            <a:ext cx="3977640" cy="2194560"/>
          </a:xfrm>
          <a:prstGeom prst="roundRect">
            <a:avLst>
              <a:gd name="adj" fmla="val 3333"/>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26" name="Text 24"/>
          <p:cNvSpPr txBox="1"/>
          <p:nvPr/>
        </p:nvSpPr>
        <p:spPr>
          <a:xfrm>
            <a:off x="640080" y="2514600"/>
            <a:ext cx="3657600" cy="320040"/>
          </a:xfrm>
          <a:prstGeom prst="rect">
            <a:avLst/>
          </a:prstGeom>
          <a:noFill/>
          <a:ln/>
        </p:spPr>
        <p:txBody>
          <a:bodyPr wrap="square" lIns="0" tIns="0" rIns="0" bIns="0" rtlCol="0" anchor="t"/>
          <a:lstStyle/>
          <a:p>
            <a:pPr marL="0" indent="0">
              <a:buNone/>
            </a:pPr>
            <a:r>
              <a:rPr lang="en-US" sz="1700" b="1" dirty="0">
                <a:solidFill>
                  <a:schemeClr val="accent1"/>
                </a:solidFill>
              </a:rPr>
              <a:t>How it works</a:t>
            </a:r>
            <a:endParaRPr lang="en-US" sz="1700" dirty="0"/>
          </a:p>
        </p:txBody>
      </p:sp>
      <p:sp>
        <p:nvSpPr>
          <p:cNvPr id="27" name="Text 25"/>
          <p:cNvSpPr txBox="1"/>
          <p:nvPr/>
        </p:nvSpPr>
        <p:spPr>
          <a:xfrm>
            <a:off x="640080" y="2880360"/>
            <a:ext cx="365760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Data is sent one bit at a time</a:t>
            </a:r>
            <a:endParaRPr lang="en-US" sz="1500" dirty="0"/>
          </a:p>
          <a:p>
            <a:pPr marL="342900" indent="-342900">
              <a:spcAft>
                <a:spcPts val="600"/>
              </a:spcAft>
              <a:buSzPct val="100000"/>
              <a:buChar char="•"/>
            </a:pPr>
            <a:r>
              <a:rPr lang="en-US" sz="1500" dirty="0">
                <a:solidFill>
                  <a:schemeClr val="tx1"/>
                </a:solidFill>
              </a:rPr>
              <a:t>Bits travel one after another down a single channel</a:t>
            </a:r>
            <a:endParaRPr lang="en-US" sz="1500" dirty="0"/>
          </a:p>
          <a:p>
            <a:pPr marL="342900" indent="-342900">
              <a:spcAft>
                <a:spcPts val="600"/>
              </a:spcAft>
              <a:buSzPct val="100000"/>
              <a:buChar char="•"/>
            </a:pPr>
            <a:r>
              <a:rPr lang="en-US" sz="1500" dirty="0">
                <a:solidFill>
                  <a:schemeClr val="tx1"/>
                </a:solidFill>
              </a:rPr>
              <a:t>Bits arrive in the same order they were sent</a:t>
            </a:r>
            <a:endParaRPr lang="en-US" sz="1500" dirty="0"/>
          </a:p>
        </p:txBody>
      </p:sp>
      <p:sp>
        <p:nvSpPr>
          <p:cNvPr id="28" name="ser-use"/>
          <p:cNvSpPr/>
          <p:nvPr/>
        </p:nvSpPr>
        <p:spPr>
          <a:xfrm>
            <a:off x="4709160" y="2377440"/>
            <a:ext cx="3977640" cy="2194560"/>
          </a:xfrm>
          <a:prstGeom prst="roundRect">
            <a:avLst>
              <a:gd name="adj" fmla="val 3333"/>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29" name="Text 27"/>
          <p:cNvSpPr txBox="1"/>
          <p:nvPr/>
        </p:nvSpPr>
        <p:spPr>
          <a:xfrm>
            <a:off x="4892040" y="2514600"/>
            <a:ext cx="3657600" cy="320040"/>
          </a:xfrm>
          <a:prstGeom prst="rect">
            <a:avLst/>
          </a:prstGeom>
          <a:noFill/>
          <a:ln/>
        </p:spPr>
        <p:txBody>
          <a:bodyPr wrap="square" lIns="0" tIns="0" rIns="0" bIns="0" rtlCol="0" anchor="t"/>
          <a:lstStyle/>
          <a:p>
            <a:pPr marL="0" indent="0">
              <a:buNone/>
            </a:pPr>
            <a:r>
              <a:rPr lang="en-US" sz="1700" b="1" dirty="0">
                <a:solidFill>
                  <a:schemeClr val="accent1"/>
                </a:solidFill>
              </a:rPr>
              <a:t>Where it is used</a:t>
            </a:r>
            <a:endParaRPr lang="en-US" sz="1700" dirty="0"/>
          </a:p>
        </p:txBody>
      </p:sp>
      <p:sp>
        <p:nvSpPr>
          <p:cNvPr id="30" name="Text 28"/>
          <p:cNvSpPr txBox="1"/>
          <p:nvPr/>
        </p:nvSpPr>
        <p:spPr>
          <a:xfrm>
            <a:off x="4892040" y="2880360"/>
            <a:ext cx="365760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USB and Thunderbolt</a:t>
            </a:r>
            <a:endParaRPr lang="en-US" sz="1500" dirty="0"/>
          </a:p>
          <a:p>
            <a:pPr marL="342900" indent="-342900">
              <a:spcAft>
                <a:spcPts val="600"/>
              </a:spcAft>
              <a:buSzPct val="100000"/>
              <a:buChar char="•"/>
            </a:pPr>
            <a:r>
              <a:rPr lang="en-US" sz="1500" dirty="0">
                <a:solidFill>
                  <a:schemeClr val="tx1"/>
                </a:solidFill>
              </a:rPr>
              <a:t>Ethernet network cables</a:t>
            </a:r>
            <a:endParaRPr lang="en-US" sz="1500" dirty="0"/>
          </a:p>
          <a:p>
            <a:pPr marL="342900" indent="-342900">
              <a:spcAft>
                <a:spcPts val="600"/>
              </a:spcAft>
              <a:buSzPct val="100000"/>
              <a:buChar char="•"/>
            </a:pPr>
            <a:r>
              <a:rPr lang="en-US" sz="1500" dirty="0">
                <a:solidFill>
                  <a:schemeClr val="tx1"/>
                </a:solidFill>
              </a:rPr>
              <a:t>SATA drives and PCIe expansion cards</a:t>
            </a:r>
            <a:endParaRPr lang="en-US" sz="1500" dirty="0"/>
          </a:p>
          <a:p>
            <a:pPr marL="342900" indent="-342900">
              <a:spcAft>
                <a:spcPts val="600"/>
              </a:spcAft>
              <a:buSzPct val="100000"/>
              <a:buChar char="•"/>
            </a:pPr>
            <a:r>
              <a:rPr lang="en-US" sz="1500" dirty="0">
                <a:solidFill>
                  <a:schemeClr val="tx1"/>
                </a:solidFill>
              </a:rPr>
              <a:t>Long-distance links between devices</a:t>
            </a:r>
            <a:endParaRPr lang="en-US" sz="1500" dirty="0"/>
          </a:p>
        </p:txBody>
      </p:sp>
      <p:sp>
        <p:nvSpPr>
          <p:cNvPr id="3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Parallel transmission</a:t>
            </a:r>
            <a:endParaRPr lang="en-US" sz="3000" dirty="0"/>
          </a:p>
        </p:txBody>
      </p:sp>
      <p:sp>
        <p:nvSpPr>
          <p:cNvPr id="3" name="Shape 1"/>
          <p:cNvSpPr/>
          <p:nvPr/>
        </p:nvSpPr>
        <p:spPr>
          <a:xfrm>
            <a:off x="457200" y="1051560"/>
            <a:ext cx="1097280" cy="1600200"/>
          </a:xfrm>
          <a:prstGeom prst="roundRect">
            <a:avLst>
              <a:gd name="adj" fmla="val 5000"/>
            </a:avLst>
          </a:prstGeom>
          <a:solidFill>
            <a:schemeClr val="tx1"/>
          </a:solidFill>
          <a:ln w="12700">
            <a:solidFill>
              <a:schemeClr val="tx1"/>
            </a:solidFill>
            <a:prstDash val="solid"/>
          </a:ln>
        </p:spPr>
        <p:txBody>
          <a:bodyPr/>
          <a:lstStyle/>
          <a:p>
            <a:endParaRPr lang="en-GB"/>
          </a:p>
        </p:txBody>
      </p:sp>
      <p:sp>
        <p:nvSpPr>
          <p:cNvPr id="4" name="Text 2"/>
          <p:cNvSpPr txBox="1"/>
          <p:nvPr/>
        </p:nvSpPr>
        <p:spPr>
          <a:xfrm>
            <a:off x="457200" y="1051560"/>
            <a:ext cx="1097280" cy="1600200"/>
          </a:xfrm>
          <a:prstGeom prst="rect">
            <a:avLst/>
          </a:prstGeom>
          <a:noFill/>
          <a:ln/>
        </p:spPr>
        <p:txBody>
          <a:bodyPr wrap="square" lIns="0" tIns="0" rIns="0" bIns="0" rtlCol="0" anchor="ctr"/>
          <a:lstStyle/>
          <a:p>
            <a:pPr marL="0" indent="0" algn="ctr">
              <a:buNone/>
            </a:pPr>
            <a:r>
              <a:rPr lang="en-US" sz="1300" b="1" dirty="0">
                <a:solidFill>
                  <a:schemeClr val="bg1"/>
                </a:solidFill>
              </a:rPr>
              <a:t>Sender</a:t>
            </a:r>
            <a:endParaRPr lang="en-US" sz="1300" dirty="0"/>
          </a:p>
        </p:txBody>
      </p:sp>
      <p:sp>
        <p:nvSpPr>
          <p:cNvPr id="5" name="Shape 3"/>
          <p:cNvSpPr/>
          <p:nvPr/>
        </p:nvSpPr>
        <p:spPr>
          <a:xfrm>
            <a:off x="7589520" y="1051560"/>
            <a:ext cx="1097280" cy="1600200"/>
          </a:xfrm>
          <a:prstGeom prst="roundRect">
            <a:avLst>
              <a:gd name="adj" fmla="val 5000"/>
            </a:avLst>
          </a:prstGeom>
          <a:solidFill>
            <a:schemeClr val="tx1"/>
          </a:solidFill>
          <a:ln w="12700">
            <a:solidFill>
              <a:schemeClr val="tx1"/>
            </a:solidFill>
            <a:prstDash val="solid"/>
          </a:ln>
        </p:spPr>
        <p:txBody>
          <a:bodyPr/>
          <a:lstStyle/>
          <a:p>
            <a:endParaRPr lang="en-GB"/>
          </a:p>
        </p:txBody>
      </p:sp>
      <p:sp>
        <p:nvSpPr>
          <p:cNvPr id="6" name="Text 4"/>
          <p:cNvSpPr txBox="1"/>
          <p:nvPr/>
        </p:nvSpPr>
        <p:spPr>
          <a:xfrm>
            <a:off x="7589520" y="1051560"/>
            <a:ext cx="1097280" cy="1600200"/>
          </a:xfrm>
          <a:prstGeom prst="rect">
            <a:avLst/>
          </a:prstGeom>
          <a:noFill/>
          <a:ln/>
        </p:spPr>
        <p:txBody>
          <a:bodyPr wrap="square" lIns="0" tIns="0" rIns="0" bIns="0" rtlCol="0" anchor="ctr"/>
          <a:lstStyle/>
          <a:p>
            <a:pPr marL="0" indent="0" algn="ctr">
              <a:buNone/>
            </a:pPr>
            <a:r>
              <a:rPr lang="en-US" sz="1300" b="1" dirty="0">
                <a:solidFill>
                  <a:schemeClr val="bg1"/>
                </a:solidFill>
              </a:rPr>
              <a:t>Receiver</a:t>
            </a:r>
            <a:endParaRPr lang="en-US" sz="1300" dirty="0"/>
          </a:p>
        </p:txBody>
      </p:sp>
      <p:sp>
        <p:nvSpPr>
          <p:cNvPr id="7" name="Shape 5"/>
          <p:cNvSpPr/>
          <p:nvPr/>
        </p:nvSpPr>
        <p:spPr>
          <a:xfrm>
            <a:off x="1554480" y="1143000"/>
            <a:ext cx="6035040" cy="0"/>
          </a:xfrm>
          <a:prstGeom prst="line">
            <a:avLst/>
          </a:prstGeom>
          <a:noFill/>
          <a:ln w="15875">
            <a:solidFill>
              <a:schemeClr val="accent6"/>
            </a:solidFill>
            <a:prstDash val="solid"/>
          </a:ln>
        </p:spPr>
        <p:txBody>
          <a:bodyPr/>
          <a:lstStyle/>
          <a:p>
            <a:endParaRPr lang="en-GB"/>
          </a:p>
        </p:txBody>
      </p:sp>
      <p:sp>
        <p:nvSpPr>
          <p:cNvPr id="8" name="Shape 6"/>
          <p:cNvSpPr/>
          <p:nvPr/>
        </p:nvSpPr>
        <p:spPr>
          <a:xfrm>
            <a:off x="3566160" y="1051560"/>
            <a:ext cx="182880" cy="182880"/>
          </a:xfrm>
          <a:prstGeom prst="ellipse">
            <a:avLst/>
          </a:prstGeom>
          <a:solidFill>
            <a:schemeClr val="bg1"/>
          </a:solidFill>
          <a:ln w="19050">
            <a:solidFill>
              <a:schemeClr val="tx1"/>
            </a:solidFill>
            <a:prstDash val="solid"/>
          </a:ln>
        </p:spPr>
        <p:txBody>
          <a:bodyPr/>
          <a:lstStyle/>
          <a:p>
            <a:endParaRPr lang="en-GB"/>
          </a:p>
        </p:txBody>
      </p:sp>
      <p:sp>
        <p:nvSpPr>
          <p:cNvPr id="9" name="Text 7"/>
          <p:cNvSpPr txBox="1"/>
          <p:nvPr/>
        </p:nvSpPr>
        <p:spPr>
          <a:xfrm>
            <a:off x="3566160" y="1051560"/>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10" name="Shape 8"/>
          <p:cNvSpPr/>
          <p:nvPr/>
        </p:nvSpPr>
        <p:spPr>
          <a:xfrm>
            <a:off x="5394960" y="1051560"/>
            <a:ext cx="182880" cy="182880"/>
          </a:xfrm>
          <a:prstGeom prst="ellipse">
            <a:avLst/>
          </a:prstGeom>
          <a:solidFill>
            <a:schemeClr val="bg1"/>
          </a:solidFill>
          <a:ln w="19050">
            <a:solidFill>
              <a:schemeClr val="tx1"/>
            </a:solidFill>
            <a:prstDash val="solid"/>
          </a:ln>
        </p:spPr>
        <p:txBody>
          <a:bodyPr/>
          <a:lstStyle/>
          <a:p>
            <a:endParaRPr lang="en-GB"/>
          </a:p>
        </p:txBody>
      </p:sp>
      <p:sp>
        <p:nvSpPr>
          <p:cNvPr id="11" name="Text 9"/>
          <p:cNvSpPr txBox="1"/>
          <p:nvPr/>
        </p:nvSpPr>
        <p:spPr>
          <a:xfrm>
            <a:off x="5394960" y="1051560"/>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12" name="Shape 10"/>
          <p:cNvSpPr/>
          <p:nvPr/>
        </p:nvSpPr>
        <p:spPr>
          <a:xfrm>
            <a:off x="1554480" y="1344168"/>
            <a:ext cx="6035040" cy="0"/>
          </a:xfrm>
          <a:prstGeom prst="line">
            <a:avLst/>
          </a:prstGeom>
          <a:noFill/>
          <a:ln w="15875">
            <a:solidFill>
              <a:schemeClr val="accent6"/>
            </a:solidFill>
            <a:prstDash val="solid"/>
          </a:ln>
        </p:spPr>
        <p:txBody>
          <a:bodyPr/>
          <a:lstStyle/>
          <a:p>
            <a:endParaRPr lang="en-GB"/>
          </a:p>
        </p:txBody>
      </p:sp>
      <p:sp>
        <p:nvSpPr>
          <p:cNvPr id="13" name="Shape 11"/>
          <p:cNvSpPr/>
          <p:nvPr/>
        </p:nvSpPr>
        <p:spPr>
          <a:xfrm>
            <a:off x="3566160" y="1252728"/>
            <a:ext cx="182880" cy="182880"/>
          </a:xfrm>
          <a:prstGeom prst="ellipse">
            <a:avLst/>
          </a:prstGeom>
          <a:solidFill>
            <a:schemeClr val="tx1"/>
          </a:solidFill>
          <a:ln w="19050">
            <a:solidFill>
              <a:schemeClr val="tx1"/>
            </a:solidFill>
            <a:prstDash val="solid"/>
          </a:ln>
        </p:spPr>
        <p:txBody>
          <a:bodyPr/>
          <a:lstStyle/>
          <a:p>
            <a:endParaRPr lang="en-GB"/>
          </a:p>
        </p:txBody>
      </p:sp>
      <p:sp>
        <p:nvSpPr>
          <p:cNvPr id="14" name="Text 12"/>
          <p:cNvSpPr txBox="1"/>
          <p:nvPr/>
        </p:nvSpPr>
        <p:spPr>
          <a:xfrm>
            <a:off x="3566160" y="1252728"/>
            <a:ext cx="182880" cy="18288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5" name="Shape 13"/>
          <p:cNvSpPr/>
          <p:nvPr/>
        </p:nvSpPr>
        <p:spPr>
          <a:xfrm>
            <a:off x="5394960" y="1252728"/>
            <a:ext cx="182880" cy="182880"/>
          </a:xfrm>
          <a:prstGeom prst="ellipse">
            <a:avLst/>
          </a:prstGeom>
          <a:solidFill>
            <a:schemeClr val="tx1"/>
          </a:solidFill>
          <a:ln w="19050">
            <a:solidFill>
              <a:schemeClr val="tx1"/>
            </a:solidFill>
            <a:prstDash val="solid"/>
          </a:ln>
        </p:spPr>
        <p:txBody>
          <a:bodyPr/>
          <a:lstStyle/>
          <a:p>
            <a:endParaRPr lang="en-GB"/>
          </a:p>
        </p:txBody>
      </p:sp>
      <p:sp>
        <p:nvSpPr>
          <p:cNvPr id="16" name="Text 14"/>
          <p:cNvSpPr txBox="1"/>
          <p:nvPr/>
        </p:nvSpPr>
        <p:spPr>
          <a:xfrm>
            <a:off x="5394960" y="1252728"/>
            <a:ext cx="182880" cy="18288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7" name="Shape 15"/>
          <p:cNvSpPr/>
          <p:nvPr/>
        </p:nvSpPr>
        <p:spPr>
          <a:xfrm>
            <a:off x="1554480" y="1545336"/>
            <a:ext cx="6035040" cy="0"/>
          </a:xfrm>
          <a:prstGeom prst="line">
            <a:avLst/>
          </a:prstGeom>
          <a:noFill/>
          <a:ln w="15875">
            <a:solidFill>
              <a:schemeClr val="accent6"/>
            </a:solidFill>
            <a:prstDash val="solid"/>
          </a:ln>
        </p:spPr>
        <p:txBody>
          <a:bodyPr/>
          <a:lstStyle/>
          <a:p>
            <a:endParaRPr lang="en-GB"/>
          </a:p>
        </p:txBody>
      </p:sp>
      <p:sp>
        <p:nvSpPr>
          <p:cNvPr id="18" name="Shape 16"/>
          <p:cNvSpPr/>
          <p:nvPr/>
        </p:nvSpPr>
        <p:spPr>
          <a:xfrm>
            <a:off x="3566160" y="1453896"/>
            <a:ext cx="182880" cy="182880"/>
          </a:xfrm>
          <a:prstGeom prst="ellipse">
            <a:avLst/>
          </a:prstGeom>
          <a:solidFill>
            <a:schemeClr val="bg1"/>
          </a:solidFill>
          <a:ln w="19050">
            <a:solidFill>
              <a:schemeClr val="tx1"/>
            </a:solidFill>
            <a:prstDash val="solid"/>
          </a:ln>
        </p:spPr>
        <p:txBody>
          <a:bodyPr/>
          <a:lstStyle/>
          <a:p>
            <a:endParaRPr lang="en-GB"/>
          </a:p>
        </p:txBody>
      </p:sp>
      <p:sp>
        <p:nvSpPr>
          <p:cNvPr id="19" name="Text 17"/>
          <p:cNvSpPr txBox="1"/>
          <p:nvPr/>
        </p:nvSpPr>
        <p:spPr>
          <a:xfrm>
            <a:off x="3566160" y="1453896"/>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20" name="Shape 18"/>
          <p:cNvSpPr/>
          <p:nvPr/>
        </p:nvSpPr>
        <p:spPr>
          <a:xfrm>
            <a:off x="5394960" y="1453896"/>
            <a:ext cx="182880" cy="182880"/>
          </a:xfrm>
          <a:prstGeom prst="ellipse">
            <a:avLst/>
          </a:prstGeom>
          <a:solidFill>
            <a:schemeClr val="bg1"/>
          </a:solidFill>
          <a:ln w="19050">
            <a:solidFill>
              <a:schemeClr val="tx1"/>
            </a:solidFill>
            <a:prstDash val="solid"/>
          </a:ln>
        </p:spPr>
        <p:txBody>
          <a:bodyPr/>
          <a:lstStyle/>
          <a:p>
            <a:endParaRPr lang="en-GB"/>
          </a:p>
        </p:txBody>
      </p:sp>
      <p:sp>
        <p:nvSpPr>
          <p:cNvPr id="21" name="Text 19"/>
          <p:cNvSpPr txBox="1"/>
          <p:nvPr/>
        </p:nvSpPr>
        <p:spPr>
          <a:xfrm>
            <a:off x="5394960" y="1453896"/>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22" name="Shape 20"/>
          <p:cNvSpPr/>
          <p:nvPr/>
        </p:nvSpPr>
        <p:spPr>
          <a:xfrm>
            <a:off x="1554480" y="1746504"/>
            <a:ext cx="6035040" cy="0"/>
          </a:xfrm>
          <a:prstGeom prst="line">
            <a:avLst/>
          </a:prstGeom>
          <a:noFill/>
          <a:ln w="15875">
            <a:solidFill>
              <a:schemeClr val="accent6"/>
            </a:solidFill>
            <a:prstDash val="solid"/>
          </a:ln>
        </p:spPr>
        <p:txBody>
          <a:bodyPr/>
          <a:lstStyle/>
          <a:p>
            <a:endParaRPr lang="en-GB"/>
          </a:p>
        </p:txBody>
      </p:sp>
      <p:sp>
        <p:nvSpPr>
          <p:cNvPr id="23" name="Shape 21"/>
          <p:cNvSpPr/>
          <p:nvPr/>
        </p:nvSpPr>
        <p:spPr>
          <a:xfrm>
            <a:off x="3566160" y="1655064"/>
            <a:ext cx="182880" cy="182880"/>
          </a:xfrm>
          <a:prstGeom prst="ellipse">
            <a:avLst/>
          </a:prstGeom>
          <a:solidFill>
            <a:schemeClr val="bg1"/>
          </a:solidFill>
          <a:ln w="19050">
            <a:solidFill>
              <a:schemeClr val="tx1"/>
            </a:solidFill>
            <a:prstDash val="solid"/>
          </a:ln>
        </p:spPr>
        <p:txBody>
          <a:bodyPr/>
          <a:lstStyle/>
          <a:p>
            <a:endParaRPr lang="en-GB"/>
          </a:p>
        </p:txBody>
      </p:sp>
      <p:sp>
        <p:nvSpPr>
          <p:cNvPr id="24" name="Text 22"/>
          <p:cNvSpPr txBox="1"/>
          <p:nvPr/>
        </p:nvSpPr>
        <p:spPr>
          <a:xfrm>
            <a:off x="3566160" y="1655064"/>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25" name="Shape 23"/>
          <p:cNvSpPr/>
          <p:nvPr/>
        </p:nvSpPr>
        <p:spPr>
          <a:xfrm>
            <a:off x="5394960" y="1655064"/>
            <a:ext cx="182880" cy="182880"/>
          </a:xfrm>
          <a:prstGeom prst="ellipse">
            <a:avLst/>
          </a:prstGeom>
          <a:solidFill>
            <a:schemeClr val="bg1"/>
          </a:solidFill>
          <a:ln w="19050">
            <a:solidFill>
              <a:schemeClr val="tx1"/>
            </a:solidFill>
            <a:prstDash val="solid"/>
          </a:ln>
        </p:spPr>
        <p:txBody>
          <a:bodyPr/>
          <a:lstStyle/>
          <a:p>
            <a:endParaRPr lang="en-GB"/>
          </a:p>
        </p:txBody>
      </p:sp>
      <p:sp>
        <p:nvSpPr>
          <p:cNvPr id="26" name="Text 24"/>
          <p:cNvSpPr txBox="1"/>
          <p:nvPr/>
        </p:nvSpPr>
        <p:spPr>
          <a:xfrm>
            <a:off x="5394960" y="1655064"/>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27" name="Shape 25"/>
          <p:cNvSpPr/>
          <p:nvPr/>
        </p:nvSpPr>
        <p:spPr>
          <a:xfrm>
            <a:off x="1554480" y="1947672"/>
            <a:ext cx="6035040" cy="0"/>
          </a:xfrm>
          <a:prstGeom prst="line">
            <a:avLst/>
          </a:prstGeom>
          <a:noFill/>
          <a:ln w="15875">
            <a:solidFill>
              <a:schemeClr val="accent6"/>
            </a:solidFill>
            <a:prstDash val="solid"/>
          </a:ln>
        </p:spPr>
        <p:txBody>
          <a:bodyPr/>
          <a:lstStyle/>
          <a:p>
            <a:endParaRPr lang="en-GB"/>
          </a:p>
        </p:txBody>
      </p:sp>
      <p:sp>
        <p:nvSpPr>
          <p:cNvPr id="28" name="Shape 26"/>
          <p:cNvSpPr/>
          <p:nvPr/>
        </p:nvSpPr>
        <p:spPr>
          <a:xfrm>
            <a:off x="3566160" y="1856232"/>
            <a:ext cx="182880" cy="182880"/>
          </a:xfrm>
          <a:prstGeom prst="ellipse">
            <a:avLst/>
          </a:prstGeom>
          <a:solidFill>
            <a:schemeClr val="bg1"/>
          </a:solidFill>
          <a:ln w="19050">
            <a:solidFill>
              <a:schemeClr val="tx1"/>
            </a:solidFill>
            <a:prstDash val="solid"/>
          </a:ln>
        </p:spPr>
        <p:txBody>
          <a:bodyPr/>
          <a:lstStyle/>
          <a:p>
            <a:endParaRPr lang="en-GB"/>
          </a:p>
        </p:txBody>
      </p:sp>
      <p:sp>
        <p:nvSpPr>
          <p:cNvPr id="29" name="Text 27"/>
          <p:cNvSpPr txBox="1"/>
          <p:nvPr/>
        </p:nvSpPr>
        <p:spPr>
          <a:xfrm>
            <a:off x="3566160" y="1856232"/>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30" name="Shape 28"/>
          <p:cNvSpPr/>
          <p:nvPr/>
        </p:nvSpPr>
        <p:spPr>
          <a:xfrm>
            <a:off x="5394960" y="1856232"/>
            <a:ext cx="182880" cy="182880"/>
          </a:xfrm>
          <a:prstGeom prst="ellipse">
            <a:avLst/>
          </a:prstGeom>
          <a:solidFill>
            <a:schemeClr val="bg1"/>
          </a:solidFill>
          <a:ln w="19050">
            <a:solidFill>
              <a:schemeClr val="tx1"/>
            </a:solidFill>
            <a:prstDash val="solid"/>
          </a:ln>
        </p:spPr>
        <p:txBody>
          <a:bodyPr/>
          <a:lstStyle/>
          <a:p>
            <a:endParaRPr lang="en-GB"/>
          </a:p>
        </p:txBody>
      </p:sp>
      <p:sp>
        <p:nvSpPr>
          <p:cNvPr id="31" name="Text 29"/>
          <p:cNvSpPr txBox="1"/>
          <p:nvPr/>
        </p:nvSpPr>
        <p:spPr>
          <a:xfrm>
            <a:off x="5394960" y="1856232"/>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32" name="Shape 30"/>
          <p:cNvSpPr/>
          <p:nvPr/>
        </p:nvSpPr>
        <p:spPr>
          <a:xfrm>
            <a:off x="1554480" y="2148840"/>
            <a:ext cx="6035040" cy="0"/>
          </a:xfrm>
          <a:prstGeom prst="line">
            <a:avLst/>
          </a:prstGeom>
          <a:noFill/>
          <a:ln w="15875">
            <a:solidFill>
              <a:schemeClr val="accent6"/>
            </a:solidFill>
            <a:prstDash val="solid"/>
          </a:ln>
        </p:spPr>
        <p:txBody>
          <a:bodyPr/>
          <a:lstStyle/>
          <a:p>
            <a:endParaRPr lang="en-GB"/>
          </a:p>
        </p:txBody>
      </p:sp>
      <p:sp>
        <p:nvSpPr>
          <p:cNvPr id="33" name="Shape 31"/>
          <p:cNvSpPr/>
          <p:nvPr/>
        </p:nvSpPr>
        <p:spPr>
          <a:xfrm>
            <a:off x="3566160" y="2057400"/>
            <a:ext cx="182880" cy="182880"/>
          </a:xfrm>
          <a:prstGeom prst="ellipse">
            <a:avLst/>
          </a:prstGeom>
          <a:solidFill>
            <a:schemeClr val="bg1"/>
          </a:solidFill>
          <a:ln w="19050">
            <a:solidFill>
              <a:schemeClr val="tx1"/>
            </a:solidFill>
            <a:prstDash val="solid"/>
          </a:ln>
        </p:spPr>
        <p:txBody>
          <a:bodyPr/>
          <a:lstStyle/>
          <a:p>
            <a:endParaRPr lang="en-GB"/>
          </a:p>
        </p:txBody>
      </p:sp>
      <p:sp>
        <p:nvSpPr>
          <p:cNvPr id="34" name="Text 32"/>
          <p:cNvSpPr txBox="1"/>
          <p:nvPr/>
        </p:nvSpPr>
        <p:spPr>
          <a:xfrm>
            <a:off x="3566160" y="2057400"/>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35" name="Shape 33"/>
          <p:cNvSpPr/>
          <p:nvPr/>
        </p:nvSpPr>
        <p:spPr>
          <a:xfrm>
            <a:off x="5394960" y="2057400"/>
            <a:ext cx="182880" cy="182880"/>
          </a:xfrm>
          <a:prstGeom prst="ellipse">
            <a:avLst/>
          </a:prstGeom>
          <a:solidFill>
            <a:schemeClr val="tx1"/>
          </a:solidFill>
          <a:ln w="19050">
            <a:solidFill>
              <a:schemeClr val="tx1"/>
            </a:solidFill>
            <a:prstDash val="solid"/>
          </a:ln>
        </p:spPr>
        <p:txBody>
          <a:bodyPr/>
          <a:lstStyle/>
          <a:p>
            <a:endParaRPr lang="en-GB"/>
          </a:p>
        </p:txBody>
      </p:sp>
      <p:sp>
        <p:nvSpPr>
          <p:cNvPr id="36" name="Text 34"/>
          <p:cNvSpPr txBox="1"/>
          <p:nvPr/>
        </p:nvSpPr>
        <p:spPr>
          <a:xfrm>
            <a:off x="5394960" y="2057400"/>
            <a:ext cx="182880" cy="18288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37" name="Shape 35"/>
          <p:cNvSpPr/>
          <p:nvPr/>
        </p:nvSpPr>
        <p:spPr>
          <a:xfrm>
            <a:off x="1554480" y="2350008"/>
            <a:ext cx="6035040" cy="0"/>
          </a:xfrm>
          <a:prstGeom prst="line">
            <a:avLst/>
          </a:prstGeom>
          <a:noFill/>
          <a:ln w="15875">
            <a:solidFill>
              <a:schemeClr val="accent6"/>
            </a:solidFill>
            <a:prstDash val="solid"/>
          </a:ln>
        </p:spPr>
        <p:txBody>
          <a:bodyPr/>
          <a:lstStyle/>
          <a:p>
            <a:endParaRPr lang="en-GB"/>
          </a:p>
        </p:txBody>
      </p:sp>
      <p:sp>
        <p:nvSpPr>
          <p:cNvPr id="38" name="Shape 36"/>
          <p:cNvSpPr/>
          <p:nvPr/>
        </p:nvSpPr>
        <p:spPr>
          <a:xfrm>
            <a:off x="3566160" y="2258568"/>
            <a:ext cx="182880" cy="182880"/>
          </a:xfrm>
          <a:prstGeom prst="ellipse">
            <a:avLst/>
          </a:prstGeom>
          <a:solidFill>
            <a:schemeClr val="bg1"/>
          </a:solidFill>
          <a:ln w="19050">
            <a:solidFill>
              <a:schemeClr val="tx1"/>
            </a:solidFill>
            <a:prstDash val="solid"/>
          </a:ln>
        </p:spPr>
        <p:txBody>
          <a:bodyPr/>
          <a:lstStyle/>
          <a:p>
            <a:endParaRPr lang="en-GB"/>
          </a:p>
        </p:txBody>
      </p:sp>
      <p:sp>
        <p:nvSpPr>
          <p:cNvPr id="39" name="Text 37"/>
          <p:cNvSpPr txBox="1"/>
          <p:nvPr/>
        </p:nvSpPr>
        <p:spPr>
          <a:xfrm>
            <a:off x="3566160" y="2258568"/>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40" name="Shape 38"/>
          <p:cNvSpPr/>
          <p:nvPr/>
        </p:nvSpPr>
        <p:spPr>
          <a:xfrm>
            <a:off x="5394960" y="2258568"/>
            <a:ext cx="182880" cy="182880"/>
          </a:xfrm>
          <a:prstGeom prst="ellipse">
            <a:avLst/>
          </a:prstGeom>
          <a:solidFill>
            <a:schemeClr val="bg1"/>
          </a:solidFill>
          <a:ln w="19050">
            <a:solidFill>
              <a:schemeClr val="tx1"/>
            </a:solidFill>
            <a:prstDash val="solid"/>
          </a:ln>
        </p:spPr>
        <p:txBody>
          <a:bodyPr/>
          <a:lstStyle/>
          <a:p>
            <a:endParaRPr lang="en-GB"/>
          </a:p>
        </p:txBody>
      </p:sp>
      <p:sp>
        <p:nvSpPr>
          <p:cNvPr id="41" name="Text 39"/>
          <p:cNvSpPr txBox="1"/>
          <p:nvPr/>
        </p:nvSpPr>
        <p:spPr>
          <a:xfrm>
            <a:off x="5394960" y="2258568"/>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42" name="Shape 40"/>
          <p:cNvSpPr/>
          <p:nvPr/>
        </p:nvSpPr>
        <p:spPr>
          <a:xfrm>
            <a:off x="1554480" y="2551176"/>
            <a:ext cx="6035040" cy="0"/>
          </a:xfrm>
          <a:prstGeom prst="line">
            <a:avLst/>
          </a:prstGeom>
          <a:noFill/>
          <a:ln w="15875">
            <a:solidFill>
              <a:schemeClr val="accent6"/>
            </a:solidFill>
            <a:prstDash val="solid"/>
          </a:ln>
        </p:spPr>
        <p:txBody>
          <a:bodyPr/>
          <a:lstStyle/>
          <a:p>
            <a:endParaRPr lang="en-GB"/>
          </a:p>
        </p:txBody>
      </p:sp>
      <p:sp>
        <p:nvSpPr>
          <p:cNvPr id="43" name="Shape 41"/>
          <p:cNvSpPr/>
          <p:nvPr/>
        </p:nvSpPr>
        <p:spPr>
          <a:xfrm>
            <a:off x="3566160" y="2459736"/>
            <a:ext cx="182880" cy="182880"/>
          </a:xfrm>
          <a:prstGeom prst="ellipse">
            <a:avLst/>
          </a:prstGeom>
          <a:solidFill>
            <a:schemeClr val="tx1"/>
          </a:solidFill>
          <a:ln w="19050">
            <a:solidFill>
              <a:schemeClr val="tx1"/>
            </a:solidFill>
            <a:prstDash val="solid"/>
          </a:ln>
        </p:spPr>
        <p:txBody>
          <a:bodyPr/>
          <a:lstStyle/>
          <a:p>
            <a:endParaRPr lang="en-GB"/>
          </a:p>
        </p:txBody>
      </p:sp>
      <p:sp>
        <p:nvSpPr>
          <p:cNvPr id="44" name="Text 42"/>
          <p:cNvSpPr txBox="1"/>
          <p:nvPr/>
        </p:nvSpPr>
        <p:spPr>
          <a:xfrm>
            <a:off x="3566160" y="2459736"/>
            <a:ext cx="182880" cy="18288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45" name="Shape 43"/>
          <p:cNvSpPr/>
          <p:nvPr/>
        </p:nvSpPr>
        <p:spPr>
          <a:xfrm>
            <a:off x="5394960" y="2459736"/>
            <a:ext cx="182880" cy="182880"/>
          </a:xfrm>
          <a:prstGeom prst="ellipse">
            <a:avLst/>
          </a:prstGeom>
          <a:solidFill>
            <a:schemeClr val="bg1"/>
          </a:solidFill>
          <a:ln w="19050">
            <a:solidFill>
              <a:schemeClr val="tx1"/>
            </a:solidFill>
            <a:prstDash val="solid"/>
          </a:ln>
        </p:spPr>
        <p:txBody>
          <a:bodyPr/>
          <a:lstStyle/>
          <a:p>
            <a:endParaRPr lang="en-GB"/>
          </a:p>
        </p:txBody>
      </p:sp>
      <p:sp>
        <p:nvSpPr>
          <p:cNvPr id="46" name="Text 44"/>
          <p:cNvSpPr txBox="1"/>
          <p:nvPr/>
        </p:nvSpPr>
        <p:spPr>
          <a:xfrm>
            <a:off x="5394960" y="2459736"/>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47" name="Text 45"/>
          <p:cNvSpPr txBox="1"/>
          <p:nvPr/>
        </p:nvSpPr>
        <p:spPr>
          <a:xfrm>
            <a:off x="5257800" y="2724912"/>
            <a:ext cx="457200" cy="274320"/>
          </a:xfrm>
          <a:prstGeom prst="rect">
            <a:avLst/>
          </a:prstGeom>
          <a:noFill/>
          <a:ln/>
        </p:spPr>
        <p:txBody>
          <a:bodyPr wrap="square" lIns="0" tIns="0" rIns="0" bIns="0" rtlCol="0" anchor="t"/>
          <a:lstStyle/>
          <a:p>
            <a:pPr marL="0" indent="0" algn="ctr">
              <a:buNone/>
            </a:pPr>
            <a:r>
              <a:rPr lang="en-US" sz="1300" b="1" dirty="0">
                <a:solidFill>
                  <a:schemeClr val="tx1"/>
                </a:solidFill>
              </a:rPr>
              <a:t>D</a:t>
            </a:r>
            <a:endParaRPr lang="en-US" sz="1300" dirty="0"/>
          </a:p>
        </p:txBody>
      </p:sp>
      <p:sp>
        <p:nvSpPr>
          <p:cNvPr id="48" name="Text 46"/>
          <p:cNvSpPr txBox="1"/>
          <p:nvPr/>
        </p:nvSpPr>
        <p:spPr>
          <a:xfrm>
            <a:off x="3429000" y="2724912"/>
            <a:ext cx="457200" cy="274320"/>
          </a:xfrm>
          <a:prstGeom prst="rect">
            <a:avLst/>
          </a:prstGeom>
          <a:noFill/>
          <a:ln/>
        </p:spPr>
        <p:txBody>
          <a:bodyPr wrap="square" lIns="0" tIns="0" rIns="0" bIns="0" rtlCol="0" anchor="t"/>
          <a:lstStyle/>
          <a:p>
            <a:pPr marL="0" indent="0" algn="ctr">
              <a:buNone/>
            </a:pPr>
            <a:r>
              <a:rPr lang="en-US" sz="1300" b="1" dirty="0">
                <a:solidFill>
                  <a:schemeClr val="tx1"/>
                </a:solidFill>
              </a:rPr>
              <a:t>A</a:t>
            </a:r>
            <a:endParaRPr lang="en-US" sz="1300" dirty="0"/>
          </a:p>
        </p:txBody>
      </p:sp>
      <p:sp>
        <p:nvSpPr>
          <p:cNvPr id="49" name="par-how"/>
          <p:cNvSpPr/>
          <p:nvPr/>
        </p:nvSpPr>
        <p:spPr>
          <a:xfrm>
            <a:off x="457200" y="3063240"/>
            <a:ext cx="3977640" cy="1554480"/>
          </a:xfrm>
          <a:prstGeom prst="roundRect">
            <a:avLst>
              <a:gd name="adj" fmla="val 470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50" name="Text 48"/>
          <p:cNvSpPr txBox="1"/>
          <p:nvPr/>
        </p:nvSpPr>
        <p:spPr>
          <a:xfrm>
            <a:off x="640080" y="3154680"/>
            <a:ext cx="3657600" cy="320040"/>
          </a:xfrm>
          <a:prstGeom prst="rect">
            <a:avLst/>
          </a:prstGeom>
          <a:noFill/>
          <a:ln/>
        </p:spPr>
        <p:txBody>
          <a:bodyPr wrap="square" lIns="0" tIns="0" rIns="0" bIns="0" rtlCol="0" anchor="t"/>
          <a:lstStyle/>
          <a:p>
            <a:pPr marL="0" indent="0">
              <a:buNone/>
            </a:pPr>
            <a:r>
              <a:rPr lang="en-US" sz="1700" b="1" dirty="0">
                <a:solidFill>
                  <a:schemeClr val="tx1"/>
                </a:solidFill>
              </a:rPr>
              <a:t>How it works</a:t>
            </a:r>
            <a:endParaRPr lang="en-US" sz="1700" dirty="0"/>
          </a:p>
        </p:txBody>
      </p:sp>
      <p:sp>
        <p:nvSpPr>
          <p:cNvPr id="51" name="Text 49"/>
          <p:cNvSpPr txBox="1"/>
          <p:nvPr/>
        </p:nvSpPr>
        <p:spPr>
          <a:xfrm>
            <a:off x="640080" y="3520440"/>
            <a:ext cx="3657600" cy="1051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Several bits are sent at the same time</a:t>
            </a:r>
            <a:endParaRPr lang="en-US" sz="1500" dirty="0"/>
          </a:p>
          <a:p>
            <a:pPr marL="342900" indent="-342900">
              <a:spcAft>
                <a:spcPts val="600"/>
              </a:spcAft>
              <a:buSzPct val="100000"/>
              <a:buChar char="•"/>
            </a:pPr>
            <a:r>
              <a:rPr lang="en-US" sz="1500" dirty="0">
                <a:solidFill>
                  <a:schemeClr val="tx1"/>
                </a:solidFill>
              </a:rPr>
              <a:t>Each bit has its own wire (8, 16 or 32 wires)</a:t>
            </a:r>
            <a:endParaRPr lang="en-US" sz="1500" dirty="0"/>
          </a:p>
          <a:p>
            <a:pPr marL="342900" indent="-342900">
              <a:spcAft>
                <a:spcPts val="600"/>
              </a:spcAft>
              <a:buSzPct val="100000"/>
              <a:buChar char="•"/>
            </a:pPr>
            <a:r>
              <a:rPr lang="en-US" sz="1500" dirty="0">
                <a:solidFill>
                  <a:schemeClr val="tx1"/>
                </a:solidFill>
              </a:rPr>
              <a:t>A whole byte can arrive on one clock tick</a:t>
            </a:r>
            <a:endParaRPr lang="en-US" sz="1500" dirty="0"/>
          </a:p>
        </p:txBody>
      </p:sp>
      <p:sp>
        <p:nvSpPr>
          <p:cNvPr id="52" name="par-use"/>
          <p:cNvSpPr/>
          <p:nvPr/>
        </p:nvSpPr>
        <p:spPr>
          <a:xfrm>
            <a:off x="4709160" y="3063240"/>
            <a:ext cx="3977640" cy="1554480"/>
          </a:xfrm>
          <a:prstGeom prst="roundRect">
            <a:avLst>
              <a:gd name="adj" fmla="val 470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53" name="Text 51"/>
          <p:cNvSpPr txBox="1"/>
          <p:nvPr/>
        </p:nvSpPr>
        <p:spPr>
          <a:xfrm>
            <a:off x="4892040" y="3154680"/>
            <a:ext cx="3657600" cy="320040"/>
          </a:xfrm>
          <a:prstGeom prst="rect">
            <a:avLst/>
          </a:prstGeom>
          <a:noFill/>
          <a:ln/>
        </p:spPr>
        <p:txBody>
          <a:bodyPr wrap="square" lIns="0" tIns="0" rIns="0" bIns="0" rtlCol="0" anchor="t"/>
          <a:lstStyle/>
          <a:p>
            <a:pPr marL="0" indent="0">
              <a:buNone/>
            </a:pPr>
            <a:r>
              <a:rPr lang="en-US" sz="1700" b="1" dirty="0">
                <a:solidFill>
                  <a:schemeClr val="tx1"/>
                </a:solidFill>
              </a:rPr>
              <a:t>Where it is used</a:t>
            </a:r>
            <a:endParaRPr lang="en-US" sz="1700" dirty="0"/>
          </a:p>
        </p:txBody>
      </p:sp>
      <p:sp>
        <p:nvSpPr>
          <p:cNvPr id="54" name="Text 52"/>
          <p:cNvSpPr txBox="1"/>
          <p:nvPr/>
        </p:nvSpPr>
        <p:spPr>
          <a:xfrm>
            <a:off x="4892040" y="3520440"/>
            <a:ext cx="3657600" cy="1051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Buses inside the computer, e.g. CPU to RAM</a:t>
            </a:r>
            <a:endParaRPr lang="en-US" sz="1500" dirty="0"/>
          </a:p>
          <a:p>
            <a:pPr marL="342900" indent="-342900">
              <a:spcAft>
                <a:spcPts val="600"/>
              </a:spcAft>
              <a:buSzPct val="100000"/>
              <a:buChar char="•"/>
            </a:pPr>
            <a:r>
              <a:rPr lang="en-US" sz="1500" dirty="0">
                <a:solidFill>
                  <a:schemeClr val="tx1"/>
                </a:solidFill>
              </a:rPr>
              <a:t>Older printer cables (IEEE 1284)</a:t>
            </a:r>
            <a:endParaRPr lang="en-US" sz="1500" dirty="0"/>
          </a:p>
          <a:p>
            <a:pPr marL="342900" indent="-342900">
              <a:spcAft>
                <a:spcPts val="600"/>
              </a:spcAft>
              <a:buSzPct val="100000"/>
              <a:buChar char="•"/>
            </a:pPr>
            <a:r>
              <a:rPr lang="en-US" sz="1500" dirty="0">
                <a:solidFill>
                  <a:schemeClr val="tx1"/>
                </a:solidFill>
              </a:rPr>
              <a:t>Older IDE hard drive cables</a:t>
            </a:r>
            <a:endParaRPr lang="en-US" sz="1500" dirty="0"/>
          </a:p>
        </p:txBody>
      </p:sp>
      <p:sp>
        <p:nvSpPr>
          <p:cNvPr id="5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Why parallel struggles over distance</a:t>
            </a:r>
            <a:endParaRPr lang="en-US" sz="3000" dirty="0"/>
          </a:p>
        </p:txBody>
      </p:sp>
      <p:sp>
        <p:nvSpPr>
          <p:cNvPr id="3" name="Shape 1"/>
          <p:cNvSpPr/>
          <p:nvPr/>
        </p:nvSpPr>
        <p:spPr>
          <a:xfrm>
            <a:off x="457200" y="1051560"/>
            <a:ext cx="822960" cy="1600200"/>
          </a:xfrm>
          <a:prstGeom prst="roundRect">
            <a:avLst>
              <a:gd name="adj" fmla="val 6667"/>
            </a:avLst>
          </a:prstGeom>
          <a:solidFill>
            <a:schemeClr val="tx1"/>
          </a:solidFill>
          <a:ln w="12700">
            <a:solidFill>
              <a:schemeClr val="tx1"/>
            </a:solidFill>
            <a:prstDash val="solid"/>
          </a:ln>
        </p:spPr>
        <p:txBody>
          <a:bodyPr/>
          <a:lstStyle/>
          <a:p>
            <a:endParaRPr lang="en-GB"/>
          </a:p>
        </p:txBody>
      </p:sp>
      <p:sp>
        <p:nvSpPr>
          <p:cNvPr id="4" name="Text 2"/>
          <p:cNvSpPr txBox="1"/>
          <p:nvPr/>
        </p:nvSpPr>
        <p:spPr>
          <a:xfrm>
            <a:off x="457200" y="1051560"/>
            <a:ext cx="822960" cy="1600200"/>
          </a:xfrm>
          <a:prstGeom prst="rect">
            <a:avLst/>
          </a:prstGeom>
          <a:noFill/>
          <a:ln/>
        </p:spPr>
        <p:txBody>
          <a:bodyPr wrap="square" lIns="0" tIns="0" rIns="0" bIns="0" rtlCol="0" anchor="ctr"/>
          <a:lstStyle/>
          <a:p>
            <a:pPr marL="0" indent="0" algn="ctr">
              <a:buNone/>
            </a:pPr>
            <a:r>
              <a:rPr lang="en-US" sz="1300" b="1" dirty="0">
                <a:solidFill>
                  <a:schemeClr val="bg1"/>
                </a:solidFill>
              </a:rPr>
              <a:t>Sender</a:t>
            </a:r>
            <a:endParaRPr lang="en-US" sz="1300" dirty="0"/>
          </a:p>
        </p:txBody>
      </p:sp>
      <p:sp>
        <p:nvSpPr>
          <p:cNvPr id="5" name="Shape 3"/>
          <p:cNvSpPr/>
          <p:nvPr/>
        </p:nvSpPr>
        <p:spPr>
          <a:xfrm>
            <a:off x="4754880" y="1051560"/>
            <a:ext cx="822960" cy="1600200"/>
          </a:xfrm>
          <a:prstGeom prst="roundRect">
            <a:avLst>
              <a:gd name="adj" fmla="val 6667"/>
            </a:avLst>
          </a:prstGeom>
          <a:solidFill>
            <a:schemeClr val="tx1"/>
          </a:solidFill>
          <a:ln w="12700">
            <a:solidFill>
              <a:schemeClr val="tx1"/>
            </a:solidFill>
            <a:prstDash val="solid"/>
          </a:ln>
        </p:spPr>
        <p:txBody>
          <a:bodyPr/>
          <a:lstStyle/>
          <a:p>
            <a:endParaRPr lang="en-GB"/>
          </a:p>
        </p:txBody>
      </p:sp>
      <p:sp>
        <p:nvSpPr>
          <p:cNvPr id="6" name="Text 4"/>
          <p:cNvSpPr txBox="1"/>
          <p:nvPr/>
        </p:nvSpPr>
        <p:spPr>
          <a:xfrm>
            <a:off x="4754880" y="1051560"/>
            <a:ext cx="822960" cy="1600200"/>
          </a:xfrm>
          <a:prstGeom prst="rect">
            <a:avLst/>
          </a:prstGeom>
          <a:noFill/>
          <a:ln/>
        </p:spPr>
        <p:txBody>
          <a:bodyPr wrap="square" lIns="0" tIns="0" rIns="0" bIns="0" rtlCol="0" anchor="ctr"/>
          <a:lstStyle/>
          <a:p>
            <a:pPr marL="0" indent="0" algn="ctr">
              <a:buNone/>
            </a:pPr>
            <a:r>
              <a:rPr lang="en-US" sz="1300" b="1" dirty="0">
                <a:solidFill>
                  <a:schemeClr val="bg1"/>
                </a:solidFill>
              </a:rPr>
              <a:t>Receiver</a:t>
            </a:r>
            <a:endParaRPr lang="en-US" sz="1300" dirty="0"/>
          </a:p>
        </p:txBody>
      </p:sp>
      <p:sp>
        <p:nvSpPr>
          <p:cNvPr id="7" name="Shape 5"/>
          <p:cNvSpPr/>
          <p:nvPr/>
        </p:nvSpPr>
        <p:spPr>
          <a:xfrm>
            <a:off x="1280160" y="1143000"/>
            <a:ext cx="3474720" cy="0"/>
          </a:xfrm>
          <a:prstGeom prst="line">
            <a:avLst/>
          </a:prstGeom>
          <a:noFill/>
          <a:ln w="15875">
            <a:solidFill>
              <a:schemeClr val="accent6"/>
            </a:solidFill>
            <a:prstDash val="solid"/>
          </a:ln>
        </p:spPr>
        <p:txBody>
          <a:bodyPr/>
          <a:lstStyle/>
          <a:p>
            <a:endParaRPr lang="en-GB"/>
          </a:p>
        </p:txBody>
      </p:sp>
      <p:sp>
        <p:nvSpPr>
          <p:cNvPr id="8" name="Shape 6"/>
          <p:cNvSpPr/>
          <p:nvPr/>
        </p:nvSpPr>
        <p:spPr>
          <a:xfrm>
            <a:off x="3474720" y="1051560"/>
            <a:ext cx="182880" cy="182880"/>
          </a:xfrm>
          <a:prstGeom prst="ellipse">
            <a:avLst/>
          </a:prstGeom>
          <a:solidFill>
            <a:schemeClr val="bg1"/>
          </a:solidFill>
          <a:ln w="19050">
            <a:solidFill>
              <a:schemeClr val="tx1"/>
            </a:solidFill>
            <a:prstDash val="solid"/>
          </a:ln>
        </p:spPr>
        <p:txBody>
          <a:bodyPr/>
          <a:lstStyle/>
          <a:p>
            <a:endParaRPr lang="en-GB"/>
          </a:p>
        </p:txBody>
      </p:sp>
      <p:sp>
        <p:nvSpPr>
          <p:cNvPr id="9" name="Text 7"/>
          <p:cNvSpPr txBox="1"/>
          <p:nvPr/>
        </p:nvSpPr>
        <p:spPr>
          <a:xfrm>
            <a:off x="3474720" y="1051560"/>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10" name="Shape 8"/>
          <p:cNvSpPr/>
          <p:nvPr/>
        </p:nvSpPr>
        <p:spPr>
          <a:xfrm>
            <a:off x="1280160" y="1344168"/>
            <a:ext cx="3474720" cy="0"/>
          </a:xfrm>
          <a:prstGeom prst="line">
            <a:avLst/>
          </a:prstGeom>
          <a:noFill/>
          <a:ln w="15875">
            <a:solidFill>
              <a:schemeClr val="accent6"/>
            </a:solidFill>
            <a:prstDash val="solid"/>
          </a:ln>
        </p:spPr>
        <p:txBody>
          <a:bodyPr/>
          <a:lstStyle/>
          <a:p>
            <a:endParaRPr lang="en-GB"/>
          </a:p>
        </p:txBody>
      </p:sp>
      <p:sp>
        <p:nvSpPr>
          <p:cNvPr id="11" name="Shape 9"/>
          <p:cNvSpPr/>
          <p:nvPr/>
        </p:nvSpPr>
        <p:spPr>
          <a:xfrm>
            <a:off x="3794760" y="1252728"/>
            <a:ext cx="182880" cy="182880"/>
          </a:xfrm>
          <a:prstGeom prst="ellipse">
            <a:avLst/>
          </a:prstGeom>
          <a:solidFill>
            <a:schemeClr val="tx1"/>
          </a:solidFill>
          <a:ln w="19050">
            <a:solidFill>
              <a:schemeClr val="tx1"/>
            </a:solidFill>
            <a:prstDash val="solid"/>
          </a:ln>
        </p:spPr>
        <p:txBody>
          <a:bodyPr/>
          <a:lstStyle/>
          <a:p>
            <a:endParaRPr lang="en-GB"/>
          </a:p>
        </p:txBody>
      </p:sp>
      <p:sp>
        <p:nvSpPr>
          <p:cNvPr id="12" name="Text 10"/>
          <p:cNvSpPr txBox="1"/>
          <p:nvPr/>
        </p:nvSpPr>
        <p:spPr>
          <a:xfrm>
            <a:off x="3794760" y="1252728"/>
            <a:ext cx="182880" cy="18288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3" name="Shape 11"/>
          <p:cNvSpPr/>
          <p:nvPr/>
        </p:nvSpPr>
        <p:spPr>
          <a:xfrm>
            <a:off x="1280160" y="1545336"/>
            <a:ext cx="3474720" cy="0"/>
          </a:xfrm>
          <a:prstGeom prst="line">
            <a:avLst/>
          </a:prstGeom>
          <a:noFill/>
          <a:ln w="15875">
            <a:solidFill>
              <a:schemeClr val="accent6"/>
            </a:solidFill>
            <a:prstDash val="solid"/>
          </a:ln>
        </p:spPr>
        <p:txBody>
          <a:bodyPr/>
          <a:lstStyle/>
          <a:p>
            <a:endParaRPr lang="en-GB"/>
          </a:p>
        </p:txBody>
      </p:sp>
      <p:sp>
        <p:nvSpPr>
          <p:cNvPr id="14" name="Shape 12"/>
          <p:cNvSpPr/>
          <p:nvPr/>
        </p:nvSpPr>
        <p:spPr>
          <a:xfrm>
            <a:off x="3246120" y="1453896"/>
            <a:ext cx="182880" cy="182880"/>
          </a:xfrm>
          <a:prstGeom prst="ellipse">
            <a:avLst/>
          </a:prstGeom>
          <a:solidFill>
            <a:schemeClr val="bg1"/>
          </a:solidFill>
          <a:ln w="19050">
            <a:solidFill>
              <a:schemeClr val="tx1"/>
            </a:solidFill>
            <a:prstDash val="solid"/>
          </a:ln>
        </p:spPr>
        <p:txBody>
          <a:bodyPr/>
          <a:lstStyle/>
          <a:p>
            <a:endParaRPr lang="en-GB"/>
          </a:p>
        </p:txBody>
      </p:sp>
      <p:sp>
        <p:nvSpPr>
          <p:cNvPr id="15" name="Text 13"/>
          <p:cNvSpPr txBox="1"/>
          <p:nvPr/>
        </p:nvSpPr>
        <p:spPr>
          <a:xfrm>
            <a:off x="3246120" y="1453896"/>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16" name="Shape 14"/>
          <p:cNvSpPr/>
          <p:nvPr/>
        </p:nvSpPr>
        <p:spPr>
          <a:xfrm>
            <a:off x="1280160" y="1746504"/>
            <a:ext cx="3474720" cy="0"/>
          </a:xfrm>
          <a:prstGeom prst="line">
            <a:avLst/>
          </a:prstGeom>
          <a:noFill/>
          <a:ln w="15875">
            <a:solidFill>
              <a:schemeClr val="accent6"/>
            </a:solidFill>
            <a:prstDash val="solid"/>
          </a:ln>
        </p:spPr>
        <p:txBody>
          <a:bodyPr/>
          <a:lstStyle/>
          <a:p>
            <a:endParaRPr lang="en-GB"/>
          </a:p>
        </p:txBody>
      </p:sp>
      <p:sp>
        <p:nvSpPr>
          <p:cNvPr id="17" name="Shape 15"/>
          <p:cNvSpPr/>
          <p:nvPr/>
        </p:nvSpPr>
        <p:spPr>
          <a:xfrm>
            <a:off x="4023360" y="1655064"/>
            <a:ext cx="182880" cy="182880"/>
          </a:xfrm>
          <a:prstGeom prst="ellipse">
            <a:avLst/>
          </a:prstGeom>
          <a:solidFill>
            <a:schemeClr val="bg1"/>
          </a:solidFill>
          <a:ln w="19050">
            <a:solidFill>
              <a:schemeClr val="accent2"/>
            </a:solidFill>
            <a:prstDash val="solid"/>
          </a:ln>
        </p:spPr>
        <p:txBody>
          <a:bodyPr/>
          <a:lstStyle/>
          <a:p>
            <a:endParaRPr lang="en-GB"/>
          </a:p>
        </p:txBody>
      </p:sp>
      <p:sp>
        <p:nvSpPr>
          <p:cNvPr id="18" name="Text 16"/>
          <p:cNvSpPr txBox="1"/>
          <p:nvPr/>
        </p:nvSpPr>
        <p:spPr>
          <a:xfrm>
            <a:off x="4023360" y="1655064"/>
            <a:ext cx="182880" cy="182880"/>
          </a:xfrm>
          <a:prstGeom prst="rect">
            <a:avLst/>
          </a:prstGeom>
          <a:noFill/>
          <a:ln/>
        </p:spPr>
        <p:txBody>
          <a:bodyPr wrap="square" lIns="0" tIns="0" rIns="0" bIns="0" rtlCol="0" anchor="ctr"/>
          <a:lstStyle/>
          <a:p>
            <a:pPr marL="0" indent="0" algn="ctr">
              <a:buNone/>
            </a:pPr>
            <a:r>
              <a:rPr lang="en-US" sz="1100" b="1" dirty="0">
                <a:solidFill>
                  <a:schemeClr val="accent2"/>
                </a:solidFill>
              </a:rPr>
              <a:t>0</a:t>
            </a:r>
            <a:endParaRPr lang="en-US" sz="1100" dirty="0"/>
          </a:p>
        </p:txBody>
      </p:sp>
      <p:sp>
        <p:nvSpPr>
          <p:cNvPr id="19" name="Shape 17"/>
          <p:cNvSpPr/>
          <p:nvPr/>
        </p:nvSpPr>
        <p:spPr>
          <a:xfrm>
            <a:off x="1280160" y="1947672"/>
            <a:ext cx="3474720" cy="0"/>
          </a:xfrm>
          <a:prstGeom prst="line">
            <a:avLst/>
          </a:prstGeom>
          <a:noFill/>
          <a:ln w="15875">
            <a:solidFill>
              <a:schemeClr val="accent6"/>
            </a:solidFill>
            <a:prstDash val="solid"/>
          </a:ln>
        </p:spPr>
        <p:txBody>
          <a:bodyPr/>
          <a:lstStyle/>
          <a:p>
            <a:endParaRPr lang="en-GB"/>
          </a:p>
        </p:txBody>
      </p:sp>
      <p:sp>
        <p:nvSpPr>
          <p:cNvPr id="20" name="Shape 18"/>
          <p:cNvSpPr/>
          <p:nvPr/>
        </p:nvSpPr>
        <p:spPr>
          <a:xfrm>
            <a:off x="3017520" y="1856232"/>
            <a:ext cx="182880" cy="182880"/>
          </a:xfrm>
          <a:prstGeom prst="ellipse">
            <a:avLst/>
          </a:prstGeom>
          <a:solidFill>
            <a:schemeClr val="bg1"/>
          </a:solidFill>
          <a:ln w="19050">
            <a:solidFill>
              <a:schemeClr val="accent2"/>
            </a:solidFill>
            <a:prstDash val="solid"/>
          </a:ln>
        </p:spPr>
        <p:txBody>
          <a:bodyPr/>
          <a:lstStyle/>
          <a:p>
            <a:endParaRPr lang="en-GB"/>
          </a:p>
        </p:txBody>
      </p:sp>
      <p:sp>
        <p:nvSpPr>
          <p:cNvPr id="21" name="Text 19"/>
          <p:cNvSpPr txBox="1"/>
          <p:nvPr/>
        </p:nvSpPr>
        <p:spPr>
          <a:xfrm>
            <a:off x="3017520" y="1856232"/>
            <a:ext cx="182880" cy="182880"/>
          </a:xfrm>
          <a:prstGeom prst="rect">
            <a:avLst/>
          </a:prstGeom>
          <a:noFill/>
          <a:ln/>
        </p:spPr>
        <p:txBody>
          <a:bodyPr wrap="square" lIns="0" tIns="0" rIns="0" bIns="0" rtlCol="0" anchor="ctr"/>
          <a:lstStyle/>
          <a:p>
            <a:pPr marL="0" indent="0" algn="ctr">
              <a:buNone/>
            </a:pPr>
            <a:r>
              <a:rPr lang="en-US" sz="1100" b="1" dirty="0">
                <a:solidFill>
                  <a:schemeClr val="accent2"/>
                </a:solidFill>
              </a:rPr>
              <a:t>0</a:t>
            </a:r>
            <a:endParaRPr lang="en-US" sz="1100" dirty="0"/>
          </a:p>
        </p:txBody>
      </p:sp>
      <p:sp>
        <p:nvSpPr>
          <p:cNvPr id="22" name="Shape 20"/>
          <p:cNvSpPr/>
          <p:nvPr/>
        </p:nvSpPr>
        <p:spPr>
          <a:xfrm>
            <a:off x="1280160" y="2148840"/>
            <a:ext cx="3474720" cy="0"/>
          </a:xfrm>
          <a:prstGeom prst="line">
            <a:avLst/>
          </a:prstGeom>
          <a:noFill/>
          <a:ln w="15875">
            <a:solidFill>
              <a:schemeClr val="accent6"/>
            </a:solidFill>
            <a:prstDash val="solid"/>
          </a:ln>
        </p:spPr>
        <p:txBody>
          <a:bodyPr/>
          <a:lstStyle/>
          <a:p>
            <a:endParaRPr lang="en-GB"/>
          </a:p>
        </p:txBody>
      </p:sp>
      <p:sp>
        <p:nvSpPr>
          <p:cNvPr id="23" name="Shape 21"/>
          <p:cNvSpPr/>
          <p:nvPr/>
        </p:nvSpPr>
        <p:spPr>
          <a:xfrm>
            <a:off x="3566160" y="2057400"/>
            <a:ext cx="182880" cy="182880"/>
          </a:xfrm>
          <a:prstGeom prst="ellipse">
            <a:avLst/>
          </a:prstGeom>
          <a:solidFill>
            <a:schemeClr val="tx1"/>
          </a:solidFill>
          <a:ln w="19050">
            <a:solidFill>
              <a:schemeClr val="tx1"/>
            </a:solidFill>
            <a:prstDash val="solid"/>
          </a:ln>
        </p:spPr>
        <p:txBody>
          <a:bodyPr/>
          <a:lstStyle/>
          <a:p>
            <a:endParaRPr lang="en-GB"/>
          </a:p>
        </p:txBody>
      </p:sp>
      <p:sp>
        <p:nvSpPr>
          <p:cNvPr id="24" name="Text 22"/>
          <p:cNvSpPr txBox="1"/>
          <p:nvPr/>
        </p:nvSpPr>
        <p:spPr>
          <a:xfrm>
            <a:off x="3566160" y="2057400"/>
            <a:ext cx="182880" cy="18288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25" name="Shape 23"/>
          <p:cNvSpPr/>
          <p:nvPr/>
        </p:nvSpPr>
        <p:spPr>
          <a:xfrm>
            <a:off x="1280160" y="2350008"/>
            <a:ext cx="3474720" cy="0"/>
          </a:xfrm>
          <a:prstGeom prst="line">
            <a:avLst/>
          </a:prstGeom>
          <a:noFill/>
          <a:ln w="15875">
            <a:solidFill>
              <a:schemeClr val="accent6"/>
            </a:solidFill>
            <a:prstDash val="solid"/>
          </a:ln>
        </p:spPr>
        <p:txBody>
          <a:bodyPr/>
          <a:lstStyle/>
          <a:p>
            <a:endParaRPr lang="en-GB"/>
          </a:p>
        </p:txBody>
      </p:sp>
      <p:sp>
        <p:nvSpPr>
          <p:cNvPr id="26" name="Shape 24"/>
          <p:cNvSpPr/>
          <p:nvPr/>
        </p:nvSpPr>
        <p:spPr>
          <a:xfrm>
            <a:off x="3931920" y="2258568"/>
            <a:ext cx="182880" cy="182880"/>
          </a:xfrm>
          <a:prstGeom prst="ellipse">
            <a:avLst/>
          </a:prstGeom>
          <a:solidFill>
            <a:schemeClr val="bg1"/>
          </a:solidFill>
          <a:ln w="19050">
            <a:solidFill>
              <a:schemeClr val="accent2"/>
            </a:solidFill>
            <a:prstDash val="solid"/>
          </a:ln>
        </p:spPr>
        <p:txBody>
          <a:bodyPr/>
          <a:lstStyle/>
          <a:p>
            <a:endParaRPr lang="en-GB"/>
          </a:p>
        </p:txBody>
      </p:sp>
      <p:sp>
        <p:nvSpPr>
          <p:cNvPr id="27" name="Text 25"/>
          <p:cNvSpPr txBox="1"/>
          <p:nvPr/>
        </p:nvSpPr>
        <p:spPr>
          <a:xfrm>
            <a:off x="3931920" y="2258568"/>
            <a:ext cx="182880" cy="182880"/>
          </a:xfrm>
          <a:prstGeom prst="rect">
            <a:avLst/>
          </a:prstGeom>
          <a:noFill/>
          <a:ln/>
        </p:spPr>
        <p:txBody>
          <a:bodyPr wrap="square" lIns="0" tIns="0" rIns="0" bIns="0" rtlCol="0" anchor="ctr"/>
          <a:lstStyle/>
          <a:p>
            <a:pPr marL="0" indent="0" algn="ctr">
              <a:buNone/>
            </a:pPr>
            <a:r>
              <a:rPr lang="en-US" sz="1100" b="1" dirty="0">
                <a:solidFill>
                  <a:schemeClr val="accent2"/>
                </a:solidFill>
              </a:rPr>
              <a:t>0</a:t>
            </a:r>
            <a:endParaRPr lang="en-US" sz="1100" dirty="0"/>
          </a:p>
        </p:txBody>
      </p:sp>
      <p:sp>
        <p:nvSpPr>
          <p:cNvPr id="28" name="Shape 26"/>
          <p:cNvSpPr/>
          <p:nvPr/>
        </p:nvSpPr>
        <p:spPr>
          <a:xfrm>
            <a:off x="1280160" y="2551176"/>
            <a:ext cx="3474720" cy="0"/>
          </a:xfrm>
          <a:prstGeom prst="line">
            <a:avLst/>
          </a:prstGeom>
          <a:noFill/>
          <a:ln w="15875">
            <a:solidFill>
              <a:schemeClr val="accent6"/>
            </a:solidFill>
            <a:prstDash val="solid"/>
          </a:ln>
        </p:spPr>
        <p:txBody>
          <a:bodyPr/>
          <a:lstStyle/>
          <a:p>
            <a:endParaRPr lang="en-GB"/>
          </a:p>
        </p:txBody>
      </p:sp>
      <p:sp>
        <p:nvSpPr>
          <p:cNvPr id="29" name="Shape 27"/>
          <p:cNvSpPr/>
          <p:nvPr/>
        </p:nvSpPr>
        <p:spPr>
          <a:xfrm>
            <a:off x="3200400" y="2459736"/>
            <a:ext cx="182880" cy="182880"/>
          </a:xfrm>
          <a:prstGeom prst="ellipse">
            <a:avLst/>
          </a:prstGeom>
          <a:solidFill>
            <a:schemeClr val="bg1"/>
          </a:solidFill>
          <a:ln w="19050">
            <a:solidFill>
              <a:schemeClr val="tx1"/>
            </a:solidFill>
            <a:prstDash val="solid"/>
          </a:ln>
        </p:spPr>
        <p:txBody>
          <a:bodyPr/>
          <a:lstStyle/>
          <a:p>
            <a:endParaRPr lang="en-GB"/>
          </a:p>
        </p:txBody>
      </p:sp>
      <p:sp>
        <p:nvSpPr>
          <p:cNvPr id="30" name="Text 28"/>
          <p:cNvSpPr txBox="1"/>
          <p:nvPr/>
        </p:nvSpPr>
        <p:spPr>
          <a:xfrm>
            <a:off x="3200400" y="2459736"/>
            <a:ext cx="182880" cy="182880"/>
          </a:xfrm>
          <a:prstGeom prst="rect">
            <a:avLst/>
          </a:prstGeom>
          <a:noFill/>
          <a:ln/>
        </p:spPr>
        <p:txBody>
          <a:bodyPr wrap="square" lIns="0" tIns="0" rIns="0" bIns="0" rtlCol="0" anchor="ctr"/>
          <a:lstStyle/>
          <a:p>
            <a:pPr marL="0" indent="0" algn="ctr">
              <a:buNone/>
            </a:pPr>
            <a:r>
              <a:rPr lang="en-US" sz="1100" b="1" dirty="0">
                <a:solidFill>
                  <a:schemeClr val="tx1"/>
                </a:solidFill>
              </a:rPr>
              <a:t>0</a:t>
            </a:r>
            <a:endParaRPr lang="en-US" sz="1100" dirty="0"/>
          </a:p>
        </p:txBody>
      </p:sp>
      <p:sp>
        <p:nvSpPr>
          <p:cNvPr id="31" name="Shape 29"/>
          <p:cNvSpPr/>
          <p:nvPr/>
        </p:nvSpPr>
        <p:spPr>
          <a:xfrm>
            <a:off x="3566160" y="960120"/>
            <a:ext cx="0" cy="1783080"/>
          </a:xfrm>
          <a:prstGeom prst="line">
            <a:avLst/>
          </a:prstGeom>
          <a:noFill/>
          <a:ln w="19050">
            <a:solidFill>
              <a:schemeClr val="accent2"/>
            </a:solidFill>
            <a:prstDash val="dash"/>
          </a:ln>
        </p:spPr>
        <p:txBody>
          <a:bodyPr/>
          <a:lstStyle/>
          <a:p>
            <a:endParaRPr lang="en-GB"/>
          </a:p>
        </p:txBody>
      </p:sp>
      <p:sp>
        <p:nvSpPr>
          <p:cNvPr id="32" name="Text 30"/>
          <p:cNvSpPr txBox="1"/>
          <p:nvPr/>
        </p:nvSpPr>
        <p:spPr>
          <a:xfrm>
            <a:off x="1280160" y="2724912"/>
            <a:ext cx="3474720" cy="274320"/>
          </a:xfrm>
          <a:prstGeom prst="rect">
            <a:avLst/>
          </a:prstGeom>
          <a:noFill/>
          <a:ln/>
        </p:spPr>
        <p:txBody>
          <a:bodyPr wrap="square" lIns="0" tIns="0" rIns="0" bIns="0" rtlCol="0" anchor="t"/>
          <a:lstStyle/>
          <a:p>
            <a:pPr marL="0" indent="0" algn="ctr">
              <a:buNone/>
            </a:pPr>
            <a:r>
              <a:rPr lang="en-US" sz="1100" dirty="0">
                <a:solidFill>
                  <a:schemeClr val="accent6"/>
                </a:solidFill>
              </a:rPr>
              <a:t>Bits drift apart. Orange bits miss the clock tick.</a:t>
            </a:r>
            <a:endParaRPr lang="en-US" sz="1100" dirty="0"/>
          </a:p>
        </p:txBody>
      </p:sp>
      <p:sp>
        <p:nvSpPr>
          <p:cNvPr id="33" name="skew"/>
          <p:cNvSpPr/>
          <p:nvPr/>
        </p:nvSpPr>
        <p:spPr>
          <a:xfrm>
            <a:off x="5852160" y="1051560"/>
            <a:ext cx="2834640" cy="1600200"/>
          </a:xfrm>
          <a:prstGeom prst="roundRect">
            <a:avLst>
              <a:gd name="adj" fmla="val 457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34" name="Text 32"/>
          <p:cNvSpPr txBox="1"/>
          <p:nvPr/>
        </p:nvSpPr>
        <p:spPr>
          <a:xfrm>
            <a:off x="6035040" y="1143000"/>
            <a:ext cx="2560320" cy="320040"/>
          </a:xfrm>
          <a:prstGeom prst="rect">
            <a:avLst/>
          </a:prstGeom>
          <a:noFill/>
          <a:ln/>
        </p:spPr>
        <p:txBody>
          <a:bodyPr wrap="square" lIns="0" tIns="0" rIns="0" bIns="0" rtlCol="0" anchor="t"/>
          <a:lstStyle/>
          <a:p>
            <a:pPr marL="0" indent="0">
              <a:buNone/>
            </a:pPr>
            <a:r>
              <a:rPr lang="en-US" sz="1700" b="1" dirty="0">
                <a:solidFill>
                  <a:schemeClr val="accent2"/>
                </a:solidFill>
              </a:rPr>
              <a:t>Skew</a:t>
            </a:r>
            <a:endParaRPr lang="en-US" sz="1700" dirty="0"/>
          </a:p>
        </p:txBody>
      </p:sp>
      <p:sp>
        <p:nvSpPr>
          <p:cNvPr id="35" name="Text 33"/>
          <p:cNvSpPr txBox="1"/>
          <p:nvPr/>
        </p:nvSpPr>
        <p:spPr>
          <a:xfrm>
            <a:off x="6035040" y="1481328"/>
            <a:ext cx="2514600" cy="1143000"/>
          </a:xfrm>
          <a:prstGeom prst="rect">
            <a:avLst/>
          </a:prstGeom>
          <a:noFill/>
          <a:ln/>
        </p:spPr>
        <p:txBody>
          <a:bodyPr wrap="square" lIns="0" tIns="0" rIns="0" bIns="0" rtlCol="0" anchor="t"/>
          <a:lstStyle/>
          <a:p>
            <a:pPr marL="0" indent="0">
              <a:buNone/>
            </a:pPr>
            <a:r>
              <a:rPr lang="en-US" sz="1300" dirty="0">
                <a:solidFill>
                  <a:schemeClr val="tx1"/>
                </a:solidFill>
              </a:rPr>
              <a:t>Signals on different wires travel at slightly different speeds. The longer the cable, the further the bits drift out of sync.</a:t>
            </a:r>
            <a:endParaRPr lang="en-US" sz="1300" dirty="0"/>
          </a:p>
        </p:txBody>
      </p:sp>
      <p:sp>
        <p:nvSpPr>
          <p:cNvPr id="36" name="xtalk"/>
          <p:cNvSpPr/>
          <p:nvPr/>
        </p:nvSpPr>
        <p:spPr>
          <a:xfrm>
            <a:off x="457200" y="3108960"/>
            <a:ext cx="3977640" cy="1463040"/>
          </a:xfrm>
          <a:prstGeom prst="roundRect">
            <a:avLst>
              <a:gd name="adj" fmla="val 5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37" name="Text 35"/>
          <p:cNvSpPr txBox="1"/>
          <p:nvPr/>
        </p:nvSpPr>
        <p:spPr>
          <a:xfrm>
            <a:off x="640080" y="3200400"/>
            <a:ext cx="3657600" cy="320040"/>
          </a:xfrm>
          <a:prstGeom prst="rect">
            <a:avLst/>
          </a:prstGeom>
          <a:noFill/>
          <a:ln/>
        </p:spPr>
        <p:txBody>
          <a:bodyPr wrap="square" lIns="0" tIns="0" rIns="0" bIns="0" rtlCol="0" anchor="t"/>
          <a:lstStyle/>
          <a:p>
            <a:pPr marL="0" indent="0">
              <a:buNone/>
            </a:pPr>
            <a:r>
              <a:rPr lang="en-US" sz="1700" b="1" dirty="0">
                <a:solidFill>
                  <a:schemeClr val="accent2"/>
                </a:solidFill>
              </a:rPr>
              <a:t>Crosstalk</a:t>
            </a:r>
            <a:endParaRPr lang="en-US" sz="1700" dirty="0"/>
          </a:p>
        </p:txBody>
      </p:sp>
      <p:sp>
        <p:nvSpPr>
          <p:cNvPr id="38" name="Text 36"/>
          <p:cNvSpPr txBox="1"/>
          <p:nvPr/>
        </p:nvSpPr>
        <p:spPr>
          <a:xfrm>
            <a:off x="640080" y="3547872"/>
            <a:ext cx="3657600" cy="914400"/>
          </a:xfrm>
          <a:prstGeom prst="rect">
            <a:avLst/>
          </a:prstGeom>
          <a:noFill/>
          <a:ln/>
        </p:spPr>
        <p:txBody>
          <a:bodyPr wrap="square" lIns="0" tIns="0" rIns="0" bIns="0" rtlCol="0" anchor="t"/>
          <a:lstStyle/>
          <a:p>
            <a:pPr marL="0" indent="0">
              <a:buNone/>
            </a:pPr>
            <a:r>
              <a:rPr lang="en-US" sz="1400" dirty="0">
                <a:solidFill>
                  <a:schemeClr val="tx1"/>
                </a:solidFill>
              </a:rPr>
              <a:t>Wires running side by side interfere with each other electrically, which can corrupt bits.</a:t>
            </a:r>
            <a:endParaRPr lang="en-US" sz="1400" dirty="0"/>
          </a:p>
        </p:txBody>
      </p:sp>
      <p:sp>
        <p:nvSpPr>
          <p:cNvPr id="39" name="result"/>
          <p:cNvSpPr/>
          <p:nvPr/>
        </p:nvSpPr>
        <p:spPr>
          <a:xfrm>
            <a:off x="4709160" y="3108960"/>
            <a:ext cx="3977640" cy="1463040"/>
          </a:xfrm>
          <a:prstGeom prst="roundRect">
            <a:avLst>
              <a:gd name="adj" fmla="val 5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40" name="Text 38"/>
          <p:cNvSpPr txBox="1"/>
          <p:nvPr/>
        </p:nvSpPr>
        <p:spPr>
          <a:xfrm>
            <a:off x="4892040" y="3200400"/>
            <a:ext cx="3657600" cy="320040"/>
          </a:xfrm>
          <a:prstGeom prst="rect">
            <a:avLst/>
          </a:prstGeom>
          <a:noFill/>
          <a:ln/>
        </p:spPr>
        <p:txBody>
          <a:bodyPr wrap="square" lIns="0" tIns="0" rIns="0" bIns="0" rtlCol="0" anchor="t"/>
          <a:lstStyle/>
          <a:p>
            <a:pPr marL="0" indent="0">
              <a:buNone/>
            </a:pPr>
            <a:r>
              <a:rPr lang="en-US" sz="1700" b="1" dirty="0">
                <a:solidFill>
                  <a:schemeClr val="tx1"/>
                </a:solidFill>
              </a:rPr>
              <a:t>Result</a:t>
            </a:r>
            <a:endParaRPr lang="en-US" sz="1700" dirty="0"/>
          </a:p>
        </p:txBody>
      </p:sp>
      <p:sp>
        <p:nvSpPr>
          <p:cNvPr id="41" name="Text 39"/>
          <p:cNvSpPr txBox="1"/>
          <p:nvPr/>
        </p:nvSpPr>
        <p:spPr>
          <a:xfrm>
            <a:off x="4892040" y="3547872"/>
            <a:ext cx="3657600" cy="914400"/>
          </a:xfrm>
          <a:prstGeom prst="rect">
            <a:avLst/>
          </a:prstGeom>
          <a:noFill/>
          <a:ln/>
        </p:spPr>
        <p:txBody>
          <a:bodyPr wrap="square" lIns="0" tIns="0" rIns="0" bIns="0" rtlCol="0" anchor="t"/>
          <a:lstStyle/>
          <a:p>
            <a:pPr marL="0" indent="0">
              <a:buNone/>
            </a:pPr>
            <a:r>
              <a:rPr lang="en-US" sz="1400" dirty="0">
                <a:solidFill>
                  <a:schemeClr val="tx1"/>
                </a:solidFill>
              </a:rPr>
              <a:t>Parallel has to run at a slower clock speed, or over short distances only. Serial has neither problem.</a:t>
            </a:r>
            <a:endParaRPr lang="en-US" sz="1400" dirty="0"/>
          </a:p>
        </p:txBody>
      </p:sp>
      <p:sp>
        <p:nvSpPr>
          <p:cNvPr id="42"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Serial vs parallel</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502920">
                <a:tc>
                  <a:txBody>
                    <a:bodyPr/>
                    <a:lstStyle/>
                    <a:p>
                      <a:pPr marL="0" indent="0">
                        <a:buNone/>
                      </a:pP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accent6"/>
                    </a:solidFill>
                  </a:tcPr>
                </a:tc>
                <a:tc>
                  <a:txBody>
                    <a:bodyPr/>
                    <a:lstStyle/>
                    <a:p>
                      <a:pPr marL="0" indent="0">
                        <a:buNone/>
                      </a:pPr>
                      <a:r>
                        <a:rPr lang="en-US" sz="1400" b="1" dirty="0">
                          <a:solidFill>
                            <a:schemeClr val="bg1"/>
                          </a:solidFill>
                        </a:rPr>
                        <a:t>Serial</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Parallel</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chemeClr val="tx1"/>
                          </a:solidFill>
                        </a:rPr>
                        <a:t>Bits sent</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One at a time</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Several at the same time</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buNone/>
                      </a:pPr>
                      <a:r>
                        <a:rPr lang="en-US" sz="1400" b="1" dirty="0">
                          <a:solidFill>
                            <a:schemeClr val="tx1"/>
                          </a:solidFill>
                        </a:rPr>
                        <a:t>Speed</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Slower per clock tick, but can be clocked much faster</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Faster over short distances</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buNone/>
                      </a:pPr>
                      <a:r>
                        <a:rPr lang="en-US" sz="1400" b="1" dirty="0">
                          <a:solidFill>
                            <a:schemeClr val="tx1"/>
                          </a:solidFill>
                        </a:rPr>
                        <a:t>Distance</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Reliable over long distances</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Short distances only (skew)</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02920">
                <a:tc>
                  <a:txBody>
                    <a:bodyPr/>
                    <a:lstStyle/>
                    <a:p>
                      <a:pPr marL="0" indent="0">
                        <a:buNone/>
                      </a:pPr>
                      <a:r>
                        <a:rPr lang="en-US" sz="1400" b="1" dirty="0">
                          <a:solidFill>
                            <a:schemeClr val="tx1"/>
                          </a:solidFill>
                        </a:rPr>
                        <a:t>Cost</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Cheaper: fewer wires</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More expensive: more wires</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02920">
                <a:tc>
                  <a:txBody>
                    <a:bodyPr/>
                    <a:lstStyle/>
                    <a:p>
                      <a:pPr marL="0" indent="0">
                        <a:buNone/>
                      </a:pPr>
                      <a:r>
                        <a:rPr lang="en-US" sz="1400" b="1" dirty="0">
                          <a:solidFill>
                            <a:schemeClr val="tx1"/>
                          </a:solidFill>
                        </a:rPr>
                        <a:t>Interference</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No crosstalk between data wires</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Crosstalk between wires</a:t>
                      </a:r>
                      <a:endParaRPr lang="en-US" sz="1400" dirty="0"/>
                    </a:p>
                  </a:txBody>
                  <a:tcPr marL="109728" marR="109728" marT="0" marB="0"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So why is almost everything serial now?</a:t>
            </a:r>
            <a:endParaRPr lang="en-US" sz="3000" dirty="0"/>
          </a:p>
        </p:txBody>
      </p:sp>
      <p:sp>
        <p:nvSpPr>
          <p:cNvPr id="3" name="Shape 1"/>
          <p:cNvSpPr/>
          <p:nvPr/>
        </p:nvSpPr>
        <p:spPr>
          <a:xfrm>
            <a:off x="548640" y="1280160"/>
            <a:ext cx="1188720" cy="1188720"/>
          </a:xfrm>
          <a:prstGeom prst="ellipse">
            <a:avLst/>
          </a:prstGeom>
          <a:solidFill>
            <a:schemeClr val="accent1"/>
          </a:solidFill>
          <a:ln w="12700">
            <a:solidFill>
              <a:schemeClr val="accent1"/>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810158" y="1541678"/>
            <a:ext cx="665683" cy="665683"/>
          </a:xfrm>
          <a:prstGeom prst="rect">
            <a:avLst/>
          </a:prstGeom>
        </p:spPr>
      </p:pic>
      <p:sp>
        <p:nvSpPr>
          <p:cNvPr id="5" name="Text 2"/>
          <p:cNvSpPr txBox="1"/>
          <p:nvPr/>
        </p:nvSpPr>
        <p:spPr>
          <a:xfrm>
            <a:off x="2103120" y="1234440"/>
            <a:ext cx="6583680" cy="1280160"/>
          </a:xfrm>
          <a:prstGeom prst="rect">
            <a:avLst/>
          </a:prstGeom>
          <a:noFill/>
          <a:ln/>
        </p:spPr>
        <p:txBody>
          <a:bodyPr wrap="square" lIns="0" tIns="0" rIns="0" bIns="0" rtlCol="0" anchor="t"/>
          <a:lstStyle/>
          <a:p>
            <a:pPr marL="0" indent="0">
              <a:buNone/>
            </a:pPr>
            <a:r>
              <a:rPr lang="en-US" sz="1800" dirty="0">
                <a:solidFill>
                  <a:schemeClr val="tx1"/>
                </a:solidFill>
              </a:rPr>
              <a:t>Parallel is faster per clock tick, but skew and crosstalk stop it from being clocked faster. With one data wire, serial can be pushed to much higher clock speeds.</a:t>
            </a:r>
            <a:endParaRPr lang="en-US" sz="1800" dirty="0"/>
          </a:p>
        </p:txBody>
      </p:sp>
      <p:sp>
        <p:nvSpPr>
          <p:cNvPr id="6" name="swap0"/>
          <p:cNvSpPr/>
          <p:nvPr/>
        </p:nvSpPr>
        <p:spPr>
          <a:xfrm>
            <a:off x="457200" y="2788920"/>
            <a:ext cx="2606040" cy="1737360"/>
          </a:xfrm>
          <a:prstGeom prst="roundRect">
            <a:avLst>
              <a:gd name="adj" fmla="val 421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7" name="Text 4"/>
          <p:cNvSpPr txBox="1"/>
          <p:nvPr/>
        </p:nvSpPr>
        <p:spPr>
          <a:xfrm>
            <a:off x="640080" y="2880360"/>
            <a:ext cx="2286000" cy="365760"/>
          </a:xfrm>
          <a:prstGeom prst="rect">
            <a:avLst/>
          </a:prstGeom>
          <a:noFill/>
          <a:ln/>
        </p:spPr>
        <p:txBody>
          <a:bodyPr wrap="square" lIns="0" tIns="0" rIns="0" bIns="0" rtlCol="0" anchor="t"/>
          <a:lstStyle/>
          <a:p>
            <a:pPr marL="0" indent="0">
              <a:buNone/>
            </a:pPr>
            <a:r>
              <a:rPr lang="en-US" sz="1600" b="1" dirty="0">
                <a:solidFill>
                  <a:schemeClr val="tx1"/>
                </a:solidFill>
              </a:rPr>
              <a:t>Printer</a:t>
            </a:r>
            <a:endParaRPr lang="en-US" sz="1600" dirty="0"/>
          </a:p>
        </p:txBody>
      </p:sp>
      <p:sp>
        <p:nvSpPr>
          <p:cNvPr id="8" name="Text 5"/>
          <p:cNvSpPr txBox="1"/>
          <p:nvPr/>
        </p:nvSpPr>
        <p:spPr>
          <a:xfrm>
            <a:off x="640080" y="3337560"/>
            <a:ext cx="2286000" cy="365760"/>
          </a:xfrm>
          <a:prstGeom prst="rect">
            <a:avLst/>
          </a:prstGeom>
          <a:noFill/>
          <a:ln/>
        </p:spPr>
        <p:txBody>
          <a:bodyPr wrap="square" lIns="0" tIns="0" rIns="0" bIns="0" rtlCol="0" anchor="t"/>
          <a:lstStyle/>
          <a:p>
            <a:pPr marL="0" indent="0">
              <a:buNone/>
            </a:pPr>
            <a:r>
              <a:rPr lang="en-US" sz="1400" dirty="0">
                <a:solidFill>
                  <a:schemeClr val="accent6"/>
                </a:solidFill>
              </a:rPr>
              <a:t>Then: Parallel port</a:t>
            </a:r>
            <a:endParaRPr lang="en-US" sz="1400" dirty="0"/>
          </a:p>
        </p:txBody>
      </p:sp>
      <p:sp>
        <p:nvSpPr>
          <p:cNvPr id="9" name="Text 6"/>
          <p:cNvSpPr txBox="1"/>
          <p:nvPr/>
        </p:nvSpPr>
        <p:spPr>
          <a:xfrm>
            <a:off x="640080" y="3749040"/>
            <a:ext cx="2286000" cy="365760"/>
          </a:xfrm>
          <a:prstGeom prst="rect">
            <a:avLst/>
          </a:prstGeom>
          <a:noFill/>
          <a:ln/>
        </p:spPr>
        <p:txBody>
          <a:bodyPr wrap="square" lIns="0" tIns="0" rIns="0" bIns="0" rtlCol="0" anchor="t"/>
          <a:lstStyle/>
          <a:p>
            <a:pPr marL="0" indent="0">
              <a:buNone/>
            </a:pPr>
            <a:r>
              <a:rPr lang="en-US" sz="1400" b="1" dirty="0">
                <a:solidFill>
                  <a:schemeClr val="accent1"/>
                </a:solidFill>
              </a:rPr>
              <a:t>Now: USB</a:t>
            </a:r>
            <a:endParaRPr lang="en-US" sz="1400" dirty="0"/>
          </a:p>
        </p:txBody>
      </p:sp>
      <p:sp>
        <p:nvSpPr>
          <p:cNvPr id="10" name="swap1"/>
          <p:cNvSpPr/>
          <p:nvPr/>
        </p:nvSpPr>
        <p:spPr>
          <a:xfrm>
            <a:off x="3264408" y="2788920"/>
            <a:ext cx="2606040" cy="1737360"/>
          </a:xfrm>
          <a:prstGeom prst="roundRect">
            <a:avLst>
              <a:gd name="adj" fmla="val 421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11" name="Text 8"/>
          <p:cNvSpPr txBox="1"/>
          <p:nvPr/>
        </p:nvSpPr>
        <p:spPr>
          <a:xfrm>
            <a:off x="3447288" y="2880360"/>
            <a:ext cx="2286000" cy="365760"/>
          </a:xfrm>
          <a:prstGeom prst="rect">
            <a:avLst/>
          </a:prstGeom>
          <a:noFill/>
          <a:ln/>
        </p:spPr>
        <p:txBody>
          <a:bodyPr wrap="square" lIns="0" tIns="0" rIns="0" bIns="0" rtlCol="0" anchor="t"/>
          <a:lstStyle/>
          <a:p>
            <a:pPr marL="0" indent="0">
              <a:buNone/>
            </a:pPr>
            <a:r>
              <a:rPr lang="en-US" sz="1600" b="1" dirty="0">
                <a:solidFill>
                  <a:schemeClr val="tx1"/>
                </a:solidFill>
              </a:rPr>
              <a:t>Hard drive</a:t>
            </a:r>
            <a:endParaRPr lang="en-US" sz="1600" dirty="0"/>
          </a:p>
        </p:txBody>
      </p:sp>
      <p:sp>
        <p:nvSpPr>
          <p:cNvPr id="12" name="Text 9"/>
          <p:cNvSpPr txBox="1"/>
          <p:nvPr/>
        </p:nvSpPr>
        <p:spPr>
          <a:xfrm>
            <a:off x="3447288" y="3337560"/>
            <a:ext cx="2286000" cy="365760"/>
          </a:xfrm>
          <a:prstGeom prst="rect">
            <a:avLst/>
          </a:prstGeom>
          <a:noFill/>
          <a:ln/>
        </p:spPr>
        <p:txBody>
          <a:bodyPr wrap="square" lIns="0" tIns="0" rIns="0" bIns="0" rtlCol="0" anchor="t"/>
          <a:lstStyle/>
          <a:p>
            <a:pPr marL="0" indent="0">
              <a:buNone/>
            </a:pPr>
            <a:r>
              <a:rPr lang="en-US" sz="1400" dirty="0">
                <a:solidFill>
                  <a:schemeClr val="accent6"/>
                </a:solidFill>
              </a:rPr>
              <a:t>Then: IDE (parallel)</a:t>
            </a:r>
            <a:endParaRPr lang="en-US" sz="1400" dirty="0"/>
          </a:p>
        </p:txBody>
      </p:sp>
      <p:sp>
        <p:nvSpPr>
          <p:cNvPr id="13" name="Text 10"/>
          <p:cNvSpPr txBox="1"/>
          <p:nvPr/>
        </p:nvSpPr>
        <p:spPr>
          <a:xfrm>
            <a:off x="3447288" y="3749040"/>
            <a:ext cx="2286000" cy="365760"/>
          </a:xfrm>
          <a:prstGeom prst="rect">
            <a:avLst/>
          </a:prstGeom>
          <a:noFill/>
          <a:ln/>
        </p:spPr>
        <p:txBody>
          <a:bodyPr wrap="square" lIns="0" tIns="0" rIns="0" bIns="0" rtlCol="0" anchor="t"/>
          <a:lstStyle/>
          <a:p>
            <a:pPr marL="0" indent="0">
              <a:buNone/>
            </a:pPr>
            <a:r>
              <a:rPr lang="en-US" sz="1400" b="1" dirty="0">
                <a:solidFill>
                  <a:schemeClr val="accent1"/>
                </a:solidFill>
              </a:rPr>
              <a:t>Now: SATA (serial)</a:t>
            </a:r>
            <a:endParaRPr lang="en-US" sz="1400" dirty="0"/>
          </a:p>
        </p:txBody>
      </p:sp>
      <p:sp>
        <p:nvSpPr>
          <p:cNvPr id="14" name="swap2"/>
          <p:cNvSpPr/>
          <p:nvPr/>
        </p:nvSpPr>
        <p:spPr>
          <a:xfrm>
            <a:off x="6071616" y="2788920"/>
            <a:ext cx="2606040" cy="1737360"/>
          </a:xfrm>
          <a:prstGeom prst="roundRect">
            <a:avLst>
              <a:gd name="adj" fmla="val 4211"/>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15" name="Text 12"/>
          <p:cNvSpPr txBox="1"/>
          <p:nvPr/>
        </p:nvSpPr>
        <p:spPr>
          <a:xfrm>
            <a:off x="6254496" y="2880360"/>
            <a:ext cx="2286000" cy="365760"/>
          </a:xfrm>
          <a:prstGeom prst="rect">
            <a:avLst/>
          </a:prstGeom>
          <a:noFill/>
          <a:ln/>
        </p:spPr>
        <p:txBody>
          <a:bodyPr wrap="square" lIns="0" tIns="0" rIns="0" bIns="0" rtlCol="0" anchor="t"/>
          <a:lstStyle/>
          <a:p>
            <a:pPr marL="0" indent="0">
              <a:buNone/>
            </a:pPr>
            <a:r>
              <a:rPr lang="en-US" sz="1600" b="1" dirty="0">
                <a:solidFill>
                  <a:schemeClr val="tx1"/>
                </a:solidFill>
              </a:rPr>
              <a:t>Expansion card</a:t>
            </a:r>
            <a:endParaRPr lang="en-US" sz="1600" dirty="0"/>
          </a:p>
        </p:txBody>
      </p:sp>
      <p:sp>
        <p:nvSpPr>
          <p:cNvPr id="16" name="Text 13"/>
          <p:cNvSpPr txBox="1"/>
          <p:nvPr/>
        </p:nvSpPr>
        <p:spPr>
          <a:xfrm>
            <a:off x="6254496" y="3337560"/>
            <a:ext cx="2286000" cy="365760"/>
          </a:xfrm>
          <a:prstGeom prst="rect">
            <a:avLst/>
          </a:prstGeom>
          <a:noFill/>
          <a:ln/>
        </p:spPr>
        <p:txBody>
          <a:bodyPr wrap="square" lIns="0" tIns="0" rIns="0" bIns="0" rtlCol="0" anchor="t"/>
          <a:lstStyle/>
          <a:p>
            <a:pPr marL="0" indent="0">
              <a:buNone/>
            </a:pPr>
            <a:r>
              <a:rPr lang="en-US" sz="1400" dirty="0">
                <a:solidFill>
                  <a:schemeClr val="accent6"/>
                </a:solidFill>
              </a:rPr>
              <a:t>Then: PCI (parallel)</a:t>
            </a:r>
            <a:endParaRPr lang="en-US" sz="1400" dirty="0"/>
          </a:p>
        </p:txBody>
      </p:sp>
      <p:sp>
        <p:nvSpPr>
          <p:cNvPr id="17" name="Text 14"/>
          <p:cNvSpPr txBox="1"/>
          <p:nvPr/>
        </p:nvSpPr>
        <p:spPr>
          <a:xfrm>
            <a:off x="6254496" y="3749040"/>
            <a:ext cx="2286000" cy="365760"/>
          </a:xfrm>
          <a:prstGeom prst="rect">
            <a:avLst/>
          </a:prstGeom>
          <a:noFill/>
          <a:ln/>
        </p:spPr>
        <p:txBody>
          <a:bodyPr wrap="square" lIns="0" tIns="0" rIns="0" bIns="0" rtlCol="0" anchor="t"/>
          <a:lstStyle/>
          <a:p>
            <a:pPr marL="0" indent="0">
              <a:buNone/>
            </a:pPr>
            <a:r>
              <a:rPr lang="en-US" sz="1400" b="1" dirty="0">
                <a:solidFill>
                  <a:schemeClr val="accent1"/>
                </a:solidFill>
              </a:rPr>
              <a:t>Now: PCIe (serial)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Task: Bit race</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marL="0" indent="0">
              <a:buNone/>
            </a:pPr>
            <a:r>
              <a:rPr lang="en-US" sz="1400" b="1" dirty="0">
                <a:solidFill>
                  <a:schemeClr val="bg1"/>
                </a:solidFill>
              </a:rPr>
              <a:t>15 min  in pairs</a:t>
            </a:r>
            <a:endParaRPr lang="en-US" sz="1400" dirty="0"/>
          </a:p>
        </p:txBody>
      </p:sp>
      <p:sp>
        <p:nvSpPr>
          <p:cNvPr id="6" name="mission0"/>
          <p:cNvSpPr/>
          <p:nvPr/>
        </p:nvSpPr>
        <p:spPr>
          <a:xfrm>
            <a:off x="457200" y="1097280"/>
            <a:ext cx="5303520" cy="731520"/>
          </a:xfrm>
          <a:prstGeom prst="roundRect">
            <a:avLst>
              <a:gd name="adj" fmla="val 10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7" name="Shape 4"/>
          <p:cNvSpPr/>
          <p:nvPr/>
        </p:nvSpPr>
        <p:spPr>
          <a:xfrm>
            <a:off x="594360" y="1234440"/>
            <a:ext cx="457200" cy="457200"/>
          </a:xfrm>
          <a:prstGeom prst="ellipse">
            <a:avLst/>
          </a:prstGeom>
          <a:solidFill>
            <a:schemeClr val="accent1"/>
          </a:solidFill>
          <a:ln w="12700">
            <a:solidFill>
              <a:schemeClr val="accent1"/>
            </a:solidFill>
            <a:prstDash val="solid"/>
          </a:ln>
        </p:spPr>
        <p:txBody>
          <a:bodyPr/>
          <a:lstStyle/>
          <a:p>
            <a:endParaRPr lang="en-GB"/>
          </a:p>
        </p:txBody>
      </p:sp>
      <p:sp>
        <p:nvSpPr>
          <p:cNvPr id="8" name="Text 5"/>
          <p:cNvSpPr txBox="1"/>
          <p:nvPr/>
        </p:nvSpPr>
        <p:spPr>
          <a:xfrm>
            <a:off x="594360" y="123444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9" name="Text 6"/>
          <p:cNvSpPr txBox="1"/>
          <p:nvPr/>
        </p:nvSpPr>
        <p:spPr>
          <a:xfrm>
            <a:off x="1188720" y="1097280"/>
            <a:ext cx="4434840" cy="731520"/>
          </a:xfrm>
          <a:prstGeom prst="rect">
            <a:avLst/>
          </a:prstGeom>
          <a:noFill/>
          <a:ln/>
        </p:spPr>
        <p:txBody>
          <a:bodyPr wrap="square" lIns="0" tIns="0" rIns="0" bIns="0" rtlCol="0" anchor="ctr"/>
          <a:lstStyle/>
          <a:p>
            <a:pPr marL="0" indent="0">
              <a:buNone/>
            </a:pPr>
            <a:r>
              <a:rPr lang="en-US" sz="1400" dirty="0">
                <a:solidFill>
                  <a:schemeClr val="tx1"/>
                </a:solidFill>
              </a:rPr>
              <a:t>Inside the computer, both clocks at ×1. Which cable wins, and by roughly how much?</a:t>
            </a:r>
            <a:endParaRPr lang="en-US" sz="1400" dirty="0"/>
          </a:p>
        </p:txBody>
      </p:sp>
      <p:sp>
        <p:nvSpPr>
          <p:cNvPr id="10" name="mission1"/>
          <p:cNvSpPr/>
          <p:nvPr/>
        </p:nvSpPr>
        <p:spPr>
          <a:xfrm>
            <a:off x="457200" y="1965960"/>
            <a:ext cx="5303520" cy="731520"/>
          </a:xfrm>
          <a:prstGeom prst="roundRect">
            <a:avLst>
              <a:gd name="adj" fmla="val 10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11" name="Shape 8"/>
          <p:cNvSpPr/>
          <p:nvPr/>
        </p:nvSpPr>
        <p:spPr>
          <a:xfrm>
            <a:off x="594360" y="2103120"/>
            <a:ext cx="457200" cy="457200"/>
          </a:xfrm>
          <a:prstGeom prst="ellipse">
            <a:avLst/>
          </a:prstGeom>
          <a:solidFill>
            <a:schemeClr val="accent1"/>
          </a:solidFill>
          <a:ln w="12700">
            <a:solidFill>
              <a:schemeClr val="accent1"/>
            </a:solidFill>
            <a:prstDash val="solid"/>
          </a:ln>
        </p:spPr>
        <p:txBody>
          <a:bodyPr/>
          <a:lstStyle/>
          <a:p>
            <a:endParaRPr lang="en-GB"/>
          </a:p>
        </p:txBody>
      </p:sp>
      <p:sp>
        <p:nvSpPr>
          <p:cNvPr id="12" name="Text 9"/>
          <p:cNvSpPr txBox="1"/>
          <p:nvPr/>
        </p:nvSpPr>
        <p:spPr>
          <a:xfrm>
            <a:off x="594360" y="210312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3" name="Text 10"/>
          <p:cNvSpPr txBox="1"/>
          <p:nvPr/>
        </p:nvSpPr>
        <p:spPr>
          <a:xfrm>
            <a:off x="1188720" y="1965960"/>
            <a:ext cx="4434840" cy="731520"/>
          </a:xfrm>
          <a:prstGeom prst="rect">
            <a:avLst/>
          </a:prstGeom>
          <a:noFill/>
          <a:ln/>
        </p:spPr>
        <p:txBody>
          <a:bodyPr wrap="square" lIns="0" tIns="0" rIns="0" bIns="0" rtlCol="0" anchor="ctr"/>
          <a:lstStyle/>
          <a:p>
            <a:pPr marL="0" indent="0">
              <a:buNone/>
            </a:pPr>
            <a:r>
              <a:rPr lang="en-US" sz="1400" dirty="0">
                <a:solidFill>
                  <a:schemeClr val="tx1"/>
                </a:solidFill>
              </a:rPr>
              <a:t>Switch to the network cable. What happens to the parallel message, and why?</a:t>
            </a:r>
            <a:endParaRPr lang="en-US" sz="1400" dirty="0"/>
          </a:p>
        </p:txBody>
      </p:sp>
      <p:sp>
        <p:nvSpPr>
          <p:cNvPr id="14" name="mission2"/>
          <p:cNvSpPr/>
          <p:nvPr/>
        </p:nvSpPr>
        <p:spPr>
          <a:xfrm>
            <a:off x="457200" y="2834640"/>
            <a:ext cx="5303520" cy="731520"/>
          </a:xfrm>
          <a:prstGeom prst="roundRect">
            <a:avLst>
              <a:gd name="adj" fmla="val 100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15" name="Shape 12"/>
          <p:cNvSpPr/>
          <p:nvPr/>
        </p:nvSpPr>
        <p:spPr>
          <a:xfrm>
            <a:off x="594360" y="2971800"/>
            <a:ext cx="457200" cy="457200"/>
          </a:xfrm>
          <a:prstGeom prst="ellipse">
            <a:avLst/>
          </a:prstGeom>
          <a:solidFill>
            <a:schemeClr val="accent1"/>
          </a:solidFill>
          <a:ln w="12700">
            <a:solidFill>
              <a:schemeClr val="accent1"/>
            </a:solidFill>
            <a:prstDash val="solid"/>
          </a:ln>
        </p:spPr>
        <p:txBody>
          <a:bodyPr/>
          <a:lstStyle/>
          <a:p>
            <a:endParaRPr lang="en-GB"/>
          </a:p>
        </p:txBody>
      </p:sp>
      <p:sp>
        <p:nvSpPr>
          <p:cNvPr id="16" name="Text 13"/>
          <p:cNvSpPr txBox="1"/>
          <p:nvPr/>
        </p:nvSpPr>
        <p:spPr>
          <a:xfrm>
            <a:off x="594360" y="29718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4"/>
          <p:cNvSpPr txBox="1"/>
          <p:nvPr/>
        </p:nvSpPr>
        <p:spPr>
          <a:xfrm>
            <a:off x="1188720" y="2834640"/>
            <a:ext cx="4434840" cy="731520"/>
          </a:xfrm>
          <a:prstGeom prst="rect">
            <a:avLst/>
          </a:prstGeom>
          <a:noFill/>
          <a:ln/>
        </p:spPr>
        <p:txBody>
          <a:bodyPr wrap="square" lIns="0" tIns="0" rIns="0" bIns="0" rtlCol="0" anchor="ctr"/>
          <a:lstStyle/>
          <a:p>
            <a:pPr marL="0" indent="0">
              <a:buNone/>
            </a:pPr>
            <a:r>
              <a:rPr lang="en-US" sz="1400" dirty="0">
                <a:solidFill>
                  <a:schemeClr val="tx1"/>
                </a:solidFill>
              </a:rPr>
              <a:t>Network cable with crosstalk on. Can serial beat parallel with no errors?</a:t>
            </a:r>
            <a:endParaRPr lang="en-US" sz="1400" dirty="0"/>
          </a:p>
        </p:txBody>
      </p:sp>
      <p:sp>
        <p:nvSpPr>
          <p:cNvPr id="18" name="br-then"/>
          <p:cNvSpPr/>
          <p:nvPr/>
        </p:nvSpPr>
        <p:spPr>
          <a:xfrm>
            <a:off x="6035040" y="1097280"/>
            <a:ext cx="2651760" cy="2468880"/>
          </a:xfrm>
          <a:prstGeom prst="roundRect">
            <a:avLst>
              <a:gd name="adj" fmla="val 2963"/>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GB"/>
          </a:p>
        </p:txBody>
      </p:sp>
      <p:sp>
        <p:nvSpPr>
          <p:cNvPr id="19" name="Shape 16"/>
          <p:cNvSpPr/>
          <p:nvPr/>
        </p:nvSpPr>
        <p:spPr>
          <a:xfrm>
            <a:off x="6217920" y="1234440"/>
            <a:ext cx="457200" cy="457200"/>
          </a:xfrm>
          <a:prstGeom prst="ellipse">
            <a:avLst/>
          </a:prstGeom>
          <a:solidFill>
            <a:schemeClr val="accent2"/>
          </a:solidFill>
          <a:ln w="12700">
            <a:solidFill>
              <a:schemeClr val="accent2"/>
            </a:solidFill>
            <a:prstDash val="solid"/>
          </a:ln>
        </p:spPr>
        <p:txBody>
          <a:bodyPr/>
          <a:lstStyle/>
          <a:p>
            <a:endParaRPr lang="en-GB"/>
          </a:p>
        </p:txBody>
      </p:sp>
      <p:pic>
        <p:nvPicPr>
          <p:cNvPr id="20" name="Image 1" descr="preencoded.png"/>
          <p:cNvPicPr>
            <a:picLocks noChangeAspect="1"/>
          </p:cNvPicPr>
          <p:nvPr/>
        </p:nvPicPr>
        <p:blipFill>
          <a:blip r:embed="rId4"/>
          <a:stretch>
            <a:fillRect/>
          </a:stretch>
        </p:blipFill>
        <p:spPr>
          <a:xfrm>
            <a:off x="6318504" y="1335024"/>
            <a:ext cx="256032" cy="256032"/>
          </a:xfrm>
          <a:prstGeom prst="rect">
            <a:avLst/>
          </a:prstGeom>
        </p:spPr>
      </p:pic>
      <p:sp>
        <p:nvSpPr>
          <p:cNvPr id="21" name="Text 17"/>
          <p:cNvSpPr txBox="1"/>
          <p:nvPr/>
        </p:nvSpPr>
        <p:spPr>
          <a:xfrm>
            <a:off x="6217920" y="1783080"/>
            <a:ext cx="2331720" cy="1691640"/>
          </a:xfrm>
          <a:prstGeom prst="rect">
            <a:avLst/>
          </a:prstGeom>
          <a:noFill/>
          <a:ln/>
        </p:spPr>
        <p:txBody>
          <a:bodyPr wrap="square" lIns="0" tIns="0" rIns="0" bIns="0" rtlCol="0" anchor="t"/>
          <a:lstStyle/>
          <a:p>
            <a:pPr marL="0" indent="0">
              <a:buNone/>
            </a:pPr>
            <a:r>
              <a:rPr lang="en-US" sz="1400" dirty="0">
                <a:solidFill>
                  <a:schemeClr val="bg1"/>
                </a:solidFill>
              </a:rPr>
              <a:t>Then answer the exam question at the bottom of the page together, before revealing the mark scheme.</a:t>
            </a:r>
            <a:endParaRPr lang="en-US" sz="1400" dirty="0"/>
          </a:p>
        </p:txBody>
      </p:sp>
      <p:sp>
        <p:nvSpPr>
          <p:cNvPr id="22" name="Text 18"/>
          <p:cNvSpPr txBox="1"/>
          <p:nvPr/>
        </p:nvSpPr>
        <p:spPr>
          <a:xfrm>
            <a:off x="457200" y="3886200"/>
            <a:ext cx="8229600" cy="365760"/>
          </a:xfrm>
          <a:prstGeom prst="rect">
            <a:avLst/>
          </a:prstGeom>
          <a:noFill/>
          <a:ln/>
        </p:spPr>
        <p:txBody>
          <a:bodyPr wrap="square" lIns="0" tIns="0" rIns="0" bIns="0" rtlCol="0" anchor="t"/>
          <a:lstStyle/>
          <a:p>
            <a:pPr marL="0" indent="0">
              <a:buNone/>
            </a:pPr>
            <a:r>
              <a:rPr lang="en-US" sz="1500" b="1" dirty="0">
                <a:solidFill>
                  <a:schemeClr val="accent1"/>
                </a:solidFill>
              </a:rPr>
              <a:t>Open the Bit race link on Teams.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Exam question: Summer 2025</a:t>
            </a:r>
            <a:endParaRPr lang="en-US" sz="3000" dirty="0"/>
          </a:p>
        </p:txBody>
      </p:sp>
      <p:sp>
        <p:nvSpPr>
          <p:cNvPr id="3" name="q25"/>
          <p:cNvSpPr/>
          <p:nvPr/>
        </p:nvSpPr>
        <p:spPr>
          <a:xfrm>
            <a:off x="457200" y="1097280"/>
            <a:ext cx="8229600" cy="1280160"/>
          </a:xfrm>
          <a:prstGeom prst="roundRect">
            <a:avLst>
              <a:gd name="adj" fmla="val 571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4" name="Text 2"/>
          <p:cNvSpPr txBox="1"/>
          <p:nvPr/>
        </p:nvSpPr>
        <p:spPr>
          <a:xfrm>
            <a:off x="685800" y="1188720"/>
            <a:ext cx="7772400" cy="1097280"/>
          </a:xfrm>
          <a:prstGeom prst="rect">
            <a:avLst/>
          </a:prstGeom>
          <a:noFill/>
          <a:ln/>
        </p:spPr>
        <p:txBody>
          <a:bodyPr wrap="square" lIns="0" tIns="0" rIns="0" bIns="0" rtlCol="0" anchor="ctr"/>
          <a:lstStyle/>
          <a:p>
            <a:pPr marL="0" indent="0">
              <a:buNone/>
            </a:pPr>
            <a:r>
              <a:rPr lang="en-US" sz="2000" b="1" dirty="0">
                <a:solidFill>
                  <a:schemeClr val="accent1"/>
                </a:solidFill>
              </a:rPr>
              <a:t>Q3(a)  </a:t>
            </a:r>
            <a:r>
              <a:rPr lang="en-US" sz="2000" dirty="0">
                <a:solidFill>
                  <a:schemeClr val="tx1"/>
                </a:solidFill>
              </a:rPr>
              <a:t>Describe two advantages and two disadvantages of parallel transmission over serial transmission.</a:t>
            </a:r>
            <a:r>
              <a:rPr lang="en-US" sz="2000" b="1" dirty="0">
                <a:solidFill>
                  <a:schemeClr val="tx1"/>
                </a:solidFill>
              </a:rPr>
              <a:t>  [4]</a:t>
            </a:r>
            <a:endParaRPr lang="en-US" sz="2000" dirty="0"/>
          </a:p>
        </p:txBody>
      </p:sp>
      <p:sp>
        <p:nvSpPr>
          <p:cNvPr id="5" name="Shape 3"/>
          <p:cNvSpPr/>
          <p:nvPr/>
        </p:nvSpPr>
        <p:spPr>
          <a:xfrm>
            <a:off x="457200" y="2743200"/>
            <a:ext cx="548640" cy="548640"/>
          </a:xfrm>
          <a:prstGeom prst="ellipse">
            <a:avLst/>
          </a:prstGeom>
          <a:solidFill>
            <a:schemeClr val="accent2"/>
          </a:solidFill>
          <a:ln w="12700">
            <a:solidFill>
              <a:schemeClr val="accent2"/>
            </a:solidFill>
            <a:prstDash val="solid"/>
          </a:ln>
        </p:spPr>
        <p:txBody>
          <a:bodyPr/>
          <a:lstStyle/>
          <a:p>
            <a:endParaRPr lang="en-GB"/>
          </a:p>
        </p:txBody>
      </p:sp>
      <p:pic>
        <p:nvPicPr>
          <p:cNvPr id="6" name="Image 0" descr="preencoded.png"/>
          <p:cNvPicPr>
            <a:picLocks noChangeAspect="1"/>
          </p:cNvPicPr>
          <p:nvPr/>
        </p:nvPicPr>
        <p:blipFill>
          <a:blip r:embed="rId3"/>
          <a:stretch>
            <a:fillRect/>
          </a:stretch>
        </p:blipFill>
        <p:spPr>
          <a:xfrm>
            <a:off x="577901" y="2863901"/>
            <a:ext cx="307238" cy="307238"/>
          </a:xfrm>
          <a:prstGeom prst="rect">
            <a:avLst/>
          </a:prstGeom>
        </p:spPr>
      </p:pic>
      <p:sp>
        <p:nvSpPr>
          <p:cNvPr id="7" name="Text 4"/>
          <p:cNvSpPr txBox="1"/>
          <p:nvPr/>
        </p:nvSpPr>
        <p:spPr>
          <a:xfrm>
            <a:off x="1188720" y="2697480"/>
            <a:ext cx="7498080" cy="914400"/>
          </a:xfrm>
          <a:prstGeom prst="rect">
            <a:avLst/>
          </a:prstGeom>
          <a:noFill/>
          <a:ln/>
        </p:spPr>
        <p:txBody>
          <a:bodyPr wrap="square" lIns="0" tIns="0" rIns="0" bIns="0" rtlCol="0" anchor="t"/>
          <a:lstStyle/>
          <a:p>
            <a:pPr marL="0" indent="0">
              <a:buNone/>
            </a:pPr>
            <a:r>
              <a:rPr lang="en-US" sz="1600" dirty="0">
                <a:solidFill>
                  <a:schemeClr val="tx1"/>
                </a:solidFill>
              </a:rPr>
              <a:t>Read the question carefully: it asks about parallel compared with serial. Two marks are available for advantages and two for disadvantages, so four advantages only scores 2.</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Mark scheme: 2025 Q3(a)</a:t>
            </a:r>
            <a:endParaRPr lang="en-US" sz="3000" dirty="0"/>
          </a:p>
        </p:txBody>
      </p:sp>
      <p:sp>
        <p:nvSpPr>
          <p:cNvPr id="3" name="ms25a"/>
          <p:cNvSpPr/>
          <p:nvPr/>
        </p:nvSpPr>
        <p:spPr>
          <a:xfrm>
            <a:off x="457200" y="1097280"/>
            <a:ext cx="3977640" cy="2743200"/>
          </a:xfrm>
          <a:prstGeom prst="roundRect">
            <a:avLst>
              <a:gd name="adj" fmla="val 266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4" name="Text 2"/>
          <p:cNvSpPr txBox="1"/>
          <p:nvPr/>
        </p:nvSpPr>
        <p:spPr>
          <a:xfrm>
            <a:off x="640080" y="1207008"/>
            <a:ext cx="3657600" cy="365760"/>
          </a:xfrm>
          <a:prstGeom prst="rect">
            <a:avLst/>
          </a:prstGeom>
          <a:noFill/>
          <a:ln/>
        </p:spPr>
        <p:txBody>
          <a:bodyPr wrap="square" lIns="0" tIns="0" rIns="0" bIns="0" rtlCol="0" anchor="t"/>
          <a:lstStyle/>
          <a:p>
            <a:pPr marL="0" indent="0">
              <a:buNone/>
            </a:pPr>
            <a:r>
              <a:rPr lang="en-US" sz="1700" b="1" dirty="0">
                <a:solidFill>
                  <a:schemeClr val="accent5"/>
                </a:solidFill>
              </a:rPr>
              <a:t>Advantages (max 2)</a:t>
            </a:r>
            <a:endParaRPr lang="en-US" sz="1700" dirty="0"/>
          </a:p>
        </p:txBody>
      </p:sp>
      <p:sp>
        <p:nvSpPr>
          <p:cNvPr id="5" name="Text 3"/>
          <p:cNvSpPr txBox="1"/>
          <p:nvPr/>
        </p:nvSpPr>
        <p:spPr>
          <a:xfrm>
            <a:off x="640080" y="164592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Data is transmitted at a higher speed</a:t>
            </a:r>
            <a:endParaRPr lang="en-US" sz="1500" dirty="0"/>
          </a:p>
          <a:p>
            <a:pPr marL="342900" indent="-342900">
              <a:spcAft>
                <a:spcPts val="600"/>
              </a:spcAft>
              <a:buSzPct val="100000"/>
              <a:buChar char="•"/>
            </a:pPr>
            <a:r>
              <a:rPr lang="en-US" sz="1500" dirty="0">
                <a:solidFill>
                  <a:schemeClr val="tx1"/>
                </a:solidFill>
              </a:rPr>
              <a:t>Works well for short-distance communication</a:t>
            </a:r>
            <a:endParaRPr lang="en-US" sz="1500" dirty="0"/>
          </a:p>
          <a:p>
            <a:pPr marL="342900" indent="-342900">
              <a:spcAft>
                <a:spcPts val="600"/>
              </a:spcAft>
              <a:buSzPct val="100000"/>
              <a:buChar char="•"/>
            </a:pPr>
            <a:r>
              <a:rPr lang="en-US" sz="1500" dirty="0">
                <a:solidFill>
                  <a:schemeClr val="tx1"/>
                </a:solidFill>
              </a:rPr>
              <a:t>A set of bits is transferred simultaneously</a:t>
            </a:r>
            <a:endParaRPr lang="en-US" sz="1500" dirty="0"/>
          </a:p>
        </p:txBody>
      </p:sp>
      <p:sp>
        <p:nvSpPr>
          <p:cNvPr id="6" name="ms25b"/>
          <p:cNvSpPr/>
          <p:nvPr/>
        </p:nvSpPr>
        <p:spPr>
          <a:xfrm>
            <a:off x="4709160" y="1097280"/>
            <a:ext cx="3977640" cy="2743200"/>
          </a:xfrm>
          <a:prstGeom prst="roundRect">
            <a:avLst>
              <a:gd name="adj" fmla="val 266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7" name="Text 5"/>
          <p:cNvSpPr txBox="1"/>
          <p:nvPr/>
        </p:nvSpPr>
        <p:spPr>
          <a:xfrm>
            <a:off x="4892040" y="1207008"/>
            <a:ext cx="3657600" cy="365760"/>
          </a:xfrm>
          <a:prstGeom prst="rect">
            <a:avLst/>
          </a:prstGeom>
          <a:noFill/>
          <a:ln/>
        </p:spPr>
        <p:txBody>
          <a:bodyPr wrap="square" lIns="0" tIns="0" rIns="0" bIns="0" rtlCol="0" anchor="t"/>
          <a:lstStyle/>
          <a:p>
            <a:pPr marL="0" indent="0">
              <a:buNone/>
            </a:pPr>
            <a:r>
              <a:rPr lang="en-US" sz="1700" b="1" dirty="0">
                <a:solidFill>
                  <a:schemeClr val="accent4"/>
                </a:solidFill>
              </a:rPr>
              <a:t>Disadvantages (max 2)</a:t>
            </a:r>
            <a:endParaRPr lang="en-US" sz="1700" dirty="0"/>
          </a:p>
        </p:txBody>
      </p:sp>
      <p:sp>
        <p:nvSpPr>
          <p:cNvPr id="8" name="Text 6"/>
          <p:cNvSpPr txBox="1"/>
          <p:nvPr/>
        </p:nvSpPr>
        <p:spPr>
          <a:xfrm>
            <a:off x="4892040" y="164592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More expensive because extra wires are needed</a:t>
            </a:r>
            <a:endParaRPr lang="en-US" sz="1500" dirty="0"/>
          </a:p>
          <a:p>
            <a:pPr marL="342900" indent="-342900">
              <a:spcAft>
                <a:spcPts val="600"/>
              </a:spcAft>
              <a:buSzPct val="100000"/>
              <a:buChar char="•"/>
            </a:pPr>
            <a:r>
              <a:rPr lang="en-US" sz="1500" dirty="0">
                <a:solidFill>
                  <a:schemeClr val="tx1"/>
                </a:solidFill>
              </a:rPr>
              <a:t>Over long ranges the wire must be thicker to reduce signal degradation</a:t>
            </a:r>
            <a:endParaRPr lang="en-US" sz="1500" dirty="0"/>
          </a:p>
          <a:p>
            <a:pPr marL="342900" indent="-342900">
              <a:spcAft>
                <a:spcPts val="600"/>
              </a:spcAft>
              <a:buSzPct val="100000"/>
              <a:buChar char="•"/>
            </a:pPr>
            <a:r>
              <a:rPr lang="en-US" sz="1500" dirty="0">
                <a:solidFill>
                  <a:schemeClr val="tx1"/>
                </a:solidFill>
              </a:rPr>
              <a:t>Multiple communication channels are required</a:t>
            </a:r>
            <a:endParaRPr lang="en-US" sz="1500" dirty="0"/>
          </a:p>
          <a:p>
            <a:pPr marL="342900" indent="-342900">
              <a:spcAft>
                <a:spcPts val="600"/>
              </a:spcAft>
              <a:buSzPct val="100000"/>
              <a:buChar char="•"/>
            </a:pPr>
            <a:r>
              <a:rPr lang="en-US" sz="1500" dirty="0">
                <a:solidFill>
                  <a:schemeClr val="tx1"/>
                </a:solidFill>
              </a:rPr>
              <a:t>Crosstalk can occur when multiple data lines are used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Check: serial and parallel quiz</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marL="0" indent="0">
              <a:buNone/>
            </a:pPr>
            <a:r>
              <a:rPr lang="en-US" sz="1400" b="1" dirty="0">
                <a:solidFill>
                  <a:schemeClr val="bg1"/>
                </a:solidFill>
              </a:rPr>
              <a:t>5 min</a:t>
            </a:r>
            <a:endParaRPr lang="en-US" sz="1400" dirty="0"/>
          </a:p>
        </p:txBody>
      </p:sp>
      <p:sp>
        <p:nvSpPr>
          <p:cNvPr id="6" name="Shape 3"/>
          <p:cNvSpPr/>
          <p:nvPr/>
        </p:nvSpPr>
        <p:spPr>
          <a:xfrm>
            <a:off x="3886200" y="1463040"/>
            <a:ext cx="1371600" cy="1371600"/>
          </a:xfrm>
          <a:prstGeom prst="ellipse">
            <a:avLst/>
          </a:prstGeom>
          <a:solidFill>
            <a:schemeClr val="accent1"/>
          </a:solidFill>
          <a:ln w="12700">
            <a:solidFill>
              <a:schemeClr val="accent1"/>
            </a:solidFill>
            <a:prstDash val="solid"/>
          </a:ln>
        </p:spPr>
        <p:txBody>
          <a:bodyPr/>
          <a:lstStyle/>
          <a:p>
            <a:endParaRPr lang="en-GB"/>
          </a:p>
        </p:txBody>
      </p:sp>
      <p:pic>
        <p:nvPicPr>
          <p:cNvPr id="7" name="Image 1" descr="preencoded.png"/>
          <p:cNvPicPr>
            <a:picLocks noChangeAspect="1"/>
          </p:cNvPicPr>
          <p:nvPr/>
        </p:nvPicPr>
        <p:blipFill>
          <a:blip r:embed="rId4"/>
          <a:stretch>
            <a:fillRect/>
          </a:stretch>
        </p:blipFill>
        <p:spPr>
          <a:xfrm>
            <a:off x="4187952" y="1764792"/>
            <a:ext cx="768096" cy="768096"/>
          </a:xfrm>
          <a:prstGeom prst="rect">
            <a:avLst/>
          </a:prstGeom>
        </p:spPr>
      </p:pic>
      <p:sp>
        <p:nvSpPr>
          <p:cNvPr id="8" name="Text 4"/>
          <p:cNvSpPr txBox="1"/>
          <p:nvPr/>
        </p:nvSpPr>
        <p:spPr>
          <a:xfrm>
            <a:off x="457200" y="3108960"/>
            <a:ext cx="8229600" cy="457200"/>
          </a:xfrm>
          <a:prstGeom prst="rect">
            <a:avLst/>
          </a:prstGeom>
          <a:noFill/>
          <a:ln/>
        </p:spPr>
        <p:txBody>
          <a:bodyPr wrap="square" lIns="0" tIns="0" rIns="0" bIns="0" rtlCol="0" anchor="t"/>
          <a:lstStyle/>
          <a:p>
            <a:pPr marL="0" indent="0" algn="ctr">
              <a:buNone/>
            </a:pPr>
            <a:r>
              <a:rPr lang="en-US" sz="1800" dirty="0">
                <a:solidFill>
                  <a:schemeClr val="accent6"/>
                </a:solidFill>
              </a:rPr>
              <a:t>Insert link to your serial and parallel quiz</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554480"/>
            <a:ext cx="8046720" cy="1005840"/>
          </a:xfrm>
          <a:prstGeom prst="rect">
            <a:avLst/>
          </a:prstGeom>
          <a:noFill/>
          <a:ln/>
        </p:spPr>
        <p:txBody>
          <a:bodyPr wrap="square" lIns="0" tIns="0" rIns="0" bIns="0" rtlCol="0" anchor="b"/>
          <a:lstStyle/>
          <a:p>
            <a:pPr marL="0" indent="0" algn="l">
              <a:buNone/>
            </a:pPr>
            <a:r>
              <a:rPr lang="en-US" sz="3800" b="1" dirty="0">
                <a:solidFill>
                  <a:schemeClr val="bg1"/>
                </a:solidFill>
              </a:rPr>
              <a:t>Simplex, half duplex and full duplex</a:t>
            </a:r>
            <a:endParaRPr lang="en-US" sz="3800" dirty="0"/>
          </a:p>
        </p:txBody>
      </p:sp>
      <p:sp>
        <p:nvSpPr>
          <p:cNvPr id="3" name="Text 0"/>
          <p:cNvSpPr>
            <a:spLocks noGrp="1"/>
          </p:cNvSpPr>
          <p:nvPr>
            <p:ph type="body" idx="101" hasCustomPrompt="1"/>
          </p:nvPr>
        </p:nvSpPr>
        <p:spPr>
          <a:xfrm>
            <a:off x="548640" y="2697480"/>
            <a:ext cx="8046720" cy="822960"/>
          </a:xfrm>
          <a:prstGeom prst="rect">
            <a:avLst/>
          </a:prstGeom>
          <a:noFill/>
          <a:ln/>
        </p:spPr>
        <p:txBody>
          <a:bodyPr wrap="square" lIns="0" tIns="0" rIns="0" bIns="0" rtlCol="0" anchor="t"/>
          <a:lstStyle/>
          <a:p>
            <a:pPr marL="0" indent="0">
              <a:buNone/>
            </a:pPr>
            <a:r>
              <a:rPr lang="en-US" sz="1800" dirty="0">
                <a:solidFill>
                  <a:schemeClr val="bg1"/>
                </a:solidFill>
              </a:rPr>
              <a:t>Spec 3.1.2: describe simplex, half duplex and full duplex transmission methods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bg1"/>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Three transmission methods</a:t>
            </a:r>
            <a:endParaRPr lang="en-US" sz="3000" dirty="0"/>
          </a:p>
        </p:txBody>
      </p:sp>
      <p:sp>
        <p:nvSpPr>
          <p:cNvPr id="3" name="m0"/>
          <p:cNvSpPr/>
          <p:nvPr/>
        </p:nvSpPr>
        <p:spPr>
          <a:xfrm>
            <a:off x="457200" y="1097280"/>
            <a:ext cx="2606040" cy="3520440"/>
          </a:xfrm>
          <a:prstGeom prst="roundRect">
            <a:avLst>
              <a:gd name="adj" fmla="val 280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4" name="Text 2"/>
          <p:cNvSpPr txBox="1"/>
          <p:nvPr/>
        </p:nvSpPr>
        <p:spPr>
          <a:xfrm>
            <a:off x="640080" y="1188720"/>
            <a:ext cx="2286000" cy="411480"/>
          </a:xfrm>
          <a:prstGeom prst="rect">
            <a:avLst/>
          </a:prstGeom>
          <a:noFill/>
          <a:ln/>
        </p:spPr>
        <p:txBody>
          <a:bodyPr wrap="square" lIns="0" tIns="0" rIns="0" bIns="0" rtlCol="0" anchor="t"/>
          <a:lstStyle/>
          <a:p>
            <a:pPr marL="0" indent="0">
              <a:buNone/>
            </a:pPr>
            <a:r>
              <a:rPr lang="en-US" sz="2000" b="1" dirty="0">
                <a:solidFill>
                  <a:schemeClr val="accent1"/>
                </a:solidFill>
              </a:rPr>
              <a:t>Simplex</a:t>
            </a:r>
            <a:endParaRPr lang="en-US" sz="2000" dirty="0"/>
          </a:p>
        </p:txBody>
      </p:sp>
      <p:sp>
        <p:nvSpPr>
          <p:cNvPr id="5" name="Shape 3"/>
          <p:cNvSpPr/>
          <p:nvPr/>
        </p:nvSpPr>
        <p:spPr>
          <a:xfrm>
            <a:off x="640080" y="1737360"/>
            <a:ext cx="548640" cy="548640"/>
          </a:xfrm>
          <a:prstGeom prst="roundRect">
            <a:avLst>
              <a:gd name="adj" fmla="val 10000"/>
            </a:avLst>
          </a:prstGeom>
          <a:solidFill>
            <a:schemeClr val="tx1"/>
          </a:solidFill>
          <a:ln w="12700">
            <a:solidFill>
              <a:schemeClr val="tx1"/>
            </a:solidFill>
            <a:prstDash val="solid"/>
          </a:ln>
        </p:spPr>
        <p:txBody>
          <a:bodyPr/>
          <a:lstStyle/>
          <a:p>
            <a:endParaRPr lang="en-GB"/>
          </a:p>
        </p:txBody>
      </p:sp>
      <p:sp>
        <p:nvSpPr>
          <p:cNvPr id="6" name="Text 4"/>
          <p:cNvSpPr txBox="1"/>
          <p:nvPr/>
        </p:nvSpPr>
        <p:spPr>
          <a:xfrm>
            <a:off x="640080" y="1737360"/>
            <a:ext cx="548640" cy="548640"/>
          </a:xfrm>
          <a:prstGeom prst="rect">
            <a:avLst/>
          </a:prstGeom>
          <a:noFill/>
          <a:ln/>
        </p:spPr>
        <p:txBody>
          <a:bodyPr wrap="square" lIns="0" tIns="0" rIns="0" bIns="0" rtlCol="0" anchor="ctr"/>
          <a:lstStyle/>
          <a:p>
            <a:pPr marL="0" indent="0" algn="ctr">
              <a:buNone/>
            </a:pPr>
            <a:r>
              <a:rPr lang="en-US" sz="1300" b="1" dirty="0">
                <a:solidFill>
                  <a:schemeClr val="bg1"/>
                </a:solidFill>
              </a:rPr>
              <a:t>A</a:t>
            </a:r>
            <a:endParaRPr lang="en-US" sz="1300" dirty="0"/>
          </a:p>
        </p:txBody>
      </p:sp>
      <p:sp>
        <p:nvSpPr>
          <p:cNvPr id="7" name="Shape 5"/>
          <p:cNvSpPr/>
          <p:nvPr/>
        </p:nvSpPr>
        <p:spPr>
          <a:xfrm>
            <a:off x="2331720" y="1737360"/>
            <a:ext cx="548640" cy="548640"/>
          </a:xfrm>
          <a:prstGeom prst="roundRect">
            <a:avLst>
              <a:gd name="adj" fmla="val 10000"/>
            </a:avLst>
          </a:prstGeom>
          <a:solidFill>
            <a:schemeClr val="tx1"/>
          </a:solidFill>
          <a:ln w="12700">
            <a:solidFill>
              <a:schemeClr val="tx1"/>
            </a:solidFill>
            <a:prstDash val="solid"/>
          </a:ln>
        </p:spPr>
        <p:txBody>
          <a:bodyPr/>
          <a:lstStyle/>
          <a:p>
            <a:endParaRPr lang="en-GB"/>
          </a:p>
        </p:txBody>
      </p:sp>
      <p:sp>
        <p:nvSpPr>
          <p:cNvPr id="8" name="Text 6"/>
          <p:cNvSpPr txBox="1"/>
          <p:nvPr/>
        </p:nvSpPr>
        <p:spPr>
          <a:xfrm>
            <a:off x="2331720" y="1737360"/>
            <a:ext cx="548640" cy="548640"/>
          </a:xfrm>
          <a:prstGeom prst="rect">
            <a:avLst/>
          </a:prstGeom>
          <a:noFill/>
          <a:ln/>
        </p:spPr>
        <p:txBody>
          <a:bodyPr wrap="square" lIns="0" tIns="0" rIns="0" bIns="0" rtlCol="0" anchor="ctr"/>
          <a:lstStyle/>
          <a:p>
            <a:pPr marL="0" indent="0" algn="ctr">
              <a:buNone/>
            </a:pPr>
            <a:r>
              <a:rPr lang="en-US" sz="1300" b="1" dirty="0">
                <a:solidFill>
                  <a:schemeClr val="bg1"/>
                </a:solidFill>
              </a:rPr>
              <a:t>B</a:t>
            </a:r>
            <a:endParaRPr lang="en-US" sz="1300" dirty="0"/>
          </a:p>
        </p:txBody>
      </p:sp>
      <p:sp>
        <p:nvSpPr>
          <p:cNvPr id="9" name="Shape 7"/>
          <p:cNvSpPr/>
          <p:nvPr/>
        </p:nvSpPr>
        <p:spPr>
          <a:xfrm>
            <a:off x="1234440" y="2011680"/>
            <a:ext cx="1051560" cy="0"/>
          </a:xfrm>
          <a:prstGeom prst="line">
            <a:avLst/>
          </a:prstGeom>
          <a:noFill/>
          <a:ln w="38100">
            <a:solidFill>
              <a:schemeClr val="accent1"/>
            </a:solidFill>
            <a:prstDash val="solid"/>
            <a:tailEnd type="triangle"/>
          </a:ln>
        </p:spPr>
        <p:txBody>
          <a:bodyPr/>
          <a:lstStyle/>
          <a:p>
            <a:endParaRPr lang="en-GB"/>
          </a:p>
        </p:txBody>
      </p:sp>
      <p:sp>
        <p:nvSpPr>
          <p:cNvPr id="10" name="Text 8"/>
          <p:cNvSpPr txBox="1"/>
          <p:nvPr/>
        </p:nvSpPr>
        <p:spPr>
          <a:xfrm>
            <a:off x="640080" y="2468880"/>
            <a:ext cx="2240280" cy="1051560"/>
          </a:xfrm>
          <a:prstGeom prst="rect">
            <a:avLst/>
          </a:prstGeom>
          <a:noFill/>
          <a:ln/>
        </p:spPr>
        <p:txBody>
          <a:bodyPr wrap="square" lIns="0" tIns="0" rIns="0" bIns="0" rtlCol="0" anchor="t"/>
          <a:lstStyle/>
          <a:p>
            <a:pPr marL="0" indent="0">
              <a:buNone/>
            </a:pPr>
            <a:r>
              <a:rPr lang="en-US" sz="1500" dirty="0">
                <a:solidFill>
                  <a:schemeClr val="tx1"/>
                </a:solidFill>
              </a:rPr>
              <a:t>Data travels in one direction only.</a:t>
            </a:r>
            <a:endParaRPr lang="en-US" sz="1500" dirty="0"/>
          </a:p>
        </p:txBody>
      </p:sp>
      <p:sp>
        <p:nvSpPr>
          <p:cNvPr id="11" name="Text 9"/>
          <p:cNvSpPr txBox="1"/>
          <p:nvPr/>
        </p:nvSpPr>
        <p:spPr>
          <a:xfrm>
            <a:off x="640080" y="3611880"/>
            <a:ext cx="2240280" cy="868680"/>
          </a:xfrm>
          <a:prstGeom prst="rect">
            <a:avLst/>
          </a:prstGeom>
          <a:noFill/>
          <a:ln/>
        </p:spPr>
        <p:txBody>
          <a:bodyPr wrap="square" lIns="0" tIns="0" rIns="0" bIns="0" rtlCol="0" anchor="t"/>
          <a:lstStyle/>
          <a:p>
            <a:pPr marL="0" indent="0">
              <a:buNone/>
            </a:pPr>
            <a:r>
              <a:rPr lang="en-US" sz="1400" b="1" dirty="0">
                <a:solidFill>
                  <a:schemeClr val="tx1"/>
                </a:solidFill>
              </a:rPr>
              <a:t>Example: </a:t>
            </a:r>
            <a:r>
              <a:rPr lang="en-US" sz="1400" dirty="0">
                <a:solidFill>
                  <a:schemeClr val="tx1"/>
                </a:solidFill>
              </a:rPr>
              <a:t>Keyboard to computer, TV broadcast</a:t>
            </a:r>
            <a:endParaRPr lang="en-US" sz="1400" dirty="0"/>
          </a:p>
        </p:txBody>
      </p:sp>
      <p:sp>
        <p:nvSpPr>
          <p:cNvPr id="12" name="m1"/>
          <p:cNvSpPr/>
          <p:nvPr/>
        </p:nvSpPr>
        <p:spPr>
          <a:xfrm>
            <a:off x="3264408" y="1097280"/>
            <a:ext cx="2606040" cy="3520440"/>
          </a:xfrm>
          <a:prstGeom prst="roundRect">
            <a:avLst>
              <a:gd name="adj" fmla="val 280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13" name="Text 11"/>
          <p:cNvSpPr txBox="1"/>
          <p:nvPr/>
        </p:nvSpPr>
        <p:spPr>
          <a:xfrm>
            <a:off x="3447288" y="1188720"/>
            <a:ext cx="2286000" cy="411480"/>
          </a:xfrm>
          <a:prstGeom prst="rect">
            <a:avLst/>
          </a:prstGeom>
          <a:noFill/>
          <a:ln/>
        </p:spPr>
        <p:txBody>
          <a:bodyPr wrap="square" lIns="0" tIns="0" rIns="0" bIns="0" rtlCol="0" anchor="t"/>
          <a:lstStyle/>
          <a:p>
            <a:pPr marL="0" indent="0">
              <a:buNone/>
            </a:pPr>
            <a:r>
              <a:rPr lang="en-US" sz="2000" b="1" dirty="0">
                <a:solidFill>
                  <a:schemeClr val="tx1"/>
                </a:solidFill>
              </a:rPr>
              <a:t>Half duplex</a:t>
            </a:r>
            <a:endParaRPr lang="en-US" sz="2000" dirty="0"/>
          </a:p>
        </p:txBody>
      </p:sp>
      <p:sp>
        <p:nvSpPr>
          <p:cNvPr id="14" name="Shape 12"/>
          <p:cNvSpPr/>
          <p:nvPr/>
        </p:nvSpPr>
        <p:spPr>
          <a:xfrm>
            <a:off x="3447288" y="1737360"/>
            <a:ext cx="548640" cy="548640"/>
          </a:xfrm>
          <a:prstGeom prst="roundRect">
            <a:avLst>
              <a:gd name="adj" fmla="val 10000"/>
            </a:avLst>
          </a:prstGeom>
          <a:solidFill>
            <a:schemeClr val="tx1"/>
          </a:solidFill>
          <a:ln w="12700">
            <a:solidFill>
              <a:schemeClr val="tx1"/>
            </a:solidFill>
            <a:prstDash val="solid"/>
          </a:ln>
        </p:spPr>
        <p:txBody>
          <a:bodyPr/>
          <a:lstStyle/>
          <a:p>
            <a:endParaRPr lang="en-GB"/>
          </a:p>
        </p:txBody>
      </p:sp>
      <p:sp>
        <p:nvSpPr>
          <p:cNvPr id="15" name="Text 13"/>
          <p:cNvSpPr txBox="1"/>
          <p:nvPr/>
        </p:nvSpPr>
        <p:spPr>
          <a:xfrm>
            <a:off x="3447288" y="1737360"/>
            <a:ext cx="548640" cy="548640"/>
          </a:xfrm>
          <a:prstGeom prst="rect">
            <a:avLst/>
          </a:prstGeom>
          <a:noFill/>
          <a:ln/>
        </p:spPr>
        <p:txBody>
          <a:bodyPr wrap="square" lIns="0" tIns="0" rIns="0" bIns="0" rtlCol="0" anchor="ctr"/>
          <a:lstStyle/>
          <a:p>
            <a:pPr marL="0" indent="0" algn="ctr">
              <a:buNone/>
            </a:pPr>
            <a:r>
              <a:rPr lang="en-US" sz="1300" b="1" dirty="0">
                <a:solidFill>
                  <a:schemeClr val="bg1"/>
                </a:solidFill>
              </a:rPr>
              <a:t>A</a:t>
            </a:r>
            <a:endParaRPr lang="en-US" sz="1300" dirty="0"/>
          </a:p>
        </p:txBody>
      </p:sp>
      <p:sp>
        <p:nvSpPr>
          <p:cNvPr id="16" name="Shape 14"/>
          <p:cNvSpPr/>
          <p:nvPr/>
        </p:nvSpPr>
        <p:spPr>
          <a:xfrm>
            <a:off x="5138928" y="1737360"/>
            <a:ext cx="548640" cy="548640"/>
          </a:xfrm>
          <a:prstGeom prst="roundRect">
            <a:avLst>
              <a:gd name="adj" fmla="val 10000"/>
            </a:avLst>
          </a:prstGeom>
          <a:solidFill>
            <a:schemeClr val="tx1"/>
          </a:solidFill>
          <a:ln w="12700">
            <a:solidFill>
              <a:schemeClr val="tx1"/>
            </a:solidFill>
            <a:prstDash val="solid"/>
          </a:ln>
        </p:spPr>
        <p:txBody>
          <a:bodyPr/>
          <a:lstStyle/>
          <a:p>
            <a:endParaRPr lang="en-GB"/>
          </a:p>
        </p:txBody>
      </p:sp>
      <p:sp>
        <p:nvSpPr>
          <p:cNvPr id="17" name="Text 15"/>
          <p:cNvSpPr txBox="1"/>
          <p:nvPr/>
        </p:nvSpPr>
        <p:spPr>
          <a:xfrm>
            <a:off x="5138928" y="1737360"/>
            <a:ext cx="548640" cy="548640"/>
          </a:xfrm>
          <a:prstGeom prst="rect">
            <a:avLst/>
          </a:prstGeom>
          <a:noFill/>
          <a:ln/>
        </p:spPr>
        <p:txBody>
          <a:bodyPr wrap="square" lIns="0" tIns="0" rIns="0" bIns="0" rtlCol="0" anchor="ctr"/>
          <a:lstStyle/>
          <a:p>
            <a:pPr marL="0" indent="0" algn="ctr">
              <a:buNone/>
            </a:pPr>
            <a:r>
              <a:rPr lang="en-US" sz="1300" b="1" dirty="0">
                <a:solidFill>
                  <a:schemeClr val="bg1"/>
                </a:solidFill>
              </a:rPr>
              <a:t>B</a:t>
            </a:r>
            <a:endParaRPr lang="en-US" sz="1300" dirty="0"/>
          </a:p>
        </p:txBody>
      </p:sp>
      <p:sp>
        <p:nvSpPr>
          <p:cNvPr id="18" name="Shape 16"/>
          <p:cNvSpPr/>
          <p:nvPr/>
        </p:nvSpPr>
        <p:spPr>
          <a:xfrm>
            <a:off x="4041648" y="1874520"/>
            <a:ext cx="1051560" cy="0"/>
          </a:xfrm>
          <a:prstGeom prst="line">
            <a:avLst/>
          </a:prstGeom>
          <a:noFill/>
          <a:ln w="38100">
            <a:solidFill>
              <a:schemeClr val="tx1"/>
            </a:solidFill>
            <a:prstDash val="solid"/>
            <a:tailEnd type="triangle"/>
          </a:ln>
        </p:spPr>
        <p:txBody>
          <a:bodyPr/>
          <a:lstStyle/>
          <a:p>
            <a:endParaRPr lang="en-GB"/>
          </a:p>
        </p:txBody>
      </p:sp>
      <p:sp>
        <p:nvSpPr>
          <p:cNvPr id="19" name="Shape 17"/>
          <p:cNvSpPr/>
          <p:nvPr/>
        </p:nvSpPr>
        <p:spPr>
          <a:xfrm flipH="1">
            <a:off x="4041648" y="2148840"/>
            <a:ext cx="1051560" cy="0"/>
          </a:xfrm>
          <a:prstGeom prst="line">
            <a:avLst/>
          </a:prstGeom>
          <a:noFill/>
          <a:ln w="38100">
            <a:solidFill>
              <a:schemeClr val="accent6"/>
            </a:solidFill>
            <a:prstDash val="dash"/>
            <a:tailEnd type="triangle"/>
          </a:ln>
        </p:spPr>
        <p:txBody>
          <a:bodyPr/>
          <a:lstStyle/>
          <a:p>
            <a:endParaRPr lang="en-GB"/>
          </a:p>
        </p:txBody>
      </p:sp>
      <p:sp>
        <p:nvSpPr>
          <p:cNvPr id="20" name="Text 18"/>
          <p:cNvSpPr txBox="1"/>
          <p:nvPr/>
        </p:nvSpPr>
        <p:spPr>
          <a:xfrm>
            <a:off x="3447288" y="2468880"/>
            <a:ext cx="2240280" cy="1051560"/>
          </a:xfrm>
          <a:prstGeom prst="rect">
            <a:avLst/>
          </a:prstGeom>
          <a:noFill/>
          <a:ln/>
        </p:spPr>
        <p:txBody>
          <a:bodyPr wrap="square" lIns="0" tIns="0" rIns="0" bIns="0" rtlCol="0" anchor="t"/>
          <a:lstStyle/>
          <a:p>
            <a:pPr marL="0" indent="0">
              <a:buNone/>
            </a:pPr>
            <a:r>
              <a:rPr lang="en-US" sz="1500" dirty="0">
                <a:solidFill>
                  <a:schemeClr val="tx1"/>
                </a:solidFill>
              </a:rPr>
              <a:t>Data travels in both directions, but only one direction at a time.</a:t>
            </a:r>
            <a:endParaRPr lang="en-US" sz="1500" dirty="0"/>
          </a:p>
        </p:txBody>
      </p:sp>
      <p:sp>
        <p:nvSpPr>
          <p:cNvPr id="21" name="Text 19"/>
          <p:cNvSpPr txBox="1"/>
          <p:nvPr/>
        </p:nvSpPr>
        <p:spPr>
          <a:xfrm>
            <a:off x="3447288" y="3611880"/>
            <a:ext cx="2240280" cy="868680"/>
          </a:xfrm>
          <a:prstGeom prst="rect">
            <a:avLst/>
          </a:prstGeom>
          <a:noFill/>
          <a:ln/>
        </p:spPr>
        <p:txBody>
          <a:bodyPr wrap="square" lIns="0" tIns="0" rIns="0" bIns="0" rtlCol="0" anchor="t"/>
          <a:lstStyle/>
          <a:p>
            <a:pPr marL="0" indent="0">
              <a:buNone/>
            </a:pPr>
            <a:r>
              <a:rPr lang="en-US" sz="1400" b="1" dirty="0">
                <a:solidFill>
                  <a:schemeClr val="tx1"/>
                </a:solidFill>
              </a:rPr>
              <a:t>Example: </a:t>
            </a:r>
            <a:r>
              <a:rPr lang="en-US" sz="1400" dirty="0">
                <a:solidFill>
                  <a:schemeClr val="tx1"/>
                </a:solidFill>
              </a:rPr>
              <a:t>Walkie-talkie</a:t>
            </a:r>
            <a:endParaRPr lang="en-US" sz="1400" dirty="0"/>
          </a:p>
        </p:txBody>
      </p:sp>
      <p:sp>
        <p:nvSpPr>
          <p:cNvPr id="22" name="m2"/>
          <p:cNvSpPr/>
          <p:nvPr/>
        </p:nvSpPr>
        <p:spPr>
          <a:xfrm>
            <a:off x="6071616" y="1097280"/>
            <a:ext cx="2606040" cy="3520440"/>
          </a:xfrm>
          <a:prstGeom prst="roundRect">
            <a:avLst>
              <a:gd name="adj" fmla="val 280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23" name="Text 21"/>
          <p:cNvSpPr txBox="1"/>
          <p:nvPr/>
        </p:nvSpPr>
        <p:spPr>
          <a:xfrm>
            <a:off x="6254496" y="1188720"/>
            <a:ext cx="2286000" cy="411480"/>
          </a:xfrm>
          <a:prstGeom prst="rect">
            <a:avLst/>
          </a:prstGeom>
          <a:noFill/>
          <a:ln/>
        </p:spPr>
        <p:txBody>
          <a:bodyPr wrap="square" lIns="0" tIns="0" rIns="0" bIns="0" rtlCol="0" anchor="t"/>
          <a:lstStyle/>
          <a:p>
            <a:pPr marL="0" indent="0">
              <a:buNone/>
            </a:pPr>
            <a:r>
              <a:rPr lang="en-US" sz="2000" b="1" dirty="0">
                <a:solidFill>
                  <a:schemeClr val="accent2"/>
                </a:solidFill>
              </a:rPr>
              <a:t>Full duplex</a:t>
            </a:r>
            <a:endParaRPr lang="en-US" sz="2000" dirty="0"/>
          </a:p>
        </p:txBody>
      </p:sp>
      <p:sp>
        <p:nvSpPr>
          <p:cNvPr id="24" name="Shape 22"/>
          <p:cNvSpPr/>
          <p:nvPr/>
        </p:nvSpPr>
        <p:spPr>
          <a:xfrm>
            <a:off x="6254496" y="1737360"/>
            <a:ext cx="548640" cy="548640"/>
          </a:xfrm>
          <a:prstGeom prst="roundRect">
            <a:avLst>
              <a:gd name="adj" fmla="val 10000"/>
            </a:avLst>
          </a:prstGeom>
          <a:solidFill>
            <a:schemeClr val="tx1"/>
          </a:solidFill>
          <a:ln w="12700">
            <a:solidFill>
              <a:schemeClr val="tx1"/>
            </a:solidFill>
            <a:prstDash val="solid"/>
          </a:ln>
        </p:spPr>
        <p:txBody>
          <a:bodyPr/>
          <a:lstStyle/>
          <a:p>
            <a:endParaRPr lang="en-GB"/>
          </a:p>
        </p:txBody>
      </p:sp>
      <p:sp>
        <p:nvSpPr>
          <p:cNvPr id="25" name="Text 23"/>
          <p:cNvSpPr txBox="1"/>
          <p:nvPr/>
        </p:nvSpPr>
        <p:spPr>
          <a:xfrm>
            <a:off x="6254496" y="1737360"/>
            <a:ext cx="548640" cy="548640"/>
          </a:xfrm>
          <a:prstGeom prst="rect">
            <a:avLst/>
          </a:prstGeom>
          <a:noFill/>
          <a:ln/>
        </p:spPr>
        <p:txBody>
          <a:bodyPr wrap="square" lIns="0" tIns="0" rIns="0" bIns="0" rtlCol="0" anchor="ctr"/>
          <a:lstStyle/>
          <a:p>
            <a:pPr marL="0" indent="0" algn="ctr">
              <a:buNone/>
            </a:pPr>
            <a:r>
              <a:rPr lang="en-US" sz="1300" b="1" dirty="0">
                <a:solidFill>
                  <a:schemeClr val="bg1"/>
                </a:solidFill>
              </a:rPr>
              <a:t>A</a:t>
            </a:r>
            <a:endParaRPr lang="en-US" sz="1300" dirty="0"/>
          </a:p>
        </p:txBody>
      </p:sp>
      <p:sp>
        <p:nvSpPr>
          <p:cNvPr id="26" name="Shape 24"/>
          <p:cNvSpPr/>
          <p:nvPr/>
        </p:nvSpPr>
        <p:spPr>
          <a:xfrm>
            <a:off x="7946136" y="1737360"/>
            <a:ext cx="548640" cy="548640"/>
          </a:xfrm>
          <a:prstGeom prst="roundRect">
            <a:avLst>
              <a:gd name="adj" fmla="val 10000"/>
            </a:avLst>
          </a:prstGeom>
          <a:solidFill>
            <a:schemeClr val="tx1"/>
          </a:solidFill>
          <a:ln w="12700">
            <a:solidFill>
              <a:schemeClr val="tx1"/>
            </a:solidFill>
            <a:prstDash val="solid"/>
          </a:ln>
        </p:spPr>
        <p:txBody>
          <a:bodyPr/>
          <a:lstStyle/>
          <a:p>
            <a:endParaRPr lang="en-GB"/>
          </a:p>
        </p:txBody>
      </p:sp>
      <p:sp>
        <p:nvSpPr>
          <p:cNvPr id="27" name="Text 25"/>
          <p:cNvSpPr txBox="1"/>
          <p:nvPr/>
        </p:nvSpPr>
        <p:spPr>
          <a:xfrm>
            <a:off x="7946136" y="1737360"/>
            <a:ext cx="548640" cy="548640"/>
          </a:xfrm>
          <a:prstGeom prst="rect">
            <a:avLst/>
          </a:prstGeom>
          <a:noFill/>
          <a:ln/>
        </p:spPr>
        <p:txBody>
          <a:bodyPr wrap="square" lIns="0" tIns="0" rIns="0" bIns="0" rtlCol="0" anchor="ctr"/>
          <a:lstStyle/>
          <a:p>
            <a:pPr marL="0" indent="0" algn="ctr">
              <a:buNone/>
            </a:pPr>
            <a:r>
              <a:rPr lang="en-US" sz="1300" b="1" dirty="0">
                <a:solidFill>
                  <a:schemeClr val="bg1"/>
                </a:solidFill>
              </a:rPr>
              <a:t>B</a:t>
            </a:r>
            <a:endParaRPr lang="en-US" sz="1300" dirty="0"/>
          </a:p>
        </p:txBody>
      </p:sp>
      <p:sp>
        <p:nvSpPr>
          <p:cNvPr id="28" name="Shape 26"/>
          <p:cNvSpPr/>
          <p:nvPr/>
        </p:nvSpPr>
        <p:spPr>
          <a:xfrm>
            <a:off x="6848856" y="1874520"/>
            <a:ext cx="1051560" cy="0"/>
          </a:xfrm>
          <a:prstGeom prst="line">
            <a:avLst/>
          </a:prstGeom>
          <a:noFill/>
          <a:ln w="38100">
            <a:solidFill>
              <a:schemeClr val="accent2"/>
            </a:solidFill>
            <a:prstDash val="solid"/>
            <a:tailEnd type="triangle"/>
          </a:ln>
        </p:spPr>
        <p:txBody>
          <a:bodyPr/>
          <a:lstStyle/>
          <a:p>
            <a:endParaRPr lang="en-GB"/>
          </a:p>
        </p:txBody>
      </p:sp>
      <p:sp>
        <p:nvSpPr>
          <p:cNvPr id="29" name="Shape 27"/>
          <p:cNvSpPr/>
          <p:nvPr/>
        </p:nvSpPr>
        <p:spPr>
          <a:xfrm flipH="1">
            <a:off x="6848856" y="2148840"/>
            <a:ext cx="1051560" cy="0"/>
          </a:xfrm>
          <a:prstGeom prst="line">
            <a:avLst/>
          </a:prstGeom>
          <a:noFill/>
          <a:ln w="38100">
            <a:solidFill>
              <a:schemeClr val="accent2"/>
            </a:solidFill>
            <a:prstDash val="solid"/>
            <a:tailEnd type="triangle"/>
          </a:ln>
        </p:spPr>
        <p:txBody>
          <a:bodyPr/>
          <a:lstStyle/>
          <a:p>
            <a:endParaRPr lang="en-GB"/>
          </a:p>
        </p:txBody>
      </p:sp>
      <p:sp>
        <p:nvSpPr>
          <p:cNvPr id="30" name="Text 28"/>
          <p:cNvSpPr txBox="1"/>
          <p:nvPr/>
        </p:nvSpPr>
        <p:spPr>
          <a:xfrm>
            <a:off x="6254496" y="2468880"/>
            <a:ext cx="2240280" cy="1051560"/>
          </a:xfrm>
          <a:prstGeom prst="rect">
            <a:avLst/>
          </a:prstGeom>
          <a:noFill/>
          <a:ln/>
        </p:spPr>
        <p:txBody>
          <a:bodyPr wrap="square" lIns="0" tIns="0" rIns="0" bIns="0" rtlCol="0" anchor="t"/>
          <a:lstStyle/>
          <a:p>
            <a:pPr marL="0" indent="0">
              <a:buNone/>
            </a:pPr>
            <a:r>
              <a:rPr lang="en-US" sz="1500" dirty="0">
                <a:solidFill>
                  <a:schemeClr val="tx1"/>
                </a:solidFill>
              </a:rPr>
              <a:t>Data travels in both directions at the same time.</a:t>
            </a:r>
            <a:endParaRPr lang="en-US" sz="1500" dirty="0"/>
          </a:p>
        </p:txBody>
      </p:sp>
      <p:sp>
        <p:nvSpPr>
          <p:cNvPr id="31" name="Text 29"/>
          <p:cNvSpPr txBox="1"/>
          <p:nvPr/>
        </p:nvSpPr>
        <p:spPr>
          <a:xfrm>
            <a:off x="6254496" y="3611880"/>
            <a:ext cx="2240280" cy="868680"/>
          </a:xfrm>
          <a:prstGeom prst="rect">
            <a:avLst/>
          </a:prstGeom>
          <a:noFill/>
          <a:ln/>
        </p:spPr>
        <p:txBody>
          <a:bodyPr wrap="square" lIns="0" tIns="0" rIns="0" bIns="0" rtlCol="0" anchor="t"/>
          <a:lstStyle/>
          <a:p>
            <a:pPr marL="0" indent="0">
              <a:buNone/>
            </a:pPr>
            <a:r>
              <a:rPr lang="en-US" sz="1400" b="1" dirty="0">
                <a:solidFill>
                  <a:schemeClr val="tx1"/>
                </a:solidFill>
              </a:rPr>
              <a:t>Example: </a:t>
            </a:r>
            <a:r>
              <a:rPr lang="en-US" sz="1400" dirty="0">
                <a:solidFill>
                  <a:schemeClr val="tx1"/>
                </a:solidFill>
              </a:rPr>
              <a:t>Phone call, broadband</a:t>
            </a:r>
            <a:endParaRPr lang="en-US" sz="1400" dirty="0"/>
          </a:p>
        </p:txBody>
      </p:sp>
      <p:sp>
        <p:nvSpPr>
          <p:cNvPr id="32"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Back to the starter</a:t>
            </a:r>
            <a:endParaRPr lang="en-US" sz="3000" dirty="0"/>
          </a:p>
        </p:txBody>
      </p:sp>
      <p:sp>
        <p:nvSpPr>
          <p:cNvPr id="3" name="bk0"/>
          <p:cNvSpPr/>
          <p:nvPr/>
        </p:nvSpPr>
        <p:spPr>
          <a:xfrm>
            <a:off x="457200" y="1143000"/>
            <a:ext cx="2743200" cy="9144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4" name="Text 2"/>
          <p:cNvSpPr txBox="1"/>
          <p:nvPr/>
        </p:nvSpPr>
        <p:spPr>
          <a:xfrm>
            <a:off x="594360" y="1143000"/>
            <a:ext cx="2468880" cy="914400"/>
          </a:xfrm>
          <a:prstGeom prst="rect">
            <a:avLst/>
          </a:prstGeom>
          <a:noFill/>
          <a:ln/>
        </p:spPr>
        <p:txBody>
          <a:bodyPr wrap="square" lIns="0" tIns="0" rIns="0" bIns="0" rtlCol="0" anchor="ctr"/>
          <a:lstStyle/>
          <a:p>
            <a:pPr marL="0" indent="0">
              <a:buNone/>
            </a:pPr>
            <a:r>
              <a:rPr lang="en-US" sz="1600" dirty="0">
                <a:solidFill>
                  <a:schemeClr val="tx1"/>
                </a:solidFill>
              </a:rPr>
              <a:t>One way only</a:t>
            </a:r>
            <a:endParaRPr lang="en-US" sz="1600" dirty="0"/>
          </a:p>
        </p:txBody>
      </p:sp>
      <p:sp>
        <p:nvSpPr>
          <p:cNvPr id="5" name="Shape 3"/>
          <p:cNvSpPr/>
          <p:nvPr/>
        </p:nvSpPr>
        <p:spPr>
          <a:xfrm>
            <a:off x="3337560" y="1600200"/>
            <a:ext cx="640080" cy="0"/>
          </a:xfrm>
          <a:prstGeom prst="line">
            <a:avLst/>
          </a:prstGeom>
          <a:noFill/>
          <a:ln w="25400">
            <a:solidFill>
              <a:schemeClr val="accent6"/>
            </a:solidFill>
            <a:prstDash val="solid"/>
            <a:tailEnd type="triangle"/>
          </a:ln>
        </p:spPr>
        <p:txBody>
          <a:bodyPr/>
          <a:lstStyle/>
          <a:p>
            <a:endParaRPr lang="en-GB"/>
          </a:p>
        </p:txBody>
      </p:sp>
      <p:sp>
        <p:nvSpPr>
          <p:cNvPr id="6" name="Shape 4"/>
          <p:cNvSpPr/>
          <p:nvPr/>
        </p:nvSpPr>
        <p:spPr>
          <a:xfrm>
            <a:off x="4114800" y="1143000"/>
            <a:ext cx="1828800" cy="914400"/>
          </a:xfrm>
          <a:prstGeom prst="roundRect">
            <a:avLst>
              <a:gd name="adj" fmla="val 8000"/>
            </a:avLst>
          </a:prstGeom>
          <a:solidFill>
            <a:schemeClr val="accent1"/>
          </a:solidFill>
          <a:ln w="12700">
            <a:solidFill>
              <a:schemeClr val="accent1"/>
            </a:solidFill>
            <a:prstDash val="solid"/>
          </a:ln>
        </p:spPr>
        <p:txBody>
          <a:bodyPr/>
          <a:lstStyle/>
          <a:p>
            <a:endParaRPr lang="en-GB"/>
          </a:p>
        </p:txBody>
      </p:sp>
      <p:sp>
        <p:nvSpPr>
          <p:cNvPr id="7" name="Text 5"/>
          <p:cNvSpPr txBox="1"/>
          <p:nvPr/>
        </p:nvSpPr>
        <p:spPr>
          <a:xfrm>
            <a:off x="4114800" y="1143000"/>
            <a:ext cx="1828800" cy="914400"/>
          </a:xfrm>
          <a:prstGeom prst="rect">
            <a:avLst/>
          </a:prstGeom>
          <a:noFill/>
          <a:ln/>
        </p:spPr>
        <p:txBody>
          <a:bodyPr wrap="square" lIns="0" tIns="0" rIns="0" bIns="0" rtlCol="0" anchor="ctr"/>
          <a:lstStyle/>
          <a:p>
            <a:pPr marL="0" indent="0" algn="ctr">
              <a:buNone/>
            </a:pPr>
            <a:r>
              <a:rPr lang="en-US" sz="1800" b="1" dirty="0">
                <a:solidFill>
                  <a:schemeClr val="bg1"/>
                </a:solidFill>
              </a:rPr>
              <a:t>Simplex</a:t>
            </a:r>
            <a:endParaRPr lang="en-US" sz="1800" dirty="0"/>
          </a:p>
        </p:txBody>
      </p:sp>
      <p:sp>
        <p:nvSpPr>
          <p:cNvPr id="8" name="Text 6"/>
          <p:cNvSpPr txBox="1"/>
          <p:nvPr/>
        </p:nvSpPr>
        <p:spPr>
          <a:xfrm>
            <a:off x="6172200" y="1143000"/>
            <a:ext cx="2514600" cy="914400"/>
          </a:xfrm>
          <a:prstGeom prst="rect">
            <a:avLst/>
          </a:prstGeom>
          <a:noFill/>
          <a:ln/>
        </p:spPr>
        <p:txBody>
          <a:bodyPr wrap="square" lIns="0" tIns="0" rIns="0" bIns="0" rtlCol="0" anchor="ctr"/>
          <a:lstStyle/>
          <a:p>
            <a:pPr marL="0" indent="0">
              <a:buNone/>
            </a:pPr>
            <a:r>
              <a:rPr lang="en-US" sz="1400" dirty="0">
                <a:solidFill>
                  <a:schemeClr val="tx1"/>
                </a:solidFill>
              </a:rPr>
              <a:t>TV broadcast, keyboard to PC, baby monitor</a:t>
            </a:r>
            <a:endParaRPr lang="en-US" sz="1400" dirty="0"/>
          </a:p>
        </p:txBody>
      </p:sp>
      <p:sp>
        <p:nvSpPr>
          <p:cNvPr id="9" name="bk1"/>
          <p:cNvSpPr/>
          <p:nvPr/>
        </p:nvSpPr>
        <p:spPr>
          <a:xfrm>
            <a:off x="457200" y="2286000"/>
            <a:ext cx="2743200" cy="9144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10" name="Text 8"/>
          <p:cNvSpPr txBox="1"/>
          <p:nvPr/>
        </p:nvSpPr>
        <p:spPr>
          <a:xfrm>
            <a:off x="594360" y="2286000"/>
            <a:ext cx="2468880" cy="914400"/>
          </a:xfrm>
          <a:prstGeom prst="rect">
            <a:avLst/>
          </a:prstGeom>
          <a:noFill/>
          <a:ln/>
        </p:spPr>
        <p:txBody>
          <a:bodyPr wrap="square" lIns="0" tIns="0" rIns="0" bIns="0" rtlCol="0" anchor="ctr"/>
          <a:lstStyle/>
          <a:p>
            <a:pPr marL="0" indent="0">
              <a:buNone/>
            </a:pPr>
            <a:r>
              <a:rPr lang="en-US" sz="1600" dirty="0">
                <a:solidFill>
                  <a:schemeClr val="tx1"/>
                </a:solidFill>
              </a:rPr>
              <a:t>Both ways, taking turns</a:t>
            </a:r>
            <a:endParaRPr lang="en-US" sz="1600" dirty="0"/>
          </a:p>
        </p:txBody>
      </p:sp>
      <p:sp>
        <p:nvSpPr>
          <p:cNvPr id="11" name="Shape 9"/>
          <p:cNvSpPr/>
          <p:nvPr/>
        </p:nvSpPr>
        <p:spPr>
          <a:xfrm>
            <a:off x="3337560" y="2743200"/>
            <a:ext cx="640080" cy="0"/>
          </a:xfrm>
          <a:prstGeom prst="line">
            <a:avLst/>
          </a:prstGeom>
          <a:noFill/>
          <a:ln w="25400">
            <a:solidFill>
              <a:schemeClr val="accent6"/>
            </a:solidFill>
            <a:prstDash val="solid"/>
            <a:tailEnd type="triangle"/>
          </a:ln>
        </p:spPr>
        <p:txBody>
          <a:bodyPr/>
          <a:lstStyle/>
          <a:p>
            <a:endParaRPr lang="en-GB"/>
          </a:p>
        </p:txBody>
      </p:sp>
      <p:sp>
        <p:nvSpPr>
          <p:cNvPr id="12" name="Shape 10"/>
          <p:cNvSpPr/>
          <p:nvPr/>
        </p:nvSpPr>
        <p:spPr>
          <a:xfrm>
            <a:off x="4114800" y="2286000"/>
            <a:ext cx="1828800" cy="914400"/>
          </a:xfrm>
          <a:prstGeom prst="roundRect">
            <a:avLst>
              <a:gd name="adj" fmla="val 8000"/>
            </a:avLst>
          </a:prstGeom>
          <a:solidFill>
            <a:schemeClr val="tx1"/>
          </a:solidFill>
          <a:ln w="12700">
            <a:solidFill>
              <a:schemeClr val="tx1"/>
            </a:solidFill>
            <a:prstDash val="solid"/>
          </a:ln>
        </p:spPr>
        <p:txBody>
          <a:bodyPr/>
          <a:lstStyle/>
          <a:p>
            <a:endParaRPr lang="en-GB"/>
          </a:p>
        </p:txBody>
      </p:sp>
      <p:sp>
        <p:nvSpPr>
          <p:cNvPr id="13" name="Text 11"/>
          <p:cNvSpPr txBox="1"/>
          <p:nvPr/>
        </p:nvSpPr>
        <p:spPr>
          <a:xfrm>
            <a:off x="4114800" y="2286000"/>
            <a:ext cx="1828800" cy="914400"/>
          </a:xfrm>
          <a:prstGeom prst="rect">
            <a:avLst/>
          </a:prstGeom>
          <a:noFill/>
          <a:ln/>
        </p:spPr>
        <p:txBody>
          <a:bodyPr wrap="square" lIns="0" tIns="0" rIns="0" bIns="0" rtlCol="0" anchor="ctr"/>
          <a:lstStyle/>
          <a:p>
            <a:pPr marL="0" indent="0" algn="ctr">
              <a:buNone/>
            </a:pPr>
            <a:r>
              <a:rPr lang="en-US" sz="1800" b="1" dirty="0">
                <a:solidFill>
                  <a:schemeClr val="bg1"/>
                </a:solidFill>
              </a:rPr>
              <a:t>Half duplex</a:t>
            </a:r>
            <a:endParaRPr lang="en-US" sz="1800" dirty="0"/>
          </a:p>
        </p:txBody>
      </p:sp>
      <p:sp>
        <p:nvSpPr>
          <p:cNvPr id="14" name="Text 12"/>
          <p:cNvSpPr txBox="1"/>
          <p:nvPr/>
        </p:nvSpPr>
        <p:spPr>
          <a:xfrm>
            <a:off x="6172200" y="2286000"/>
            <a:ext cx="2514600" cy="914400"/>
          </a:xfrm>
          <a:prstGeom prst="rect">
            <a:avLst/>
          </a:prstGeom>
          <a:noFill/>
          <a:ln/>
        </p:spPr>
        <p:txBody>
          <a:bodyPr wrap="square" lIns="0" tIns="0" rIns="0" bIns="0" rtlCol="0" anchor="ctr"/>
          <a:lstStyle/>
          <a:p>
            <a:pPr marL="0" indent="0">
              <a:buNone/>
            </a:pPr>
            <a:r>
              <a:rPr lang="en-US" sz="1400" dirty="0">
                <a:solidFill>
                  <a:schemeClr val="tx1"/>
                </a:solidFill>
              </a:rPr>
              <a:t>Walkie-talkie</a:t>
            </a:r>
            <a:endParaRPr lang="en-US" sz="1400" dirty="0"/>
          </a:p>
        </p:txBody>
      </p:sp>
      <p:sp>
        <p:nvSpPr>
          <p:cNvPr id="15" name="bk2"/>
          <p:cNvSpPr/>
          <p:nvPr/>
        </p:nvSpPr>
        <p:spPr>
          <a:xfrm>
            <a:off x="457200" y="3429000"/>
            <a:ext cx="2743200" cy="914400"/>
          </a:xfrm>
          <a:prstGeom prst="roundRect">
            <a:avLst>
              <a:gd name="adj" fmla="val 8000"/>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16" name="Text 14"/>
          <p:cNvSpPr txBox="1"/>
          <p:nvPr/>
        </p:nvSpPr>
        <p:spPr>
          <a:xfrm>
            <a:off x="594360" y="3429000"/>
            <a:ext cx="2468880" cy="914400"/>
          </a:xfrm>
          <a:prstGeom prst="rect">
            <a:avLst/>
          </a:prstGeom>
          <a:noFill/>
          <a:ln/>
        </p:spPr>
        <p:txBody>
          <a:bodyPr wrap="square" lIns="0" tIns="0" rIns="0" bIns="0" rtlCol="0" anchor="ctr"/>
          <a:lstStyle/>
          <a:p>
            <a:pPr marL="0" indent="0">
              <a:buNone/>
            </a:pPr>
            <a:r>
              <a:rPr lang="en-US" sz="1600" dirty="0">
                <a:solidFill>
                  <a:schemeClr val="tx1"/>
                </a:solidFill>
              </a:rPr>
              <a:t>Both ways at once</a:t>
            </a:r>
            <a:endParaRPr lang="en-US" sz="1600" dirty="0"/>
          </a:p>
        </p:txBody>
      </p:sp>
      <p:sp>
        <p:nvSpPr>
          <p:cNvPr id="17" name="Shape 15"/>
          <p:cNvSpPr/>
          <p:nvPr/>
        </p:nvSpPr>
        <p:spPr>
          <a:xfrm>
            <a:off x="3337560" y="3886200"/>
            <a:ext cx="640080" cy="0"/>
          </a:xfrm>
          <a:prstGeom prst="line">
            <a:avLst/>
          </a:prstGeom>
          <a:noFill/>
          <a:ln w="25400">
            <a:solidFill>
              <a:schemeClr val="accent6"/>
            </a:solidFill>
            <a:prstDash val="solid"/>
            <a:tailEnd type="triangle"/>
          </a:ln>
        </p:spPr>
        <p:txBody>
          <a:bodyPr/>
          <a:lstStyle/>
          <a:p>
            <a:endParaRPr lang="en-GB"/>
          </a:p>
        </p:txBody>
      </p:sp>
      <p:sp>
        <p:nvSpPr>
          <p:cNvPr id="18" name="Shape 16"/>
          <p:cNvSpPr/>
          <p:nvPr/>
        </p:nvSpPr>
        <p:spPr>
          <a:xfrm>
            <a:off x="4114800" y="3429000"/>
            <a:ext cx="1828800" cy="914400"/>
          </a:xfrm>
          <a:prstGeom prst="roundRect">
            <a:avLst>
              <a:gd name="adj" fmla="val 8000"/>
            </a:avLst>
          </a:prstGeom>
          <a:solidFill>
            <a:schemeClr val="accent2"/>
          </a:solidFill>
          <a:ln w="12700">
            <a:solidFill>
              <a:schemeClr val="accent2"/>
            </a:solidFill>
            <a:prstDash val="solid"/>
          </a:ln>
        </p:spPr>
        <p:txBody>
          <a:bodyPr/>
          <a:lstStyle/>
          <a:p>
            <a:endParaRPr lang="en-GB"/>
          </a:p>
        </p:txBody>
      </p:sp>
      <p:sp>
        <p:nvSpPr>
          <p:cNvPr id="19" name="Text 17"/>
          <p:cNvSpPr txBox="1"/>
          <p:nvPr/>
        </p:nvSpPr>
        <p:spPr>
          <a:xfrm>
            <a:off x="4114800" y="3429000"/>
            <a:ext cx="1828800" cy="914400"/>
          </a:xfrm>
          <a:prstGeom prst="rect">
            <a:avLst/>
          </a:prstGeom>
          <a:noFill/>
          <a:ln/>
        </p:spPr>
        <p:txBody>
          <a:bodyPr wrap="square" lIns="0" tIns="0" rIns="0" bIns="0" rtlCol="0" anchor="ctr"/>
          <a:lstStyle/>
          <a:p>
            <a:pPr marL="0" indent="0" algn="ctr">
              <a:buNone/>
            </a:pPr>
            <a:r>
              <a:rPr lang="en-US" sz="1800" b="1" dirty="0">
                <a:solidFill>
                  <a:schemeClr val="bg1"/>
                </a:solidFill>
              </a:rPr>
              <a:t>Full duplex</a:t>
            </a:r>
            <a:endParaRPr lang="en-US" sz="1800" dirty="0"/>
          </a:p>
        </p:txBody>
      </p:sp>
      <p:sp>
        <p:nvSpPr>
          <p:cNvPr id="20" name="Text 18"/>
          <p:cNvSpPr txBox="1"/>
          <p:nvPr/>
        </p:nvSpPr>
        <p:spPr>
          <a:xfrm>
            <a:off x="6172200" y="3429000"/>
            <a:ext cx="2514600" cy="914400"/>
          </a:xfrm>
          <a:prstGeom prst="rect">
            <a:avLst/>
          </a:prstGeom>
          <a:noFill/>
          <a:ln/>
        </p:spPr>
        <p:txBody>
          <a:bodyPr wrap="square" lIns="0" tIns="0" rIns="0" bIns="0" rtlCol="0" anchor="ctr"/>
          <a:lstStyle/>
          <a:p>
            <a:pPr marL="0" indent="0">
              <a:buNone/>
            </a:pPr>
            <a:r>
              <a:rPr lang="en-US" sz="1400" dirty="0">
                <a:solidFill>
                  <a:schemeClr val="tx1"/>
                </a:solidFill>
              </a:rPr>
              <a:t>Phone call, video call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Getting the marks</a:t>
            </a:r>
            <a:endParaRPr lang="en-US" sz="3000" dirty="0"/>
          </a:p>
        </p:txBody>
      </p:sp>
      <p:sp>
        <p:nvSpPr>
          <p:cNvPr id="3" name="good"/>
          <p:cNvSpPr/>
          <p:nvPr/>
        </p:nvSpPr>
        <p:spPr>
          <a:xfrm>
            <a:off x="457200" y="1097280"/>
            <a:ext cx="3977640" cy="2743200"/>
          </a:xfrm>
          <a:prstGeom prst="roundRect">
            <a:avLst>
              <a:gd name="adj" fmla="val 266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4" name="Text 2"/>
          <p:cNvSpPr txBox="1"/>
          <p:nvPr/>
        </p:nvSpPr>
        <p:spPr>
          <a:xfrm>
            <a:off x="640080" y="1207008"/>
            <a:ext cx="3657600" cy="365760"/>
          </a:xfrm>
          <a:prstGeom prst="rect">
            <a:avLst/>
          </a:prstGeom>
          <a:noFill/>
          <a:ln/>
        </p:spPr>
        <p:txBody>
          <a:bodyPr wrap="square" lIns="0" tIns="0" rIns="0" bIns="0" rtlCol="0" anchor="t"/>
          <a:lstStyle/>
          <a:p>
            <a:pPr marL="0" indent="0">
              <a:buNone/>
            </a:pPr>
            <a:r>
              <a:rPr lang="en-US" sz="1700" b="1" dirty="0">
                <a:solidFill>
                  <a:schemeClr val="accent5"/>
                </a:solidFill>
              </a:rPr>
              <a:t>Earns the mark</a:t>
            </a:r>
            <a:endParaRPr lang="en-US" sz="1700" dirty="0"/>
          </a:p>
        </p:txBody>
      </p:sp>
      <p:sp>
        <p:nvSpPr>
          <p:cNvPr id="5" name="Text 3"/>
          <p:cNvSpPr txBox="1"/>
          <p:nvPr/>
        </p:nvSpPr>
        <p:spPr>
          <a:xfrm>
            <a:off x="640080" y="1645920"/>
            <a:ext cx="3657600" cy="2834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"Data can travel in both directions, but only one direction at a time" (half duplex)</a:t>
            </a:r>
            <a:endParaRPr lang="en-US" sz="1500" dirty="0"/>
          </a:p>
          <a:p>
            <a:pPr marL="342900" indent="-342900">
              <a:spcAft>
                <a:spcPts val="600"/>
              </a:spcAft>
              <a:buSzPct val="100000"/>
              <a:buChar char="•"/>
            </a:pPr>
            <a:r>
              <a:rPr lang="en-US" sz="1500" dirty="0">
                <a:solidFill>
                  <a:schemeClr val="tx1"/>
                </a:solidFill>
              </a:rPr>
              <a:t>"Data can travel in both directions at the same time" (full duplex)</a:t>
            </a:r>
            <a:endParaRPr lang="en-US" sz="1500" dirty="0"/>
          </a:p>
          <a:p>
            <a:pPr marL="342900" indent="-342900">
              <a:spcAft>
                <a:spcPts val="600"/>
              </a:spcAft>
              <a:buSzPct val="100000"/>
              <a:buChar char="•"/>
            </a:pPr>
            <a:r>
              <a:rPr lang="en-US" sz="1500" dirty="0">
                <a:solidFill>
                  <a:schemeClr val="tx1"/>
                </a:solidFill>
              </a:rPr>
              <a:t>A definition plus a separate, correct example</a:t>
            </a:r>
            <a:endParaRPr lang="en-US" sz="1500" dirty="0"/>
          </a:p>
        </p:txBody>
      </p:sp>
      <p:sp>
        <p:nvSpPr>
          <p:cNvPr id="6" name="bad"/>
          <p:cNvSpPr/>
          <p:nvPr/>
        </p:nvSpPr>
        <p:spPr>
          <a:xfrm>
            <a:off x="4709160" y="1097280"/>
            <a:ext cx="3977640" cy="2743200"/>
          </a:xfrm>
          <a:prstGeom prst="roundRect">
            <a:avLst>
              <a:gd name="adj" fmla="val 2667"/>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7" name="Shape 5"/>
          <p:cNvSpPr/>
          <p:nvPr/>
        </p:nvSpPr>
        <p:spPr>
          <a:xfrm>
            <a:off x="8046720" y="1188720"/>
            <a:ext cx="457200" cy="457200"/>
          </a:xfrm>
          <a:prstGeom prst="ellipse">
            <a:avLst/>
          </a:prstGeom>
          <a:solidFill>
            <a:schemeClr val="accent4"/>
          </a:solidFill>
          <a:ln w="12700">
            <a:solidFill>
              <a:schemeClr val="accent4"/>
            </a:solidFill>
            <a:prstDash val="solid"/>
          </a:ln>
        </p:spPr>
        <p:txBody>
          <a:bodyPr/>
          <a:lstStyle/>
          <a:p>
            <a:endParaRPr lang="en-GB"/>
          </a:p>
        </p:txBody>
      </p:sp>
      <p:pic>
        <p:nvPicPr>
          <p:cNvPr id="8" name="Image 0" descr="preencoded.png"/>
          <p:cNvPicPr>
            <a:picLocks noChangeAspect="1"/>
          </p:cNvPicPr>
          <p:nvPr/>
        </p:nvPicPr>
        <p:blipFill>
          <a:blip r:embed="rId3"/>
          <a:stretch>
            <a:fillRect/>
          </a:stretch>
        </p:blipFill>
        <p:spPr>
          <a:xfrm>
            <a:off x="8147304" y="1289304"/>
            <a:ext cx="256032" cy="256032"/>
          </a:xfrm>
          <a:prstGeom prst="rect">
            <a:avLst/>
          </a:prstGeom>
        </p:spPr>
      </p:pic>
      <p:sp>
        <p:nvSpPr>
          <p:cNvPr id="9" name="Text 6"/>
          <p:cNvSpPr txBox="1"/>
          <p:nvPr/>
        </p:nvSpPr>
        <p:spPr>
          <a:xfrm>
            <a:off x="4892040" y="1207008"/>
            <a:ext cx="3017520" cy="365760"/>
          </a:xfrm>
          <a:prstGeom prst="rect">
            <a:avLst/>
          </a:prstGeom>
          <a:noFill/>
          <a:ln/>
        </p:spPr>
        <p:txBody>
          <a:bodyPr wrap="square" lIns="0" tIns="0" rIns="0" bIns="0" rtlCol="0" anchor="t"/>
          <a:lstStyle/>
          <a:p>
            <a:pPr marL="0" indent="0">
              <a:buNone/>
            </a:pPr>
            <a:r>
              <a:rPr lang="en-US" sz="1700" b="1" dirty="0">
                <a:solidFill>
                  <a:schemeClr val="accent4"/>
                </a:solidFill>
              </a:rPr>
              <a:t>Loses the mark</a:t>
            </a:r>
            <a:endParaRPr lang="en-US" sz="1700" dirty="0"/>
          </a:p>
        </p:txBody>
      </p:sp>
      <p:sp>
        <p:nvSpPr>
          <p:cNvPr id="10" name="Text 7"/>
          <p:cNvSpPr txBox="1"/>
          <p:nvPr/>
        </p:nvSpPr>
        <p:spPr>
          <a:xfrm>
            <a:off x="4892040" y="1645920"/>
            <a:ext cx="3657600" cy="2834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"Half duplex sends data both ways" (doesn't say one at a time)</a:t>
            </a:r>
            <a:endParaRPr lang="en-US" sz="1500" dirty="0"/>
          </a:p>
          <a:p>
            <a:pPr marL="342900" indent="-342900">
              <a:spcAft>
                <a:spcPts val="600"/>
              </a:spcAft>
              <a:buSzPct val="100000"/>
              <a:buChar char="•"/>
            </a:pPr>
            <a:r>
              <a:rPr lang="en-US" sz="1500" dirty="0">
                <a:solidFill>
                  <a:schemeClr val="tx1"/>
                </a:solidFill>
              </a:rPr>
              <a:t>"Full duplex is faster" (doesn't describe the method)</a:t>
            </a:r>
            <a:endParaRPr lang="en-US" sz="1500" dirty="0"/>
          </a:p>
          <a:p>
            <a:pPr marL="342900" indent="-342900">
              <a:spcAft>
                <a:spcPts val="600"/>
              </a:spcAft>
              <a:buSzPct val="100000"/>
              <a:buChar char="•"/>
            </a:pPr>
            <a:r>
              <a:rPr lang="en-US" sz="1500" dirty="0">
                <a:solidFill>
                  <a:schemeClr val="tx1"/>
                </a:solidFill>
              </a:rPr>
              <a:t>Reusing the same example, or an example that doesn't fit (e.g. "the internet" for simplex)</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Task: Duplex detective</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marL="0" indent="0">
              <a:buNone/>
            </a:pPr>
            <a:r>
              <a:rPr lang="en-US" sz="1400" b="1" dirty="0">
                <a:solidFill>
                  <a:schemeClr val="bg1"/>
                </a:solidFill>
              </a:rPr>
              <a:t>15 min  in pairs</a:t>
            </a:r>
            <a:endParaRPr lang="en-US" sz="1400" dirty="0"/>
          </a:p>
        </p:txBody>
      </p:sp>
      <p:sp>
        <p:nvSpPr>
          <p:cNvPr id="6" name="step0"/>
          <p:cNvSpPr/>
          <p:nvPr/>
        </p:nvSpPr>
        <p:spPr>
          <a:xfrm>
            <a:off x="457200" y="1188720"/>
            <a:ext cx="1920240" cy="1737360"/>
          </a:xfrm>
          <a:prstGeom prst="roundRect">
            <a:avLst>
              <a:gd name="adj" fmla="val 4211"/>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7" name="Shape 4"/>
          <p:cNvSpPr/>
          <p:nvPr/>
        </p:nvSpPr>
        <p:spPr>
          <a:xfrm>
            <a:off x="594360" y="1325880"/>
            <a:ext cx="457200" cy="457200"/>
          </a:xfrm>
          <a:prstGeom prst="ellipse">
            <a:avLst/>
          </a:prstGeom>
          <a:solidFill>
            <a:schemeClr val="tx1"/>
          </a:solidFill>
          <a:ln w="12700">
            <a:solidFill>
              <a:schemeClr val="tx1"/>
            </a:solidFill>
            <a:prstDash val="solid"/>
          </a:ln>
        </p:spPr>
        <p:txBody>
          <a:bodyPr/>
          <a:lstStyle/>
          <a:p>
            <a:endParaRPr lang="en-GB"/>
          </a:p>
        </p:txBody>
      </p:sp>
      <p:sp>
        <p:nvSpPr>
          <p:cNvPr id="8" name="Text 5"/>
          <p:cNvSpPr txBox="1"/>
          <p:nvPr/>
        </p:nvSpPr>
        <p:spPr>
          <a:xfrm>
            <a:off x="594360" y="132588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9" name="Text 6"/>
          <p:cNvSpPr txBox="1"/>
          <p:nvPr/>
        </p:nvSpPr>
        <p:spPr>
          <a:xfrm>
            <a:off x="594360" y="1874520"/>
            <a:ext cx="1645920" cy="960120"/>
          </a:xfrm>
          <a:prstGeom prst="rect">
            <a:avLst/>
          </a:prstGeom>
          <a:noFill/>
          <a:ln/>
        </p:spPr>
        <p:txBody>
          <a:bodyPr wrap="square" lIns="0" tIns="0" rIns="0" bIns="0" rtlCol="0" anchor="t"/>
          <a:lstStyle/>
          <a:p>
            <a:pPr marL="0" indent="0">
              <a:buNone/>
            </a:pPr>
            <a:r>
              <a:rPr lang="en-US" sz="1500" dirty="0">
                <a:solidFill>
                  <a:schemeClr val="tx1"/>
                </a:solidFill>
              </a:rPr>
              <a:t>Read the scenario card</a:t>
            </a:r>
            <a:endParaRPr lang="en-US" sz="1500" dirty="0"/>
          </a:p>
        </p:txBody>
      </p:sp>
      <p:sp>
        <p:nvSpPr>
          <p:cNvPr id="10" name="step1"/>
          <p:cNvSpPr/>
          <p:nvPr/>
        </p:nvSpPr>
        <p:spPr>
          <a:xfrm>
            <a:off x="2560320" y="1188720"/>
            <a:ext cx="1920240" cy="1737360"/>
          </a:xfrm>
          <a:prstGeom prst="roundRect">
            <a:avLst>
              <a:gd name="adj" fmla="val 4211"/>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11" name="Shape 8"/>
          <p:cNvSpPr/>
          <p:nvPr/>
        </p:nvSpPr>
        <p:spPr>
          <a:xfrm>
            <a:off x="2697480" y="1325880"/>
            <a:ext cx="457200" cy="457200"/>
          </a:xfrm>
          <a:prstGeom prst="ellipse">
            <a:avLst/>
          </a:prstGeom>
          <a:solidFill>
            <a:schemeClr val="tx1"/>
          </a:solidFill>
          <a:ln w="12700">
            <a:solidFill>
              <a:schemeClr val="tx1"/>
            </a:solidFill>
            <a:prstDash val="solid"/>
          </a:ln>
        </p:spPr>
        <p:txBody>
          <a:bodyPr/>
          <a:lstStyle/>
          <a:p>
            <a:endParaRPr lang="en-GB"/>
          </a:p>
        </p:txBody>
      </p:sp>
      <p:sp>
        <p:nvSpPr>
          <p:cNvPr id="12" name="Text 9"/>
          <p:cNvSpPr txBox="1"/>
          <p:nvPr/>
        </p:nvSpPr>
        <p:spPr>
          <a:xfrm>
            <a:off x="2697480" y="132588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3" name="Text 10"/>
          <p:cNvSpPr txBox="1"/>
          <p:nvPr/>
        </p:nvSpPr>
        <p:spPr>
          <a:xfrm>
            <a:off x="2697480" y="1874520"/>
            <a:ext cx="1645920" cy="960120"/>
          </a:xfrm>
          <a:prstGeom prst="rect">
            <a:avLst/>
          </a:prstGeom>
          <a:noFill/>
          <a:ln/>
        </p:spPr>
        <p:txBody>
          <a:bodyPr wrap="square" lIns="0" tIns="0" rIns="0" bIns="0" rtlCol="0" anchor="t"/>
          <a:lstStyle/>
          <a:p>
            <a:pPr marL="0" indent="0">
              <a:buNone/>
            </a:pPr>
            <a:r>
              <a:rPr lang="en-US" sz="1500" dirty="0">
                <a:solidFill>
                  <a:schemeClr val="tx1"/>
                </a:solidFill>
              </a:rPr>
              <a:t>Choose simplex, half duplex or full duplex</a:t>
            </a:r>
            <a:endParaRPr lang="en-US" sz="1500" dirty="0"/>
          </a:p>
        </p:txBody>
      </p:sp>
      <p:sp>
        <p:nvSpPr>
          <p:cNvPr id="14" name="step2"/>
          <p:cNvSpPr/>
          <p:nvPr/>
        </p:nvSpPr>
        <p:spPr>
          <a:xfrm>
            <a:off x="4663440" y="1188720"/>
            <a:ext cx="1920240" cy="1737360"/>
          </a:xfrm>
          <a:prstGeom prst="roundRect">
            <a:avLst>
              <a:gd name="adj" fmla="val 4211"/>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15" name="Shape 12"/>
          <p:cNvSpPr/>
          <p:nvPr/>
        </p:nvSpPr>
        <p:spPr>
          <a:xfrm>
            <a:off x="4800600" y="1325880"/>
            <a:ext cx="457200" cy="457200"/>
          </a:xfrm>
          <a:prstGeom prst="ellipse">
            <a:avLst/>
          </a:prstGeom>
          <a:solidFill>
            <a:schemeClr val="tx1"/>
          </a:solidFill>
          <a:ln w="12700">
            <a:solidFill>
              <a:schemeClr val="tx1"/>
            </a:solidFill>
            <a:prstDash val="solid"/>
          </a:ln>
        </p:spPr>
        <p:txBody>
          <a:bodyPr/>
          <a:lstStyle/>
          <a:p>
            <a:endParaRPr lang="en-GB"/>
          </a:p>
        </p:txBody>
      </p:sp>
      <p:sp>
        <p:nvSpPr>
          <p:cNvPr id="16" name="Text 13"/>
          <p:cNvSpPr txBox="1"/>
          <p:nvPr/>
        </p:nvSpPr>
        <p:spPr>
          <a:xfrm>
            <a:off x="4800600" y="132588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4"/>
          <p:cNvSpPr txBox="1"/>
          <p:nvPr/>
        </p:nvSpPr>
        <p:spPr>
          <a:xfrm>
            <a:off x="4800600" y="1874520"/>
            <a:ext cx="1645920" cy="960120"/>
          </a:xfrm>
          <a:prstGeom prst="rect">
            <a:avLst/>
          </a:prstGeom>
          <a:noFill/>
          <a:ln/>
        </p:spPr>
        <p:txBody>
          <a:bodyPr wrap="square" lIns="0" tIns="0" rIns="0" bIns="0" rtlCol="0" anchor="t"/>
          <a:lstStyle/>
          <a:p>
            <a:pPr marL="0" indent="0">
              <a:buNone/>
            </a:pPr>
            <a:r>
              <a:rPr lang="en-US" sz="1500" dirty="0">
                <a:solidFill>
                  <a:schemeClr val="tx1"/>
                </a:solidFill>
              </a:rPr>
              <a:t>Write a one-line justification</a:t>
            </a:r>
            <a:endParaRPr lang="en-US" sz="1500" dirty="0"/>
          </a:p>
        </p:txBody>
      </p:sp>
      <p:sp>
        <p:nvSpPr>
          <p:cNvPr id="18" name="step3"/>
          <p:cNvSpPr/>
          <p:nvPr/>
        </p:nvSpPr>
        <p:spPr>
          <a:xfrm>
            <a:off x="6766560" y="1188720"/>
            <a:ext cx="1920240" cy="1737360"/>
          </a:xfrm>
          <a:prstGeom prst="roundRect">
            <a:avLst>
              <a:gd name="adj" fmla="val 4211"/>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19" name="Shape 16"/>
          <p:cNvSpPr/>
          <p:nvPr/>
        </p:nvSpPr>
        <p:spPr>
          <a:xfrm>
            <a:off x="6903720" y="1325880"/>
            <a:ext cx="457200" cy="457200"/>
          </a:xfrm>
          <a:prstGeom prst="ellipse">
            <a:avLst/>
          </a:prstGeom>
          <a:solidFill>
            <a:schemeClr val="tx1"/>
          </a:solidFill>
          <a:ln w="12700">
            <a:solidFill>
              <a:schemeClr val="tx1"/>
            </a:solidFill>
            <a:prstDash val="solid"/>
          </a:ln>
        </p:spPr>
        <p:txBody>
          <a:bodyPr/>
          <a:lstStyle/>
          <a:p>
            <a:endParaRPr lang="en-GB"/>
          </a:p>
        </p:txBody>
      </p:sp>
      <p:sp>
        <p:nvSpPr>
          <p:cNvPr id="20" name="Text 17"/>
          <p:cNvSpPr txBox="1"/>
          <p:nvPr/>
        </p:nvSpPr>
        <p:spPr>
          <a:xfrm>
            <a:off x="6903720" y="132588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1" name="Text 18"/>
          <p:cNvSpPr txBox="1"/>
          <p:nvPr/>
        </p:nvSpPr>
        <p:spPr>
          <a:xfrm>
            <a:off x="6903720" y="1874520"/>
            <a:ext cx="1645920" cy="960120"/>
          </a:xfrm>
          <a:prstGeom prst="rect">
            <a:avLst/>
          </a:prstGeom>
          <a:noFill/>
          <a:ln/>
        </p:spPr>
        <p:txBody>
          <a:bodyPr wrap="square" lIns="0" tIns="0" rIns="0" bIns="0" rtlCol="0" anchor="t"/>
          <a:lstStyle/>
          <a:p>
            <a:pPr marL="0" indent="0">
              <a:buNone/>
            </a:pPr>
            <a:r>
              <a:rPr lang="en-US" sz="1500" dirty="0">
                <a:solidFill>
                  <a:schemeClr val="tx1"/>
                </a:solidFill>
              </a:rPr>
              <a:t>Pick the explanation that would earn the mark</a:t>
            </a:r>
            <a:endParaRPr lang="en-US" sz="1500" dirty="0"/>
          </a:p>
        </p:txBody>
      </p:sp>
      <p:sp>
        <p:nvSpPr>
          <p:cNvPr id="22" name="dd-tip"/>
          <p:cNvSpPr/>
          <p:nvPr/>
        </p:nvSpPr>
        <p:spPr>
          <a:xfrm>
            <a:off x="457200" y="3246120"/>
            <a:ext cx="8229600" cy="1097280"/>
          </a:xfrm>
          <a:prstGeom prst="roundRect">
            <a:avLst>
              <a:gd name="adj" fmla="val 6667"/>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GB"/>
          </a:p>
        </p:txBody>
      </p:sp>
      <p:sp>
        <p:nvSpPr>
          <p:cNvPr id="23" name="Shape 20"/>
          <p:cNvSpPr/>
          <p:nvPr/>
        </p:nvSpPr>
        <p:spPr>
          <a:xfrm>
            <a:off x="640080" y="3474720"/>
            <a:ext cx="640080" cy="640080"/>
          </a:xfrm>
          <a:prstGeom prst="ellipse">
            <a:avLst/>
          </a:prstGeom>
          <a:solidFill>
            <a:schemeClr val="accent2"/>
          </a:solidFill>
          <a:ln w="12700">
            <a:solidFill>
              <a:schemeClr val="accent2"/>
            </a:solidFill>
            <a:prstDash val="solid"/>
          </a:ln>
        </p:spPr>
        <p:txBody>
          <a:bodyPr/>
          <a:lstStyle/>
          <a:p>
            <a:endParaRPr lang="en-GB"/>
          </a:p>
        </p:txBody>
      </p:sp>
      <p:pic>
        <p:nvPicPr>
          <p:cNvPr id="24" name="Image 1" descr="preencoded.png"/>
          <p:cNvPicPr>
            <a:picLocks noChangeAspect="1"/>
          </p:cNvPicPr>
          <p:nvPr/>
        </p:nvPicPr>
        <p:blipFill>
          <a:blip r:embed="rId4"/>
          <a:stretch>
            <a:fillRect/>
          </a:stretch>
        </p:blipFill>
        <p:spPr>
          <a:xfrm>
            <a:off x="780898" y="3615538"/>
            <a:ext cx="358445" cy="358445"/>
          </a:xfrm>
          <a:prstGeom prst="rect">
            <a:avLst/>
          </a:prstGeom>
        </p:spPr>
      </p:pic>
      <p:sp>
        <p:nvSpPr>
          <p:cNvPr id="25" name="Text 21"/>
          <p:cNvSpPr txBox="1"/>
          <p:nvPr/>
        </p:nvSpPr>
        <p:spPr>
          <a:xfrm>
            <a:off x="1463040" y="3246120"/>
            <a:ext cx="7040880" cy="1097280"/>
          </a:xfrm>
          <a:prstGeom prst="rect">
            <a:avLst/>
          </a:prstGeom>
          <a:noFill/>
          <a:ln/>
        </p:spPr>
        <p:txBody>
          <a:bodyPr wrap="square" lIns="0" tIns="0" rIns="0" bIns="0" rtlCol="0" anchor="ctr"/>
          <a:lstStyle/>
          <a:p>
            <a:pPr marL="0" indent="0">
              <a:buNone/>
            </a:pPr>
            <a:r>
              <a:rPr lang="en-US" sz="1600" dirty="0">
                <a:solidFill>
                  <a:schemeClr val="bg1"/>
                </a:solidFill>
              </a:rPr>
              <a:t>Watch for the tricky ones: some devices use different methods for different jobs. Agree with your partner before you submit.</a:t>
            </a:r>
            <a:endParaRPr lang="en-US" sz="1600" dirty="0"/>
          </a:p>
        </p:txBody>
      </p:sp>
      <p:sp>
        <p:nvSpPr>
          <p:cNvPr id="2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Check: transmission methods quiz</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marL="0" indent="0">
              <a:buNone/>
            </a:pPr>
            <a:r>
              <a:rPr lang="en-US" sz="1400" b="1" dirty="0">
                <a:solidFill>
                  <a:schemeClr val="bg1"/>
                </a:solidFill>
              </a:rPr>
              <a:t>5 min</a:t>
            </a:r>
            <a:endParaRPr lang="en-US" sz="1400" dirty="0"/>
          </a:p>
        </p:txBody>
      </p:sp>
      <p:sp>
        <p:nvSpPr>
          <p:cNvPr id="6" name="Shape 3"/>
          <p:cNvSpPr/>
          <p:nvPr/>
        </p:nvSpPr>
        <p:spPr>
          <a:xfrm>
            <a:off x="3886200" y="1463040"/>
            <a:ext cx="1371600" cy="1371600"/>
          </a:xfrm>
          <a:prstGeom prst="ellipse">
            <a:avLst/>
          </a:prstGeom>
          <a:solidFill>
            <a:schemeClr val="tx1"/>
          </a:solidFill>
          <a:ln w="12700">
            <a:solidFill>
              <a:schemeClr val="tx1"/>
            </a:solidFill>
            <a:prstDash val="solid"/>
          </a:ln>
        </p:spPr>
        <p:txBody>
          <a:bodyPr/>
          <a:lstStyle/>
          <a:p>
            <a:endParaRPr lang="en-GB"/>
          </a:p>
        </p:txBody>
      </p:sp>
      <p:pic>
        <p:nvPicPr>
          <p:cNvPr id="7" name="Image 1" descr="preencoded.png"/>
          <p:cNvPicPr>
            <a:picLocks noChangeAspect="1"/>
          </p:cNvPicPr>
          <p:nvPr/>
        </p:nvPicPr>
        <p:blipFill>
          <a:blip r:embed="rId4"/>
          <a:stretch>
            <a:fillRect/>
          </a:stretch>
        </p:blipFill>
        <p:spPr>
          <a:xfrm>
            <a:off x="4187952" y="1764792"/>
            <a:ext cx="768096" cy="768096"/>
          </a:xfrm>
          <a:prstGeom prst="rect">
            <a:avLst/>
          </a:prstGeom>
        </p:spPr>
      </p:pic>
      <p:sp>
        <p:nvSpPr>
          <p:cNvPr id="8" name="Text 4"/>
          <p:cNvSpPr txBox="1"/>
          <p:nvPr/>
        </p:nvSpPr>
        <p:spPr>
          <a:xfrm>
            <a:off x="457200" y="3108960"/>
            <a:ext cx="8229600" cy="457200"/>
          </a:xfrm>
          <a:prstGeom prst="rect">
            <a:avLst/>
          </a:prstGeom>
          <a:noFill/>
          <a:ln/>
        </p:spPr>
        <p:txBody>
          <a:bodyPr wrap="square" lIns="0" tIns="0" rIns="0" bIns="0" rtlCol="0" anchor="t"/>
          <a:lstStyle/>
          <a:p>
            <a:pPr marL="0" indent="0" algn="ctr">
              <a:buNone/>
            </a:pPr>
            <a:r>
              <a:rPr lang="en-US" sz="1800" dirty="0">
                <a:solidFill>
                  <a:schemeClr val="accent6"/>
                </a:solidFill>
              </a:rPr>
              <a:t>Insert link to your simplex and duplex quiz</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03504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Exam practice: Summer 2023</a:t>
            </a:r>
            <a:endParaRPr lang="en-US" sz="3000" dirty="0"/>
          </a:p>
        </p:txBody>
      </p:sp>
      <p:sp>
        <p:nvSpPr>
          <p:cNvPr id="3" name="Shape 1"/>
          <p:cNvSpPr/>
          <p:nvPr/>
        </p:nvSpPr>
        <p:spPr>
          <a:xfrm>
            <a:off x="6400800" y="347472"/>
            <a:ext cx="2286000" cy="502920"/>
          </a:xfrm>
          <a:prstGeom prst="roundRect">
            <a:avLst>
              <a:gd name="adj" fmla="val 49091"/>
            </a:avLst>
          </a:prstGeom>
          <a:solidFill>
            <a:schemeClr val="accent2"/>
          </a:solidFill>
          <a:ln w="12700">
            <a:solidFill>
              <a:schemeClr val="accent2"/>
            </a:solidFill>
            <a:prstDash val="solid"/>
          </a:ln>
        </p:spPr>
        <p:txBody>
          <a:bodyPr/>
          <a:lstStyle/>
          <a:p>
            <a:endParaRPr lang="en-GB"/>
          </a:p>
        </p:txBody>
      </p:sp>
      <p:pic>
        <p:nvPicPr>
          <p:cNvPr id="4" name="Image 0" descr="preencoded.png"/>
          <p:cNvPicPr>
            <a:picLocks noChangeAspect="1"/>
          </p:cNvPicPr>
          <p:nvPr/>
        </p:nvPicPr>
        <p:blipFill>
          <a:blip r:embed="rId3"/>
          <a:stretch>
            <a:fillRect/>
          </a:stretch>
        </p:blipFill>
        <p:spPr>
          <a:xfrm>
            <a:off x="6537960" y="448056"/>
            <a:ext cx="301752" cy="301752"/>
          </a:xfrm>
          <a:prstGeom prst="rect">
            <a:avLst/>
          </a:prstGeom>
        </p:spPr>
      </p:pic>
      <p:sp>
        <p:nvSpPr>
          <p:cNvPr id="5" name="Text 2"/>
          <p:cNvSpPr txBox="1"/>
          <p:nvPr/>
        </p:nvSpPr>
        <p:spPr>
          <a:xfrm>
            <a:off x="6903720" y="347472"/>
            <a:ext cx="1737360" cy="502920"/>
          </a:xfrm>
          <a:prstGeom prst="rect">
            <a:avLst/>
          </a:prstGeom>
          <a:noFill/>
          <a:ln/>
        </p:spPr>
        <p:txBody>
          <a:bodyPr wrap="square" lIns="0" tIns="0" rIns="0" bIns="0" rtlCol="0" anchor="ctr"/>
          <a:lstStyle/>
          <a:p>
            <a:pPr marL="0" indent="0">
              <a:buNone/>
            </a:pPr>
            <a:r>
              <a:rPr lang="en-US" sz="1400" b="1" dirty="0">
                <a:solidFill>
                  <a:schemeClr val="bg1"/>
                </a:solidFill>
              </a:rPr>
              <a:t>6 min  on your own</a:t>
            </a:r>
            <a:endParaRPr lang="en-US" sz="1400" dirty="0"/>
          </a:p>
        </p:txBody>
      </p:sp>
      <p:sp>
        <p:nvSpPr>
          <p:cNvPr id="6" name="q23"/>
          <p:cNvSpPr/>
          <p:nvPr/>
        </p:nvSpPr>
        <p:spPr>
          <a:xfrm>
            <a:off x="457200" y="1097280"/>
            <a:ext cx="8229600" cy="1188720"/>
          </a:xfrm>
          <a:prstGeom prst="roundRect">
            <a:avLst>
              <a:gd name="adj" fmla="val 6154"/>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7" name="Text 4"/>
          <p:cNvSpPr txBox="1"/>
          <p:nvPr/>
        </p:nvSpPr>
        <p:spPr>
          <a:xfrm>
            <a:off x="685800" y="1143000"/>
            <a:ext cx="7772400" cy="1097280"/>
          </a:xfrm>
          <a:prstGeom prst="rect">
            <a:avLst/>
          </a:prstGeom>
          <a:noFill/>
          <a:ln/>
        </p:spPr>
        <p:txBody>
          <a:bodyPr wrap="square" lIns="0" tIns="0" rIns="0" bIns="0" rtlCol="0" anchor="ctr"/>
          <a:lstStyle/>
          <a:p>
            <a:pPr marL="0" indent="0">
              <a:buNone/>
            </a:pPr>
            <a:r>
              <a:rPr lang="en-US" sz="2000" b="1" dirty="0">
                <a:solidFill>
                  <a:schemeClr val="accent1"/>
                </a:solidFill>
              </a:rPr>
              <a:t>Q6  </a:t>
            </a:r>
            <a:r>
              <a:rPr lang="en-US" sz="2000" dirty="0">
                <a:solidFill>
                  <a:schemeClr val="tx1"/>
                </a:solidFill>
              </a:rPr>
              <a:t>Describe simplex, half duplex and full duplex data transmission methods and give an example use for each.</a:t>
            </a:r>
            <a:r>
              <a:rPr lang="en-US" sz="2000" b="1" dirty="0">
                <a:solidFill>
                  <a:schemeClr val="tx1"/>
                </a:solidFill>
              </a:rPr>
              <a:t>  [6]</a:t>
            </a:r>
            <a:endParaRPr lang="en-US" sz="2000" dirty="0"/>
          </a:p>
        </p:txBody>
      </p:sp>
      <p:sp>
        <p:nvSpPr>
          <p:cNvPr id="8" name="ans0"/>
          <p:cNvSpPr/>
          <p:nvPr/>
        </p:nvSpPr>
        <p:spPr>
          <a:xfrm>
            <a:off x="457200" y="2514600"/>
            <a:ext cx="2606040" cy="1143000"/>
          </a:xfrm>
          <a:prstGeom prst="roundRect">
            <a:avLst>
              <a:gd name="adj" fmla="val 64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9" name="Text 6"/>
          <p:cNvSpPr txBox="1"/>
          <p:nvPr/>
        </p:nvSpPr>
        <p:spPr>
          <a:xfrm>
            <a:off x="640080" y="2606040"/>
            <a:ext cx="2286000" cy="365760"/>
          </a:xfrm>
          <a:prstGeom prst="rect">
            <a:avLst/>
          </a:prstGeom>
          <a:noFill/>
          <a:ln/>
        </p:spPr>
        <p:txBody>
          <a:bodyPr wrap="square" lIns="0" tIns="0" rIns="0" bIns="0" rtlCol="0" anchor="t"/>
          <a:lstStyle/>
          <a:p>
            <a:pPr marL="0" indent="0">
              <a:buNone/>
            </a:pPr>
            <a:r>
              <a:rPr lang="en-US" sz="1600" b="1" dirty="0">
                <a:solidFill>
                  <a:schemeClr val="tx1"/>
                </a:solidFill>
              </a:rPr>
              <a:t>Simplex</a:t>
            </a:r>
            <a:endParaRPr lang="en-US" sz="1600" dirty="0"/>
          </a:p>
        </p:txBody>
      </p:sp>
      <p:sp>
        <p:nvSpPr>
          <p:cNvPr id="10" name="Text 7"/>
          <p:cNvSpPr txBox="1"/>
          <p:nvPr/>
        </p:nvSpPr>
        <p:spPr>
          <a:xfrm>
            <a:off x="640080" y="2971800"/>
            <a:ext cx="2286000" cy="640080"/>
          </a:xfrm>
          <a:prstGeom prst="rect">
            <a:avLst/>
          </a:prstGeom>
          <a:noFill/>
          <a:ln/>
        </p:spPr>
        <p:txBody>
          <a:bodyPr wrap="square" lIns="0" tIns="0" rIns="0" bIns="0" rtlCol="0" anchor="t"/>
          <a:lstStyle/>
          <a:p>
            <a:pPr marL="0" indent="0">
              <a:buNone/>
            </a:pPr>
            <a:r>
              <a:rPr lang="en-US" sz="1300" dirty="0">
                <a:solidFill>
                  <a:schemeClr val="accent6"/>
                </a:solidFill>
              </a:rPr>
              <a:t>Description (1)</a:t>
            </a:r>
            <a:endParaRPr lang="en-US" sz="1300" dirty="0"/>
          </a:p>
          <a:p>
            <a:pPr marL="0" indent="0">
              <a:buNone/>
            </a:pPr>
            <a:r>
              <a:rPr lang="en-US" sz="1300" dirty="0">
                <a:solidFill>
                  <a:schemeClr val="accent6"/>
                </a:solidFill>
              </a:rPr>
              <a:t>Example (1)</a:t>
            </a:r>
            <a:endParaRPr lang="en-US" sz="1300" dirty="0"/>
          </a:p>
        </p:txBody>
      </p:sp>
      <p:sp>
        <p:nvSpPr>
          <p:cNvPr id="11" name="ans1"/>
          <p:cNvSpPr/>
          <p:nvPr/>
        </p:nvSpPr>
        <p:spPr>
          <a:xfrm>
            <a:off x="3264408" y="2514600"/>
            <a:ext cx="2606040" cy="1143000"/>
          </a:xfrm>
          <a:prstGeom prst="roundRect">
            <a:avLst>
              <a:gd name="adj" fmla="val 64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12" name="Text 9"/>
          <p:cNvSpPr txBox="1"/>
          <p:nvPr/>
        </p:nvSpPr>
        <p:spPr>
          <a:xfrm>
            <a:off x="3447288" y="2606040"/>
            <a:ext cx="2286000" cy="365760"/>
          </a:xfrm>
          <a:prstGeom prst="rect">
            <a:avLst/>
          </a:prstGeom>
          <a:noFill/>
          <a:ln/>
        </p:spPr>
        <p:txBody>
          <a:bodyPr wrap="square" lIns="0" tIns="0" rIns="0" bIns="0" rtlCol="0" anchor="t"/>
          <a:lstStyle/>
          <a:p>
            <a:pPr marL="0" indent="0">
              <a:buNone/>
            </a:pPr>
            <a:r>
              <a:rPr lang="en-US" sz="1600" b="1" dirty="0">
                <a:solidFill>
                  <a:schemeClr val="tx1"/>
                </a:solidFill>
              </a:rPr>
              <a:t>Half duplex</a:t>
            </a:r>
            <a:endParaRPr lang="en-US" sz="1600" dirty="0"/>
          </a:p>
        </p:txBody>
      </p:sp>
      <p:sp>
        <p:nvSpPr>
          <p:cNvPr id="13" name="Text 10"/>
          <p:cNvSpPr txBox="1"/>
          <p:nvPr/>
        </p:nvSpPr>
        <p:spPr>
          <a:xfrm>
            <a:off x="3447288" y="2971800"/>
            <a:ext cx="2286000" cy="640080"/>
          </a:xfrm>
          <a:prstGeom prst="rect">
            <a:avLst/>
          </a:prstGeom>
          <a:noFill/>
          <a:ln/>
        </p:spPr>
        <p:txBody>
          <a:bodyPr wrap="square" lIns="0" tIns="0" rIns="0" bIns="0" rtlCol="0" anchor="t"/>
          <a:lstStyle/>
          <a:p>
            <a:pPr marL="0" indent="0">
              <a:buNone/>
            </a:pPr>
            <a:r>
              <a:rPr lang="en-US" sz="1300" dirty="0">
                <a:solidFill>
                  <a:schemeClr val="accent6"/>
                </a:solidFill>
              </a:rPr>
              <a:t>Description (1)</a:t>
            </a:r>
            <a:endParaRPr lang="en-US" sz="1300" dirty="0"/>
          </a:p>
          <a:p>
            <a:pPr marL="0" indent="0">
              <a:buNone/>
            </a:pPr>
            <a:r>
              <a:rPr lang="en-US" sz="1300" dirty="0">
                <a:solidFill>
                  <a:schemeClr val="accent6"/>
                </a:solidFill>
              </a:rPr>
              <a:t>Example (1)</a:t>
            </a:r>
            <a:endParaRPr lang="en-US" sz="1300" dirty="0"/>
          </a:p>
        </p:txBody>
      </p:sp>
      <p:sp>
        <p:nvSpPr>
          <p:cNvPr id="14" name="ans2"/>
          <p:cNvSpPr/>
          <p:nvPr/>
        </p:nvSpPr>
        <p:spPr>
          <a:xfrm>
            <a:off x="6071616" y="2514600"/>
            <a:ext cx="2606040" cy="1143000"/>
          </a:xfrm>
          <a:prstGeom prst="roundRect">
            <a:avLst>
              <a:gd name="adj" fmla="val 6400"/>
            </a:avLst>
          </a:prstGeom>
          <a:solidFill>
            <a:schemeClr val="bg1"/>
          </a:solidFill>
          <a:ln w="12700">
            <a:solidFill>
              <a:schemeClr val="bg1"/>
            </a:solidFill>
            <a:prstDash val="solid"/>
          </a:ln>
          <a:effectLst>
            <a:outerShdw blurRad="76200" dist="25400" dir="5400000" algn="bl" rotWithShape="0">
              <a:srgbClr val="000000">
                <a:alpha val="12000"/>
              </a:srgbClr>
            </a:outerShdw>
          </a:effectLst>
        </p:spPr>
        <p:txBody>
          <a:bodyPr/>
          <a:lstStyle/>
          <a:p>
            <a:endParaRPr lang="en-GB"/>
          </a:p>
        </p:txBody>
      </p:sp>
      <p:sp>
        <p:nvSpPr>
          <p:cNvPr id="15" name="Text 12"/>
          <p:cNvSpPr txBox="1"/>
          <p:nvPr/>
        </p:nvSpPr>
        <p:spPr>
          <a:xfrm>
            <a:off x="6254496" y="2606040"/>
            <a:ext cx="2286000" cy="365760"/>
          </a:xfrm>
          <a:prstGeom prst="rect">
            <a:avLst/>
          </a:prstGeom>
          <a:noFill/>
          <a:ln/>
        </p:spPr>
        <p:txBody>
          <a:bodyPr wrap="square" lIns="0" tIns="0" rIns="0" bIns="0" rtlCol="0" anchor="t"/>
          <a:lstStyle/>
          <a:p>
            <a:pPr marL="0" indent="0">
              <a:buNone/>
            </a:pPr>
            <a:r>
              <a:rPr lang="en-US" sz="1600" b="1" dirty="0">
                <a:solidFill>
                  <a:schemeClr val="tx1"/>
                </a:solidFill>
              </a:rPr>
              <a:t>Full duplex</a:t>
            </a:r>
            <a:endParaRPr lang="en-US" sz="1600" dirty="0"/>
          </a:p>
        </p:txBody>
      </p:sp>
      <p:sp>
        <p:nvSpPr>
          <p:cNvPr id="16" name="Text 13"/>
          <p:cNvSpPr txBox="1"/>
          <p:nvPr/>
        </p:nvSpPr>
        <p:spPr>
          <a:xfrm>
            <a:off x="6254496" y="2971800"/>
            <a:ext cx="2286000" cy="640080"/>
          </a:xfrm>
          <a:prstGeom prst="rect">
            <a:avLst/>
          </a:prstGeom>
          <a:noFill/>
          <a:ln/>
        </p:spPr>
        <p:txBody>
          <a:bodyPr wrap="square" lIns="0" tIns="0" rIns="0" bIns="0" rtlCol="0" anchor="t"/>
          <a:lstStyle/>
          <a:p>
            <a:pPr marL="0" indent="0">
              <a:buNone/>
            </a:pPr>
            <a:r>
              <a:rPr lang="en-US" sz="1300" dirty="0">
                <a:solidFill>
                  <a:schemeClr val="accent6"/>
                </a:solidFill>
              </a:rPr>
              <a:t>Description (1)</a:t>
            </a:r>
            <a:endParaRPr lang="en-US" sz="1300" dirty="0"/>
          </a:p>
          <a:p>
            <a:pPr marL="0" indent="0">
              <a:buNone/>
            </a:pPr>
            <a:r>
              <a:rPr lang="en-US" sz="1300" dirty="0">
                <a:solidFill>
                  <a:schemeClr val="accent6"/>
                </a:solidFill>
              </a:rPr>
              <a:t>Example (1)</a:t>
            </a:r>
            <a:endParaRPr lang="en-US" sz="1300" dirty="0"/>
          </a:p>
        </p:txBody>
      </p:sp>
      <p:sp>
        <p:nvSpPr>
          <p:cNvPr id="17" name="ext16"/>
          <p:cNvSpPr/>
          <p:nvPr/>
        </p:nvSpPr>
        <p:spPr>
          <a:xfrm>
            <a:off x="457200" y="3931920"/>
            <a:ext cx="8229600" cy="685800"/>
          </a:xfrm>
          <a:prstGeom prst="roundRect">
            <a:avLst>
              <a:gd name="adj" fmla="val 10667"/>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GB"/>
          </a:p>
        </p:txBody>
      </p:sp>
      <p:sp>
        <p:nvSpPr>
          <p:cNvPr id="18" name="Text 15"/>
          <p:cNvSpPr txBox="1"/>
          <p:nvPr/>
        </p:nvSpPr>
        <p:spPr>
          <a:xfrm>
            <a:off x="640080" y="3931920"/>
            <a:ext cx="7863840" cy="685800"/>
          </a:xfrm>
          <a:prstGeom prst="rect">
            <a:avLst/>
          </a:prstGeom>
          <a:noFill/>
          <a:ln/>
        </p:spPr>
        <p:txBody>
          <a:bodyPr wrap="square" lIns="0" tIns="0" rIns="0" bIns="0" rtlCol="0" anchor="ctr"/>
          <a:lstStyle/>
          <a:p>
            <a:pPr marL="0" indent="0">
              <a:buNone/>
            </a:pPr>
            <a:r>
              <a:rPr lang="en-US" sz="1400" b="1" dirty="0">
                <a:solidFill>
                  <a:schemeClr val="accent2"/>
                </a:solidFill>
              </a:rPr>
              <a:t>Finished early?  </a:t>
            </a:r>
            <a:r>
              <a:rPr lang="en-US" sz="1400" dirty="0">
                <a:solidFill>
                  <a:schemeClr val="bg1"/>
                </a:solidFill>
              </a:rPr>
              <a:t>2016 Q5(a) asks for the same three descriptions for only 3 marks, with no examples. Rewrite your answer to fit it.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normAutofit/>
          </a:bodyPr>
          <a:lstStyle/>
          <a:p>
            <a:pPr marL="0" indent="0" algn="l">
              <a:buNone/>
            </a:pPr>
            <a:r>
              <a:rPr lang="en-US" sz="3000" b="1" dirty="0">
                <a:solidFill>
                  <a:schemeClr val="tx1"/>
                </a:solidFill>
              </a:rPr>
              <a:t>Mark scheme: 2023 Q6</a:t>
            </a:r>
            <a:endParaRPr lang="en-US" sz="3000" dirty="0"/>
          </a:p>
        </p:txBody>
      </p:sp>
      <p:sp>
        <p:nvSpPr>
          <p:cNvPr id="3" name="Shape 1"/>
          <p:cNvSpPr/>
          <p:nvPr/>
        </p:nvSpPr>
        <p:spPr>
          <a:xfrm>
            <a:off x="457200" y="1097280"/>
            <a:ext cx="1828800" cy="960120"/>
          </a:xfrm>
          <a:prstGeom prst="roundRect">
            <a:avLst>
              <a:gd name="adj" fmla="val 7619"/>
            </a:avLst>
          </a:prstGeom>
          <a:solidFill>
            <a:schemeClr val="accent1"/>
          </a:solidFill>
          <a:ln w="12700">
            <a:solidFill>
              <a:schemeClr val="accent1"/>
            </a:solidFill>
            <a:prstDash val="solid"/>
          </a:ln>
        </p:spPr>
        <p:txBody>
          <a:bodyPr/>
          <a:lstStyle/>
          <a:p>
            <a:endParaRPr lang="en-GB"/>
          </a:p>
        </p:txBody>
      </p:sp>
      <p:sp>
        <p:nvSpPr>
          <p:cNvPr id="4" name="Text 2"/>
          <p:cNvSpPr txBox="1"/>
          <p:nvPr/>
        </p:nvSpPr>
        <p:spPr>
          <a:xfrm>
            <a:off x="457200" y="1097280"/>
            <a:ext cx="1828800" cy="960120"/>
          </a:xfrm>
          <a:prstGeom prst="rect">
            <a:avLst/>
          </a:prstGeom>
          <a:noFill/>
          <a:ln/>
        </p:spPr>
        <p:txBody>
          <a:bodyPr wrap="square" lIns="0" tIns="0" rIns="0" bIns="0" rtlCol="0" anchor="ctr"/>
          <a:lstStyle/>
          <a:p>
            <a:pPr marL="0" indent="0" algn="ctr">
              <a:buNone/>
            </a:pPr>
            <a:r>
              <a:rPr lang="en-US" sz="1700" b="1" dirty="0">
                <a:solidFill>
                  <a:schemeClr val="bg1"/>
                </a:solidFill>
              </a:rPr>
              <a:t>Simplex</a:t>
            </a:r>
            <a:endParaRPr lang="en-US" sz="1700" dirty="0"/>
          </a:p>
        </p:txBody>
      </p:sp>
      <p:sp>
        <p:nvSpPr>
          <p:cNvPr id="5" name="msd0"/>
          <p:cNvSpPr/>
          <p:nvPr/>
        </p:nvSpPr>
        <p:spPr>
          <a:xfrm>
            <a:off x="2468880" y="1097280"/>
            <a:ext cx="4069080" cy="960120"/>
          </a:xfrm>
          <a:prstGeom prst="roundRect">
            <a:avLst>
              <a:gd name="adj" fmla="val 761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6" name="Text 4"/>
          <p:cNvSpPr txBox="1"/>
          <p:nvPr/>
        </p:nvSpPr>
        <p:spPr>
          <a:xfrm>
            <a:off x="2606040" y="1097280"/>
            <a:ext cx="3794760" cy="960120"/>
          </a:xfrm>
          <a:prstGeom prst="rect">
            <a:avLst/>
          </a:prstGeom>
          <a:noFill/>
          <a:ln/>
        </p:spPr>
        <p:txBody>
          <a:bodyPr wrap="square" lIns="0" tIns="0" rIns="0" bIns="0" rtlCol="0" anchor="ctr"/>
          <a:lstStyle/>
          <a:p>
            <a:pPr marL="0" indent="0">
              <a:buNone/>
            </a:pPr>
            <a:r>
              <a:rPr lang="en-US" sz="1500" dirty="0">
                <a:solidFill>
                  <a:schemeClr val="tx1"/>
                </a:solidFill>
              </a:rPr>
              <a:t>Data can only travel in one direction  (1)</a:t>
            </a:r>
            <a:endParaRPr lang="en-US" sz="1500" dirty="0"/>
          </a:p>
        </p:txBody>
      </p:sp>
      <p:sp>
        <p:nvSpPr>
          <p:cNvPr id="7" name="mse0"/>
          <p:cNvSpPr/>
          <p:nvPr/>
        </p:nvSpPr>
        <p:spPr>
          <a:xfrm>
            <a:off x="6720840" y="1097280"/>
            <a:ext cx="1965960" cy="960120"/>
          </a:xfrm>
          <a:prstGeom prst="roundRect">
            <a:avLst>
              <a:gd name="adj" fmla="val 761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8" name="Text 6"/>
          <p:cNvSpPr txBox="1"/>
          <p:nvPr/>
        </p:nvSpPr>
        <p:spPr>
          <a:xfrm>
            <a:off x="6858000" y="1097280"/>
            <a:ext cx="1737360" cy="960120"/>
          </a:xfrm>
          <a:prstGeom prst="rect">
            <a:avLst/>
          </a:prstGeom>
          <a:noFill/>
          <a:ln/>
        </p:spPr>
        <p:txBody>
          <a:bodyPr wrap="square" lIns="0" tIns="0" rIns="0" bIns="0" rtlCol="0" anchor="ctr"/>
          <a:lstStyle/>
          <a:p>
            <a:pPr marL="0" indent="0">
              <a:buNone/>
            </a:pPr>
            <a:r>
              <a:rPr lang="en-US" sz="1400" dirty="0">
                <a:solidFill>
                  <a:schemeClr val="tx1"/>
                </a:solidFill>
              </a:rPr>
              <a:t>e.g. keyboard  (1)</a:t>
            </a:r>
            <a:endParaRPr lang="en-US" sz="1400" dirty="0"/>
          </a:p>
        </p:txBody>
      </p:sp>
      <p:sp>
        <p:nvSpPr>
          <p:cNvPr id="9" name="Shape 7"/>
          <p:cNvSpPr/>
          <p:nvPr/>
        </p:nvSpPr>
        <p:spPr>
          <a:xfrm>
            <a:off x="457200" y="2240280"/>
            <a:ext cx="1828800" cy="960120"/>
          </a:xfrm>
          <a:prstGeom prst="roundRect">
            <a:avLst>
              <a:gd name="adj" fmla="val 7619"/>
            </a:avLst>
          </a:prstGeom>
          <a:solidFill>
            <a:schemeClr val="tx1"/>
          </a:solidFill>
          <a:ln w="12700">
            <a:solidFill>
              <a:schemeClr val="tx1"/>
            </a:solidFill>
            <a:prstDash val="solid"/>
          </a:ln>
        </p:spPr>
        <p:txBody>
          <a:bodyPr/>
          <a:lstStyle/>
          <a:p>
            <a:endParaRPr lang="en-GB"/>
          </a:p>
        </p:txBody>
      </p:sp>
      <p:sp>
        <p:nvSpPr>
          <p:cNvPr id="10" name="Text 8"/>
          <p:cNvSpPr txBox="1"/>
          <p:nvPr/>
        </p:nvSpPr>
        <p:spPr>
          <a:xfrm>
            <a:off x="457200" y="2240280"/>
            <a:ext cx="1828800" cy="960120"/>
          </a:xfrm>
          <a:prstGeom prst="rect">
            <a:avLst/>
          </a:prstGeom>
          <a:noFill/>
          <a:ln/>
        </p:spPr>
        <p:txBody>
          <a:bodyPr wrap="square" lIns="0" tIns="0" rIns="0" bIns="0" rtlCol="0" anchor="ctr"/>
          <a:lstStyle/>
          <a:p>
            <a:pPr marL="0" indent="0" algn="ctr">
              <a:buNone/>
            </a:pPr>
            <a:r>
              <a:rPr lang="en-US" sz="1700" b="1" dirty="0">
                <a:solidFill>
                  <a:schemeClr val="bg1"/>
                </a:solidFill>
              </a:rPr>
              <a:t>Half duplex</a:t>
            </a:r>
            <a:endParaRPr lang="en-US" sz="1700" dirty="0"/>
          </a:p>
        </p:txBody>
      </p:sp>
      <p:sp>
        <p:nvSpPr>
          <p:cNvPr id="11" name="msd1"/>
          <p:cNvSpPr/>
          <p:nvPr/>
        </p:nvSpPr>
        <p:spPr>
          <a:xfrm>
            <a:off x="2468880" y="2240280"/>
            <a:ext cx="4069080" cy="960120"/>
          </a:xfrm>
          <a:prstGeom prst="roundRect">
            <a:avLst>
              <a:gd name="adj" fmla="val 761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12" name="Text 10"/>
          <p:cNvSpPr txBox="1"/>
          <p:nvPr/>
        </p:nvSpPr>
        <p:spPr>
          <a:xfrm>
            <a:off x="2606040" y="2240280"/>
            <a:ext cx="3794760" cy="960120"/>
          </a:xfrm>
          <a:prstGeom prst="rect">
            <a:avLst/>
          </a:prstGeom>
          <a:noFill/>
          <a:ln/>
        </p:spPr>
        <p:txBody>
          <a:bodyPr wrap="square" lIns="0" tIns="0" rIns="0" bIns="0" rtlCol="0" anchor="ctr"/>
          <a:lstStyle/>
          <a:p>
            <a:pPr marL="0" indent="0">
              <a:buNone/>
            </a:pPr>
            <a:r>
              <a:rPr lang="en-US" sz="1500" dirty="0">
                <a:solidFill>
                  <a:schemeClr val="tx1"/>
                </a:solidFill>
              </a:rPr>
              <a:t>Data can travel in both directions, but only in one direction at any given time  (1)</a:t>
            </a:r>
            <a:endParaRPr lang="en-US" sz="1500" dirty="0"/>
          </a:p>
        </p:txBody>
      </p:sp>
      <p:sp>
        <p:nvSpPr>
          <p:cNvPr id="13" name="mse1"/>
          <p:cNvSpPr/>
          <p:nvPr/>
        </p:nvSpPr>
        <p:spPr>
          <a:xfrm>
            <a:off x="6720840" y="2240280"/>
            <a:ext cx="1965960" cy="960120"/>
          </a:xfrm>
          <a:prstGeom prst="roundRect">
            <a:avLst>
              <a:gd name="adj" fmla="val 761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14" name="Text 12"/>
          <p:cNvSpPr txBox="1"/>
          <p:nvPr/>
        </p:nvSpPr>
        <p:spPr>
          <a:xfrm>
            <a:off x="6858000" y="2240280"/>
            <a:ext cx="1737360" cy="960120"/>
          </a:xfrm>
          <a:prstGeom prst="rect">
            <a:avLst/>
          </a:prstGeom>
          <a:noFill/>
          <a:ln/>
        </p:spPr>
        <p:txBody>
          <a:bodyPr wrap="square" lIns="0" tIns="0" rIns="0" bIns="0" rtlCol="0" anchor="ctr"/>
          <a:lstStyle/>
          <a:p>
            <a:pPr marL="0" indent="0">
              <a:buNone/>
            </a:pPr>
            <a:r>
              <a:rPr lang="en-US" sz="1400" dirty="0">
                <a:solidFill>
                  <a:schemeClr val="tx1"/>
                </a:solidFill>
              </a:rPr>
              <a:t>e.g. walkie-talkie  (1)</a:t>
            </a:r>
            <a:endParaRPr lang="en-US" sz="1400" dirty="0"/>
          </a:p>
        </p:txBody>
      </p:sp>
      <p:sp>
        <p:nvSpPr>
          <p:cNvPr id="15" name="Shape 13"/>
          <p:cNvSpPr/>
          <p:nvPr/>
        </p:nvSpPr>
        <p:spPr>
          <a:xfrm>
            <a:off x="457200" y="3383280"/>
            <a:ext cx="1828800" cy="960120"/>
          </a:xfrm>
          <a:prstGeom prst="roundRect">
            <a:avLst>
              <a:gd name="adj" fmla="val 7619"/>
            </a:avLst>
          </a:prstGeom>
          <a:solidFill>
            <a:schemeClr val="accent2"/>
          </a:solidFill>
          <a:ln w="12700">
            <a:solidFill>
              <a:schemeClr val="accent2"/>
            </a:solidFill>
            <a:prstDash val="solid"/>
          </a:ln>
        </p:spPr>
        <p:txBody>
          <a:bodyPr/>
          <a:lstStyle/>
          <a:p>
            <a:endParaRPr lang="en-GB"/>
          </a:p>
        </p:txBody>
      </p:sp>
      <p:sp>
        <p:nvSpPr>
          <p:cNvPr id="16" name="Text 14"/>
          <p:cNvSpPr txBox="1"/>
          <p:nvPr/>
        </p:nvSpPr>
        <p:spPr>
          <a:xfrm>
            <a:off x="457200" y="3383280"/>
            <a:ext cx="1828800" cy="960120"/>
          </a:xfrm>
          <a:prstGeom prst="rect">
            <a:avLst/>
          </a:prstGeom>
          <a:noFill/>
          <a:ln/>
        </p:spPr>
        <p:txBody>
          <a:bodyPr wrap="square" lIns="0" tIns="0" rIns="0" bIns="0" rtlCol="0" anchor="ctr"/>
          <a:lstStyle/>
          <a:p>
            <a:pPr marL="0" indent="0" algn="ctr">
              <a:buNone/>
            </a:pPr>
            <a:r>
              <a:rPr lang="en-US" sz="1700" b="1" dirty="0">
                <a:solidFill>
                  <a:schemeClr val="bg1"/>
                </a:solidFill>
              </a:rPr>
              <a:t>Full duplex</a:t>
            </a:r>
            <a:endParaRPr lang="en-US" sz="1700" dirty="0"/>
          </a:p>
        </p:txBody>
      </p:sp>
      <p:sp>
        <p:nvSpPr>
          <p:cNvPr id="17" name="msd2"/>
          <p:cNvSpPr/>
          <p:nvPr/>
        </p:nvSpPr>
        <p:spPr>
          <a:xfrm>
            <a:off x="2468880" y="3383280"/>
            <a:ext cx="4069080" cy="960120"/>
          </a:xfrm>
          <a:prstGeom prst="roundRect">
            <a:avLst>
              <a:gd name="adj" fmla="val 761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18" name="Text 16"/>
          <p:cNvSpPr txBox="1"/>
          <p:nvPr/>
        </p:nvSpPr>
        <p:spPr>
          <a:xfrm>
            <a:off x="2606040" y="3383280"/>
            <a:ext cx="3794760" cy="960120"/>
          </a:xfrm>
          <a:prstGeom prst="rect">
            <a:avLst/>
          </a:prstGeom>
          <a:noFill/>
          <a:ln/>
        </p:spPr>
        <p:txBody>
          <a:bodyPr wrap="square" lIns="0" tIns="0" rIns="0" bIns="0" rtlCol="0" anchor="ctr"/>
          <a:lstStyle/>
          <a:p>
            <a:pPr marL="0" indent="0">
              <a:buNone/>
            </a:pPr>
            <a:r>
              <a:rPr lang="en-US" sz="1500" dirty="0">
                <a:solidFill>
                  <a:schemeClr val="tx1"/>
                </a:solidFill>
              </a:rPr>
              <a:t>Data can travel in both directions at the same time  (1)</a:t>
            </a:r>
            <a:endParaRPr lang="en-US" sz="1500" dirty="0"/>
          </a:p>
        </p:txBody>
      </p:sp>
      <p:sp>
        <p:nvSpPr>
          <p:cNvPr id="19" name="mse2"/>
          <p:cNvSpPr/>
          <p:nvPr/>
        </p:nvSpPr>
        <p:spPr>
          <a:xfrm>
            <a:off x="6720840" y="3383280"/>
            <a:ext cx="1965960" cy="960120"/>
          </a:xfrm>
          <a:prstGeom prst="roundRect">
            <a:avLst>
              <a:gd name="adj" fmla="val 761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GB"/>
          </a:p>
        </p:txBody>
      </p:sp>
      <p:sp>
        <p:nvSpPr>
          <p:cNvPr id="20" name="Text 18"/>
          <p:cNvSpPr txBox="1"/>
          <p:nvPr/>
        </p:nvSpPr>
        <p:spPr>
          <a:xfrm>
            <a:off x="6858000" y="3383280"/>
            <a:ext cx="1737360" cy="960120"/>
          </a:xfrm>
          <a:prstGeom prst="rect">
            <a:avLst/>
          </a:prstGeom>
          <a:noFill/>
          <a:ln/>
        </p:spPr>
        <p:txBody>
          <a:bodyPr wrap="square" lIns="0" tIns="0" rIns="0" bIns="0" rtlCol="0" anchor="ctr"/>
          <a:lstStyle/>
          <a:p>
            <a:pPr marL="0" indent="0">
              <a:buNone/>
            </a:pPr>
            <a:r>
              <a:rPr lang="en-US" sz="1400" dirty="0">
                <a:solidFill>
                  <a:schemeClr val="tx1"/>
                </a:solidFill>
              </a:rPr>
              <a:t>e.g. broadband  (1)</a:t>
            </a:r>
            <a:endParaRPr lang="en-US" sz="1400" dirty="0"/>
          </a:p>
        </p:txBody>
      </p:sp>
      <p:sp>
        <p:nvSpPr>
          <p:cNvPr id="21" name="Text 19"/>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300" dirty="0">
                <a:solidFill>
                  <a:schemeClr val="accent6"/>
                </a:solidFill>
              </a:rPr>
              <a:t>For 2016 Q5(a): one mark for each description only.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280160"/>
          </a:xfrm>
          <a:prstGeom prst="rect">
            <a:avLst/>
          </a:prstGeom>
          <a:noFill/>
          <a:ln/>
        </p:spPr>
        <p:txBody>
          <a:bodyPr wrap="square" lIns="0" tIns="0" rIns="0" bIns="0" rtlCol="0" anchor="b"/>
          <a:lstStyle/>
          <a:p>
            <a:pPr marL="0" indent="0" algn="l">
              <a:buNone/>
            </a:pPr>
            <a:r>
              <a:rPr lang="en-US" sz="4000" b="1" dirty="0">
                <a:solidFill>
                  <a:schemeClr val="bg1"/>
                </a:solidFill>
              </a:rPr>
              <a:t>If parallel is faster, why is USB serial?</a:t>
            </a:r>
            <a:endParaRPr lang="en-US" sz="4000" dirty="0"/>
          </a:p>
        </p:txBody>
      </p:sp>
      <p:sp>
        <p:nvSpPr>
          <p:cNvPr id="3" name="Text 0"/>
          <p:cNvSpPr>
            <a:spLocks noGrp="1"/>
          </p:cNvSpPr>
          <p:nvPr>
            <p:ph type="body" idx="101" hasCustomPrompt="1"/>
          </p:nvPr>
        </p:nvSpPr>
        <p:spPr>
          <a:xfrm>
            <a:off x="548640" y="2788920"/>
            <a:ext cx="8046720" cy="914400"/>
          </a:xfrm>
          <a:prstGeom prst="rect">
            <a:avLst/>
          </a:prstGeom>
          <a:noFill/>
          <a:ln/>
        </p:spPr>
        <p:txBody>
          <a:bodyPr wrap="square" lIns="0" tIns="0" rIns="0" bIns="0" rtlCol="0" anchor="t"/>
          <a:lstStyle/>
          <a:p>
            <a:pPr marL="0" indent="0">
              <a:buNone/>
            </a:pPr>
            <a:r>
              <a:rPr lang="en-US" sz="1800" dirty="0">
                <a:solidFill>
                  <a:schemeClr val="accent6"/>
                </a:solidFill>
              </a:rPr>
              <a:t>Answer in two sentences on the Teams post. Use the words skew and clock speed.</a:t>
            </a:r>
            <a:endParaRPr lang="en-US" sz="1800" dirty="0"/>
          </a:p>
        </p:txBody>
      </p:sp>
    </p:spTree>
  </p:cSld>
  <p:clrMapOvr>
    <a:masterClrMapping/>
  </p:clrMapOvr>
</p:sld>
</file>

<file path=ppt/theme/theme1.xml><?xml version="1.0" encoding="utf-8"?>
<a:theme xmlns:a="http://schemas.openxmlformats.org/drawingml/2006/main" name="CAVC Computer Science">
  <a:themeElements>
    <a:clrScheme name="CAVC Computer Science">
      <a:dk1>
        <a:srgbClr val="1B2A4A"/>
      </a:dk1>
      <a:lt1>
        <a:srgbClr val="FFFFFF"/>
      </a:lt1>
      <a:dk2>
        <a:srgbClr val="14213D"/>
      </a:dk2>
      <a:lt2>
        <a:srgbClr val="F2F5F8"/>
      </a:lt2>
      <a:accent1>
        <a:srgbClr val="0F8B8D"/>
      </a:accent1>
      <a:accent2>
        <a:srgbClr val="E8791F"/>
      </a:accent2>
      <a:accent3>
        <a:srgbClr val="1B2A4A"/>
      </a:accent3>
      <a:accent4>
        <a:srgbClr val="C4342D"/>
      </a:accent4>
      <a:accent5>
        <a:srgbClr val="1E7F48"/>
      </a:accent5>
      <a:accent6>
        <a:srgbClr val="8FA3BF"/>
      </a:accent6>
      <a:hlink>
        <a:srgbClr val="0F8B8D"/>
      </a:hlink>
      <a:folHlink>
        <a:srgbClr val="1B2A4A"/>
      </a:folHlink>
    </a:clrScheme>
    <a:fontScheme name="CAVC Computer Scien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1942</Words>
  <Application>Microsoft Office PowerPoint</Application>
  <PresentationFormat>On-screen Show (16:9)</PresentationFormat>
  <Paragraphs>319</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CAVC Computer Science</vt:lpstr>
      <vt:lpstr>How data travels</vt:lpstr>
      <vt:lpstr>Lesson objectives</vt:lpstr>
      <vt:lpstr>Key terms  |  Termau allweddol</vt:lpstr>
      <vt:lpstr>Starter: which way does it travel?</vt:lpstr>
      <vt:lpstr>Watch: data transmission in five minutes</vt:lpstr>
      <vt:lpstr>Serial and parallel</vt:lpstr>
      <vt:lpstr>Serial transmission</vt:lpstr>
      <vt:lpstr>Parallel transmission</vt:lpstr>
      <vt:lpstr>Why parallel struggles over distance</vt:lpstr>
      <vt:lpstr>Serial vs parallel</vt:lpstr>
      <vt:lpstr>So why is almost everything serial now?</vt:lpstr>
      <vt:lpstr>Task: Bit race</vt:lpstr>
      <vt:lpstr>Exam question: Summer 2025</vt:lpstr>
      <vt:lpstr>Mark scheme: 2025 Q3(a)</vt:lpstr>
      <vt:lpstr>Check: serial and parallel quiz</vt:lpstr>
      <vt:lpstr>Simplex, half duplex and full duplex</vt:lpstr>
      <vt:lpstr>Three transmission methods</vt:lpstr>
      <vt:lpstr>Back to the starter</vt:lpstr>
      <vt:lpstr>Getting the marks</vt:lpstr>
      <vt:lpstr>Task: Duplex detective</vt:lpstr>
      <vt:lpstr>Check: transmission methods quiz</vt:lpstr>
      <vt:lpstr>Exam practice: Summer 2023</vt:lpstr>
      <vt:lpstr>Mark scheme: 2023 Q6</vt:lpstr>
      <vt:lpstr>If parallel is faster, why is USB serial?</vt:lpstr>
    </vt:vector>
  </TitlesOfParts>
  <Company>Cardiff and Vale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3 Lesson 1: How data travels</dc:title>
  <dc:subject>PptxGenJS Presentation</dc:subject>
  <dc:creator>Aled Evans</dc:creator>
  <cp:lastModifiedBy>Aled Evans</cp:lastModifiedBy>
  <cp:revision>1</cp:revision>
  <dcterms:created xsi:type="dcterms:W3CDTF">2026-10-05T07:55:09Z</dcterms:created>
  <dcterms:modified xsi:type="dcterms:W3CDTF">2026-10-07T08:00:45Z</dcterms:modified>
</cp:coreProperties>
</file>