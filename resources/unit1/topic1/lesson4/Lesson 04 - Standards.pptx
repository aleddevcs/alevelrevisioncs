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31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d Evans" userId="6f7e106d-40fd-400d-8500-fbffefdddad3" providerId="ADAL" clId="{4068B1EE-A56E-4132-9E2F-ECE8E11E063C}"/>
    <pc:docChg chg="modSld">
      <pc:chgData name="Aled Evans" userId="6f7e106d-40fd-400d-8500-fbffefdddad3" providerId="ADAL" clId="{4068B1EE-A56E-4132-9E2F-ECE8E11E063C}" dt="2026-09-21T07:40:38.347" v="9" actId="14100"/>
      <pc:docMkLst>
        <pc:docMk/>
      </pc:docMkLst>
      <pc:sldChg chg="modSp mod">
        <pc:chgData name="Aled Evans" userId="6f7e106d-40fd-400d-8500-fbffefdddad3" providerId="ADAL" clId="{4068B1EE-A56E-4132-9E2F-ECE8E11E063C}" dt="2026-09-21T07:40:38.347" v="9" actId="14100"/>
        <pc:sldMkLst>
          <pc:docMk/>
          <pc:sldMk cId="0" sldId="279"/>
        </pc:sldMkLst>
        <pc:spChg chg="mod">
          <ac:chgData name="Aled Evans" userId="6f7e106d-40fd-400d-8500-fbffefdddad3" providerId="ADAL" clId="{4068B1EE-A56E-4132-9E2F-ECE8E11E063C}" dt="2026-09-21T07:40:20.477" v="1" actId="14100"/>
          <ac:spMkLst>
            <pc:docMk/>
            <pc:sldMk cId="0" sldId="279"/>
            <ac:spMk id="12" creationId="{00000000-0000-0000-0000-000000000000}"/>
          </ac:spMkLst>
        </pc:spChg>
        <pc:spChg chg="mod">
          <ac:chgData name="Aled Evans" userId="6f7e106d-40fd-400d-8500-fbffefdddad3" providerId="ADAL" clId="{4068B1EE-A56E-4132-9E2F-ECE8E11E063C}" dt="2026-09-21T07:40:38.347" v="9" actId="14100"/>
          <ac:spMkLst>
            <pc:docMk/>
            <pc:sldMk cId="0" sldId="279"/>
            <ac:spMk id="15" creationId="{00000000-0000-0000-0000-000000000000}"/>
          </ac:spMkLst>
        </pc:spChg>
        <pc:spChg chg="mod">
          <ac:chgData name="Aled Evans" userId="6f7e106d-40fd-400d-8500-fbffefdddad3" providerId="ADAL" clId="{4068B1EE-A56E-4132-9E2F-ECE8E11E063C}" dt="2026-09-21T07:40:33.089" v="7" actId="14100"/>
          <ac:spMkLst>
            <pc:docMk/>
            <pc:sldMk cId="0" sldId="279"/>
            <ac:spMk id="18" creationId="{00000000-0000-0000-0000-000000000000}"/>
          </ac:spMkLst>
        </pc:spChg>
        <pc:spChg chg="mod">
          <ac:chgData name="Aled Evans" userId="6f7e106d-40fd-400d-8500-fbffefdddad3" providerId="ADAL" clId="{4068B1EE-A56E-4132-9E2F-ECE8E11E063C}" dt="2026-09-21T07:40:24.229" v="3" actId="14100"/>
          <ac:spMkLst>
            <pc:docMk/>
            <pc:sldMk cId="0" sldId="279"/>
            <ac:spMk id="21" creationId="{00000000-0000-0000-0000-000000000000}"/>
          </ac:spMkLst>
        </pc:spChg>
        <pc:spChg chg="mod">
          <ac:chgData name="Aled Evans" userId="6f7e106d-40fd-400d-8500-fbffefdddad3" providerId="ADAL" clId="{4068B1EE-A56E-4132-9E2F-ECE8E11E063C}" dt="2026-09-21T07:40:29.213" v="5" actId="14100"/>
          <ac:spMkLst>
            <pc:docMk/>
            <pc:sldMk cId="0" sldId="279"/>
            <ac:spMk id="2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4830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Unit 1 lesson. Opens by finishing off 1.7.1 from Lesson 03 — devices, addressing, transmission media and networked vs standalone — before moving into why standards matter, the named protocols, handshaking, and the internet as infrastructure. Protocols still get the most room of the four 'new' sub-topics — it's the single biggest chunk of content in this strand, which is why it also gets a Gimkit review before the formal quiz.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now opens by finishing 1.7.1 from Lesson 03 (13–35) before standards and protocols. Protocols (51–80) still take the longest single block — teach, then a trimmed Gimkit round for fun recall, then the formal Forms quiz. Handshaking keeps its interactive task since it's the sub-topic most likely to get lost without hands-on practice; both Gimkit and the handshake task were trimmed by two minutes each to make room for the new content.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Quizzes from Lesson 03 were homework. 1.7.1 is the one that really matters today — everything from the network-devices content onward assumes students remember what a network is and the different types from Lesson 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format as Lessons 01-03. NOTE: the NotebookLM source/prompt needs updating to fold in the new 1.7.1 content (devices, addressing, media, networked vs standalone) before this lesson runs, since it now opens the lesson content rather than just standards/protocols/handshaking/internet. Park any 'want explained' items on the board — the protocol ones especially, since Gimkit and the formal quiz will address most of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Picks up 1.7.1 from Lesson 03, which covered network types (PAN/LAN/WLAN/WAN) and client-server vs peer-to-peer. This segment finishes the sub-topic properly: the hardware, the addressing, the media, and the pros/cons of networking itself.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devices, deliberately grouped by role rather than alphabetically: NIC (how any device gets on a network at all), switch/hub (connecting devices within a LAN — a good contrast pair since a switch is just a smarter hub), router (between networks), access point and modem (the two 'translator' devices — wireless-to-wired, and network-to-external-line). Bridge is a fair extension mention if it comes up, but isn't a named AS requirement.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Nice link back to DHCP, which comes up again formally under 1.7.3 protocols later this lesson — worth flagging the connection now so it isn't a surprise. Physical vs logical is the key distinction to land.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at comparison level, not deep technical detail — the useful takeaway is the speed/cost/mobility trade-off, which directly sets up the networked-vs-standalone advantages and disadvantages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out the extended 1.7.1 content by zooming back out from the technical detail (devices, addressing, media) to the bigger-picture question: why network computers together at all, and what's the cost of doing so. Good bridge into standards next — one of networking's costs is complexity, which is exactly what standards exist to manage.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extended 1.7.1 quiz via Microsoft Forms — devices, addressing, transmission media, networked vs standalone.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and conceptual — the goal is a clear 'why', not a long list. This sets up why protocols (next segment) exist at all: protocols ARE the standards.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points come straight from the WJEC mark scheme's indicative content. A quick check question: 'what would the internet look like if every manufacturer used their own private rules?' — nudges towards interoperability as the headline reason.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1.7.2 quiz via Microsoft Forms.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single content block in Topic 1 so far — eight named protocols. Keep pace brisk on the table slide; depth comes from the 'importance' column, not from dwelling on each row individually.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deliberately the reference students will use for Gimkit and the quiz — the 'why it matters' column is what separates an AS-level answer from just naming the protocol, which the mark scheme explicitly rewards.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 the spec asks for contemporary wireless protocols, not deep technical detail. The useful distinction is scale: Bluetooth (PAN) vs Wi-Fi (LAN) vs cellular (WAN), echoing the network-types slide from Lesson 03.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Fast-paced recall to cement the protocol names before the formal check. Keep the reference table visible for students who want it — this is about retrieval practice, not a closed-book test.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1.7.3 quiz via Microsoft Forms. Should move quickly given the table, Gimkit and reference material already covered.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teach, then straight into the interactive task — handshaking is easy to state but easy to forget, so hands-on practice does more work here than a long explanation.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phone-call analogy lands well: 'hello, can you hear me?' → 'yes, go ahead' → conversation starts. This same three-step shape is what the interactive task walks students through with a proper request/acknowledge/confirm exchange.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Individually or in pairs. Link/QR code goes here once built. This is the only dedicated interactive task this lesson — Gimkit already covers protocol recall, so this one is reserved for the sub-topic that most needs hands-on reinforcement.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1.7.4 quiz via Microsoft Forms. Should be quick after the task.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closing idea for the whole networking strand — standards, protocols and handshaking are all things that make the internet, as a network of networks, actually work.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simple diagram — the point is scale and composition, not technical routing detail. Tie back explicitly: standards (1.7.2) let these different networks interoperate, protocols (1.7.3) are the rules they use to talk, and handshaking (1.7.4) is how any two devices on this diagram start a conversation.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1.8.1 quiz via Microsoft Forms.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checks 1.7.2, Q2 checks 1.7.3, Q3 checks 1.7.4. Model answers: (1) e.g. lets hardware/software from different vendors interoperate; (2) SMTP for email, HTTP for web pages; (3) so both devices confirm they're ready and agree how to communicate before any real data is sent.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is deliberately light — today's four quizzes were all completed in lesson, so this is consolidation/extension only, not new content. This also closes out the 1.7/1.8 networking strand before moving on to the next topic.</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6675120" y="1371600"/>
            <a:ext cx="1188720" cy="182880"/>
          </a:xfrm>
          <a:prstGeom prst="line">
            <a:avLst/>
          </a:prstGeom>
          <a:noFill/>
          <a:ln w="13970">
            <a:solidFill>
              <a:srgbClr val="2B3A4A"/>
            </a:solidFill>
            <a:prstDash val="solid"/>
          </a:ln>
        </p:spPr>
        <p:txBody>
          <a:bodyPr/>
          <a:lstStyle/>
          <a:p>
            <a:endParaRPr lang="en-GB"/>
          </a:p>
        </p:txBody>
      </p:sp>
      <p:sp>
        <p:nvSpPr>
          <p:cNvPr id="3" name="Shape 1"/>
          <p:cNvSpPr/>
          <p:nvPr/>
        </p:nvSpPr>
        <p:spPr>
          <a:xfrm>
            <a:off x="6675120" y="1554480"/>
            <a:ext cx="1463040" cy="914400"/>
          </a:xfrm>
          <a:prstGeom prst="line">
            <a:avLst/>
          </a:prstGeom>
          <a:noFill/>
          <a:ln w="13970">
            <a:solidFill>
              <a:srgbClr val="2B3A4A"/>
            </a:solidFill>
            <a:prstDash val="solid"/>
          </a:ln>
        </p:spPr>
        <p:txBody>
          <a:bodyPr/>
          <a:lstStyle/>
          <a:p>
            <a:endParaRPr lang="en-GB"/>
          </a:p>
        </p:txBody>
      </p:sp>
      <p:sp>
        <p:nvSpPr>
          <p:cNvPr id="4" name="Shape 2"/>
          <p:cNvSpPr/>
          <p:nvPr/>
        </p:nvSpPr>
        <p:spPr>
          <a:xfrm>
            <a:off x="6675120" y="1554480"/>
            <a:ext cx="274320" cy="1280160"/>
          </a:xfrm>
          <a:prstGeom prst="line">
            <a:avLst/>
          </a:prstGeom>
          <a:noFill/>
          <a:ln w="13970">
            <a:solidFill>
              <a:srgbClr val="2B3A4A"/>
            </a:solidFill>
            <a:prstDash val="solid"/>
          </a:ln>
        </p:spPr>
        <p:txBody>
          <a:bodyPr/>
          <a:lstStyle/>
          <a:p>
            <a:endParaRPr lang="en-GB"/>
          </a:p>
        </p:txBody>
      </p:sp>
      <p:sp>
        <p:nvSpPr>
          <p:cNvPr id="5" name="Shape 3"/>
          <p:cNvSpPr/>
          <p:nvPr/>
        </p:nvSpPr>
        <p:spPr>
          <a:xfrm>
            <a:off x="6675120" y="1554480"/>
            <a:ext cx="822960" cy="457200"/>
          </a:xfrm>
          <a:prstGeom prst="line">
            <a:avLst/>
          </a:prstGeom>
          <a:noFill/>
          <a:ln w="13970">
            <a:solidFill>
              <a:srgbClr val="2B3A4A"/>
            </a:solidFill>
            <a:prstDash val="solid"/>
          </a:ln>
        </p:spPr>
        <p:txBody>
          <a:bodyPr/>
          <a:lstStyle/>
          <a:p>
            <a:endParaRPr lang="en-GB"/>
          </a:p>
        </p:txBody>
      </p:sp>
      <p:sp>
        <p:nvSpPr>
          <p:cNvPr id="6" name="Shape 4"/>
          <p:cNvSpPr/>
          <p:nvPr/>
        </p:nvSpPr>
        <p:spPr>
          <a:xfrm>
            <a:off x="7863840" y="1371600"/>
            <a:ext cx="274320" cy="1097280"/>
          </a:xfrm>
          <a:prstGeom prst="line">
            <a:avLst/>
          </a:prstGeom>
          <a:noFill/>
          <a:ln w="13970">
            <a:solidFill>
              <a:srgbClr val="2B3A4A"/>
            </a:solidFill>
            <a:prstDash val="solid"/>
          </a:ln>
        </p:spPr>
        <p:txBody>
          <a:bodyPr/>
          <a:lstStyle/>
          <a:p>
            <a:endParaRPr lang="en-GB"/>
          </a:p>
        </p:txBody>
      </p:sp>
      <p:sp>
        <p:nvSpPr>
          <p:cNvPr id="7" name="Shape 5"/>
          <p:cNvSpPr/>
          <p:nvPr/>
        </p:nvSpPr>
        <p:spPr>
          <a:xfrm>
            <a:off x="6949440" y="1371600"/>
            <a:ext cx="914400" cy="1463040"/>
          </a:xfrm>
          <a:prstGeom prst="line">
            <a:avLst/>
          </a:prstGeom>
          <a:noFill/>
          <a:ln w="13970">
            <a:solidFill>
              <a:srgbClr val="2B3A4A"/>
            </a:solidFill>
            <a:prstDash val="solid"/>
          </a:ln>
        </p:spPr>
        <p:txBody>
          <a:bodyPr/>
          <a:lstStyle/>
          <a:p>
            <a:endParaRPr lang="en-GB"/>
          </a:p>
        </p:txBody>
      </p:sp>
      <p:sp>
        <p:nvSpPr>
          <p:cNvPr id="8" name="Shape 6"/>
          <p:cNvSpPr/>
          <p:nvPr/>
        </p:nvSpPr>
        <p:spPr>
          <a:xfrm>
            <a:off x="7498080" y="1371600"/>
            <a:ext cx="365760" cy="640080"/>
          </a:xfrm>
          <a:prstGeom prst="line">
            <a:avLst/>
          </a:prstGeom>
          <a:noFill/>
          <a:ln w="13970">
            <a:solidFill>
              <a:srgbClr val="2B3A4A"/>
            </a:solidFill>
            <a:prstDash val="solid"/>
          </a:ln>
        </p:spPr>
        <p:txBody>
          <a:bodyPr/>
          <a:lstStyle/>
          <a:p>
            <a:endParaRPr lang="en-GB"/>
          </a:p>
        </p:txBody>
      </p:sp>
      <p:sp>
        <p:nvSpPr>
          <p:cNvPr id="9" name="Shape 7"/>
          <p:cNvSpPr/>
          <p:nvPr/>
        </p:nvSpPr>
        <p:spPr>
          <a:xfrm>
            <a:off x="6949440" y="2468880"/>
            <a:ext cx="1188720" cy="365760"/>
          </a:xfrm>
          <a:prstGeom prst="line">
            <a:avLst/>
          </a:prstGeom>
          <a:noFill/>
          <a:ln w="13970">
            <a:solidFill>
              <a:srgbClr val="2B3A4A"/>
            </a:solidFill>
            <a:prstDash val="solid"/>
          </a:ln>
        </p:spPr>
        <p:txBody>
          <a:bodyPr/>
          <a:lstStyle/>
          <a:p>
            <a:endParaRPr lang="en-GB"/>
          </a:p>
        </p:txBody>
      </p:sp>
      <p:sp>
        <p:nvSpPr>
          <p:cNvPr id="10" name="Shape 8"/>
          <p:cNvSpPr/>
          <p:nvPr/>
        </p:nvSpPr>
        <p:spPr>
          <a:xfrm>
            <a:off x="7498080" y="2011680"/>
            <a:ext cx="640080" cy="457200"/>
          </a:xfrm>
          <a:prstGeom prst="line">
            <a:avLst/>
          </a:prstGeom>
          <a:noFill/>
          <a:ln w="13970">
            <a:solidFill>
              <a:srgbClr val="2B3A4A"/>
            </a:solidFill>
            <a:prstDash val="solid"/>
          </a:ln>
        </p:spPr>
        <p:txBody>
          <a:bodyPr/>
          <a:lstStyle/>
          <a:p>
            <a:endParaRPr lang="en-GB"/>
          </a:p>
        </p:txBody>
      </p:sp>
      <p:sp>
        <p:nvSpPr>
          <p:cNvPr id="11" name="Shape 9"/>
          <p:cNvSpPr/>
          <p:nvPr/>
        </p:nvSpPr>
        <p:spPr>
          <a:xfrm>
            <a:off x="6949440" y="2011680"/>
            <a:ext cx="548640" cy="822960"/>
          </a:xfrm>
          <a:prstGeom prst="line">
            <a:avLst/>
          </a:prstGeom>
          <a:noFill/>
          <a:ln w="13970">
            <a:solidFill>
              <a:srgbClr val="2B3A4A"/>
            </a:solidFill>
            <a:prstDash val="solid"/>
          </a:ln>
        </p:spPr>
        <p:txBody>
          <a:bodyPr/>
          <a:lstStyle/>
          <a:p>
            <a:endParaRPr lang="en-GB"/>
          </a:p>
        </p:txBody>
      </p:sp>
      <p:sp>
        <p:nvSpPr>
          <p:cNvPr id="12" name="Shape 10"/>
          <p:cNvSpPr/>
          <p:nvPr/>
        </p:nvSpPr>
        <p:spPr>
          <a:xfrm>
            <a:off x="6592824" y="1472184"/>
            <a:ext cx="164592" cy="164592"/>
          </a:xfrm>
          <a:prstGeom prst="ellipse">
            <a:avLst/>
          </a:prstGeom>
          <a:solidFill>
            <a:srgbClr val="D9822B"/>
          </a:solidFill>
          <a:ln w="12700">
            <a:solidFill>
              <a:srgbClr val="D9822B"/>
            </a:solidFill>
            <a:prstDash val="solid"/>
          </a:ln>
        </p:spPr>
        <p:txBody>
          <a:bodyPr/>
          <a:lstStyle/>
          <a:p>
            <a:endParaRPr lang="en-GB"/>
          </a:p>
        </p:txBody>
      </p:sp>
      <p:sp>
        <p:nvSpPr>
          <p:cNvPr id="13" name="Shape 11"/>
          <p:cNvSpPr/>
          <p:nvPr/>
        </p:nvSpPr>
        <p:spPr>
          <a:xfrm>
            <a:off x="7781544" y="1289304"/>
            <a:ext cx="164592" cy="164592"/>
          </a:xfrm>
          <a:prstGeom prst="ellipse">
            <a:avLst/>
          </a:prstGeom>
          <a:solidFill>
            <a:srgbClr val="D9822B"/>
          </a:solidFill>
          <a:ln w="12700">
            <a:solidFill>
              <a:srgbClr val="D9822B"/>
            </a:solidFill>
            <a:prstDash val="solid"/>
          </a:ln>
        </p:spPr>
        <p:txBody>
          <a:bodyPr/>
          <a:lstStyle/>
          <a:p>
            <a:endParaRPr lang="en-GB"/>
          </a:p>
        </p:txBody>
      </p:sp>
      <p:sp>
        <p:nvSpPr>
          <p:cNvPr id="14" name="Shape 12"/>
          <p:cNvSpPr/>
          <p:nvPr/>
        </p:nvSpPr>
        <p:spPr>
          <a:xfrm>
            <a:off x="8055864" y="2386584"/>
            <a:ext cx="164592" cy="164592"/>
          </a:xfrm>
          <a:prstGeom prst="ellipse">
            <a:avLst/>
          </a:prstGeom>
          <a:solidFill>
            <a:srgbClr val="D9822B"/>
          </a:solidFill>
          <a:ln w="12700">
            <a:solidFill>
              <a:srgbClr val="D9822B"/>
            </a:solidFill>
            <a:prstDash val="solid"/>
          </a:ln>
        </p:spPr>
        <p:txBody>
          <a:bodyPr/>
          <a:lstStyle/>
          <a:p>
            <a:endParaRPr lang="en-GB"/>
          </a:p>
        </p:txBody>
      </p:sp>
      <p:sp>
        <p:nvSpPr>
          <p:cNvPr id="15" name="Shape 13"/>
          <p:cNvSpPr/>
          <p:nvPr/>
        </p:nvSpPr>
        <p:spPr>
          <a:xfrm>
            <a:off x="6867144" y="2752344"/>
            <a:ext cx="164592" cy="164592"/>
          </a:xfrm>
          <a:prstGeom prst="ellipse">
            <a:avLst/>
          </a:prstGeom>
          <a:solidFill>
            <a:srgbClr val="D9822B"/>
          </a:solidFill>
          <a:ln w="12700">
            <a:solidFill>
              <a:srgbClr val="D9822B"/>
            </a:solidFill>
            <a:prstDash val="solid"/>
          </a:ln>
        </p:spPr>
        <p:txBody>
          <a:bodyPr/>
          <a:lstStyle/>
          <a:p>
            <a:endParaRPr lang="en-GB"/>
          </a:p>
        </p:txBody>
      </p:sp>
      <p:sp>
        <p:nvSpPr>
          <p:cNvPr id="16" name="Shape 14"/>
          <p:cNvSpPr/>
          <p:nvPr/>
        </p:nvSpPr>
        <p:spPr>
          <a:xfrm>
            <a:off x="7415784" y="1929384"/>
            <a:ext cx="164592" cy="164592"/>
          </a:xfrm>
          <a:prstGeom prst="ellipse">
            <a:avLst/>
          </a:prstGeom>
          <a:solidFill>
            <a:srgbClr val="D9822B"/>
          </a:solidFill>
          <a:ln w="12700">
            <a:solidFill>
              <a:srgbClr val="D9822B"/>
            </a:solidFill>
            <a:prstDash val="solid"/>
          </a:ln>
        </p:spPr>
        <p:txBody>
          <a:bodyPr/>
          <a:lstStyle/>
          <a:p>
            <a:endParaRPr lang="en-GB"/>
          </a:p>
        </p:txBody>
      </p:sp>
      <p:sp>
        <p:nvSpPr>
          <p:cNvPr id="17" name="Text 15"/>
          <p:cNvSpPr txBox="1"/>
          <p:nvPr/>
        </p:nvSpPr>
        <p:spPr>
          <a:xfrm>
            <a:off x="548640" y="1051560"/>
            <a:ext cx="5486400" cy="365760"/>
          </a:xfrm>
          <a:prstGeom prst="rect">
            <a:avLst/>
          </a:prstGeom>
          <a:noFill/>
          <a:ln/>
        </p:spPr>
        <p:txBody>
          <a:bodyPr wrap="square" lIns="0" tIns="0" rIns="0" bIns="0" rtlCol="0" anchor="ctr"/>
          <a:lstStyle/>
          <a:p>
            <a:pPr marL="0" indent="0">
              <a:buNone/>
            </a:pPr>
            <a:r>
              <a:rPr lang="en-US" sz="1400" dirty="0">
                <a:solidFill>
                  <a:srgbClr val="9AA8B5"/>
                </a:solidFill>
                <a:latin typeface="Calibri" pitchFamily="34" charset="0"/>
                <a:ea typeface="Calibri" pitchFamily="34" charset="-122"/>
                <a:cs typeface="Calibri" pitchFamily="34" charset="-120"/>
              </a:rPr>
              <a:t>AS Computer Science · Unit 1 · Topic 1</a:t>
            </a:r>
            <a:endParaRPr lang="en-US" sz="1400" dirty="0"/>
          </a:p>
        </p:txBody>
      </p:sp>
      <p:sp>
        <p:nvSpPr>
          <p:cNvPr id="18" name="Text 16"/>
          <p:cNvSpPr txBox="1"/>
          <p:nvPr/>
        </p:nvSpPr>
        <p:spPr>
          <a:xfrm>
            <a:off x="548640" y="1417320"/>
            <a:ext cx="5486400" cy="502920"/>
          </a:xfrm>
          <a:prstGeom prst="rect">
            <a:avLst/>
          </a:prstGeom>
          <a:noFill/>
          <a:ln/>
        </p:spPr>
        <p:txBody>
          <a:bodyPr wrap="square" lIns="0" tIns="0" rIns="0" bIns="0" rtlCol="0" anchor="ctr"/>
          <a:lstStyle/>
          <a:p>
            <a:pPr marL="0" indent="0">
              <a:buNone/>
            </a:pPr>
            <a:r>
              <a:rPr lang="en-US" sz="2200" b="1" dirty="0">
                <a:solidFill>
                  <a:srgbClr val="D9822B"/>
                </a:solidFill>
                <a:latin typeface="Courier New" pitchFamily="34" charset="0"/>
                <a:ea typeface="Courier New" pitchFamily="34" charset="-122"/>
                <a:cs typeface="Courier New" pitchFamily="34" charset="-120"/>
              </a:rPr>
              <a:t>Lesson 04</a:t>
            </a:r>
            <a:endParaRPr lang="en-US" sz="2200" dirty="0"/>
          </a:p>
        </p:txBody>
      </p:sp>
      <p:sp>
        <p:nvSpPr>
          <p:cNvPr id="19" name="Text 17"/>
          <p:cNvSpPr txBox="1"/>
          <p:nvPr/>
        </p:nvSpPr>
        <p:spPr>
          <a:xfrm>
            <a:off x="548640" y="1901952"/>
            <a:ext cx="6400800" cy="118872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Standards, Protocols, Handshaking &amp; the Internet</a:t>
            </a:r>
            <a:endParaRPr lang="en-US" sz="3000" dirty="0"/>
          </a:p>
        </p:txBody>
      </p:sp>
      <p:sp>
        <p:nvSpPr>
          <p:cNvPr id="20" name="Text 18"/>
          <p:cNvSpPr txBox="1"/>
          <p:nvPr/>
        </p:nvSpPr>
        <p:spPr>
          <a:xfrm>
            <a:off x="548640" y="3246120"/>
            <a:ext cx="5943600" cy="868680"/>
          </a:xfrm>
          <a:prstGeom prst="rect">
            <a:avLst/>
          </a:prstGeom>
          <a:noFill/>
          <a:ln/>
        </p:spPr>
        <p:txBody>
          <a:bodyPr wrap="square" lIns="0" tIns="0" rIns="0" bIns="0" rtlCol="0" anchor="ctr"/>
          <a:lstStyle/>
          <a:p>
            <a:pPr marL="0" indent="0">
              <a:buNone/>
            </a:pPr>
            <a:r>
              <a:rPr lang="en-US" sz="1300" dirty="0">
                <a:solidFill>
                  <a:srgbClr val="CBD5DF"/>
                </a:solidFill>
                <a:latin typeface="Calibri" pitchFamily="34" charset="0"/>
                <a:ea typeface="Calibri" pitchFamily="34" charset="-122"/>
                <a:cs typeface="Calibri" pitchFamily="34" charset="-120"/>
              </a:rPr>
              <a:t>How networks actually communicate · Why networks need agreed rules · The protocols that run the internet · Establishing a connection · The internet as world-wide infrastructure</a:t>
            </a:r>
            <a:endParaRPr lang="en-US" sz="1300" dirty="0"/>
          </a:p>
        </p:txBody>
      </p:sp>
      <p:sp>
        <p:nvSpPr>
          <p:cNvPr id="21" name="Text 19"/>
          <p:cNvSpPr txBox="1"/>
          <p:nvPr/>
        </p:nvSpPr>
        <p:spPr>
          <a:xfrm>
            <a:off x="548640" y="4206240"/>
            <a:ext cx="4572000" cy="365760"/>
          </a:xfrm>
          <a:prstGeom prst="rect">
            <a:avLst/>
          </a:prstGeom>
          <a:noFill/>
          <a:ln/>
        </p:spPr>
        <p:txBody>
          <a:bodyPr wrap="square" lIns="0" tIns="0" rIns="0" bIns="0" rtlCol="0" anchor="ctr"/>
          <a:lstStyle/>
          <a:p>
            <a:pPr marL="0" indent="0">
              <a:buNone/>
            </a:pPr>
            <a:r>
              <a:rPr lang="en-US" sz="1200" dirty="0">
                <a:solidFill>
                  <a:srgbClr val="9AA8B5"/>
                </a:solidFill>
                <a:latin typeface="Courier New" pitchFamily="34" charset="0"/>
                <a:ea typeface="Courier New" pitchFamily="34" charset="-122"/>
                <a:cs typeface="Courier New" pitchFamily="34" charset="-120"/>
              </a:rPr>
              <a:t>Spec 1.7.1 · 1.7.2 · 1.7.3 · 1.7.4 · 1.8.1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Today  ·  112 min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Where we're going</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8" name="Shape 6"/>
          <p:cNvSpPr/>
          <p:nvPr/>
        </p:nvSpPr>
        <p:spPr>
          <a:xfrm>
            <a:off x="457200" y="1554480"/>
            <a:ext cx="484632" cy="2011680"/>
          </a:xfrm>
          <a:prstGeom prst="roundRect">
            <a:avLst>
              <a:gd name="adj" fmla="val 11321"/>
            </a:avLst>
          </a:prstGeom>
          <a:solidFill>
            <a:srgbClr val="F6E3CF"/>
          </a:solidFill>
          <a:ln w="12700">
            <a:solidFill>
              <a:srgbClr val="F6E3CF"/>
            </a:solidFill>
            <a:prstDash val="solid"/>
          </a:ln>
        </p:spPr>
        <p:txBody>
          <a:bodyPr/>
          <a:lstStyle/>
          <a:p>
            <a:endParaRPr lang="en-GB"/>
          </a:p>
        </p:txBody>
      </p:sp>
      <p:sp>
        <p:nvSpPr>
          <p:cNvPr id="9" name="Text 7"/>
          <p:cNvSpPr txBox="1"/>
          <p:nvPr/>
        </p:nvSpPr>
        <p:spPr>
          <a:xfrm>
            <a:off x="49377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0–5</a:t>
            </a:r>
            <a:endParaRPr lang="en-US" sz="650" dirty="0"/>
          </a:p>
        </p:txBody>
      </p:sp>
      <p:sp>
        <p:nvSpPr>
          <p:cNvPr id="10" name="Text 8"/>
          <p:cNvSpPr txBox="1"/>
          <p:nvPr/>
        </p:nvSpPr>
        <p:spPr>
          <a:xfrm>
            <a:off x="49377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Starter</a:t>
            </a:r>
            <a:endParaRPr lang="en-US" sz="800" dirty="0"/>
          </a:p>
        </p:txBody>
      </p:sp>
      <p:sp>
        <p:nvSpPr>
          <p:cNvPr id="11" name="Text 9"/>
          <p:cNvSpPr txBox="1"/>
          <p:nvPr/>
        </p:nvSpPr>
        <p:spPr>
          <a:xfrm>
            <a:off x="49377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Review Lesson 03</a:t>
            </a:r>
            <a:endParaRPr lang="en-US" sz="650" dirty="0"/>
          </a:p>
        </p:txBody>
      </p:sp>
      <p:sp>
        <p:nvSpPr>
          <p:cNvPr id="12" name="Shape 10"/>
          <p:cNvSpPr/>
          <p:nvPr/>
        </p:nvSpPr>
        <p:spPr>
          <a:xfrm>
            <a:off x="982980" y="1554480"/>
            <a:ext cx="484632" cy="2011680"/>
          </a:xfrm>
          <a:prstGeom prst="roundRect">
            <a:avLst>
              <a:gd name="adj" fmla="val 11321"/>
            </a:avLst>
          </a:prstGeom>
          <a:solidFill>
            <a:srgbClr val="F6E3CF"/>
          </a:solidFill>
          <a:ln w="12700">
            <a:solidFill>
              <a:srgbClr val="F6E3CF"/>
            </a:solidFill>
            <a:prstDash val="solid"/>
          </a:ln>
        </p:spPr>
        <p:txBody>
          <a:bodyPr/>
          <a:lstStyle/>
          <a:p>
            <a:endParaRPr lang="en-GB"/>
          </a:p>
        </p:txBody>
      </p:sp>
      <p:sp>
        <p:nvSpPr>
          <p:cNvPr id="13" name="Text 11"/>
          <p:cNvSpPr txBox="1"/>
          <p:nvPr/>
        </p:nvSpPr>
        <p:spPr>
          <a:xfrm>
            <a:off x="101955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5–13</a:t>
            </a:r>
            <a:endParaRPr lang="en-US" sz="650" dirty="0"/>
          </a:p>
        </p:txBody>
      </p:sp>
      <p:sp>
        <p:nvSpPr>
          <p:cNvPr id="14" name="Text 12"/>
          <p:cNvSpPr txBox="1"/>
          <p:nvPr/>
        </p:nvSpPr>
        <p:spPr>
          <a:xfrm>
            <a:off x="101955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Video</a:t>
            </a:r>
            <a:endParaRPr lang="en-US" sz="800" dirty="0"/>
          </a:p>
        </p:txBody>
      </p:sp>
      <p:sp>
        <p:nvSpPr>
          <p:cNvPr id="15" name="Text 13"/>
          <p:cNvSpPr txBox="1"/>
          <p:nvPr/>
        </p:nvSpPr>
        <p:spPr>
          <a:xfrm>
            <a:off x="101955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3 key takeaways</a:t>
            </a:r>
            <a:endParaRPr lang="en-US" sz="650" dirty="0"/>
          </a:p>
        </p:txBody>
      </p:sp>
      <p:sp>
        <p:nvSpPr>
          <p:cNvPr id="16" name="Shape 14"/>
          <p:cNvSpPr/>
          <p:nvPr/>
        </p:nvSpPr>
        <p:spPr>
          <a:xfrm>
            <a:off x="1508760" y="1554480"/>
            <a:ext cx="484632" cy="2011680"/>
          </a:xfrm>
          <a:prstGeom prst="roundRect">
            <a:avLst>
              <a:gd name="adj" fmla="val 11321"/>
            </a:avLst>
          </a:prstGeom>
          <a:solidFill>
            <a:srgbClr val="EEF2F5"/>
          </a:solidFill>
          <a:ln w="12700">
            <a:solidFill>
              <a:srgbClr val="EEF2F5"/>
            </a:solidFill>
            <a:prstDash val="solid"/>
          </a:ln>
        </p:spPr>
        <p:txBody>
          <a:bodyPr/>
          <a:lstStyle/>
          <a:p>
            <a:endParaRPr lang="en-GB"/>
          </a:p>
        </p:txBody>
      </p:sp>
      <p:sp>
        <p:nvSpPr>
          <p:cNvPr id="17" name="Text 15"/>
          <p:cNvSpPr txBox="1"/>
          <p:nvPr/>
        </p:nvSpPr>
        <p:spPr>
          <a:xfrm>
            <a:off x="154533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13–24</a:t>
            </a:r>
            <a:endParaRPr lang="en-US" sz="650" dirty="0"/>
          </a:p>
        </p:txBody>
      </p:sp>
      <p:sp>
        <p:nvSpPr>
          <p:cNvPr id="18" name="Text 16"/>
          <p:cNvSpPr txBox="1"/>
          <p:nvPr/>
        </p:nvSpPr>
        <p:spPr>
          <a:xfrm>
            <a:off x="154533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Teach</a:t>
            </a:r>
            <a:endParaRPr lang="en-US" sz="800" dirty="0"/>
          </a:p>
        </p:txBody>
      </p:sp>
      <p:sp>
        <p:nvSpPr>
          <p:cNvPr id="19" name="Text 17"/>
          <p:cNvSpPr txBox="1"/>
          <p:nvPr/>
        </p:nvSpPr>
        <p:spPr>
          <a:xfrm>
            <a:off x="154533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Network devices &amp; addressing</a:t>
            </a:r>
            <a:endParaRPr lang="en-US" sz="650" dirty="0"/>
          </a:p>
        </p:txBody>
      </p:sp>
      <p:sp>
        <p:nvSpPr>
          <p:cNvPr id="20" name="Shape 18"/>
          <p:cNvSpPr/>
          <p:nvPr/>
        </p:nvSpPr>
        <p:spPr>
          <a:xfrm>
            <a:off x="2034540" y="1554480"/>
            <a:ext cx="484632" cy="2011680"/>
          </a:xfrm>
          <a:prstGeom prst="roundRect">
            <a:avLst>
              <a:gd name="adj" fmla="val 11321"/>
            </a:avLst>
          </a:prstGeom>
          <a:solidFill>
            <a:srgbClr val="EEF2F5"/>
          </a:solidFill>
          <a:ln w="12700">
            <a:solidFill>
              <a:srgbClr val="EEF2F5"/>
            </a:solidFill>
            <a:prstDash val="solid"/>
          </a:ln>
        </p:spPr>
        <p:txBody>
          <a:bodyPr/>
          <a:lstStyle/>
          <a:p>
            <a:endParaRPr lang="en-GB"/>
          </a:p>
        </p:txBody>
      </p:sp>
      <p:sp>
        <p:nvSpPr>
          <p:cNvPr id="21" name="Text 19"/>
          <p:cNvSpPr txBox="1"/>
          <p:nvPr/>
        </p:nvSpPr>
        <p:spPr>
          <a:xfrm>
            <a:off x="207111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24–35</a:t>
            </a:r>
            <a:endParaRPr lang="en-US" sz="650" dirty="0"/>
          </a:p>
        </p:txBody>
      </p:sp>
      <p:sp>
        <p:nvSpPr>
          <p:cNvPr id="22" name="Text 20"/>
          <p:cNvSpPr txBox="1"/>
          <p:nvPr/>
        </p:nvSpPr>
        <p:spPr>
          <a:xfrm>
            <a:off x="207111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Teach</a:t>
            </a:r>
            <a:endParaRPr lang="en-US" sz="800" dirty="0"/>
          </a:p>
        </p:txBody>
      </p:sp>
      <p:sp>
        <p:nvSpPr>
          <p:cNvPr id="23" name="Text 21"/>
          <p:cNvSpPr txBox="1"/>
          <p:nvPr/>
        </p:nvSpPr>
        <p:spPr>
          <a:xfrm>
            <a:off x="207111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Media &amp; networked vs standalone</a:t>
            </a:r>
            <a:endParaRPr lang="en-US" sz="650" dirty="0"/>
          </a:p>
        </p:txBody>
      </p:sp>
      <p:sp>
        <p:nvSpPr>
          <p:cNvPr id="24" name="Shape 22"/>
          <p:cNvSpPr/>
          <p:nvPr/>
        </p:nvSpPr>
        <p:spPr>
          <a:xfrm>
            <a:off x="2560320" y="1554480"/>
            <a:ext cx="484632" cy="2011680"/>
          </a:xfrm>
          <a:prstGeom prst="roundRect">
            <a:avLst>
              <a:gd name="adj" fmla="val 11321"/>
            </a:avLst>
          </a:prstGeom>
          <a:solidFill>
            <a:srgbClr val="F6E3CF"/>
          </a:solidFill>
          <a:ln w="12700">
            <a:solidFill>
              <a:srgbClr val="F6E3CF"/>
            </a:solidFill>
            <a:prstDash val="solid"/>
          </a:ln>
        </p:spPr>
        <p:txBody>
          <a:bodyPr/>
          <a:lstStyle/>
          <a:p>
            <a:endParaRPr lang="en-GB"/>
          </a:p>
        </p:txBody>
      </p:sp>
      <p:sp>
        <p:nvSpPr>
          <p:cNvPr id="25" name="Text 23"/>
          <p:cNvSpPr txBox="1"/>
          <p:nvPr/>
        </p:nvSpPr>
        <p:spPr>
          <a:xfrm>
            <a:off x="259689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35–39</a:t>
            </a:r>
            <a:endParaRPr lang="en-US" sz="650" dirty="0"/>
          </a:p>
        </p:txBody>
      </p:sp>
      <p:sp>
        <p:nvSpPr>
          <p:cNvPr id="26" name="Text 24"/>
          <p:cNvSpPr txBox="1"/>
          <p:nvPr/>
        </p:nvSpPr>
        <p:spPr>
          <a:xfrm>
            <a:off x="259689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Check</a:t>
            </a:r>
            <a:endParaRPr lang="en-US" sz="800" dirty="0"/>
          </a:p>
        </p:txBody>
      </p:sp>
      <p:sp>
        <p:nvSpPr>
          <p:cNvPr id="27" name="Text 25"/>
          <p:cNvSpPr txBox="1"/>
          <p:nvPr/>
        </p:nvSpPr>
        <p:spPr>
          <a:xfrm>
            <a:off x="259689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Quiz 1.7.1 ext.</a:t>
            </a:r>
            <a:endParaRPr lang="en-US" sz="650" dirty="0"/>
          </a:p>
        </p:txBody>
      </p:sp>
      <p:sp>
        <p:nvSpPr>
          <p:cNvPr id="28" name="Shape 26"/>
          <p:cNvSpPr/>
          <p:nvPr/>
        </p:nvSpPr>
        <p:spPr>
          <a:xfrm>
            <a:off x="3086100" y="1554480"/>
            <a:ext cx="484632" cy="2011680"/>
          </a:xfrm>
          <a:prstGeom prst="roundRect">
            <a:avLst>
              <a:gd name="adj" fmla="val 11321"/>
            </a:avLst>
          </a:prstGeom>
          <a:solidFill>
            <a:srgbClr val="EEF2F5"/>
          </a:solidFill>
          <a:ln w="12700">
            <a:solidFill>
              <a:srgbClr val="EEF2F5"/>
            </a:solidFill>
            <a:prstDash val="solid"/>
          </a:ln>
        </p:spPr>
        <p:txBody>
          <a:bodyPr/>
          <a:lstStyle/>
          <a:p>
            <a:endParaRPr lang="en-GB"/>
          </a:p>
        </p:txBody>
      </p:sp>
      <p:sp>
        <p:nvSpPr>
          <p:cNvPr id="29" name="Text 27"/>
          <p:cNvSpPr txBox="1"/>
          <p:nvPr/>
        </p:nvSpPr>
        <p:spPr>
          <a:xfrm>
            <a:off x="312267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39–46</a:t>
            </a:r>
            <a:endParaRPr lang="en-US" sz="650" dirty="0"/>
          </a:p>
        </p:txBody>
      </p:sp>
      <p:sp>
        <p:nvSpPr>
          <p:cNvPr id="30" name="Text 28"/>
          <p:cNvSpPr txBox="1"/>
          <p:nvPr/>
        </p:nvSpPr>
        <p:spPr>
          <a:xfrm>
            <a:off x="312267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Teach</a:t>
            </a:r>
            <a:endParaRPr lang="en-US" sz="800" dirty="0"/>
          </a:p>
        </p:txBody>
      </p:sp>
      <p:sp>
        <p:nvSpPr>
          <p:cNvPr id="31" name="Text 29"/>
          <p:cNvSpPr txBox="1"/>
          <p:nvPr/>
        </p:nvSpPr>
        <p:spPr>
          <a:xfrm>
            <a:off x="312267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1.7.2 Standards</a:t>
            </a:r>
            <a:endParaRPr lang="en-US" sz="650" dirty="0"/>
          </a:p>
        </p:txBody>
      </p:sp>
      <p:sp>
        <p:nvSpPr>
          <p:cNvPr id="32" name="Shape 30"/>
          <p:cNvSpPr/>
          <p:nvPr/>
        </p:nvSpPr>
        <p:spPr>
          <a:xfrm>
            <a:off x="3611880" y="1554480"/>
            <a:ext cx="484632" cy="2011680"/>
          </a:xfrm>
          <a:prstGeom prst="roundRect">
            <a:avLst>
              <a:gd name="adj" fmla="val 11321"/>
            </a:avLst>
          </a:prstGeom>
          <a:solidFill>
            <a:srgbClr val="F6E3CF"/>
          </a:solidFill>
          <a:ln w="12700">
            <a:solidFill>
              <a:srgbClr val="F6E3CF"/>
            </a:solidFill>
            <a:prstDash val="solid"/>
          </a:ln>
        </p:spPr>
        <p:txBody>
          <a:bodyPr/>
          <a:lstStyle/>
          <a:p>
            <a:endParaRPr lang="en-GB"/>
          </a:p>
        </p:txBody>
      </p:sp>
      <p:sp>
        <p:nvSpPr>
          <p:cNvPr id="33" name="Text 31"/>
          <p:cNvSpPr txBox="1"/>
          <p:nvPr/>
        </p:nvSpPr>
        <p:spPr>
          <a:xfrm>
            <a:off x="364845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46–51</a:t>
            </a:r>
            <a:endParaRPr lang="en-US" sz="650" dirty="0"/>
          </a:p>
        </p:txBody>
      </p:sp>
      <p:sp>
        <p:nvSpPr>
          <p:cNvPr id="34" name="Text 32"/>
          <p:cNvSpPr txBox="1"/>
          <p:nvPr/>
        </p:nvSpPr>
        <p:spPr>
          <a:xfrm>
            <a:off x="364845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Check</a:t>
            </a:r>
            <a:endParaRPr lang="en-US" sz="800" dirty="0"/>
          </a:p>
        </p:txBody>
      </p:sp>
      <p:sp>
        <p:nvSpPr>
          <p:cNvPr id="35" name="Text 33"/>
          <p:cNvSpPr txBox="1"/>
          <p:nvPr/>
        </p:nvSpPr>
        <p:spPr>
          <a:xfrm>
            <a:off x="364845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Quiz 1.7.2</a:t>
            </a:r>
            <a:endParaRPr lang="en-US" sz="650" dirty="0"/>
          </a:p>
        </p:txBody>
      </p:sp>
      <p:sp>
        <p:nvSpPr>
          <p:cNvPr id="36" name="Shape 34"/>
          <p:cNvSpPr/>
          <p:nvPr/>
        </p:nvSpPr>
        <p:spPr>
          <a:xfrm>
            <a:off x="4137660" y="1554480"/>
            <a:ext cx="484632" cy="2011680"/>
          </a:xfrm>
          <a:prstGeom prst="roundRect">
            <a:avLst>
              <a:gd name="adj" fmla="val 11321"/>
            </a:avLst>
          </a:prstGeom>
          <a:solidFill>
            <a:srgbClr val="EEF2F5"/>
          </a:solidFill>
          <a:ln w="12700">
            <a:solidFill>
              <a:srgbClr val="EEF2F5"/>
            </a:solidFill>
            <a:prstDash val="solid"/>
          </a:ln>
        </p:spPr>
        <p:txBody>
          <a:bodyPr/>
          <a:lstStyle/>
          <a:p>
            <a:endParaRPr lang="en-GB"/>
          </a:p>
        </p:txBody>
      </p:sp>
      <p:sp>
        <p:nvSpPr>
          <p:cNvPr id="37" name="Text 35"/>
          <p:cNvSpPr txBox="1"/>
          <p:nvPr/>
        </p:nvSpPr>
        <p:spPr>
          <a:xfrm>
            <a:off x="417423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51–67</a:t>
            </a:r>
            <a:endParaRPr lang="en-US" sz="650" dirty="0"/>
          </a:p>
        </p:txBody>
      </p:sp>
      <p:sp>
        <p:nvSpPr>
          <p:cNvPr id="38" name="Text 36"/>
          <p:cNvSpPr txBox="1"/>
          <p:nvPr/>
        </p:nvSpPr>
        <p:spPr>
          <a:xfrm>
            <a:off x="417423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Teach</a:t>
            </a:r>
            <a:endParaRPr lang="en-US" sz="800" dirty="0"/>
          </a:p>
        </p:txBody>
      </p:sp>
      <p:sp>
        <p:nvSpPr>
          <p:cNvPr id="39" name="Text 37"/>
          <p:cNvSpPr txBox="1"/>
          <p:nvPr/>
        </p:nvSpPr>
        <p:spPr>
          <a:xfrm>
            <a:off x="417423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1.7.3 Protocols</a:t>
            </a:r>
            <a:endParaRPr lang="en-US" sz="650" dirty="0"/>
          </a:p>
        </p:txBody>
      </p:sp>
      <p:sp>
        <p:nvSpPr>
          <p:cNvPr id="40" name="Shape 38"/>
          <p:cNvSpPr/>
          <p:nvPr/>
        </p:nvSpPr>
        <p:spPr>
          <a:xfrm>
            <a:off x="4663440" y="1554480"/>
            <a:ext cx="484632" cy="2011680"/>
          </a:xfrm>
          <a:prstGeom prst="roundRect">
            <a:avLst>
              <a:gd name="adj" fmla="val 11321"/>
            </a:avLst>
          </a:prstGeom>
          <a:solidFill>
            <a:srgbClr val="F6E3CF"/>
          </a:solidFill>
          <a:ln w="12700">
            <a:solidFill>
              <a:srgbClr val="F6E3CF"/>
            </a:solidFill>
            <a:prstDash val="solid"/>
          </a:ln>
        </p:spPr>
        <p:txBody>
          <a:bodyPr/>
          <a:lstStyle/>
          <a:p>
            <a:endParaRPr lang="en-GB"/>
          </a:p>
        </p:txBody>
      </p:sp>
      <p:sp>
        <p:nvSpPr>
          <p:cNvPr id="41" name="Text 39"/>
          <p:cNvSpPr txBox="1"/>
          <p:nvPr/>
        </p:nvSpPr>
        <p:spPr>
          <a:xfrm>
            <a:off x="470001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67–75</a:t>
            </a:r>
            <a:endParaRPr lang="en-US" sz="650" dirty="0"/>
          </a:p>
        </p:txBody>
      </p:sp>
      <p:sp>
        <p:nvSpPr>
          <p:cNvPr id="42" name="Text 40"/>
          <p:cNvSpPr txBox="1"/>
          <p:nvPr/>
        </p:nvSpPr>
        <p:spPr>
          <a:xfrm>
            <a:off x="470001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Gimkit</a:t>
            </a:r>
            <a:endParaRPr lang="en-US" sz="800" dirty="0"/>
          </a:p>
        </p:txBody>
      </p:sp>
      <p:sp>
        <p:nvSpPr>
          <p:cNvPr id="43" name="Text 41"/>
          <p:cNvSpPr txBox="1"/>
          <p:nvPr/>
        </p:nvSpPr>
        <p:spPr>
          <a:xfrm>
            <a:off x="470001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Protocol review</a:t>
            </a:r>
            <a:endParaRPr lang="en-US" sz="650" dirty="0"/>
          </a:p>
        </p:txBody>
      </p:sp>
      <p:sp>
        <p:nvSpPr>
          <p:cNvPr id="44" name="Shape 42"/>
          <p:cNvSpPr/>
          <p:nvPr/>
        </p:nvSpPr>
        <p:spPr>
          <a:xfrm>
            <a:off x="5189220" y="1554480"/>
            <a:ext cx="484632" cy="2011680"/>
          </a:xfrm>
          <a:prstGeom prst="roundRect">
            <a:avLst>
              <a:gd name="adj" fmla="val 11321"/>
            </a:avLst>
          </a:prstGeom>
          <a:solidFill>
            <a:srgbClr val="F6E3CF"/>
          </a:solidFill>
          <a:ln w="12700">
            <a:solidFill>
              <a:srgbClr val="F6E3CF"/>
            </a:solidFill>
            <a:prstDash val="solid"/>
          </a:ln>
        </p:spPr>
        <p:txBody>
          <a:bodyPr/>
          <a:lstStyle/>
          <a:p>
            <a:endParaRPr lang="en-GB"/>
          </a:p>
        </p:txBody>
      </p:sp>
      <p:sp>
        <p:nvSpPr>
          <p:cNvPr id="45" name="Text 43"/>
          <p:cNvSpPr txBox="1"/>
          <p:nvPr/>
        </p:nvSpPr>
        <p:spPr>
          <a:xfrm>
            <a:off x="522579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75–80</a:t>
            </a:r>
            <a:endParaRPr lang="en-US" sz="650" dirty="0"/>
          </a:p>
        </p:txBody>
      </p:sp>
      <p:sp>
        <p:nvSpPr>
          <p:cNvPr id="46" name="Text 44"/>
          <p:cNvSpPr txBox="1"/>
          <p:nvPr/>
        </p:nvSpPr>
        <p:spPr>
          <a:xfrm>
            <a:off x="522579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Check</a:t>
            </a:r>
            <a:endParaRPr lang="en-US" sz="800" dirty="0"/>
          </a:p>
        </p:txBody>
      </p:sp>
      <p:sp>
        <p:nvSpPr>
          <p:cNvPr id="47" name="Text 45"/>
          <p:cNvSpPr txBox="1"/>
          <p:nvPr/>
        </p:nvSpPr>
        <p:spPr>
          <a:xfrm>
            <a:off x="522579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Quiz 1.7.3</a:t>
            </a:r>
            <a:endParaRPr lang="en-US" sz="650" dirty="0"/>
          </a:p>
        </p:txBody>
      </p:sp>
      <p:sp>
        <p:nvSpPr>
          <p:cNvPr id="48" name="Shape 46"/>
          <p:cNvSpPr/>
          <p:nvPr/>
        </p:nvSpPr>
        <p:spPr>
          <a:xfrm>
            <a:off x="5715000" y="1554480"/>
            <a:ext cx="484632" cy="2011680"/>
          </a:xfrm>
          <a:prstGeom prst="roundRect">
            <a:avLst>
              <a:gd name="adj" fmla="val 11321"/>
            </a:avLst>
          </a:prstGeom>
          <a:solidFill>
            <a:srgbClr val="EEF2F5"/>
          </a:solidFill>
          <a:ln w="12700">
            <a:solidFill>
              <a:srgbClr val="EEF2F5"/>
            </a:solidFill>
            <a:prstDash val="solid"/>
          </a:ln>
        </p:spPr>
        <p:txBody>
          <a:bodyPr/>
          <a:lstStyle/>
          <a:p>
            <a:endParaRPr lang="en-GB"/>
          </a:p>
        </p:txBody>
      </p:sp>
      <p:sp>
        <p:nvSpPr>
          <p:cNvPr id="49" name="Text 47"/>
          <p:cNvSpPr txBox="1"/>
          <p:nvPr/>
        </p:nvSpPr>
        <p:spPr>
          <a:xfrm>
            <a:off x="575157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80–86</a:t>
            </a:r>
            <a:endParaRPr lang="en-US" sz="650" dirty="0"/>
          </a:p>
        </p:txBody>
      </p:sp>
      <p:sp>
        <p:nvSpPr>
          <p:cNvPr id="50" name="Text 48"/>
          <p:cNvSpPr txBox="1"/>
          <p:nvPr/>
        </p:nvSpPr>
        <p:spPr>
          <a:xfrm>
            <a:off x="575157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Teach</a:t>
            </a:r>
            <a:endParaRPr lang="en-US" sz="800" dirty="0"/>
          </a:p>
        </p:txBody>
      </p:sp>
      <p:sp>
        <p:nvSpPr>
          <p:cNvPr id="51" name="Text 49"/>
          <p:cNvSpPr txBox="1"/>
          <p:nvPr/>
        </p:nvSpPr>
        <p:spPr>
          <a:xfrm>
            <a:off x="575157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1.7.4 Handshaking</a:t>
            </a:r>
            <a:endParaRPr lang="en-US" sz="650" dirty="0"/>
          </a:p>
        </p:txBody>
      </p:sp>
      <p:sp>
        <p:nvSpPr>
          <p:cNvPr id="52" name="Shape 50"/>
          <p:cNvSpPr/>
          <p:nvPr/>
        </p:nvSpPr>
        <p:spPr>
          <a:xfrm>
            <a:off x="6240780" y="1554480"/>
            <a:ext cx="484632" cy="2011680"/>
          </a:xfrm>
          <a:prstGeom prst="roundRect">
            <a:avLst>
              <a:gd name="adj" fmla="val 11321"/>
            </a:avLst>
          </a:prstGeom>
          <a:solidFill>
            <a:srgbClr val="F6E3CF"/>
          </a:solidFill>
          <a:ln w="12700">
            <a:solidFill>
              <a:srgbClr val="F6E3CF"/>
            </a:solidFill>
            <a:prstDash val="solid"/>
          </a:ln>
        </p:spPr>
        <p:txBody>
          <a:bodyPr/>
          <a:lstStyle/>
          <a:p>
            <a:endParaRPr lang="en-GB"/>
          </a:p>
        </p:txBody>
      </p:sp>
      <p:sp>
        <p:nvSpPr>
          <p:cNvPr id="53" name="Text 51"/>
          <p:cNvSpPr txBox="1"/>
          <p:nvPr/>
        </p:nvSpPr>
        <p:spPr>
          <a:xfrm>
            <a:off x="627735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86–94</a:t>
            </a:r>
            <a:endParaRPr lang="en-US" sz="650" dirty="0"/>
          </a:p>
        </p:txBody>
      </p:sp>
      <p:sp>
        <p:nvSpPr>
          <p:cNvPr id="54" name="Text 52"/>
          <p:cNvSpPr txBox="1"/>
          <p:nvPr/>
        </p:nvSpPr>
        <p:spPr>
          <a:xfrm>
            <a:off x="627735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Task</a:t>
            </a:r>
            <a:endParaRPr lang="en-US" sz="800" dirty="0"/>
          </a:p>
        </p:txBody>
      </p:sp>
      <p:sp>
        <p:nvSpPr>
          <p:cNvPr id="55" name="Text 53"/>
          <p:cNvSpPr txBox="1"/>
          <p:nvPr/>
        </p:nvSpPr>
        <p:spPr>
          <a:xfrm>
            <a:off x="627735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Handshake builder</a:t>
            </a:r>
            <a:endParaRPr lang="en-US" sz="650" dirty="0"/>
          </a:p>
        </p:txBody>
      </p:sp>
      <p:sp>
        <p:nvSpPr>
          <p:cNvPr id="56" name="Shape 54"/>
          <p:cNvSpPr/>
          <p:nvPr/>
        </p:nvSpPr>
        <p:spPr>
          <a:xfrm>
            <a:off x="6766560" y="1554480"/>
            <a:ext cx="484632" cy="2011680"/>
          </a:xfrm>
          <a:prstGeom prst="roundRect">
            <a:avLst>
              <a:gd name="adj" fmla="val 11321"/>
            </a:avLst>
          </a:prstGeom>
          <a:solidFill>
            <a:srgbClr val="F6E3CF"/>
          </a:solidFill>
          <a:ln w="12700">
            <a:solidFill>
              <a:srgbClr val="F6E3CF"/>
            </a:solidFill>
            <a:prstDash val="solid"/>
          </a:ln>
        </p:spPr>
        <p:txBody>
          <a:bodyPr/>
          <a:lstStyle/>
          <a:p>
            <a:endParaRPr lang="en-GB"/>
          </a:p>
        </p:txBody>
      </p:sp>
      <p:sp>
        <p:nvSpPr>
          <p:cNvPr id="57" name="Text 55"/>
          <p:cNvSpPr txBox="1"/>
          <p:nvPr/>
        </p:nvSpPr>
        <p:spPr>
          <a:xfrm>
            <a:off x="680313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94–98</a:t>
            </a:r>
            <a:endParaRPr lang="en-US" sz="650" dirty="0"/>
          </a:p>
        </p:txBody>
      </p:sp>
      <p:sp>
        <p:nvSpPr>
          <p:cNvPr id="58" name="Text 56"/>
          <p:cNvSpPr txBox="1"/>
          <p:nvPr/>
        </p:nvSpPr>
        <p:spPr>
          <a:xfrm>
            <a:off x="680313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Check</a:t>
            </a:r>
            <a:endParaRPr lang="en-US" sz="800" dirty="0"/>
          </a:p>
        </p:txBody>
      </p:sp>
      <p:sp>
        <p:nvSpPr>
          <p:cNvPr id="59" name="Text 57"/>
          <p:cNvSpPr txBox="1"/>
          <p:nvPr/>
        </p:nvSpPr>
        <p:spPr>
          <a:xfrm>
            <a:off x="680313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Quiz 1.7.4</a:t>
            </a:r>
            <a:endParaRPr lang="en-US" sz="650" dirty="0"/>
          </a:p>
        </p:txBody>
      </p:sp>
      <p:sp>
        <p:nvSpPr>
          <p:cNvPr id="60" name="Shape 58"/>
          <p:cNvSpPr/>
          <p:nvPr/>
        </p:nvSpPr>
        <p:spPr>
          <a:xfrm>
            <a:off x="7292340" y="1554480"/>
            <a:ext cx="484632" cy="2011680"/>
          </a:xfrm>
          <a:prstGeom prst="roundRect">
            <a:avLst>
              <a:gd name="adj" fmla="val 11321"/>
            </a:avLst>
          </a:prstGeom>
          <a:solidFill>
            <a:srgbClr val="EEF2F5"/>
          </a:solidFill>
          <a:ln w="12700">
            <a:solidFill>
              <a:srgbClr val="EEF2F5"/>
            </a:solidFill>
            <a:prstDash val="solid"/>
          </a:ln>
        </p:spPr>
        <p:txBody>
          <a:bodyPr/>
          <a:lstStyle/>
          <a:p>
            <a:endParaRPr lang="en-GB"/>
          </a:p>
        </p:txBody>
      </p:sp>
      <p:sp>
        <p:nvSpPr>
          <p:cNvPr id="61" name="Text 59"/>
          <p:cNvSpPr txBox="1"/>
          <p:nvPr/>
        </p:nvSpPr>
        <p:spPr>
          <a:xfrm>
            <a:off x="732891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98–104</a:t>
            </a:r>
            <a:endParaRPr lang="en-US" sz="650" dirty="0"/>
          </a:p>
        </p:txBody>
      </p:sp>
      <p:sp>
        <p:nvSpPr>
          <p:cNvPr id="62" name="Text 60"/>
          <p:cNvSpPr txBox="1"/>
          <p:nvPr/>
        </p:nvSpPr>
        <p:spPr>
          <a:xfrm>
            <a:off x="732891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Teach</a:t>
            </a:r>
            <a:endParaRPr lang="en-US" sz="800" dirty="0"/>
          </a:p>
        </p:txBody>
      </p:sp>
      <p:sp>
        <p:nvSpPr>
          <p:cNvPr id="63" name="Text 61"/>
          <p:cNvSpPr txBox="1"/>
          <p:nvPr/>
        </p:nvSpPr>
        <p:spPr>
          <a:xfrm>
            <a:off x="732891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1.8.1 The internet</a:t>
            </a:r>
            <a:endParaRPr lang="en-US" sz="650" dirty="0"/>
          </a:p>
        </p:txBody>
      </p:sp>
      <p:sp>
        <p:nvSpPr>
          <p:cNvPr id="64" name="Shape 62"/>
          <p:cNvSpPr/>
          <p:nvPr/>
        </p:nvSpPr>
        <p:spPr>
          <a:xfrm>
            <a:off x="7818120" y="1554480"/>
            <a:ext cx="484632" cy="2011680"/>
          </a:xfrm>
          <a:prstGeom prst="roundRect">
            <a:avLst>
              <a:gd name="adj" fmla="val 11321"/>
            </a:avLst>
          </a:prstGeom>
          <a:solidFill>
            <a:srgbClr val="F6E3CF"/>
          </a:solidFill>
          <a:ln w="12700">
            <a:solidFill>
              <a:srgbClr val="F6E3CF"/>
            </a:solidFill>
            <a:prstDash val="solid"/>
          </a:ln>
        </p:spPr>
        <p:txBody>
          <a:bodyPr/>
          <a:lstStyle/>
          <a:p>
            <a:endParaRPr lang="en-GB"/>
          </a:p>
        </p:txBody>
      </p:sp>
      <p:sp>
        <p:nvSpPr>
          <p:cNvPr id="65" name="Text 63"/>
          <p:cNvSpPr txBox="1"/>
          <p:nvPr/>
        </p:nvSpPr>
        <p:spPr>
          <a:xfrm>
            <a:off x="785469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104–108</a:t>
            </a:r>
            <a:endParaRPr lang="en-US" sz="650" dirty="0"/>
          </a:p>
        </p:txBody>
      </p:sp>
      <p:sp>
        <p:nvSpPr>
          <p:cNvPr id="66" name="Text 64"/>
          <p:cNvSpPr txBox="1"/>
          <p:nvPr/>
        </p:nvSpPr>
        <p:spPr>
          <a:xfrm>
            <a:off x="785469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Check</a:t>
            </a:r>
            <a:endParaRPr lang="en-US" sz="800" dirty="0"/>
          </a:p>
        </p:txBody>
      </p:sp>
      <p:sp>
        <p:nvSpPr>
          <p:cNvPr id="67" name="Text 65"/>
          <p:cNvSpPr txBox="1"/>
          <p:nvPr/>
        </p:nvSpPr>
        <p:spPr>
          <a:xfrm>
            <a:off x="785469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Quiz 1.8.1</a:t>
            </a:r>
            <a:endParaRPr lang="en-US" sz="650" dirty="0"/>
          </a:p>
        </p:txBody>
      </p:sp>
      <p:sp>
        <p:nvSpPr>
          <p:cNvPr id="68" name="Shape 66"/>
          <p:cNvSpPr/>
          <p:nvPr/>
        </p:nvSpPr>
        <p:spPr>
          <a:xfrm>
            <a:off x="8343900" y="1554480"/>
            <a:ext cx="484632" cy="2011680"/>
          </a:xfrm>
          <a:prstGeom prst="roundRect">
            <a:avLst>
              <a:gd name="adj" fmla="val 11321"/>
            </a:avLst>
          </a:prstGeom>
          <a:solidFill>
            <a:srgbClr val="F6E3CF"/>
          </a:solidFill>
          <a:ln w="12700">
            <a:solidFill>
              <a:srgbClr val="F6E3CF"/>
            </a:solidFill>
            <a:prstDash val="solid"/>
          </a:ln>
        </p:spPr>
        <p:txBody>
          <a:bodyPr/>
          <a:lstStyle/>
          <a:p>
            <a:endParaRPr lang="en-GB"/>
          </a:p>
        </p:txBody>
      </p:sp>
      <p:sp>
        <p:nvSpPr>
          <p:cNvPr id="69" name="Text 67"/>
          <p:cNvSpPr txBox="1"/>
          <p:nvPr/>
        </p:nvSpPr>
        <p:spPr>
          <a:xfrm>
            <a:off x="8380476" y="1618488"/>
            <a:ext cx="411480" cy="219456"/>
          </a:xfrm>
          <a:prstGeom prst="rect">
            <a:avLst/>
          </a:prstGeom>
          <a:noFill/>
          <a:ln/>
        </p:spPr>
        <p:txBody>
          <a:bodyPr wrap="square" lIns="0" tIns="0" rIns="0" bIns="0" rtlCol="0" anchor="ctr"/>
          <a:lstStyle/>
          <a:p>
            <a:pPr marL="0" indent="0">
              <a:buNone/>
            </a:pPr>
            <a:r>
              <a:rPr lang="en-US" sz="650" b="1" dirty="0">
                <a:solidFill>
                  <a:srgbClr val="D9822B"/>
                </a:solidFill>
                <a:latin typeface="Courier New" pitchFamily="34" charset="0"/>
                <a:ea typeface="Courier New" pitchFamily="34" charset="-122"/>
                <a:cs typeface="Courier New" pitchFamily="34" charset="-120"/>
              </a:rPr>
              <a:t>108–112</a:t>
            </a:r>
            <a:endParaRPr lang="en-US" sz="650" dirty="0"/>
          </a:p>
        </p:txBody>
      </p:sp>
      <p:sp>
        <p:nvSpPr>
          <p:cNvPr id="70" name="Text 68"/>
          <p:cNvSpPr txBox="1"/>
          <p:nvPr/>
        </p:nvSpPr>
        <p:spPr>
          <a:xfrm>
            <a:off x="8380476" y="1828800"/>
            <a:ext cx="411480" cy="512064"/>
          </a:xfrm>
          <a:prstGeom prst="rect">
            <a:avLst/>
          </a:prstGeom>
          <a:noFill/>
          <a:ln/>
        </p:spPr>
        <p:txBody>
          <a:bodyPr wrap="square" lIns="0" tIns="0" rIns="0" bIns="0" rtlCol="0" anchor="t"/>
          <a:lstStyle/>
          <a:p>
            <a:pPr marL="0" indent="0">
              <a:buNone/>
            </a:pPr>
            <a:r>
              <a:rPr lang="en-US" sz="800" b="1" dirty="0">
                <a:solidFill>
                  <a:srgbClr val="16202B"/>
                </a:solidFill>
                <a:latin typeface="Calibri" pitchFamily="34" charset="0"/>
                <a:ea typeface="Calibri" pitchFamily="34" charset="-122"/>
                <a:cs typeface="Calibri" pitchFamily="34" charset="-120"/>
              </a:rPr>
              <a:t>Exit ticket</a:t>
            </a:r>
            <a:endParaRPr lang="en-US" sz="800" dirty="0"/>
          </a:p>
        </p:txBody>
      </p:sp>
      <p:sp>
        <p:nvSpPr>
          <p:cNvPr id="71" name="Text 69"/>
          <p:cNvSpPr txBox="1"/>
          <p:nvPr/>
        </p:nvSpPr>
        <p:spPr>
          <a:xfrm>
            <a:off x="8380476" y="2395728"/>
            <a:ext cx="411480" cy="1051560"/>
          </a:xfrm>
          <a:prstGeom prst="rect">
            <a:avLst/>
          </a:prstGeom>
          <a:noFill/>
          <a:ln/>
        </p:spPr>
        <p:txBody>
          <a:bodyPr wrap="square" lIns="0" tIns="0" rIns="0" bIns="0" rtlCol="0" anchor="t"/>
          <a:lstStyle/>
          <a:p>
            <a:pPr marL="0" indent="0">
              <a:buNone/>
            </a:pPr>
            <a:r>
              <a:rPr lang="en-US" sz="650" dirty="0">
                <a:solidFill>
                  <a:srgbClr val="1F2933"/>
                </a:solidFill>
                <a:latin typeface="Calibri" pitchFamily="34" charset="0"/>
                <a:ea typeface="Calibri" pitchFamily="34" charset="-122"/>
                <a:cs typeface="Calibri" pitchFamily="34" charset="-120"/>
              </a:rPr>
              <a:t>3 questions + homework</a:t>
            </a:r>
            <a:endParaRPr lang="en-US" sz="650" dirty="0"/>
          </a:p>
        </p:txBody>
      </p:sp>
      <p:sp>
        <p:nvSpPr>
          <p:cNvPr id="72" name="Text 70"/>
          <p:cNvSpPr txBox="1"/>
          <p:nvPr/>
        </p:nvSpPr>
        <p:spPr>
          <a:xfrm>
            <a:off x="457200" y="3749040"/>
            <a:ext cx="8229600" cy="256032"/>
          </a:xfrm>
          <a:prstGeom prst="rect">
            <a:avLst/>
          </a:prstGeom>
          <a:noFill/>
          <a:ln/>
        </p:spPr>
        <p:txBody>
          <a:bodyPr wrap="square" lIns="0" tIns="0" rIns="0" bIns="0" rtlCol="0" anchor="ctr"/>
          <a:lstStyle/>
          <a:p>
            <a:pPr marL="0" indent="0">
              <a:buNone/>
            </a:pPr>
            <a:r>
              <a:rPr lang="en-US" sz="1200" b="1" dirty="0">
                <a:solidFill>
                  <a:srgbClr val="5C6B7A"/>
                </a:solidFill>
                <a:latin typeface="Calibri" pitchFamily="34" charset="0"/>
                <a:ea typeface="Calibri" pitchFamily="34" charset="-122"/>
                <a:cs typeface="Calibri" pitchFamily="34" charset="-120"/>
              </a:rPr>
              <a:t>By the end of today you can…</a:t>
            </a:r>
            <a:endParaRPr lang="en-US" sz="1200" dirty="0"/>
          </a:p>
        </p:txBody>
      </p:sp>
      <p:sp>
        <p:nvSpPr>
          <p:cNvPr id="73" name="Text 71"/>
          <p:cNvSpPr txBox="1"/>
          <p:nvPr/>
        </p:nvSpPr>
        <p:spPr>
          <a:xfrm>
            <a:off x="457200" y="4023360"/>
            <a:ext cx="8229600" cy="868680"/>
          </a:xfrm>
          <a:prstGeom prst="rect">
            <a:avLst/>
          </a:prstGeom>
          <a:noFill/>
          <a:ln/>
        </p:spPr>
        <p:txBody>
          <a:bodyPr wrap="square" lIns="0" tIns="0" rIns="0" bIns="0" rtlCol="0" anchor="t"/>
          <a:lstStyle/>
          <a:p>
            <a:pPr marL="177800" indent="-177800">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Describe networks and how they communicate — devices, addressing, transmission media, and networked vs standalone</a:t>
            </a:r>
            <a:endParaRPr lang="en-US" sz="1000" dirty="0"/>
          </a:p>
          <a:p>
            <a:pPr marL="177800" indent="-177800">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Explain the importance of networking standards</a:t>
            </a:r>
            <a:endParaRPr lang="en-US" sz="1000" dirty="0"/>
          </a:p>
          <a:p>
            <a:pPr marL="177800" indent="-177800">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Describe the importance and use of contemporary protocols: HTTP, FTP, SMTP, TCP/IP, IMAP, DHCP, UDP and wireless protocols</a:t>
            </a:r>
            <a:endParaRPr lang="en-US" sz="1000" dirty="0"/>
          </a:p>
          <a:p>
            <a:pPr marL="177800" indent="-177800">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Explain the role of handshaking, and describe the internet as a world-wide communications infrastructure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Starter  ·  5 min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Last lesson, quick-fire</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8" name="Shape 6"/>
          <p:cNvSpPr/>
          <p:nvPr/>
        </p:nvSpPr>
        <p:spPr>
          <a:xfrm>
            <a:off x="457200" y="1508760"/>
            <a:ext cx="3977640" cy="3063240"/>
          </a:xfrm>
          <a:prstGeom prst="roundRect">
            <a:avLst>
              <a:gd name="adj" fmla="val 2388"/>
            </a:avLst>
          </a:prstGeom>
          <a:solidFill>
            <a:srgbClr val="EEF2F5"/>
          </a:solidFill>
          <a:ln w="12700">
            <a:solidFill>
              <a:srgbClr val="EEF2F5"/>
            </a:solidFill>
            <a:prstDash val="solid"/>
          </a:ln>
        </p:spPr>
        <p:txBody>
          <a:bodyPr/>
          <a:lstStyle/>
          <a:p>
            <a:endParaRPr lang="en-GB"/>
          </a:p>
        </p:txBody>
      </p:sp>
      <p:sp>
        <p:nvSpPr>
          <p:cNvPr id="9" name="Shape 7"/>
          <p:cNvSpPr/>
          <p:nvPr/>
        </p:nvSpPr>
        <p:spPr>
          <a:xfrm>
            <a:off x="594360" y="1636776"/>
            <a:ext cx="329184" cy="329184"/>
          </a:xfrm>
          <a:prstGeom prst="ellipse">
            <a:avLst/>
          </a:prstGeom>
          <a:solidFill>
            <a:srgbClr val="D9822B"/>
          </a:solidFill>
          <a:ln w="12700">
            <a:solidFill>
              <a:srgbClr val="D9822B"/>
            </a:solidFill>
            <a:prstDash val="solid"/>
          </a:ln>
        </p:spPr>
        <p:txBody>
          <a:bodyPr/>
          <a:lstStyle/>
          <a:p>
            <a:endParaRPr lang="en-GB"/>
          </a:p>
        </p:txBody>
      </p:sp>
      <p:sp>
        <p:nvSpPr>
          <p:cNvPr id="10" name="Text 8"/>
          <p:cNvSpPr txBox="1"/>
          <p:nvPr/>
        </p:nvSpPr>
        <p:spPr>
          <a:xfrm>
            <a:off x="59436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1" name="Text 9"/>
          <p:cNvSpPr txBox="1"/>
          <p:nvPr/>
        </p:nvSpPr>
        <p:spPr>
          <a:xfrm>
            <a:off x="1005840" y="1618488"/>
            <a:ext cx="3291840" cy="365760"/>
          </a:xfrm>
          <a:prstGeom prst="rect">
            <a:avLst/>
          </a:prstGeom>
          <a:noFill/>
          <a:ln/>
        </p:spPr>
        <p:txBody>
          <a:bodyPr wrap="square" lIns="0" tIns="0" rIns="0" bIns="0"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Retrieval</a:t>
            </a:r>
            <a:endParaRPr lang="en-US" sz="1500" dirty="0"/>
          </a:p>
        </p:txBody>
      </p:sp>
      <p:sp>
        <p:nvSpPr>
          <p:cNvPr id="12" name="Text 10"/>
          <p:cNvSpPr txBox="1"/>
          <p:nvPr/>
        </p:nvSpPr>
        <p:spPr>
          <a:xfrm>
            <a:off x="594360" y="2039112"/>
            <a:ext cx="3703320" cy="2441448"/>
          </a:xfrm>
          <a:prstGeom prst="rect">
            <a:avLst/>
          </a:prstGeom>
          <a:noFill/>
          <a:ln/>
        </p:spPr>
        <p:txBody>
          <a:bodyPr wrap="square" lIns="0" tIns="0" rIns="0" bIns="0" rtlCol="0" anchor="t"/>
          <a:lstStyle/>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Whole-class quick-fire through homework quizzes 1.5.1, 1.6.1 and 1.7.1</a:t>
            </a:r>
            <a:endParaRPr lang="en-US" sz="1300" dirty="0"/>
          </a:p>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Answers on whiteboards, boards up together</a:t>
            </a:r>
            <a:endParaRPr lang="en-US" sz="1300" dirty="0"/>
          </a:p>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Note which questions the class got wrong — revisit if they resurface today</a:t>
            </a:r>
            <a:endParaRPr lang="en-US" sz="1300" dirty="0"/>
          </a:p>
        </p:txBody>
      </p:sp>
      <p:sp>
        <p:nvSpPr>
          <p:cNvPr id="13" name="Shape 11"/>
          <p:cNvSpPr/>
          <p:nvPr/>
        </p:nvSpPr>
        <p:spPr>
          <a:xfrm>
            <a:off x="4709160" y="1508760"/>
            <a:ext cx="3977640" cy="3063240"/>
          </a:xfrm>
          <a:prstGeom prst="roundRect">
            <a:avLst>
              <a:gd name="adj" fmla="val 2388"/>
            </a:avLst>
          </a:prstGeom>
          <a:solidFill>
            <a:srgbClr val="EEF2F5"/>
          </a:solidFill>
          <a:ln w="12700">
            <a:solidFill>
              <a:srgbClr val="EEF2F5"/>
            </a:solidFill>
            <a:prstDash val="solid"/>
          </a:ln>
        </p:spPr>
        <p:txBody>
          <a:bodyPr/>
          <a:lstStyle/>
          <a:p>
            <a:endParaRPr lang="en-GB"/>
          </a:p>
        </p:txBody>
      </p:sp>
      <p:sp>
        <p:nvSpPr>
          <p:cNvPr id="14" name="Shape 12"/>
          <p:cNvSpPr/>
          <p:nvPr/>
        </p:nvSpPr>
        <p:spPr>
          <a:xfrm>
            <a:off x="4846320" y="1636776"/>
            <a:ext cx="329184" cy="329184"/>
          </a:xfrm>
          <a:prstGeom prst="ellipse">
            <a:avLst/>
          </a:prstGeom>
          <a:solidFill>
            <a:srgbClr val="2B3A4A"/>
          </a:solidFill>
          <a:ln w="12700">
            <a:solidFill>
              <a:srgbClr val="2B3A4A"/>
            </a:solidFill>
            <a:prstDash val="solid"/>
          </a:ln>
        </p:spPr>
        <p:txBody>
          <a:bodyPr/>
          <a:lstStyle/>
          <a:p>
            <a:endParaRPr lang="en-GB"/>
          </a:p>
        </p:txBody>
      </p:sp>
      <p:sp>
        <p:nvSpPr>
          <p:cNvPr id="15" name="Text 13"/>
          <p:cNvSpPr txBox="1"/>
          <p:nvPr/>
        </p:nvSpPr>
        <p:spPr>
          <a:xfrm>
            <a:off x="484632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5257800" y="1618488"/>
            <a:ext cx="3291840" cy="365760"/>
          </a:xfrm>
          <a:prstGeom prst="rect">
            <a:avLst/>
          </a:prstGeom>
          <a:noFill/>
          <a:ln/>
        </p:spPr>
        <p:txBody>
          <a:bodyPr wrap="square" lIns="0" tIns="0" rIns="0" bIns="0"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Why start here</a:t>
            </a:r>
            <a:endParaRPr lang="en-US" sz="1500" dirty="0"/>
          </a:p>
        </p:txBody>
      </p:sp>
      <p:sp>
        <p:nvSpPr>
          <p:cNvPr id="17" name="Text 15"/>
          <p:cNvSpPr txBox="1"/>
          <p:nvPr/>
        </p:nvSpPr>
        <p:spPr>
          <a:xfrm>
            <a:off x="4846320" y="2039112"/>
            <a:ext cx="3703320" cy="2441448"/>
          </a:xfrm>
          <a:prstGeom prst="rect">
            <a:avLst/>
          </a:prstGeom>
          <a:noFill/>
          <a:ln/>
        </p:spPr>
        <p:txBody>
          <a:bodyPr wrap="square" lIns="0" tIns="0" rIns="0" bIns="0" rtlCol="0" anchor="t"/>
          <a:lstStyle/>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1.7.1 (network types) is what today builds straight on top of — devices, addressing and media all extend it before standards and protocols</a:t>
            </a:r>
            <a:endParaRPr lang="en-US" sz="1300" dirty="0"/>
          </a:p>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Storage and fragmentation are self-contained — short recap, not a dependency</a:t>
            </a:r>
            <a:endParaRPr lang="en-US" sz="1300" dirty="0"/>
          </a:p>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Keeps momentum before the heaviest content block of the unit so far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Video  ·  8 min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Three key takeaways</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8" name="Shape 6"/>
          <p:cNvSpPr/>
          <p:nvPr/>
        </p:nvSpPr>
        <p:spPr>
          <a:xfrm>
            <a:off x="457200" y="1508760"/>
            <a:ext cx="4937760" cy="2788920"/>
          </a:xfrm>
          <a:prstGeom prst="roundRect">
            <a:avLst>
              <a:gd name="adj" fmla="val 2623"/>
            </a:avLst>
          </a:prstGeom>
          <a:solidFill>
            <a:srgbClr val="16202B"/>
          </a:solidFill>
          <a:ln w="12700">
            <a:solidFill>
              <a:srgbClr val="16202B"/>
            </a:solidFill>
            <a:prstDash val="solid"/>
          </a:ln>
        </p:spPr>
        <p:txBody>
          <a:bodyPr/>
          <a:lstStyle/>
          <a:p>
            <a:endParaRPr lang="en-GB"/>
          </a:p>
        </p:txBody>
      </p:sp>
      <p:sp>
        <p:nvSpPr>
          <p:cNvPr id="9" name="Shape 7"/>
          <p:cNvSpPr/>
          <p:nvPr/>
        </p:nvSpPr>
        <p:spPr>
          <a:xfrm>
            <a:off x="2468880" y="2423160"/>
            <a:ext cx="914400" cy="914400"/>
          </a:xfrm>
          <a:prstGeom prst="ellipse">
            <a:avLst/>
          </a:prstGeom>
          <a:solidFill>
            <a:srgbClr val="D9822B"/>
          </a:solidFill>
          <a:ln w="12700">
            <a:solidFill>
              <a:srgbClr val="D9822B"/>
            </a:solidFill>
            <a:prstDash val="solid"/>
          </a:ln>
        </p:spPr>
        <p:txBody>
          <a:bodyPr/>
          <a:lstStyle/>
          <a:p>
            <a:endParaRPr lang="en-GB"/>
          </a:p>
        </p:txBody>
      </p:sp>
      <p:sp>
        <p:nvSpPr>
          <p:cNvPr id="10" name="Text 8"/>
          <p:cNvSpPr txBox="1"/>
          <p:nvPr/>
        </p:nvSpPr>
        <p:spPr>
          <a:xfrm>
            <a:off x="2468880" y="2423160"/>
            <a:ext cx="914400" cy="914400"/>
          </a:xfrm>
          <a:prstGeom prst="rect">
            <a:avLst/>
          </a:prstGeom>
          <a:noFill/>
          <a:ln/>
        </p:spPr>
        <p:txBody>
          <a:bodyPr wrap="square" lIns="0" tIns="0" rIns="0" bIns="0"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a:t>
            </a:r>
            <a:endParaRPr lang="en-US" sz="2800" dirty="0"/>
          </a:p>
        </p:txBody>
      </p:sp>
      <p:sp>
        <p:nvSpPr>
          <p:cNvPr id="11" name="Text 9"/>
          <p:cNvSpPr txBox="1"/>
          <p:nvPr/>
        </p:nvSpPr>
        <p:spPr>
          <a:xfrm>
            <a:off x="457200" y="3886200"/>
            <a:ext cx="4937760" cy="365760"/>
          </a:xfrm>
          <a:prstGeom prst="rect">
            <a:avLst/>
          </a:prstGeom>
          <a:noFill/>
          <a:ln/>
        </p:spPr>
        <p:txBody>
          <a:bodyPr wrap="square" lIns="0" tIns="0" rIns="0" bIns="0" rtlCol="0" anchor="ctr"/>
          <a:lstStyle/>
          <a:p>
            <a:pPr marL="0" indent="0" algn="ctr">
              <a:buNone/>
            </a:pPr>
            <a:r>
              <a:rPr lang="en-US" sz="1100" i="1" dirty="0">
                <a:solidFill>
                  <a:srgbClr val="9AA8B5"/>
                </a:solidFill>
                <a:latin typeface="Calibri" pitchFamily="34" charset="0"/>
                <a:ea typeface="Calibri" pitchFamily="34" charset="-122"/>
                <a:cs typeface="Calibri" pitchFamily="34" charset="-120"/>
              </a:rPr>
              <a:t>NotebookLM summary video — embed or link here</a:t>
            </a:r>
            <a:endParaRPr lang="en-US" sz="1100" dirty="0"/>
          </a:p>
        </p:txBody>
      </p:sp>
      <p:sp>
        <p:nvSpPr>
          <p:cNvPr id="12" name="Shape 10"/>
          <p:cNvSpPr/>
          <p:nvPr/>
        </p:nvSpPr>
        <p:spPr>
          <a:xfrm>
            <a:off x="5669280" y="1508760"/>
            <a:ext cx="3017520" cy="2788920"/>
          </a:xfrm>
          <a:prstGeom prst="roundRect">
            <a:avLst>
              <a:gd name="adj" fmla="val 2623"/>
            </a:avLst>
          </a:prstGeom>
          <a:solidFill>
            <a:srgbClr val="EEF2F5"/>
          </a:solidFill>
          <a:ln w="12700">
            <a:solidFill>
              <a:srgbClr val="EEF2F5"/>
            </a:solidFill>
            <a:prstDash val="solid"/>
          </a:ln>
        </p:spPr>
        <p:txBody>
          <a:bodyPr/>
          <a:lstStyle/>
          <a:p>
            <a:endParaRPr lang="en-GB"/>
          </a:p>
        </p:txBody>
      </p:sp>
      <p:sp>
        <p:nvSpPr>
          <p:cNvPr id="13" name="Shape 11"/>
          <p:cNvSpPr/>
          <p:nvPr/>
        </p:nvSpPr>
        <p:spPr>
          <a:xfrm>
            <a:off x="5806440" y="1636776"/>
            <a:ext cx="329184" cy="329184"/>
          </a:xfrm>
          <a:prstGeom prst="ellipse">
            <a:avLst/>
          </a:prstGeom>
          <a:solidFill>
            <a:srgbClr val="2B3A4A"/>
          </a:solidFill>
          <a:ln w="12700">
            <a:solidFill>
              <a:srgbClr val="2B3A4A"/>
            </a:solidFill>
            <a:prstDash val="solid"/>
          </a:ln>
        </p:spPr>
        <p:txBody>
          <a:bodyPr/>
          <a:lstStyle/>
          <a:p>
            <a:endParaRPr lang="en-GB"/>
          </a:p>
        </p:txBody>
      </p:sp>
      <p:sp>
        <p:nvSpPr>
          <p:cNvPr id="14" name="Text 12"/>
          <p:cNvSpPr txBox="1"/>
          <p:nvPr/>
        </p:nvSpPr>
        <p:spPr>
          <a:xfrm>
            <a:off x="580644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6217920" y="1618488"/>
            <a:ext cx="2331720" cy="365760"/>
          </a:xfrm>
          <a:prstGeom prst="rect">
            <a:avLst/>
          </a:prstGeom>
          <a:noFill/>
          <a:ln/>
        </p:spPr>
        <p:txBody>
          <a:bodyPr wrap="square" lIns="0" tIns="0" rIns="0" bIns="0"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While you watch</a:t>
            </a:r>
            <a:endParaRPr lang="en-US" sz="1500" dirty="0"/>
          </a:p>
        </p:txBody>
      </p:sp>
      <p:sp>
        <p:nvSpPr>
          <p:cNvPr id="16" name="Text 14"/>
          <p:cNvSpPr txBox="1"/>
          <p:nvPr/>
        </p:nvSpPr>
        <p:spPr>
          <a:xfrm>
            <a:off x="5806440" y="2039112"/>
            <a:ext cx="2743200" cy="2167128"/>
          </a:xfrm>
          <a:prstGeom prst="rect">
            <a:avLst/>
          </a:prstGeom>
          <a:noFill/>
          <a:ln/>
        </p:spPr>
        <p:txBody>
          <a:bodyPr wrap="square" lIns="0" tIns="0" rIns="0" bIns="0" rtlCol="0" anchor="t"/>
          <a:lstStyle/>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Write down 3 key takeaways</a:t>
            </a:r>
            <a:endParaRPr lang="en-US" sz="1300" dirty="0"/>
          </a:p>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…and 1 thing you want explained</a:t>
            </a:r>
            <a:endParaRPr lang="en-US" sz="1300" dirty="0"/>
          </a:p>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Share out at the end</a:t>
            </a:r>
            <a:endParaRPr lang="en-US" sz="1300" dirty="0"/>
          </a:p>
        </p:txBody>
      </p:sp>
      <p:sp>
        <p:nvSpPr>
          <p:cNvPr id="17" name="Text 15"/>
          <p:cNvSpPr txBox="1"/>
          <p:nvPr/>
        </p:nvSpPr>
        <p:spPr>
          <a:xfrm>
            <a:off x="5669280" y="4389120"/>
            <a:ext cx="3017520" cy="274320"/>
          </a:xfrm>
          <a:prstGeom prst="rect">
            <a:avLst/>
          </a:prstGeom>
          <a:noFill/>
          <a:ln/>
        </p:spPr>
        <p:txBody>
          <a:bodyPr wrap="square" lIns="0" tIns="0" rIns="0" bIns="0" rtlCol="0" anchor="ctr"/>
          <a:lstStyle/>
          <a:p>
            <a:pPr marL="0" indent="0">
              <a:buNone/>
            </a:pPr>
            <a:r>
              <a:rPr lang="en-US" sz="1000" i="1" dirty="0">
                <a:solidFill>
                  <a:srgbClr val="5C6B7A"/>
                </a:solidFill>
                <a:latin typeface="Calibri" pitchFamily="34" charset="0"/>
                <a:ea typeface="Calibri" pitchFamily="34" charset="-122"/>
                <a:cs typeface="Calibri" pitchFamily="34" charset="-120"/>
              </a:rPr>
              <a:t>Covers 1.7.1 (ext.) · 1.7.2 · 1.7.3 · 1.7.4 · 1.8.1 at summary level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Teach  ·  22 min</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6" name="Text 4"/>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7" name="Text 5"/>
          <p:cNvSpPr txBox="1"/>
          <p:nvPr/>
        </p:nvSpPr>
        <p:spPr>
          <a:xfrm>
            <a:off x="457200" y="1188720"/>
            <a:ext cx="8229600" cy="640080"/>
          </a:xfrm>
          <a:prstGeom prst="rect">
            <a:avLst/>
          </a:prstGeom>
          <a:noFill/>
          <a:ln/>
        </p:spPr>
        <p:txBody>
          <a:bodyPr wrap="square" lIns="0" tIns="0" rIns="0" bIns="0" rtlCol="0" anchor="ctr"/>
          <a:lstStyle/>
          <a:p>
            <a:pPr marL="0" indent="0">
              <a:buNone/>
            </a:pPr>
            <a:r>
              <a:rPr lang="en-US" sz="3400" b="1" dirty="0">
                <a:solidFill>
                  <a:srgbClr val="D9822B"/>
                </a:solidFill>
                <a:latin typeface="Courier New" pitchFamily="34" charset="0"/>
                <a:ea typeface="Courier New" pitchFamily="34" charset="-122"/>
                <a:cs typeface="Courier New" pitchFamily="34" charset="-120"/>
              </a:rPr>
              <a:t>1.7.1</a:t>
            </a:r>
            <a:endParaRPr lang="en-US" sz="3400" dirty="0"/>
          </a:p>
        </p:txBody>
      </p:sp>
      <p:sp>
        <p:nvSpPr>
          <p:cNvPr id="8" name="Text 6"/>
          <p:cNvSpPr txBox="1"/>
          <p:nvPr/>
        </p:nvSpPr>
        <p:spPr>
          <a:xfrm>
            <a:off x="457200" y="1874520"/>
            <a:ext cx="8046720" cy="960120"/>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Describe networks and how they communicate.</a:t>
            </a:r>
            <a:endParaRPr lang="en-US" sz="1900" dirty="0"/>
          </a:p>
        </p:txBody>
      </p:sp>
      <p:sp>
        <p:nvSpPr>
          <p:cNvPr id="9" name="Text 7"/>
          <p:cNvSpPr txBox="1"/>
          <p:nvPr/>
        </p:nvSpPr>
        <p:spPr>
          <a:xfrm>
            <a:off x="457200" y="2971800"/>
            <a:ext cx="2743200" cy="256032"/>
          </a:xfrm>
          <a:prstGeom prst="rect">
            <a:avLst/>
          </a:prstGeom>
          <a:noFill/>
          <a:ln/>
        </p:spPr>
        <p:txBody>
          <a:bodyPr wrap="square" lIns="0" tIns="0" rIns="0" bIns="0" rtlCol="0" anchor="ctr"/>
          <a:lstStyle/>
          <a:p>
            <a:pPr marL="0" indent="0">
              <a:buNone/>
            </a:pPr>
            <a:r>
              <a:rPr lang="en-US" sz="1100" b="1" dirty="0">
                <a:solidFill>
                  <a:srgbClr val="9AA8B5"/>
                </a:solidFill>
                <a:latin typeface="Calibri" pitchFamily="34" charset="0"/>
                <a:ea typeface="Calibri" pitchFamily="34" charset="-122"/>
                <a:cs typeface="Calibri" pitchFamily="34" charset="-120"/>
              </a:rPr>
              <a:t>In this segment</a:t>
            </a:r>
            <a:endParaRPr lang="en-US" sz="1100" dirty="0"/>
          </a:p>
        </p:txBody>
      </p:sp>
      <p:sp>
        <p:nvSpPr>
          <p:cNvPr id="10" name="Text 8"/>
          <p:cNvSpPr txBox="1"/>
          <p:nvPr/>
        </p:nvSpPr>
        <p:spPr>
          <a:xfrm>
            <a:off x="457200" y="3246120"/>
            <a:ext cx="7863840" cy="13716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The devices that build and manage a network</a:t>
            </a:r>
            <a:endParaRPr lang="en-US" sz="1300" dirty="0"/>
          </a:p>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How addressing lets data reach the right device</a:t>
            </a:r>
            <a:endParaRPr lang="en-US" sz="1300" dirty="0"/>
          </a:p>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Wired and wireless transmission, and the trade-offs of networking at all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Teach 1.7.1</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The hardware that builds a network</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1.7.1</a:t>
            </a:r>
            <a:endParaRPr lang="en-US" sz="900" dirty="0"/>
          </a:p>
        </p:txBody>
      </p:sp>
      <p:sp>
        <p:nvSpPr>
          <p:cNvPr id="8" name="Shape 6"/>
          <p:cNvSpPr/>
          <p:nvPr/>
        </p:nvSpPr>
        <p:spPr>
          <a:xfrm>
            <a:off x="457200" y="1508760"/>
            <a:ext cx="2587752" cy="1417320"/>
          </a:xfrm>
          <a:prstGeom prst="roundRect">
            <a:avLst>
              <a:gd name="adj" fmla="val 5161"/>
            </a:avLst>
          </a:prstGeom>
          <a:solidFill>
            <a:srgbClr val="EEF2F5"/>
          </a:solidFill>
          <a:ln w="12700">
            <a:solidFill>
              <a:srgbClr val="EEF2F5"/>
            </a:solidFill>
            <a:prstDash val="solid"/>
          </a:ln>
        </p:spPr>
        <p:txBody>
          <a:bodyPr/>
          <a:lstStyle/>
          <a:p>
            <a:endParaRPr lang="en-GB"/>
          </a:p>
        </p:txBody>
      </p:sp>
      <p:sp>
        <p:nvSpPr>
          <p:cNvPr id="9" name="Shape 7"/>
          <p:cNvSpPr/>
          <p:nvPr/>
        </p:nvSpPr>
        <p:spPr>
          <a:xfrm>
            <a:off x="594360" y="1636776"/>
            <a:ext cx="329184" cy="329184"/>
          </a:xfrm>
          <a:prstGeom prst="ellipse">
            <a:avLst/>
          </a:prstGeom>
          <a:solidFill>
            <a:srgbClr val="D9822B"/>
          </a:solidFill>
          <a:ln w="12700">
            <a:solidFill>
              <a:srgbClr val="D9822B"/>
            </a:solidFill>
            <a:prstDash val="solid"/>
          </a:ln>
        </p:spPr>
        <p:txBody>
          <a:bodyPr/>
          <a:lstStyle/>
          <a:p>
            <a:endParaRPr lang="en-GB"/>
          </a:p>
        </p:txBody>
      </p:sp>
      <p:sp>
        <p:nvSpPr>
          <p:cNvPr id="10" name="Text 8"/>
          <p:cNvSpPr txBox="1"/>
          <p:nvPr/>
        </p:nvSpPr>
        <p:spPr>
          <a:xfrm>
            <a:off x="59436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a:t>
            </a:r>
            <a:endParaRPr lang="en-US" sz="1200" dirty="0"/>
          </a:p>
        </p:txBody>
      </p:sp>
      <p:sp>
        <p:nvSpPr>
          <p:cNvPr id="11" name="Text 9"/>
          <p:cNvSpPr txBox="1"/>
          <p:nvPr/>
        </p:nvSpPr>
        <p:spPr>
          <a:xfrm>
            <a:off x="1005840" y="1618488"/>
            <a:ext cx="1901952" cy="365760"/>
          </a:xfrm>
          <a:prstGeom prst="rect">
            <a:avLst/>
          </a:prstGeom>
          <a:noFill/>
          <a:ln/>
        </p:spPr>
        <p:txBody>
          <a:bodyPr wrap="square" lIns="0" tIns="0" rIns="0" bIns="0" rtlCol="0" anchor="ctr"/>
          <a:lstStyle/>
          <a:p>
            <a:pPr marL="0" indent="0">
              <a:buNone/>
            </a:pPr>
            <a:r>
              <a:rPr lang="en-US" sz="1250" b="1" dirty="0">
                <a:solidFill>
                  <a:srgbClr val="16202B"/>
                </a:solidFill>
                <a:latin typeface="Calibri" pitchFamily="34" charset="0"/>
                <a:ea typeface="Calibri" pitchFamily="34" charset="-122"/>
                <a:cs typeface="Calibri" pitchFamily="34" charset="-120"/>
              </a:rPr>
              <a:t>NIC</a:t>
            </a:r>
            <a:endParaRPr lang="en-US" sz="1250" dirty="0"/>
          </a:p>
        </p:txBody>
      </p:sp>
      <p:sp>
        <p:nvSpPr>
          <p:cNvPr id="12" name="Text 10"/>
          <p:cNvSpPr txBox="1"/>
          <p:nvPr/>
        </p:nvSpPr>
        <p:spPr>
          <a:xfrm>
            <a:off x="594360" y="2039112"/>
            <a:ext cx="2313432" cy="795528"/>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Hardware inside a device that lets it connect to a network</a:t>
            </a:r>
            <a:endParaRPr lang="en-US" sz="950" dirty="0"/>
          </a:p>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Every networked device needs one — wired (Ethernet) or wireless</a:t>
            </a:r>
            <a:endParaRPr lang="en-US" sz="950" dirty="0"/>
          </a:p>
        </p:txBody>
      </p:sp>
      <p:sp>
        <p:nvSpPr>
          <p:cNvPr id="13" name="Shape 11"/>
          <p:cNvSpPr/>
          <p:nvPr/>
        </p:nvSpPr>
        <p:spPr>
          <a:xfrm>
            <a:off x="3227832" y="1508760"/>
            <a:ext cx="2587752" cy="1417320"/>
          </a:xfrm>
          <a:prstGeom prst="roundRect">
            <a:avLst>
              <a:gd name="adj" fmla="val 5161"/>
            </a:avLst>
          </a:prstGeom>
          <a:solidFill>
            <a:srgbClr val="EEF2F5"/>
          </a:solidFill>
          <a:ln w="12700">
            <a:solidFill>
              <a:srgbClr val="EEF2F5"/>
            </a:solidFill>
            <a:prstDash val="solid"/>
          </a:ln>
        </p:spPr>
        <p:txBody>
          <a:bodyPr/>
          <a:lstStyle/>
          <a:p>
            <a:endParaRPr lang="en-GB"/>
          </a:p>
        </p:txBody>
      </p:sp>
      <p:sp>
        <p:nvSpPr>
          <p:cNvPr id="14" name="Shape 12"/>
          <p:cNvSpPr/>
          <p:nvPr/>
        </p:nvSpPr>
        <p:spPr>
          <a:xfrm>
            <a:off x="3364992" y="1636776"/>
            <a:ext cx="329184" cy="329184"/>
          </a:xfrm>
          <a:prstGeom prst="ellipse">
            <a:avLst/>
          </a:prstGeom>
          <a:solidFill>
            <a:srgbClr val="2B3A4A"/>
          </a:solidFill>
          <a:ln w="12700">
            <a:solidFill>
              <a:srgbClr val="2B3A4A"/>
            </a:solidFill>
            <a:prstDash val="solid"/>
          </a:ln>
        </p:spPr>
        <p:txBody>
          <a:bodyPr/>
          <a:lstStyle/>
          <a:p>
            <a:endParaRPr lang="en-GB"/>
          </a:p>
        </p:txBody>
      </p:sp>
      <p:sp>
        <p:nvSpPr>
          <p:cNvPr id="15" name="Text 13"/>
          <p:cNvSpPr txBox="1"/>
          <p:nvPr/>
        </p:nvSpPr>
        <p:spPr>
          <a:xfrm>
            <a:off x="3364992"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16" name="Text 14"/>
          <p:cNvSpPr txBox="1"/>
          <p:nvPr/>
        </p:nvSpPr>
        <p:spPr>
          <a:xfrm>
            <a:off x="3776472" y="1618488"/>
            <a:ext cx="1901952" cy="365760"/>
          </a:xfrm>
          <a:prstGeom prst="rect">
            <a:avLst/>
          </a:prstGeom>
          <a:noFill/>
          <a:ln/>
        </p:spPr>
        <p:txBody>
          <a:bodyPr wrap="square" lIns="0" tIns="0" rIns="0" bIns="0" rtlCol="0" anchor="ctr"/>
          <a:lstStyle/>
          <a:p>
            <a:pPr marL="0" indent="0">
              <a:buNone/>
            </a:pPr>
            <a:r>
              <a:rPr lang="en-US" sz="1250" b="1" dirty="0">
                <a:solidFill>
                  <a:srgbClr val="16202B"/>
                </a:solidFill>
                <a:latin typeface="Calibri" pitchFamily="34" charset="0"/>
                <a:ea typeface="Calibri" pitchFamily="34" charset="-122"/>
                <a:cs typeface="Calibri" pitchFamily="34" charset="-120"/>
              </a:rPr>
              <a:t>Switch</a:t>
            </a:r>
            <a:endParaRPr lang="en-US" sz="1250" dirty="0"/>
          </a:p>
        </p:txBody>
      </p:sp>
      <p:sp>
        <p:nvSpPr>
          <p:cNvPr id="17" name="Text 15"/>
          <p:cNvSpPr txBox="1"/>
          <p:nvPr/>
        </p:nvSpPr>
        <p:spPr>
          <a:xfrm>
            <a:off x="3364992" y="2039112"/>
            <a:ext cx="2313432" cy="795528"/>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Connects multiple devices within a LAN</a:t>
            </a:r>
            <a:endParaRPr lang="en-US" sz="950" dirty="0"/>
          </a:p>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Sends data only to the device it's addressed to, not every device</a:t>
            </a:r>
            <a:endParaRPr lang="en-US" sz="950" dirty="0"/>
          </a:p>
        </p:txBody>
      </p:sp>
      <p:sp>
        <p:nvSpPr>
          <p:cNvPr id="18" name="Shape 16"/>
          <p:cNvSpPr/>
          <p:nvPr/>
        </p:nvSpPr>
        <p:spPr>
          <a:xfrm>
            <a:off x="5998464" y="1508760"/>
            <a:ext cx="2587752" cy="1417320"/>
          </a:xfrm>
          <a:prstGeom prst="roundRect">
            <a:avLst>
              <a:gd name="adj" fmla="val 5161"/>
            </a:avLst>
          </a:prstGeom>
          <a:solidFill>
            <a:srgbClr val="EEF2F5"/>
          </a:solidFill>
          <a:ln w="12700">
            <a:solidFill>
              <a:srgbClr val="EEF2F5"/>
            </a:solidFill>
            <a:prstDash val="solid"/>
          </a:ln>
        </p:spPr>
        <p:txBody>
          <a:bodyPr/>
          <a:lstStyle/>
          <a:p>
            <a:endParaRPr lang="en-GB"/>
          </a:p>
        </p:txBody>
      </p:sp>
      <p:sp>
        <p:nvSpPr>
          <p:cNvPr id="19" name="Shape 17"/>
          <p:cNvSpPr/>
          <p:nvPr/>
        </p:nvSpPr>
        <p:spPr>
          <a:xfrm>
            <a:off x="6135624" y="1636776"/>
            <a:ext cx="329184" cy="329184"/>
          </a:xfrm>
          <a:prstGeom prst="ellipse">
            <a:avLst/>
          </a:prstGeom>
          <a:solidFill>
            <a:srgbClr val="D9822B"/>
          </a:solidFill>
          <a:ln w="12700">
            <a:solidFill>
              <a:srgbClr val="D9822B"/>
            </a:solidFill>
            <a:prstDash val="solid"/>
          </a:ln>
        </p:spPr>
        <p:txBody>
          <a:bodyPr/>
          <a:lstStyle/>
          <a:p>
            <a:endParaRPr lang="en-GB"/>
          </a:p>
        </p:txBody>
      </p:sp>
      <p:sp>
        <p:nvSpPr>
          <p:cNvPr id="20" name="Text 18"/>
          <p:cNvSpPr txBox="1"/>
          <p:nvPr/>
        </p:nvSpPr>
        <p:spPr>
          <a:xfrm>
            <a:off x="6135624"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21" name="Text 19"/>
          <p:cNvSpPr txBox="1"/>
          <p:nvPr/>
        </p:nvSpPr>
        <p:spPr>
          <a:xfrm>
            <a:off x="6547104" y="1618488"/>
            <a:ext cx="1901952" cy="365760"/>
          </a:xfrm>
          <a:prstGeom prst="rect">
            <a:avLst/>
          </a:prstGeom>
          <a:noFill/>
          <a:ln/>
        </p:spPr>
        <p:txBody>
          <a:bodyPr wrap="square" lIns="0" tIns="0" rIns="0" bIns="0" rtlCol="0" anchor="ctr"/>
          <a:lstStyle/>
          <a:p>
            <a:pPr marL="0" indent="0">
              <a:buNone/>
            </a:pPr>
            <a:r>
              <a:rPr lang="en-US" sz="1250" b="1" dirty="0">
                <a:solidFill>
                  <a:srgbClr val="16202B"/>
                </a:solidFill>
                <a:latin typeface="Calibri" pitchFamily="34" charset="0"/>
                <a:ea typeface="Calibri" pitchFamily="34" charset="-122"/>
                <a:cs typeface="Calibri" pitchFamily="34" charset="-120"/>
              </a:rPr>
              <a:t>Router</a:t>
            </a:r>
            <a:endParaRPr lang="en-US" sz="1250" dirty="0"/>
          </a:p>
        </p:txBody>
      </p:sp>
      <p:sp>
        <p:nvSpPr>
          <p:cNvPr id="22" name="Text 20"/>
          <p:cNvSpPr txBox="1"/>
          <p:nvPr/>
        </p:nvSpPr>
        <p:spPr>
          <a:xfrm>
            <a:off x="6135624" y="2039112"/>
            <a:ext cx="2313432" cy="795528"/>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Connects different networks together, e.g. a LAN to the internet</a:t>
            </a:r>
            <a:endParaRPr lang="en-US" sz="950" dirty="0"/>
          </a:p>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Directs data between networks using addresses</a:t>
            </a:r>
            <a:endParaRPr lang="en-US" sz="950" dirty="0"/>
          </a:p>
        </p:txBody>
      </p:sp>
      <p:sp>
        <p:nvSpPr>
          <p:cNvPr id="23" name="Shape 21"/>
          <p:cNvSpPr/>
          <p:nvPr/>
        </p:nvSpPr>
        <p:spPr>
          <a:xfrm>
            <a:off x="457200" y="3063240"/>
            <a:ext cx="2587752" cy="1417320"/>
          </a:xfrm>
          <a:prstGeom prst="roundRect">
            <a:avLst>
              <a:gd name="adj" fmla="val 5161"/>
            </a:avLst>
          </a:prstGeom>
          <a:solidFill>
            <a:srgbClr val="EEF2F5"/>
          </a:solidFill>
          <a:ln w="12700">
            <a:solidFill>
              <a:srgbClr val="EEF2F5"/>
            </a:solidFill>
            <a:prstDash val="solid"/>
          </a:ln>
        </p:spPr>
        <p:txBody>
          <a:bodyPr/>
          <a:lstStyle/>
          <a:p>
            <a:endParaRPr lang="en-GB"/>
          </a:p>
        </p:txBody>
      </p:sp>
      <p:sp>
        <p:nvSpPr>
          <p:cNvPr id="24" name="Shape 22"/>
          <p:cNvSpPr/>
          <p:nvPr/>
        </p:nvSpPr>
        <p:spPr>
          <a:xfrm>
            <a:off x="594360" y="3191256"/>
            <a:ext cx="329184" cy="329184"/>
          </a:xfrm>
          <a:prstGeom prst="ellipse">
            <a:avLst/>
          </a:prstGeom>
          <a:solidFill>
            <a:srgbClr val="2B3A4A"/>
          </a:solidFill>
          <a:ln w="12700">
            <a:solidFill>
              <a:srgbClr val="2B3A4A"/>
            </a:solidFill>
            <a:prstDash val="solid"/>
          </a:ln>
        </p:spPr>
        <p:txBody>
          <a:bodyPr/>
          <a:lstStyle/>
          <a:p>
            <a:endParaRPr lang="en-GB"/>
          </a:p>
        </p:txBody>
      </p:sp>
      <p:sp>
        <p:nvSpPr>
          <p:cNvPr id="25" name="Text 23"/>
          <p:cNvSpPr txBox="1"/>
          <p:nvPr/>
        </p:nvSpPr>
        <p:spPr>
          <a:xfrm>
            <a:off x="594360" y="31912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a:t>
            </a:r>
            <a:endParaRPr lang="en-US" sz="1200" dirty="0"/>
          </a:p>
        </p:txBody>
      </p:sp>
      <p:sp>
        <p:nvSpPr>
          <p:cNvPr id="26" name="Text 24"/>
          <p:cNvSpPr txBox="1"/>
          <p:nvPr/>
        </p:nvSpPr>
        <p:spPr>
          <a:xfrm>
            <a:off x="1005840" y="3172968"/>
            <a:ext cx="1901952" cy="365760"/>
          </a:xfrm>
          <a:prstGeom prst="rect">
            <a:avLst/>
          </a:prstGeom>
          <a:noFill/>
          <a:ln/>
        </p:spPr>
        <p:txBody>
          <a:bodyPr wrap="square" lIns="0" tIns="0" rIns="0" bIns="0" rtlCol="0" anchor="ctr"/>
          <a:lstStyle/>
          <a:p>
            <a:pPr marL="0" indent="0">
              <a:buNone/>
            </a:pPr>
            <a:r>
              <a:rPr lang="en-US" sz="1250" b="1" dirty="0">
                <a:solidFill>
                  <a:srgbClr val="16202B"/>
                </a:solidFill>
                <a:latin typeface="Calibri" pitchFamily="34" charset="0"/>
                <a:ea typeface="Calibri" pitchFamily="34" charset="-122"/>
                <a:cs typeface="Calibri" pitchFamily="34" charset="-120"/>
              </a:rPr>
              <a:t>Hub</a:t>
            </a:r>
            <a:endParaRPr lang="en-US" sz="1250" dirty="0"/>
          </a:p>
        </p:txBody>
      </p:sp>
      <p:sp>
        <p:nvSpPr>
          <p:cNvPr id="27" name="Text 25"/>
          <p:cNvSpPr txBox="1"/>
          <p:nvPr/>
        </p:nvSpPr>
        <p:spPr>
          <a:xfrm>
            <a:off x="594360" y="3593592"/>
            <a:ext cx="2313432" cy="795528"/>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An older, simpler way to connect devices in a LAN</a:t>
            </a:r>
            <a:endParaRPr lang="en-US" sz="950" dirty="0"/>
          </a:p>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Broadcasts data to every device — far less efficient than a switch</a:t>
            </a:r>
            <a:endParaRPr lang="en-US" sz="950" dirty="0"/>
          </a:p>
        </p:txBody>
      </p:sp>
      <p:sp>
        <p:nvSpPr>
          <p:cNvPr id="28" name="Shape 26"/>
          <p:cNvSpPr/>
          <p:nvPr/>
        </p:nvSpPr>
        <p:spPr>
          <a:xfrm>
            <a:off x="3227832" y="3063240"/>
            <a:ext cx="2587752" cy="1417320"/>
          </a:xfrm>
          <a:prstGeom prst="roundRect">
            <a:avLst>
              <a:gd name="adj" fmla="val 5161"/>
            </a:avLst>
          </a:prstGeom>
          <a:solidFill>
            <a:srgbClr val="EEF2F5"/>
          </a:solidFill>
          <a:ln w="12700">
            <a:solidFill>
              <a:srgbClr val="EEF2F5"/>
            </a:solidFill>
            <a:prstDash val="solid"/>
          </a:ln>
        </p:spPr>
        <p:txBody>
          <a:bodyPr/>
          <a:lstStyle/>
          <a:p>
            <a:endParaRPr lang="en-GB"/>
          </a:p>
        </p:txBody>
      </p:sp>
      <p:sp>
        <p:nvSpPr>
          <p:cNvPr id="29" name="Shape 27"/>
          <p:cNvSpPr/>
          <p:nvPr/>
        </p:nvSpPr>
        <p:spPr>
          <a:xfrm>
            <a:off x="3364992" y="3191256"/>
            <a:ext cx="329184" cy="329184"/>
          </a:xfrm>
          <a:prstGeom prst="ellipse">
            <a:avLst/>
          </a:prstGeom>
          <a:solidFill>
            <a:srgbClr val="D9822B"/>
          </a:solidFill>
          <a:ln w="12700">
            <a:solidFill>
              <a:srgbClr val="D9822B"/>
            </a:solidFill>
            <a:prstDash val="solid"/>
          </a:ln>
        </p:spPr>
        <p:txBody>
          <a:bodyPr/>
          <a:lstStyle/>
          <a:p>
            <a:endParaRPr lang="en-GB"/>
          </a:p>
        </p:txBody>
      </p:sp>
      <p:sp>
        <p:nvSpPr>
          <p:cNvPr id="30" name="Text 28"/>
          <p:cNvSpPr txBox="1"/>
          <p:nvPr/>
        </p:nvSpPr>
        <p:spPr>
          <a:xfrm>
            <a:off x="3364992" y="31912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a:t>
            </a:r>
            <a:endParaRPr lang="en-US" sz="1200" dirty="0"/>
          </a:p>
        </p:txBody>
      </p:sp>
      <p:sp>
        <p:nvSpPr>
          <p:cNvPr id="31" name="Text 29"/>
          <p:cNvSpPr txBox="1"/>
          <p:nvPr/>
        </p:nvSpPr>
        <p:spPr>
          <a:xfrm>
            <a:off x="3776472" y="3172968"/>
            <a:ext cx="1901952" cy="365760"/>
          </a:xfrm>
          <a:prstGeom prst="rect">
            <a:avLst/>
          </a:prstGeom>
          <a:noFill/>
          <a:ln/>
        </p:spPr>
        <p:txBody>
          <a:bodyPr wrap="square" lIns="0" tIns="0" rIns="0" bIns="0" rtlCol="0" anchor="ctr"/>
          <a:lstStyle/>
          <a:p>
            <a:pPr marL="0" indent="0">
              <a:buNone/>
            </a:pPr>
            <a:r>
              <a:rPr lang="en-US" sz="1250" b="1" dirty="0">
                <a:solidFill>
                  <a:srgbClr val="16202B"/>
                </a:solidFill>
                <a:latin typeface="Calibri" pitchFamily="34" charset="0"/>
                <a:ea typeface="Calibri" pitchFamily="34" charset="-122"/>
                <a:cs typeface="Calibri" pitchFamily="34" charset="-120"/>
              </a:rPr>
              <a:t>Wireless access point</a:t>
            </a:r>
            <a:endParaRPr lang="en-US" sz="1250" dirty="0"/>
          </a:p>
        </p:txBody>
      </p:sp>
      <p:sp>
        <p:nvSpPr>
          <p:cNvPr id="32" name="Text 30"/>
          <p:cNvSpPr txBox="1"/>
          <p:nvPr/>
        </p:nvSpPr>
        <p:spPr>
          <a:xfrm>
            <a:off x="3364992" y="3593592"/>
            <a:ext cx="2313432" cy="795528"/>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Lets wireless devices join a wired network</a:t>
            </a:r>
            <a:endParaRPr lang="en-US" sz="950" dirty="0"/>
          </a:p>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Turns Wi-Fi signals into a form the wired network understands</a:t>
            </a:r>
            <a:endParaRPr lang="en-US" sz="950" dirty="0"/>
          </a:p>
        </p:txBody>
      </p:sp>
      <p:sp>
        <p:nvSpPr>
          <p:cNvPr id="33" name="Shape 31"/>
          <p:cNvSpPr/>
          <p:nvPr/>
        </p:nvSpPr>
        <p:spPr>
          <a:xfrm>
            <a:off x="5998464" y="3063240"/>
            <a:ext cx="2587752" cy="1417320"/>
          </a:xfrm>
          <a:prstGeom prst="roundRect">
            <a:avLst>
              <a:gd name="adj" fmla="val 5161"/>
            </a:avLst>
          </a:prstGeom>
          <a:solidFill>
            <a:srgbClr val="EEF2F5"/>
          </a:solidFill>
          <a:ln w="12700">
            <a:solidFill>
              <a:srgbClr val="EEF2F5"/>
            </a:solidFill>
            <a:prstDash val="solid"/>
          </a:ln>
        </p:spPr>
        <p:txBody>
          <a:bodyPr/>
          <a:lstStyle/>
          <a:p>
            <a:endParaRPr lang="en-GB"/>
          </a:p>
        </p:txBody>
      </p:sp>
      <p:sp>
        <p:nvSpPr>
          <p:cNvPr id="34" name="Shape 32"/>
          <p:cNvSpPr/>
          <p:nvPr/>
        </p:nvSpPr>
        <p:spPr>
          <a:xfrm>
            <a:off x="6135624" y="3191256"/>
            <a:ext cx="329184" cy="329184"/>
          </a:xfrm>
          <a:prstGeom prst="ellipse">
            <a:avLst/>
          </a:prstGeom>
          <a:solidFill>
            <a:srgbClr val="2B3A4A"/>
          </a:solidFill>
          <a:ln w="12700">
            <a:solidFill>
              <a:srgbClr val="2B3A4A"/>
            </a:solidFill>
            <a:prstDash val="solid"/>
          </a:ln>
        </p:spPr>
        <p:txBody>
          <a:bodyPr/>
          <a:lstStyle/>
          <a:p>
            <a:endParaRPr lang="en-GB"/>
          </a:p>
        </p:txBody>
      </p:sp>
      <p:sp>
        <p:nvSpPr>
          <p:cNvPr id="35" name="Text 33"/>
          <p:cNvSpPr txBox="1"/>
          <p:nvPr/>
        </p:nvSpPr>
        <p:spPr>
          <a:xfrm>
            <a:off x="6135624" y="31912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t>
            </a:r>
            <a:endParaRPr lang="en-US" sz="1200" dirty="0"/>
          </a:p>
        </p:txBody>
      </p:sp>
      <p:sp>
        <p:nvSpPr>
          <p:cNvPr id="36" name="Text 34"/>
          <p:cNvSpPr txBox="1"/>
          <p:nvPr/>
        </p:nvSpPr>
        <p:spPr>
          <a:xfrm>
            <a:off x="6547104" y="3172968"/>
            <a:ext cx="1901952" cy="365760"/>
          </a:xfrm>
          <a:prstGeom prst="rect">
            <a:avLst/>
          </a:prstGeom>
          <a:noFill/>
          <a:ln/>
        </p:spPr>
        <p:txBody>
          <a:bodyPr wrap="square" lIns="0" tIns="0" rIns="0" bIns="0" rtlCol="0" anchor="ctr"/>
          <a:lstStyle/>
          <a:p>
            <a:pPr marL="0" indent="0">
              <a:buNone/>
            </a:pPr>
            <a:r>
              <a:rPr lang="en-US" sz="1250" b="1" dirty="0">
                <a:solidFill>
                  <a:srgbClr val="16202B"/>
                </a:solidFill>
                <a:latin typeface="Calibri" pitchFamily="34" charset="0"/>
                <a:ea typeface="Calibri" pitchFamily="34" charset="-122"/>
                <a:cs typeface="Calibri" pitchFamily="34" charset="-120"/>
              </a:rPr>
              <a:t>Modem</a:t>
            </a:r>
            <a:endParaRPr lang="en-US" sz="1250" dirty="0"/>
          </a:p>
        </p:txBody>
      </p:sp>
      <p:sp>
        <p:nvSpPr>
          <p:cNvPr id="37" name="Text 35"/>
          <p:cNvSpPr txBox="1"/>
          <p:nvPr/>
        </p:nvSpPr>
        <p:spPr>
          <a:xfrm>
            <a:off x="6135624" y="3593592"/>
            <a:ext cx="2313432" cy="795528"/>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Connects a network to an external line, e.g. from an ISP</a:t>
            </a:r>
            <a:endParaRPr lang="en-US" sz="950" dirty="0"/>
          </a:p>
          <a:p>
            <a:pPr marL="152400" indent="-1524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Converts between the network's signals and the line's signal</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Teach 1.7.1</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Addressing: finding the right device</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1.7.1</a:t>
            </a:r>
            <a:endParaRPr lang="en-US" sz="900" dirty="0"/>
          </a:p>
        </p:txBody>
      </p:sp>
      <p:sp>
        <p:nvSpPr>
          <p:cNvPr id="8" name="Shape 6"/>
          <p:cNvSpPr/>
          <p:nvPr/>
        </p:nvSpPr>
        <p:spPr>
          <a:xfrm>
            <a:off x="457200" y="1508760"/>
            <a:ext cx="4023360" cy="2606040"/>
          </a:xfrm>
          <a:prstGeom prst="roundRect">
            <a:avLst>
              <a:gd name="adj" fmla="val 2807"/>
            </a:avLst>
          </a:prstGeom>
          <a:solidFill>
            <a:srgbClr val="EEF2F5"/>
          </a:solidFill>
          <a:ln w="12700">
            <a:solidFill>
              <a:srgbClr val="EEF2F5"/>
            </a:solidFill>
            <a:prstDash val="solid"/>
          </a:ln>
        </p:spPr>
        <p:txBody>
          <a:bodyPr/>
          <a:lstStyle/>
          <a:p>
            <a:endParaRPr lang="en-GB"/>
          </a:p>
        </p:txBody>
      </p:sp>
      <p:sp>
        <p:nvSpPr>
          <p:cNvPr id="9" name="Shape 7"/>
          <p:cNvSpPr/>
          <p:nvPr/>
        </p:nvSpPr>
        <p:spPr>
          <a:xfrm>
            <a:off x="594360" y="1636776"/>
            <a:ext cx="329184" cy="329184"/>
          </a:xfrm>
          <a:prstGeom prst="ellipse">
            <a:avLst/>
          </a:prstGeom>
          <a:solidFill>
            <a:srgbClr val="D9822B"/>
          </a:solidFill>
          <a:ln w="12700">
            <a:solidFill>
              <a:srgbClr val="D9822B"/>
            </a:solidFill>
            <a:prstDash val="solid"/>
          </a:ln>
        </p:spPr>
        <p:txBody>
          <a:bodyPr/>
          <a:lstStyle/>
          <a:p>
            <a:endParaRPr lang="en-GB"/>
          </a:p>
        </p:txBody>
      </p:sp>
      <p:sp>
        <p:nvSpPr>
          <p:cNvPr id="10" name="Text 8"/>
          <p:cNvSpPr txBox="1"/>
          <p:nvPr/>
        </p:nvSpPr>
        <p:spPr>
          <a:xfrm>
            <a:off x="59436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t>
            </a:r>
            <a:endParaRPr lang="en-US" sz="1200" dirty="0"/>
          </a:p>
        </p:txBody>
      </p:sp>
      <p:sp>
        <p:nvSpPr>
          <p:cNvPr id="11" name="Text 9"/>
          <p:cNvSpPr txBox="1"/>
          <p:nvPr/>
        </p:nvSpPr>
        <p:spPr>
          <a:xfrm>
            <a:off x="1005840" y="1618488"/>
            <a:ext cx="3337560" cy="365760"/>
          </a:xfrm>
          <a:prstGeom prst="rect">
            <a:avLst/>
          </a:prstGeom>
          <a:noFill/>
          <a:ln/>
        </p:spPr>
        <p:txBody>
          <a:bodyPr wrap="square" lIns="0" tIns="0" rIns="0" bIns="0"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MAC address</a:t>
            </a:r>
            <a:endParaRPr lang="en-US" sz="1500" dirty="0"/>
          </a:p>
        </p:txBody>
      </p:sp>
      <p:sp>
        <p:nvSpPr>
          <p:cNvPr id="12" name="Text 10"/>
          <p:cNvSpPr txBox="1"/>
          <p:nvPr/>
        </p:nvSpPr>
        <p:spPr>
          <a:xfrm>
            <a:off x="594360" y="2039112"/>
            <a:ext cx="3749040" cy="1984248"/>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A unique physical address built into a device's network hardware (its NIC)</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Doesn't change — it identifies the physical device itself</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Used to deliver data to the right device within a local network</a:t>
            </a:r>
            <a:endParaRPr lang="en-US" sz="1200" dirty="0"/>
          </a:p>
        </p:txBody>
      </p:sp>
      <p:sp>
        <p:nvSpPr>
          <p:cNvPr id="13" name="Shape 11"/>
          <p:cNvSpPr/>
          <p:nvPr/>
        </p:nvSpPr>
        <p:spPr>
          <a:xfrm>
            <a:off x="4663440" y="1508760"/>
            <a:ext cx="4023360" cy="2606040"/>
          </a:xfrm>
          <a:prstGeom prst="roundRect">
            <a:avLst>
              <a:gd name="adj" fmla="val 2807"/>
            </a:avLst>
          </a:prstGeom>
          <a:solidFill>
            <a:srgbClr val="EEF2F5"/>
          </a:solidFill>
          <a:ln w="12700">
            <a:solidFill>
              <a:srgbClr val="EEF2F5"/>
            </a:solidFill>
            <a:prstDash val="solid"/>
          </a:ln>
        </p:spPr>
        <p:txBody>
          <a:bodyPr/>
          <a:lstStyle/>
          <a:p>
            <a:endParaRPr lang="en-GB"/>
          </a:p>
        </p:txBody>
      </p:sp>
      <p:sp>
        <p:nvSpPr>
          <p:cNvPr id="14" name="Shape 12"/>
          <p:cNvSpPr/>
          <p:nvPr/>
        </p:nvSpPr>
        <p:spPr>
          <a:xfrm>
            <a:off x="4800600" y="1636776"/>
            <a:ext cx="329184" cy="329184"/>
          </a:xfrm>
          <a:prstGeom prst="ellipse">
            <a:avLst/>
          </a:prstGeom>
          <a:solidFill>
            <a:srgbClr val="2B3A4A"/>
          </a:solidFill>
          <a:ln w="12700">
            <a:solidFill>
              <a:srgbClr val="2B3A4A"/>
            </a:solidFill>
            <a:prstDash val="solid"/>
          </a:ln>
        </p:spPr>
        <p:txBody>
          <a:bodyPr/>
          <a:lstStyle/>
          <a:p>
            <a:endParaRPr lang="en-GB"/>
          </a:p>
        </p:txBody>
      </p:sp>
      <p:sp>
        <p:nvSpPr>
          <p:cNvPr id="15" name="Text 13"/>
          <p:cNvSpPr txBox="1"/>
          <p:nvPr/>
        </p:nvSpPr>
        <p:spPr>
          <a:xfrm>
            <a:off x="480060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a:t>
            </a:r>
            <a:endParaRPr lang="en-US" sz="1200" dirty="0"/>
          </a:p>
        </p:txBody>
      </p:sp>
      <p:sp>
        <p:nvSpPr>
          <p:cNvPr id="16" name="Text 14"/>
          <p:cNvSpPr txBox="1"/>
          <p:nvPr/>
        </p:nvSpPr>
        <p:spPr>
          <a:xfrm>
            <a:off x="5212080" y="1618488"/>
            <a:ext cx="3337560" cy="365760"/>
          </a:xfrm>
          <a:prstGeom prst="rect">
            <a:avLst/>
          </a:prstGeom>
          <a:noFill/>
          <a:ln/>
        </p:spPr>
        <p:txBody>
          <a:bodyPr wrap="square" lIns="0" tIns="0" rIns="0" bIns="0"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IP address</a:t>
            </a:r>
            <a:endParaRPr lang="en-US" sz="1500" dirty="0"/>
          </a:p>
        </p:txBody>
      </p:sp>
      <p:sp>
        <p:nvSpPr>
          <p:cNvPr id="17" name="Text 15"/>
          <p:cNvSpPr txBox="1"/>
          <p:nvPr/>
        </p:nvSpPr>
        <p:spPr>
          <a:xfrm>
            <a:off x="4800600" y="2039112"/>
            <a:ext cx="3749040" cy="1984248"/>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A logical address assigned to a device on a network</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Can change — assigned automatically (DHCP) or set manually</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Used to route data between networks, including across the internet</a:t>
            </a:r>
            <a:endParaRPr lang="en-US" sz="1200" dirty="0"/>
          </a:p>
        </p:txBody>
      </p:sp>
      <p:sp>
        <p:nvSpPr>
          <p:cNvPr id="18" name="Shape 16"/>
          <p:cNvSpPr/>
          <p:nvPr/>
        </p:nvSpPr>
        <p:spPr>
          <a:xfrm>
            <a:off x="457200" y="4251960"/>
            <a:ext cx="8229600" cy="457200"/>
          </a:xfrm>
          <a:prstGeom prst="roundRect">
            <a:avLst>
              <a:gd name="adj" fmla="val 16000"/>
            </a:avLst>
          </a:prstGeom>
          <a:solidFill>
            <a:srgbClr val="F6E3CF"/>
          </a:solidFill>
          <a:ln w="12700">
            <a:solidFill>
              <a:srgbClr val="F6E3CF"/>
            </a:solidFill>
            <a:prstDash val="solid"/>
          </a:ln>
        </p:spPr>
        <p:txBody>
          <a:bodyPr/>
          <a:lstStyle/>
          <a:p>
            <a:endParaRPr lang="en-GB"/>
          </a:p>
        </p:txBody>
      </p:sp>
      <p:sp>
        <p:nvSpPr>
          <p:cNvPr id="19" name="Text 17"/>
          <p:cNvSpPr txBox="1"/>
          <p:nvPr/>
        </p:nvSpPr>
        <p:spPr>
          <a:xfrm>
            <a:off x="594360" y="4251960"/>
            <a:ext cx="7955280" cy="457200"/>
          </a:xfrm>
          <a:prstGeom prst="rect">
            <a:avLst/>
          </a:prstGeom>
          <a:noFill/>
          <a:ln/>
        </p:spPr>
        <p:txBody>
          <a:bodyPr wrap="square" lIns="0" tIns="0" rIns="0" bIns="0" rtlCol="0" anchor="ctr"/>
          <a:lstStyle/>
          <a:p>
            <a:pPr marL="0" indent="0">
              <a:buNone/>
            </a:pPr>
            <a:r>
              <a:rPr lang="en-US" sz="1150" i="1" dirty="0">
                <a:solidFill>
                  <a:srgbClr val="7A4512"/>
                </a:solidFill>
                <a:latin typeface="Calibri" pitchFamily="34" charset="0"/>
                <a:ea typeface="Calibri" pitchFamily="34" charset="-122"/>
                <a:cs typeface="Calibri" pitchFamily="34" charset="-120"/>
              </a:rPr>
              <a:t>Both are needed: the IP address gets data to the right network, the MAC address gets it to the right device on that network.</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Teach 1.7.1</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Transmission media: wired and wireless</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1.7.1</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54864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6202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Examples</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6202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Advantage</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6202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Disadvantage</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6202B"/>
                    </a:solidFill>
                  </a:tcPr>
                </a:tc>
                <a:extLst>
                  <a:ext uri="{0D108BD9-81ED-4DB2-BD59-A6C34878D82A}">
                    <a16:rowId xmlns:a16="http://schemas.microsoft.com/office/drawing/2014/main" val="10000"/>
                  </a:ext>
                </a:extLst>
              </a:tr>
              <a:tr h="548640">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Copper / twisted pair</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Ethernet cables, telephone wiring</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Cheap and simple to install</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Limited distance and bandwidth, prone to interference</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Fibre optic</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High-speed backbone and broadband links</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Very high bandwidth, long distance, resistant to interference</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More expensive to buy and install</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Wireless (radio)</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Wi-Fi, Bluetooth, cellular</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No cables needed — devices can move freely</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Usually slower and less secure than wired, prone to interference</a:t>
                      </a:r>
                      <a:endParaRPr lang="en-US" sz="1050" dirty="0">
                        <a:latin typeface="Calibri" charset="0"/>
                        <a:ea typeface="Calibri" charset="0"/>
                        <a:cs typeface="Calibri" charset="0"/>
                      </a:endParaRPr>
                    </a:p>
                  </a:txBody>
                  <a:tcPr marL="54864" marR="54864" marT="54864" marB="54864"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Teach 1.7.1</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Networked vs standalone</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1.7.1</a:t>
            </a:r>
            <a:endParaRPr lang="en-US" sz="900" dirty="0"/>
          </a:p>
        </p:txBody>
      </p:sp>
      <p:sp>
        <p:nvSpPr>
          <p:cNvPr id="8" name="Shape 6"/>
          <p:cNvSpPr/>
          <p:nvPr/>
        </p:nvSpPr>
        <p:spPr>
          <a:xfrm>
            <a:off x="457200" y="1508760"/>
            <a:ext cx="4023360" cy="2834640"/>
          </a:xfrm>
          <a:prstGeom prst="roundRect">
            <a:avLst>
              <a:gd name="adj" fmla="val 2581"/>
            </a:avLst>
          </a:prstGeom>
          <a:solidFill>
            <a:srgbClr val="DDEFE3"/>
          </a:solidFill>
          <a:ln w="12700">
            <a:solidFill>
              <a:srgbClr val="DDEFE3"/>
            </a:solidFill>
            <a:prstDash val="solid"/>
          </a:ln>
        </p:spPr>
        <p:txBody>
          <a:bodyPr/>
          <a:lstStyle/>
          <a:p>
            <a:endParaRPr lang="en-GB"/>
          </a:p>
        </p:txBody>
      </p:sp>
      <p:sp>
        <p:nvSpPr>
          <p:cNvPr id="9" name="Shape 7"/>
          <p:cNvSpPr/>
          <p:nvPr/>
        </p:nvSpPr>
        <p:spPr>
          <a:xfrm>
            <a:off x="594360" y="1636776"/>
            <a:ext cx="329184" cy="329184"/>
          </a:xfrm>
          <a:prstGeom prst="ellipse">
            <a:avLst/>
          </a:prstGeom>
          <a:solidFill>
            <a:srgbClr val="3C8D5A"/>
          </a:solidFill>
          <a:ln w="12700">
            <a:solidFill>
              <a:srgbClr val="3C8D5A"/>
            </a:solidFill>
            <a:prstDash val="solid"/>
          </a:ln>
        </p:spPr>
        <p:txBody>
          <a:bodyPr/>
          <a:lstStyle/>
          <a:p>
            <a:endParaRPr lang="en-GB"/>
          </a:p>
        </p:txBody>
      </p:sp>
      <p:sp>
        <p:nvSpPr>
          <p:cNvPr id="10" name="Text 8"/>
          <p:cNvSpPr txBox="1"/>
          <p:nvPr/>
        </p:nvSpPr>
        <p:spPr>
          <a:xfrm>
            <a:off x="59436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1" name="Text 9"/>
          <p:cNvSpPr txBox="1"/>
          <p:nvPr/>
        </p:nvSpPr>
        <p:spPr>
          <a:xfrm>
            <a:off x="1005840" y="1618488"/>
            <a:ext cx="3337560" cy="365760"/>
          </a:xfrm>
          <a:prstGeom prst="rect">
            <a:avLst/>
          </a:prstGeom>
          <a:noFill/>
          <a:ln/>
        </p:spPr>
        <p:txBody>
          <a:bodyPr wrap="square" lIns="0" tIns="0" rIns="0" bIns="0"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Advantages of networking</a:t>
            </a:r>
            <a:endParaRPr lang="en-US" sz="1500" dirty="0"/>
          </a:p>
        </p:txBody>
      </p:sp>
      <p:sp>
        <p:nvSpPr>
          <p:cNvPr id="12" name="Text 10"/>
          <p:cNvSpPr txBox="1"/>
          <p:nvPr/>
        </p:nvSpPr>
        <p:spPr>
          <a:xfrm>
            <a:off x="594360" y="2039112"/>
            <a:ext cx="3749040" cy="2212848"/>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Share resources — printers, files, internet connections</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Centralised management — updates, backups and security controlled from one place</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Easy communication between devices and users</a:t>
            </a:r>
            <a:endParaRPr lang="en-US" sz="1200" dirty="0"/>
          </a:p>
        </p:txBody>
      </p:sp>
      <p:sp>
        <p:nvSpPr>
          <p:cNvPr id="13" name="Shape 11"/>
          <p:cNvSpPr/>
          <p:nvPr/>
        </p:nvSpPr>
        <p:spPr>
          <a:xfrm>
            <a:off x="4663440" y="1508760"/>
            <a:ext cx="4023360" cy="2834640"/>
          </a:xfrm>
          <a:prstGeom prst="roundRect">
            <a:avLst>
              <a:gd name="adj" fmla="val 2581"/>
            </a:avLst>
          </a:prstGeom>
          <a:solidFill>
            <a:srgbClr val="F4DCD7"/>
          </a:solidFill>
          <a:ln w="12700">
            <a:solidFill>
              <a:srgbClr val="F4DCD7"/>
            </a:solidFill>
            <a:prstDash val="solid"/>
          </a:ln>
        </p:spPr>
        <p:txBody>
          <a:bodyPr/>
          <a:lstStyle/>
          <a:p>
            <a:endParaRPr lang="en-GB"/>
          </a:p>
        </p:txBody>
      </p:sp>
      <p:sp>
        <p:nvSpPr>
          <p:cNvPr id="14" name="Shape 12"/>
          <p:cNvSpPr/>
          <p:nvPr/>
        </p:nvSpPr>
        <p:spPr>
          <a:xfrm>
            <a:off x="4800600" y="1636776"/>
            <a:ext cx="329184" cy="329184"/>
          </a:xfrm>
          <a:prstGeom prst="ellipse">
            <a:avLst/>
          </a:prstGeom>
          <a:solidFill>
            <a:srgbClr val="B3412F"/>
          </a:solidFill>
          <a:ln w="12700">
            <a:solidFill>
              <a:srgbClr val="B3412F"/>
            </a:solidFill>
            <a:prstDash val="solid"/>
          </a:ln>
        </p:spPr>
        <p:txBody>
          <a:bodyPr/>
          <a:lstStyle/>
          <a:p>
            <a:endParaRPr lang="en-GB"/>
          </a:p>
        </p:txBody>
      </p:sp>
      <p:sp>
        <p:nvSpPr>
          <p:cNvPr id="15" name="Text 13"/>
          <p:cNvSpPr txBox="1"/>
          <p:nvPr/>
        </p:nvSpPr>
        <p:spPr>
          <a:xfrm>
            <a:off x="480060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5212080" y="1618488"/>
            <a:ext cx="3337560" cy="365760"/>
          </a:xfrm>
          <a:prstGeom prst="rect">
            <a:avLst/>
          </a:prstGeom>
          <a:noFill/>
          <a:ln/>
        </p:spPr>
        <p:txBody>
          <a:bodyPr wrap="square" lIns="0" tIns="0" rIns="0" bIns="0" rtlCol="0" anchor="ctr"/>
          <a:lstStyle/>
          <a:p>
            <a:pPr marL="0" indent="0">
              <a:buNone/>
            </a:pPr>
            <a:r>
              <a:rPr lang="en-US" sz="1500" b="1" dirty="0">
                <a:solidFill>
                  <a:srgbClr val="16202B"/>
                </a:solidFill>
                <a:latin typeface="Calibri" pitchFamily="34" charset="0"/>
                <a:ea typeface="Calibri" pitchFamily="34" charset="-122"/>
                <a:cs typeface="Calibri" pitchFamily="34" charset="-120"/>
              </a:rPr>
              <a:t>Disadvantages of networking</a:t>
            </a:r>
            <a:endParaRPr lang="en-US" sz="1500" dirty="0"/>
          </a:p>
        </p:txBody>
      </p:sp>
      <p:sp>
        <p:nvSpPr>
          <p:cNvPr id="17" name="Text 15"/>
          <p:cNvSpPr txBox="1"/>
          <p:nvPr/>
        </p:nvSpPr>
        <p:spPr>
          <a:xfrm>
            <a:off x="4800600" y="2039112"/>
            <a:ext cx="3749040" cy="2212848"/>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A bigger security risk — more points where an attacker could get in</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If the network goes down, every connected device can be affected</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Costs more to set up and maintain than standalone computers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Check  ·  4 min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Quiz 1.7.1 (extended) — how networks communicate</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9AA8B5"/>
                </a:solidFill>
                <a:latin typeface="Calibri" pitchFamily="34" charset="0"/>
                <a:ea typeface="Calibri" pitchFamily="34" charset="-122"/>
                <a:cs typeface="Calibri" pitchFamily="34" charset="-120"/>
              </a:rPr>
              <a:t>1.7.1</a:t>
            </a:r>
            <a:endParaRPr lang="en-US" sz="900" dirty="0"/>
          </a:p>
        </p:txBody>
      </p:sp>
      <p:sp>
        <p:nvSpPr>
          <p:cNvPr id="8" name="Text 6"/>
          <p:cNvSpPr txBox="1"/>
          <p:nvPr/>
        </p:nvSpPr>
        <p:spPr>
          <a:xfrm>
            <a:off x="457200" y="1554480"/>
            <a:ext cx="7772400" cy="457200"/>
          </a:xfrm>
          <a:prstGeom prst="rect">
            <a:avLst/>
          </a:prstGeom>
          <a:noFill/>
          <a:ln/>
        </p:spPr>
        <p:txBody>
          <a:bodyPr wrap="square" lIns="0" tIns="0" rIns="0" bIns="0" rtlCol="0" anchor="ctr"/>
          <a:lstStyle/>
          <a:p>
            <a:pPr marL="0" indent="0">
              <a:buNone/>
            </a:pPr>
            <a:r>
              <a:rPr lang="en-US" sz="1600" dirty="0">
                <a:solidFill>
                  <a:srgbClr val="D9822B"/>
                </a:solidFill>
                <a:latin typeface="Calibri" pitchFamily="34" charset="0"/>
                <a:ea typeface="Calibri" pitchFamily="34" charset="-122"/>
                <a:cs typeface="Calibri" pitchFamily="34" charset="-120"/>
              </a:rPr>
              <a:t>Describe networks and how they communicate</a:t>
            </a:r>
            <a:endParaRPr lang="en-US" sz="1600" dirty="0"/>
          </a:p>
        </p:txBody>
      </p:sp>
      <p:sp>
        <p:nvSpPr>
          <p:cNvPr id="9" name="Shape 7"/>
          <p:cNvSpPr/>
          <p:nvPr/>
        </p:nvSpPr>
        <p:spPr>
          <a:xfrm>
            <a:off x="457200" y="2103120"/>
            <a:ext cx="5943600" cy="594360"/>
          </a:xfrm>
          <a:prstGeom prst="roundRect">
            <a:avLst>
              <a:gd name="adj" fmla="val 12308"/>
            </a:avLst>
          </a:prstGeom>
          <a:solidFill>
            <a:srgbClr val="2B3A4A"/>
          </a:solidFill>
          <a:ln w="12700">
            <a:solidFill>
              <a:srgbClr val="2B3A4A"/>
            </a:solidFill>
            <a:prstDash val="solid"/>
          </a:ln>
        </p:spPr>
        <p:txBody>
          <a:bodyPr/>
          <a:lstStyle/>
          <a:p>
            <a:endParaRPr lang="en-GB"/>
          </a:p>
        </p:txBody>
      </p:sp>
      <p:sp>
        <p:nvSpPr>
          <p:cNvPr id="10" name="Text 8"/>
          <p:cNvSpPr txBox="1"/>
          <p:nvPr/>
        </p:nvSpPr>
        <p:spPr>
          <a:xfrm>
            <a:off x="594360" y="2103120"/>
            <a:ext cx="5669280" cy="594360"/>
          </a:xfrm>
          <a:prstGeom prst="rect">
            <a:avLst/>
          </a:prstGeom>
          <a:noFill/>
          <a:ln/>
        </p:spPr>
        <p:txBody>
          <a:bodyPr wrap="square" lIns="0" tIns="0" rIns="0" bIns="0" rtlCol="0" anchor="ctr"/>
          <a:lstStyle/>
          <a:p>
            <a:pPr marL="0" indent="0">
              <a:buNone/>
            </a:pPr>
            <a:r>
              <a:rPr lang="en-US" sz="1200" i="1" dirty="0">
                <a:solidFill>
                  <a:srgbClr val="9AA8B5"/>
                </a:solidFill>
                <a:latin typeface="Courier New" pitchFamily="34" charset="0"/>
                <a:ea typeface="Courier New" pitchFamily="34" charset="-122"/>
                <a:cs typeface="Courier New" pitchFamily="34" charset="-120"/>
              </a:rPr>
              <a:t>Quiz link — Microsoft Forms: [ADD LINK / QR HERE]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Teach  ·  7 min</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6" name="Text 4"/>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7" name="Text 5"/>
          <p:cNvSpPr txBox="1"/>
          <p:nvPr/>
        </p:nvSpPr>
        <p:spPr>
          <a:xfrm>
            <a:off x="457200" y="1188720"/>
            <a:ext cx="8229600" cy="640080"/>
          </a:xfrm>
          <a:prstGeom prst="rect">
            <a:avLst/>
          </a:prstGeom>
          <a:noFill/>
          <a:ln/>
        </p:spPr>
        <p:txBody>
          <a:bodyPr wrap="square" lIns="0" tIns="0" rIns="0" bIns="0" rtlCol="0" anchor="ctr"/>
          <a:lstStyle/>
          <a:p>
            <a:pPr marL="0" indent="0">
              <a:buNone/>
            </a:pPr>
            <a:r>
              <a:rPr lang="en-US" sz="3400" b="1" dirty="0">
                <a:solidFill>
                  <a:srgbClr val="D9822B"/>
                </a:solidFill>
                <a:latin typeface="Courier New" pitchFamily="34" charset="0"/>
                <a:ea typeface="Courier New" pitchFamily="34" charset="-122"/>
                <a:cs typeface="Courier New" pitchFamily="34" charset="-120"/>
              </a:rPr>
              <a:t>1.7.2</a:t>
            </a:r>
            <a:endParaRPr lang="en-US" sz="3400" dirty="0"/>
          </a:p>
        </p:txBody>
      </p:sp>
      <p:sp>
        <p:nvSpPr>
          <p:cNvPr id="8" name="Text 6"/>
          <p:cNvSpPr txBox="1"/>
          <p:nvPr/>
        </p:nvSpPr>
        <p:spPr>
          <a:xfrm>
            <a:off x="457200" y="1874520"/>
            <a:ext cx="8046720" cy="960120"/>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Explain the importance of networking standards.</a:t>
            </a:r>
            <a:endParaRPr lang="en-US" sz="1900" dirty="0"/>
          </a:p>
        </p:txBody>
      </p:sp>
      <p:sp>
        <p:nvSpPr>
          <p:cNvPr id="9" name="Text 7"/>
          <p:cNvSpPr txBox="1"/>
          <p:nvPr/>
        </p:nvSpPr>
        <p:spPr>
          <a:xfrm>
            <a:off x="457200" y="2971800"/>
            <a:ext cx="2743200" cy="256032"/>
          </a:xfrm>
          <a:prstGeom prst="rect">
            <a:avLst/>
          </a:prstGeom>
          <a:noFill/>
          <a:ln/>
        </p:spPr>
        <p:txBody>
          <a:bodyPr wrap="square" lIns="0" tIns="0" rIns="0" bIns="0" rtlCol="0" anchor="ctr"/>
          <a:lstStyle/>
          <a:p>
            <a:pPr marL="0" indent="0">
              <a:buNone/>
            </a:pPr>
            <a:r>
              <a:rPr lang="en-US" sz="1100" b="1" dirty="0">
                <a:solidFill>
                  <a:srgbClr val="9AA8B5"/>
                </a:solidFill>
                <a:latin typeface="Calibri" pitchFamily="34" charset="0"/>
                <a:ea typeface="Calibri" pitchFamily="34" charset="-122"/>
                <a:cs typeface="Calibri" pitchFamily="34" charset="-120"/>
              </a:rPr>
              <a:t>In this segment</a:t>
            </a:r>
            <a:endParaRPr lang="en-US" sz="1100" dirty="0"/>
          </a:p>
        </p:txBody>
      </p:sp>
      <p:sp>
        <p:nvSpPr>
          <p:cNvPr id="10" name="Text 8"/>
          <p:cNvSpPr txBox="1"/>
          <p:nvPr/>
        </p:nvSpPr>
        <p:spPr>
          <a:xfrm>
            <a:off x="457200" y="3246120"/>
            <a:ext cx="7863840" cy="13716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What a networking standard actually is</a:t>
            </a:r>
            <a:endParaRPr lang="en-US" sz="1300" dirty="0"/>
          </a:p>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Why the industry agreed on them</a:t>
            </a:r>
            <a:endParaRPr lang="en-US" sz="1300" dirty="0"/>
          </a:p>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What would go wrong without them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Teach 1.7.2</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Why networking standards matter</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1.7.2</a:t>
            </a:r>
            <a:endParaRPr lang="en-US" sz="900" dirty="0"/>
          </a:p>
        </p:txBody>
      </p:sp>
      <p:sp>
        <p:nvSpPr>
          <p:cNvPr id="8" name="Shape 6"/>
          <p:cNvSpPr/>
          <p:nvPr/>
        </p:nvSpPr>
        <p:spPr>
          <a:xfrm>
            <a:off x="457200" y="1508760"/>
            <a:ext cx="4023360" cy="1417320"/>
          </a:xfrm>
          <a:prstGeom prst="roundRect">
            <a:avLst>
              <a:gd name="adj" fmla="val 5161"/>
            </a:avLst>
          </a:prstGeom>
          <a:solidFill>
            <a:srgbClr val="EEF2F5"/>
          </a:solidFill>
          <a:ln w="12700">
            <a:solidFill>
              <a:srgbClr val="EEF2F5"/>
            </a:solidFill>
            <a:prstDash val="solid"/>
          </a:ln>
        </p:spPr>
        <p:txBody>
          <a:bodyPr/>
          <a:lstStyle/>
          <a:p>
            <a:endParaRPr lang="en-GB"/>
          </a:p>
        </p:txBody>
      </p:sp>
      <p:sp>
        <p:nvSpPr>
          <p:cNvPr id="9" name="Shape 7"/>
          <p:cNvSpPr/>
          <p:nvPr/>
        </p:nvSpPr>
        <p:spPr>
          <a:xfrm>
            <a:off x="594360" y="1636776"/>
            <a:ext cx="329184" cy="329184"/>
          </a:xfrm>
          <a:prstGeom prst="ellipse">
            <a:avLst/>
          </a:prstGeom>
          <a:solidFill>
            <a:srgbClr val="D9822B"/>
          </a:solidFill>
          <a:ln w="12700">
            <a:solidFill>
              <a:srgbClr val="D9822B"/>
            </a:solidFill>
            <a:prstDash val="solid"/>
          </a:ln>
        </p:spPr>
        <p:txBody>
          <a:bodyPr/>
          <a:lstStyle/>
          <a:p>
            <a:endParaRPr lang="en-GB"/>
          </a:p>
        </p:txBody>
      </p:sp>
      <p:sp>
        <p:nvSpPr>
          <p:cNvPr id="10" name="Text 8"/>
          <p:cNvSpPr txBox="1"/>
          <p:nvPr/>
        </p:nvSpPr>
        <p:spPr>
          <a:xfrm>
            <a:off x="59436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005840" y="1618488"/>
            <a:ext cx="3337560" cy="365760"/>
          </a:xfrm>
          <a:prstGeom prst="rect">
            <a:avLst/>
          </a:prstGeom>
          <a:noFill/>
          <a:ln/>
        </p:spPr>
        <p:txBody>
          <a:bodyPr wrap="square" lIns="0" tIns="0" rIns="0" bIns="0" rtlCol="0" anchor="ctr"/>
          <a:lstStyle/>
          <a:p>
            <a:pPr marL="0" indent="0">
              <a:buNone/>
            </a:pPr>
            <a:r>
              <a:rPr lang="en-US" sz="1350" b="1" dirty="0">
                <a:solidFill>
                  <a:srgbClr val="16202B"/>
                </a:solidFill>
                <a:latin typeface="Calibri" pitchFamily="34" charset="0"/>
                <a:ea typeface="Calibri" pitchFamily="34" charset="-122"/>
                <a:cs typeface="Calibri" pitchFamily="34" charset="-120"/>
              </a:rPr>
              <a:t>Interoperability</a:t>
            </a:r>
            <a:endParaRPr lang="en-US" sz="1350" dirty="0"/>
          </a:p>
        </p:txBody>
      </p:sp>
      <p:sp>
        <p:nvSpPr>
          <p:cNvPr id="12" name="Text 10"/>
          <p:cNvSpPr txBox="1"/>
          <p:nvPr/>
        </p:nvSpPr>
        <p:spPr>
          <a:xfrm>
            <a:off x="594360" y="2039112"/>
            <a:ext cx="3749040" cy="795528"/>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Hardware and software from different vendors can work together</a:t>
            </a:r>
            <a:endParaRPr lang="en-US" sz="1150" dirty="0"/>
          </a:p>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Without shared standards, building networks that easily share information would be difficult or impossible</a:t>
            </a:r>
            <a:endParaRPr lang="en-US" sz="1150" dirty="0"/>
          </a:p>
        </p:txBody>
      </p:sp>
      <p:sp>
        <p:nvSpPr>
          <p:cNvPr id="13" name="Shape 11"/>
          <p:cNvSpPr/>
          <p:nvPr/>
        </p:nvSpPr>
        <p:spPr>
          <a:xfrm>
            <a:off x="4663440" y="1508760"/>
            <a:ext cx="4023360" cy="1417320"/>
          </a:xfrm>
          <a:prstGeom prst="roundRect">
            <a:avLst>
              <a:gd name="adj" fmla="val 5161"/>
            </a:avLst>
          </a:prstGeom>
          <a:solidFill>
            <a:srgbClr val="EEF2F5"/>
          </a:solidFill>
          <a:ln w="12700">
            <a:solidFill>
              <a:srgbClr val="EEF2F5"/>
            </a:solidFill>
            <a:prstDash val="solid"/>
          </a:ln>
        </p:spPr>
        <p:txBody>
          <a:bodyPr/>
          <a:lstStyle/>
          <a:p>
            <a:endParaRPr lang="en-GB"/>
          </a:p>
        </p:txBody>
      </p:sp>
      <p:sp>
        <p:nvSpPr>
          <p:cNvPr id="14" name="Shape 12"/>
          <p:cNvSpPr/>
          <p:nvPr/>
        </p:nvSpPr>
        <p:spPr>
          <a:xfrm>
            <a:off x="4800600" y="1636776"/>
            <a:ext cx="329184" cy="329184"/>
          </a:xfrm>
          <a:prstGeom prst="ellipse">
            <a:avLst/>
          </a:prstGeom>
          <a:solidFill>
            <a:srgbClr val="2B3A4A"/>
          </a:solidFill>
          <a:ln w="12700">
            <a:solidFill>
              <a:srgbClr val="2B3A4A"/>
            </a:solidFill>
            <a:prstDash val="solid"/>
          </a:ln>
        </p:spPr>
        <p:txBody>
          <a:bodyPr/>
          <a:lstStyle/>
          <a:p>
            <a:endParaRPr lang="en-GB"/>
          </a:p>
        </p:txBody>
      </p:sp>
      <p:sp>
        <p:nvSpPr>
          <p:cNvPr id="15" name="Text 13"/>
          <p:cNvSpPr txBox="1"/>
          <p:nvPr/>
        </p:nvSpPr>
        <p:spPr>
          <a:xfrm>
            <a:off x="480060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5212080" y="1618488"/>
            <a:ext cx="3337560" cy="365760"/>
          </a:xfrm>
          <a:prstGeom prst="rect">
            <a:avLst/>
          </a:prstGeom>
          <a:noFill/>
          <a:ln/>
        </p:spPr>
        <p:txBody>
          <a:bodyPr wrap="square" lIns="0" tIns="0" rIns="0" bIns="0" rtlCol="0" anchor="ctr"/>
          <a:lstStyle/>
          <a:p>
            <a:pPr marL="0" indent="0">
              <a:buNone/>
            </a:pPr>
            <a:r>
              <a:rPr lang="en-US" sz="1350" b="1" dirty="0">
                <a:solidFill>
                  <a:srgbClr val="16202B"/>
                </a:solidFill>
                <a:latin typeface="Calibri" pitchFamily="34" charset="0"/>
                <a:ea typeface="Calibri" pitchFamily="34" charset="-122"/>
                <a:cs typeface="Calibri" pitchFamily="34" charset="-120"/>
              </a:rPr>
              <a:t>No vendor lock-in</a:t>
            </a:r>
            <a:endParaRPr lang="en-US" sz="1350" dirty="0"/>
          </a:p>
        </p:txBody>
      </p:sp>
      <p:sp>
        <p:nvSpPr>
          <p:cNvPr id="17" name="Text 15"/>
          <p:cNvSpPr txBox="1"/>
          <p:nvPr/>
        </p:nvSpPr>
        <p:spPr>
          <a:xfrm>
            <a:off x="4800600" y="2039112"/>
            <a:ext cx="3749040" cy="795528"/>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Customers aren't forced to buy every device from one company</a:t>
            </a:r>
            <a:endParaRPr lang="en-US" sz="1150" dirty="0"/>
          </a:p>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Standards mean genuine choice between suppliers</a:t>
            </a:r>
            <a:endParaRPr lang="en-US" sz="1150" dirty="0"/>
          </a:p>
        </p:txBody>
      </p:sp>
      <p:sp>
        <p:nvSpPr>
          <p:cNvPr id="18" name="Shape 16"/>
          <p:cNvSpPr/>
          <p:nvPr/>
        </p:nvSpPr>
        <p:spPr>
          <a:xfrm>
            <a:off x="457200" y="3063240"/>
            <a:ext cx="4023360" cy="1417320"/>
          </a:xfrm>
          <a:prstGeom prst="roundRect">
            <a:avLst>
              <a:gd name="adj" fmla="val 5161"/>
            </a:avLst>
          </a:prstGeom>
          <a:solidFill>
            <a:srgbClr val="EEF2F5"/>
          </a:solidFill>
          <a:ln w="12700">
            <a:solidFill>
              <a:srgbClr val="EEF2F5"/>
            </a:solidFill>
            <a:prstDash val="solid"/>
          </a:ln>
        </p:spPr>
        <p:txBody>
          <a:bodyPr/>
          <a:lstStyle/>
          <a:p>
            <a:endParaRPr lang="en-GB"/>
          </a:p>
        </p:txBody>
      </p:sp>
      <p:sp>
        <p:nvSpPr>
          <p:cNvPr id="19" name="Shape 17"/>
          <p:cNvSpPr/>
          <p:nvPr/>
        </p:nvSpPr>
        <p:spPr>
          <a:xfrm>
            <a:off x="594360" y="3191256"/>
            <a:ext cx="329184" cy="329184"/>
          </a:xfrm>
          <a:prstGeom prst="ellipse">
            <a:avLst/>
          </a:prstGeom>
          <a:solidFill>
            <a:srgbClr val="D9822B"/>
          </a:solidFill>
          <a:ln w="12700">
            <a:solidFill>
              <a:srgbClr val="D9822B"/>
            </a:solidFill>
            <a:prstDash val="solid"/>
          </a:ln>
        </p:spPr>
        <p:txBody>
          <a:bodyPr/>
          <a:lstStyle/>
          <a:p>
            <a:endParaRPr lang="en-GB"/>
          </a:p>
        </p:txBody>
      </p:sp>
      <p:sp>
        <p:nvSpPr>
          <p:cNvPr id="20" name="Text 18"/>
          <p:cNvSpPr txBox="1"/>
          <p:nvPr/>
        </p:nvSpPr>
        <p:spPr>
          <a:xfrm>
            <a:off x="594360" y="31912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txBox="1"/>
          <p:nvPr/>
        </p:nvSpPr>
        <p:spPr>
          <a:xfrm>
            <a:off x="1005840" y="3172968"/>
            <a:ext cx="3337560" cy="365760"/>
          </a:xfrm>
          <a:prstGeom prst="rect">
            <a:avLst/>
          </a:prstGeom>
          <a:noFill/>
          <a:ln/>
        </p:spPr>
        <p:txBody>
          <a:bodyPr wrap="square" lIns="0" tIns="0" rIns="0" bIns="0" rtlCol="0" anchor="ctr"/>
          <a:lstStyle/>
          <a:p>
            <a:pPr marL="0" indent="0">
              <a:buNone/>
            </a:pPr>
            <a:r>
              <a:rPr lang="en-US" sz="1350" b="1" dirty="0">
                <a:solidFill>
                  <a:srgbClr val="16202B"/>
                </a:solidFill>
                <a:latin typeface="Calibri" pitchFamily="34" charset="0"/>
                <a:ea typeface="Calibri" pitchFamily="34" charset="-122"/>
                <a:cs typeface="Calibri" pitchFamily="34" charset="-120"/>
              </a:rPr>
              <a:t>Competition &amp; price</a:t>
            </a:r>
            <a:endParaRPr lang="en-US" sz="1350" dirty="0"/>
          </a:p>
        </p:txBody>
      </p:sp>
      <p:sp>
        <p:nvSpPr>
          <p:cNvPr id="22" name="Text 20"/>
          <p:cNvSpPr txBox="1"/>
          <p:nvPr/>
        </p:nvSpPr>
        <p:spPr>
          <a:xfrm>
            <a:off x="594360" y="3593592"/>
            <a:ext cx="3749040" cy="795528"/>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Open standards promote competition between vendors</a:t>
            </a:r>
            <a:endParaRPr lang="en-US" sz="1150" dirty="0"/>
          </a:p>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More competition helps hold prices down</a:t>
            </a:r>
            <a:endParaRPr lang="en-US" sz="1150" dirty="0"/>
          </a:p>
        </p:txBody>
      </p:sp>
      <p:sp>
        <p:nvSpPr>
          <p:cNvPr id="23" name="Shape 21"/>
          <p:cNvSpPr/>
          <p:nvPr/>
        </p:nvSpPr>
        <p:spPr>
          <a:xfrm>
            <a:off x="4663440" y="3063240"/>
            <a:ext cx="4023360" cy="1417320"/>
          </a:xfrm>
          <a:prstGeom prst="roundRect">
            <a:avLst>
              <a:gd name="adj" fmla="val 5161"/>
            </a:avLst>
          </a:prstGeom>
          <a:solidFill>
            <a:srgbClr val="EEF2F5"/>
          </a:solidFill>
          <a:ln w="12700">
            <a:solidFill>
              <a:srgbClr val="EEF2F5"/>
            </a:solidFill>
            <a:prstDash val="solid"/>
          </a:ln>
        </p:spPr>
        <p:txBody>
          <a:bodyPr/>
          <a:lstStyle/>
          <a:p>
            <a:endParaRPr lang="en-GB"/>
          </a:p>
        </p:txBody>
      </p:sp>
      <p:sp>
        <p:nvSpPr>
          <p:cNvPr id="24" name="Shape 22"/>
          <p:cNvSpPr/>
          <p:nvPr/>
        </p:nvSpPr>
        <p:spPr>
          <a:xfrm>
            <a:off x="4800600" y="3191256"/>
            <a:ext cx="329184" cy="329184"/>
          </a:xfrm>
          <a:prstGeom prst="ellipse">
            <a:avLst/>
          </a:prstGeom>
          <a:solidFill>
            <a:srgbClr val="2B3A4A"/>
          </a:solidFill>
          <a:ln w="12700">
            <a:solidFill>
              <a:srgbClr val="2B3A4A"/>
            </a:solidFill>
            <a:prstDash val="solid"/>
          </a:ln>
        </p:spPr>
        <p:txBody>
          <a:bodyPr/>
          <a:lstStyle/>
          <a:p>
            <a:endParaRPr lang="en-GB"/>
          </a:p>
        </p:txBody>
      </p:sp>
      <p:sp>
        <p:nvSpPr>
          <p:cNvPr id="25" name="Text 23"/>
          <p:cNvSpPr txBox="1"/>
          <p:nvPr/>
        </p:nvSpPr>
        <p:spPr>
          <a:xfrm>
            <a:off x="4800600" y="31912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5212080" y="3172968"/>
            <a:ext cx="3337560" cy="365760"/>
          </a:xfrm>
          <a:prstGeom prst="rect">
            <a:avLst/>
          </a:prstGeom>
          <a:noFill/>
          <a:ln/>
        </p:spPr>
        <p:txBody>
          <a:bodyPr wrap="square" lIns="0" tIns="0" rIns="0" bIns="0" rtlCol="0" anchor="ctr"/>
          <a:lstStyle/>
          <a:p>
            <a:pPr marL="0" indent="0">
              <a:buNone/>
            </a:pPr>
            <a:r>
              <a:rPr lang="en-US" sz="1350" b="1" dirty="0">
                <a:solidFill>
                  <a:srgbClr val="16202B"/>
                </a:solidFill>
                <a:latin typeface="Calibri" pitchFamily="34" charset="0"/>
                <a:ea typeface="Calibri" pitchFamily="34" charset="-122"/>
                <a:cs typeface="Calibri" pitchFamily="34" charset="-120"/>
              </a:rPr>
              <a:t>Easier development</a:t>
            </a:r>
            <a:endParaRPr lang="en-US" sz="1350" dirty="0"/>
          </a:p>
        </p:txBody>
      </p:sp>
      <p:sp>
        <p:nvSpPr>
          <p:cNvPr id="27" name="Text 25"/>
          <p:cNvSpPr txBox="1"/>
          <p:nvPr/>
        </p:nvSpPr>
        <p:spPr>
          <a:xfrm>
            <a:off x="4800600" y="3593592"/>
            <a:ext cx="3749040" cy="795528"/>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Software and hardware can be developed one layer at a time</a:t>
            </a:r>
            <a:endParaRPr lang="en-US" sz="1150" dirty="0"/>
          </a:p>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Developers build to the standard, not to every possible device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Check  ·  5 min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Quiz 1.7.2 — networking standards</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9AA8B5"/>
                </a:solidFill>
                <a:latin typeface="Calibri" pitchFamily="34" charset="0"/>
                <a:ea typeface="Calibri" pitchFamily="34" charset="-122"/>
                <a:cs typeface="Calibri" pitchFamily="34" charset="-120"/>
              </a:rPr>
              <a:t>1.7.2</a:t>
            </a:r>
            <a:endParaRPr lang="en-US" sz="900" dirty="0"/>
          </a:p>
        </p:txBody>
      </p:sp>
      <p:sp>
        <p:nvSpPr>
          <p:cNvPr id="8" name="Text 6"/>
          <p:cNvSpPr txBox="1"/>
          <p:nvPr/>
        </p:nvSpPr>
        <p:spPr>
          <a:xfrm>
            <a:off x="457200" y="1554480"/>
            <a:ext cx="7772400" cy="457200"/>
          </a:xfrm>
          <a:prstGeom prst="rect">
            <a:avLst/>
          </a:prstGeom>
          <a:noFill/>
          <a:ln/>
        </p:spPr>
        <p:txBody>
          <a:bodyPr wrap="square" lIns="0" tIns="0" rIns="0" bIns="0" rtlCol="0" anchor="ctr"/>
          <a:lstStyle/>
          <a:p>
            <a:pPr marL="0" indent="0">
              <a:buNone/>
            </a:pPr>
            <a:r>
              <a:rPr lang="en-US" sz="1600" dirty="0">
                <a:solidFill>
                  <a:srgbClr val="D9822B"/>
                </a:solidFill>
                <a:latin typeface="Calibri" pitchFamily="34" charset="0"/>
                <a:ea typeface="Calibri" pitchFamily="34" charset="-122"/>
                <a:cs typeface="Calibri" pitchFamily="34" charset="-120"/>
              </a:rPr>
              <a:t>Explain the importance of networking standards</a:t>
            </a:r>
            <a:endParaRPr lang="en-US" sz="1600" dirty="0"/>
          </a:p>
        </p:txBody>
      </p:sp>
      <p:sp>
        <p:nvSpPr>
          <p:cNvPr id="9" name="Shape 7"/>
          <p:cNvSpPr/>
          <p:nvPr/>
        </p:nvSpPr>
        <p:spPr>
          <a:xfrm>
            <a:off x="457200" y="2103120"/>
            <a:ext cx="5943600" cy="594360"/>
          </a:xfrm>
          <a:prstGeom prst="roundRect">
            <a:avLst>
              <a:gd name="adj" fmla="val 12308"/>
            </a:avLst>
          </a:prstGeom>
          <a:solidFill>
            <a:srgbClr val="2B3A4A"/>
          </a:solidFill>
          <a:ln w="12700">
            <a:solidFill>
              <a:srgbClr val="2B3A4A"/>
            </a:solidFill>
            <a:prstDash val="solid"/>
          </a:ln>
        </p:spPr>
        <p:txBody>
          <a:bodyPr/>
          <a:lstStyle/>
          <a:p>
            <a:endParaRPr lang="en-GB"/>
          </a:p>
        </p:txBody>
      </p:sp>
      <p:sp>
        <p:nvSpPr>
          <p:cNvPr id="10" name="Text 8"/>
          <p:cNvSpPr txBox="1"/>
          <p:nvPr/>
        </p:nvSpPr>
        <p:spPr>
          <a:xfrm>
            <a:off x="594360" y="2103120"/>
            <a:ext cx="5669280" cy="594360"/>
          </a:xfrm>
          <a:prstGeom prst="rect">
            <a:avLst/>
          </a:prstGeom>
          <a:noFill/>
          <a:ln/>
        </p:spPr>
        <p:txBody>
          <a:bodyPr wrap="square" lIns="0" tIns="0" rIns="0" bIns="0" rtlCol="0" anchor="ctr"/>
          <a:lstStyle/>
          <a:p>
            <a:pPr marL="0" indent="0">
              <a:buNone/>
            </a:pPr>
            <a:r>
              <a:rPr lang="en-US" sz="1200" i="1" dirty="0">
                <a:solidFill>
                  <a:srgbClr val="9AA8B5"/>
                </a:solidFill>
                <a:latin typeface="Courier New" pitchFamily="34" charset="0"/>
                <a:ea typeface="Courier New" pitchFamily="34" charset="-122"/>
                <a:cs typeface="Courier New" pitchFamily="34" charset="-120"/>
              </a:rPr>
              <a:t>Quiz link — Microsoft Forms: [ADD LINK / QR HERE]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Teach  ·  16 min</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6" name="Text 4"/>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7" name="Text 5"/>
          <p:cNvSpPr txBox="1"/>
          <p:nvPr/>
        </p:nvSpPr>
        <p:spPr>
          <a:xfrm>
            <a:off x="457200" y="1188720"/>
            <a:ext cx="8229600" cy="640080"/>
          </a:xfrm>
          <a:prstGeom prst="rect">
            <a:avLst/>
          </a:prstGeom>
          <a:noFill/>
          <a:ln/>
        </p:spPr>
        <p:txBody>
          <a:bodyPr wrap="square" lIns="0" tIns="0" rIns="0" bIns="0" rtlCol="0" anchor="ctr"/>
          <a:lstStyle/>
          <a:p>
            <a:pPr marL="0" indent="0">
              <a:buNone/>
            </a:pPr>
            <a:r>
              <a:rPr lang="en-US" sz="3400" b="1" dirty="0">
                <a:solidFill>
                  <a:srgbClr val="D9822B"/>
                </a:solidFill>
                <a:latin typeface="Courier New" pitchFamily="34" charset="0"/>
                <a:ea typeface="Courier New" pitchFamily="34" charset="-122"/>
                <a:cs typeface="Courier New" pitchFamily="34" charset="-120"/>
              </a:rPr>
              <a:t>1.7.3</a:t>
            </a:r>
            <a:endParaRPr lang="en-US" sz="3400" dirty="0"/>
          </a:p>
        </p:txBody>
      </p:sp>
      <p:sp>
        <p:nvSpPr>
          <p:cNvPr id="8" name="Text 6"/>
          <p:cNvSpPr txBox="1"/>
          <p:nvPr/>
        </p:nvSpPr>
        <p:spPr>
          <a:xfrm>
            <a:off x="457200" y="1874520"/>
            <a:ext cx="8046720" cy="960120"/>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Describe the importance and the use of a range of contemporary protocols, including HTTP, FTP, SMTP, TCP/IP, IMAP, DHCP, UDP and wireless communication protocols.</a:t>
            </a:r>
            <a:endParaRPr lang="en-US" sz="1900" dirty="0"/>
          </a:p>
        </p:txBody>
      </p:sp>
      <p:sp>
        <p:nvSpPr>
          <p:cNvPr id="9" name="Text 7"/>
          <p:cNvSpPr txBox="1"/>
          <p:nvPr/>
        </p:nvSpPr>
        <p:spPr>
          <a:xfrm>
            <a:off x="457200" y="2971800"/>
            <a:ext cx="2743200" cy="256032"/>
          </a:xfrm>
          <a:prstGeom prst="rect">
            <a:avLst/>
          </a:prstGeom>
          <a:noFill/>
          <a:ln/>
        </p:spPr>
        <p:txBody>
          <a:bodyPr wrap="square" lIns="0" tIns="0" rIns="0" bIns="0" rtlCol="0" anchor="ctr"/>
          <a:lstStyle/>
          <a:p>
            <a:pPr marL="0" indent="0">
              <a:buNone/>
            </a:pPr>
            <a:r>
              <a:rPr lang="en-US" sz="1100" b="1" dirty="0">
                <a:solidFill>
                  <a:srgbClr val="9AA8B5"/>
                </a:solidFill>
                <a:latin typeface="Calibri" pitchFamily="34" charset="0"/>
                <a:ea typeface="Calibri" pitchFamily="34" charset="-122"/>
                <a:cs typeface="Calibri" pitchFamily="34" charset="-120"/>
              </a:rPr>
              <a:t>In this segment</a:t>
            </a:r>
            <a:endParaRPr lang="en-US" sz="1100" dirty="0"/>
          </a:p>
        </p:txBody>
      </p:sp>
      <p:sp>
        <p:nvSpPr>
          <p:cNvPr id="10" name="Text 8"/>
          <p:cNvSpPr txBox="1"/>
          <p:nvPr/>
        </p:nvSpPr>
        <p:spPr>
          <a:xfrm>
            <a:off x="457200" y="3246120"/>
            <a:ext cx="7863840" cy="13716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What each named protocol actually does</a:t>
            </a:r>
            <a:endParaRPr lang="en-US" sz="1300" dirty="0"/>
          </a:p>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Why each one matters — not just what it stands for</a:t>
            </a:r>
            <a:endParaRPr lang="en-US" sz="1300" dirty="0"/>
          </a:p>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Wired protocols first, then wireless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Teach 1.7.3</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Protocols that run the internet</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1.7.3</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29184">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Protocol</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6202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6202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Why it matters</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6202B"/>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HTTP</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Transfers web pages between a server and a browser</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Lets any browser request and display pages the way the author intended</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FTP</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Transfers files between computers over a network</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Built-in error checking and re-transmission if something goes wrong</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SMTP</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Sends email from a client to a server, or server to server</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A standard way of passing email between different mail servers</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IMAP</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Retrieves and syncs email, keeping messages on the server</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Same inbox on every device, without using up local storage</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TCP/IP</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The core protocol suite the internet runs on — breaks data into packets and routes them</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The basic, shared language every device on the internet uses</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DHCP</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Automatically assigns IP addresses to devices joining a network</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Frees addresses no longer in use back to the pool for reallocation</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UDP</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Sends data fast, with very little error-recovery</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marL="0" indent="0">
                        <a:buNone/>
                      </a:pPr>
                      <a:r>
                        <a:rPr lang="en-US" sz="1000" dirty="0">
                          <a:solidFill>
                            <a:srgbClr val="1F2933"/>
                          </a:solidFill>
                          <a:latin typeface="Calibri" pitchFamily="34" charset="0"/>
                          <a:ea typeface="Calibri" pitchFamily="34" charset="-122"/>
                          <a:cs typeface="Calibri" pitchFamily="34" charset="-120"/>
                        </a:rPr>
                        <a:t>Suits video/audio streaming, where speed matters more than the odd lost packet</a:t>
                      </a:r>
                      <a:endParaRPr lang="en-US" sz="1000" dirty="0">
                        <a:latin typeface="Calibri" charset="0"/>
                        <a:ea typeface="Calibri" charset="0"/>
                        <a:cs typeface="Calibri" charset="0"/>
                      </a:endParaRPr>
                    </a:p>
                  </a:txBody>
                  <a:tcPr marL="45720" marR="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Teach 1.7.3</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Wireless communication protocols</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1.7.3</a:t>
            </a:r>
            <a:endParaRPr lang="en-US" sz="900" dirty="0"/>
          </a:p>
        </p:txBody>
      </p:sp>
      <p:sp>
        <p:nvSpPr>
          <p:cNvPr id="8" name="Shape 6"/>
          <p:cNvSpPr/>
          <p:nvPr/>
        </p:nvSpPr>
        <p:spPr>
          <a:xfrm>
            <a:off x="457200" y="1508760"/>
            <a:ext cx="2651760" cy="2926080"/>
          </a:xfrm>
          <a:prstGeom prst="roundRect">
            <a:avLst>
              <a:gd name="adj" fmla="val 2759"/>
            </a:avLst>
          </a:prstGeom>
          <a:solidFill>
            <a:srgbClr val="EEF2F5"/>
          </a:solidFill>
          <a:ln w="12700">
            <a:solidFill>
              <a:srgbClr val="EEF2F5"/>
            </a:solidFill>
            <a:prstDash val="solid"/>
          </a:ln>
        </p:spPr>
        <p:txBody>
          <a:bodyPr/>
          <a:lstStyle/>
          <a:p>
            <a:endParaRPr lang="en-GB"/>
          </a:p>
        </p:txBody>
      </p:sp>
      <p:sp>
        <p:nvSpPr>
          <p:cNvPr id="9" name="Shape 7"/>
          <p:cNvSpPr/>
          <p:nvPr/>
        </p:nvSpPr>
        <p:spPr>
          <a:xfrm>
            <a:off x="594360" y="1636776"/>
            <a:ext cx="329184" cy="329184"/>
          </a:xfrm>
          <a:prstGeom prst="ellipse">
            <a:avLst/>
          </a:prstGeom>
          <a:solidFill>
            <a:srgbClr val="D9822B"/>
          </a:solidFill>
          <a:ln w="12700">
            <a:solidFill>
              <a:srgbClr val="D9822B"/>
            </a:solidFill>
            <a:prstDash val="solid"/>
          </a:ln>
        </p:spPr>
        <p:txBody>
          <a:bodyPr/>
          <a:lstStyle/>
          <a:p>
            <a:endParaRPr lang="en-GB"/>
          </a:p>
        </p:txBody>
      </p:sp>
      <p:sp>
        <p:nvSpPr>
          <p:cNvPr id="10" name="Text 8"/>
          <p:cNvSpPr txBox="1"/>
          <p:nvPr/>
        </p:nvSpPr>
        <p:spPr>
          <a:xfrm>
            <a:off x="59436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1" name="Text 9"/>
          <p:cNvSpPr txBox="1"/>
          <p:nvPr/>
        </p:nvSpPr>
        <p:spPr>
          <a:xfrm>
            <a:off x="1005840" y="1618488"/>
            <a:ext cx="1965960" cy="365760"/>
          </a:xfrm>
          <a:prstGeom prst="rect">
            <a:avLst/>
          </a:prstGeom>
          <a:noFill/>
          <a:ln/>
        </p:spPr>
        <p:txBody>
          <a:bodyPr wrap="square" lIns="0" tIns="0" rIns="0" bIns="0" rtlCol="0" anchor="ctr"/>
          <a:lstStyle/>
          <a:p>
            <a:pPr marL="0" indent="0">
              <a:buNone/>
            </a:pPr>
            <a:r>
              <a:rPr lang="en-US" sz="1400" b="1" dirty="0">
                <a:solidFill>
                  <a:srgbClr val="16202B"/>
                </a:solidFill>
                <a:latin typeface="Calibri" pitchFamily="34" charset="0"/>
                <a:ea typeface="Calibri" pitchFamily="34" charset="-122"/>
                <a:cs typeface="Calibri" pitchFamily="34" charset="-120"/>
              </a:rPr>
              <a:t>Wi-Fi (802.11)</a:t>
            </a:r>
            <a:endParaRPr lang="en-US" sz="1400" dirty="0"/>
          </a:p>
        </p:txBody>
      </p:sp>
      <p:sp>
        <p:nvSpPr>
          <p:cNvPr id="12" name="Text 10"/>
          <p:cNvSpPr txBox="1"/>
          <p:nvPr/>
        </p:nvSpPr>
        <p:spPr>
          <a:xfrm>
            <a:off x="594360" y="2039112"/>
            <a:ext cx="2377440" cy="2304288"/>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Wireless local area networking</a:t>
            </a:r>
            <a:endParaRPr lang="en-US" sz="1150" dirty="0"/>
          </a:p>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Connects devices to a router within a building or site</a:t>
            </a:r>
            <a:endParaRPr lang="en-US" sz="1150" dirty="0"/>
          </a:p>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Used for most home and office wireless internet access</a:t>
            </a:r>
            <a:endParaRPr lang="en-US" sz="1150" dirty="0"/>
          </a:p>
        </p:txBody>
      </p:sp>
      <p:sp>
        <p:nvSpPr>
          <p:cNvPr id="13" name="Shape 11"/>
          <p:cNvSpPr/>
          <p:nvPr/>
        </p:nvSpPr>
        <p:spPr>
          <a:xfrm>
            <a:off x="3246120" y="1508760"/>
            <a:ext cx="2651760" cy="2926080"/>
          </a:xfrm>
          <a:prstGeom prst="roundRect">
            <a:avLst>
              <a:gd name="adj" fmla="val 2759"/>
            </a:avLst>
          </a:prstGeom>
          <a:solidFill>
            <a:srgbClr val="EEF2F5"/>
          </a:solidFill>
          <a:ln w="12700">
            <a:solidFill>
              <a:srgbClr val="EEF2F5"/>
            </a:solidFill>
            <a:prstDash val="solid"/>
          </a:ln>
        </p:spPr>
        <p:txBody>
          <a:bodyPr/>
          <a:lstStyle/>
          <a:p>
            <a:endParaRPr lang="en-GB"/>
          </a:p>
        </p:txBody>
      </p:sp>
      <p:sp>
        <p:nvSpPr>
          <p:cNvPr id="14" name="Shape 12"/>
          <p:cNvSpPr/>
          <p:nvPr/>
        </p:nvSpPr>
        <p:spPr>
          <a:xfrm>
            <a:off x="3383280" y="1636776"/>
            <a:ext cx="329184" cy="329184"/>
          </a:xfrm>
          <a:prstGeom prst="ellipse">
            <a:avLst/>
          </a:prstGeom>
          <a:solidFill>
            <a:srgbClr val="2B3A4A"/>
          </a:solidFill>
          <a:ln w="12700">
            <a:solidFill>
              <a:srgbClr val="2B3A4A"/>
            </a:solidFill>
            <a:prstDash val="solid"/>
          </a:ln>
        </p:spPr>
        <p:txBody>
          <a:bodyPr/>
          <a:lstStyle/>
          <a:p>
            <a:endParaRPr lang="en-GB"/>
          </a:p>
        </p:txBody>
      </p:sp>
      <p:sp>
        <p:nvSpPr>
          <p:cNvPr id="15" name="Text 13"/>
          <p:cNvSpPr txBox="1"/>
          <p:nvPr/>
        </p:nvSpPr>
        <p:spPr>
          <a:xfrm>
            <a:off x="338328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3794760" y="1618488"/>
            <a:ext cx="1965960" cy="365760"/>
          </a:xfrm>
          <a:prstGeom prst="rect">
            <a:avLst/>
          </a:prstGeom>
          <a:noFill/>
          <a:ln/>
        </p:spPr>
        <p:txBody>
          <a:bodyPr wrap="square" lIns="0" tIns="0" rIns="0" bIns="0" rtlCol="0" anchor="ctr"/>
          <a:lstStyle/>
          <a:p>
            <a:pPr marL="0" indent="0">
              <a:buNone/>
            </a:pPr>
            <a:r>
              <a:rPr lang="en-US" sz="1400" b="1" dirty="0">
                <a:solidFill>
                  <a:srgbClr val="16202B"/>
                </a:solidFill>
                <a:latin typeface="Calibri" pitchFamily="34" charset="0"/>
                <a:ea typeface="Calibri" pitchFamily="34" charset="-122"/>
                <a:cs typeface="Calibri" pitchFamily="34" charset="-120"/>
              </a:rPr>
              <a:t>Bluetooth</a:t>
            </a:r>
            <a:endParaRPr lang="en-US" sz="1400" dirty="0"/>
          </a:p>
        </p:txBody>
      </p:sp>
      <p:sp>
        <p:nvSpPr>
          <p:cNvPr id="17" name="Text 15"/>
          <p:cNvSpPr txBox="1"/>
          <p:nvPr/>
        </p:nvSpPr>
        <p:spPr>
          <a:xfrm>
            <a:off x="3383280" y="2039112"/>
            <a:ext cx="2377440" cy="2304288"/>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Short-range, low-power connections</a:t>
            </a:r>
            <a:endParaRPr lang="en-US" sz="1150" dirty="0"/>
          </a:p>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Device-to-device — headphones, keyboards, wearables</a:t>
            </a:r>
            <a:endParaRPr lang="en-US" sz="1150" dirty="0"/>
          </a:p>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A wireless PAN, not a full network</a:t>
            </a:r>
            <a:endParaRPr lang="en-US" sz="1150" dirty="0"/>
          </a:p>
        </p:txBody>
      </p:sp>
      <p:sp>
        <p:nvSpPr>
          <p:cNvPr id="18" name="Shape 16"/>
          <p:cNvSpPr/>
          <p:nvPr/>
        </p:nvSpPr>
        <p:spPr>
          <a:xfrm>
            <a:off x="6035040" y="1508760"/>
            <a:ext cx="2651760" cy="2926080"/>
          </a:xfrm>
          <a:prstGeom prst="roundRect">
            <a:avLst>
              <a:gd name="adj" fmla="val 2759"/>
            </a:avLst>
          </a:prstGeom>
          <a:solidFill>
            <a:srgbClr val="EEF2F5"/>
          </a:solidFill>
          <a:ln w="12700">
            <a:solidFill>
              <a:srgbClr val="EEF2F5"/>
            </a:solidFill>
            <a:prstDash val="solid"/>
          </a:ln>
        </p:spPr>
        <p:txBody>
          <a:bodyPr/>
          <a:lstStyle/>
          <a:p>
            <a:endParaRPr lang="en-GB"/>
          </a:p>
        </p:txBody>
      </p:sp>
      <p:sp>
        <p:nvSpPr>
          <p:cNvPr id="19" name="Shape 17"/>
          <p:cNvSpPr/>
          <p:nvPr/>
        </p:nvSpPr>
        <p:spPr>
          <a:xfrm>
            <a:off x="6172200" y="1636776"/>
            <a:ext cx="329184" cy="329184"/>
          </a:xfrm>
          <a:prstGeom prst="ellipse">
            <a:avLst/>
          </a:prstGeom>
          <a:solidFill>
            <a:srgbClr val="D9822B"/>
          </a:solidFill>
          <a:ln w="12700">
            <a:solidFill>
              <a:srgbClr val="D9822B"/>
            </a:solidFill>
            <a:prstDash val="solid"/>
          </a:ln>
        </p:spPr>
        <p:txBody>
          <a:bodyPr/>
          <a:lstStyle/>
          <a:p>
            <a:endParaRPr lang="en-GB"/>
          </a:p>
        </p:txBody>
      </p:sp>
      <p:sp>
        <p:nvSpPr>
          <p:cNvPr id="20" name="Text 18"/>
          <p:cNvSpPr txBox="1"/>
          <p:nvPr/>
        </p:nvSpPr>
        <p:spPr>
          <a:xfrm>
            <a:off x="617220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6583680" y="1618488"/>
            <a:ext cx="1965960" cy="365760"/>
          </a:xfrm>
          <a:prstGeom prst="rect">
            <a:avLst/>
          </a:prstGeom>
          <a:noFill/>
          <a:ln/>
        </p:spPr>
        <p:txBody>
          <a:bodyPr wrap="square" lIns="0" tIns="0" rIns="0" bIns="0" rtlCol="0" anchor="ctr"/>
          <a:lstStyle/>
          <a:p>
            <a:pPr marL="0" indent="0">
              <a:buNone/>
            </a:pPr>
            <a:r>
              <a:rPr lang="en-US" sz="1400" b="1" dirty="0">
                <a:solidFill>
                  <a:srgbClr val="16202B"/>
                </a:solidFill>
                <a:latin typeface="Calibri" pitchFamily="34" charset="0"/>
                <a:ea typeface="Calibri" pitchFamily="34" charset="-122"/>
                <a:cs typeface="Calibri" pitchFamily="34" charset="-120"/>
              </a:rPr>
              <a:t>Cellular (4G / 5G)</a:t>
            </a:r>
            <a:endParaRPr lang="en-US" sz="1400" dirty="0"/>
          </a:p>
        </p:txBody>
      </p:sp>
      <p:sp>
        <p:nvSpPr>
          <p:cNvPr id="22" name="Text 20"/>
          <p:cNvSpPr txBox="1"/>
          <p:nvPr/>
        </p:nvSpPr>
        <p:spPr>
          <a:xfrm>
            <a:off x="6172200" y="2039112"/>
            <a:ext cx="2377440" cy="2304288"/>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Wide-area mobile data over the phone network</a:t>
            </a:r>
            <a:endParaRPr lang="en-US" sz="1150" dirty="0"/>
          </a:p>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Internet access without a fixed Wi-Fi connection</a:t>
            </a:r>
            <a:endParaRPr lang="en-US" sz="1150" dirty="0"/>
          </a:p>
          <a:p>
            <a:pPr marL="152400" indent="-152400">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5G adds higher speed and lower latency than 4G</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Gimkit  ·  8 min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Protocol review — game time</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8" name="Shape 6"/>
          <p:cNvSpPr/>
          <p:nvPr/>
        </p:nvSpPr>
        <p:spPr>
          <a:xfrm>
            <a:off x="457200" y="1508760"/>
            <a:ext cx="4937760" cy="2926080"/>
          </a:xfrm>
          <a:prstGeom prst="roundRect">
            <a:avLst>
              <a:gd name="adj" fmla="val 2500"/>
            </a:avLst>
          </a:prstGeom>
          <a:solidFill>
            <a:srgbClr val="2B3A4A"/>
          </a:solidFill>
          <a:ln w="12700">
            <a:solidFill>
              <a:srgbClr val="2B3A4A"/>
            </a:solidFill>
            <a:prstDash val="solid"/>
          </a:ln>
        </p:spPr>
        <p:txBody>
          <a:bodyPr/>
          <a:lstStyle/>
          <a:p>
            <a:endParaRPr lang="en-GB"/>
          </a:p>
        </p:txBody>
      </p:sp>
      <p:sp>
        <p:nvSpPr>
          <p:cNvPr id="9" name="Text 7"/>
          <p:cNvSpPr txBox="1"/>
          <p:nvPr/>
        </p:nvSpPr>
        <p:spPr>
          <a:xfrm>
            <a:off x="457200" y="1508760"/>
            <a:ext cx="4937760" cy="2926080"/>
          </a:xfrm>
          <a:prstGeom prst="rect">
            <a:avLst/>
          </a:prstGeom>
          <a:noFill/>
          <a:ln/>
        </p:spPr>
        <p:txBody>
          <a:bodyPr wrap="square" lIns="0" tIns="0" rIns="0" bIns="0" rtlCol="0" anchor="ctr"/>
          <a:lstStyle/>
          <a:p>
            <a:pPr marL="0" indent="0" algn="ctr">
              <a:buNone/>
            </a:pPr>
            <a:r>
              <a:rPr lang="en-US" sz="1400" i="1" dirty="0">
                <a:solidFill>
                  <a:srgbClr val="9AA8B5"/>
                </a:solidFill>
                <a:latin typeface="Calibri" pitchFamily="34" charset="0"/>
                <a:ea typeface="Calibri" pitchFamily="34" charset="-122"/>
                <a:cs typeface="Calibri" pitchFamily="34" charset="-120"/>
              </a:rPr>
              <a:t>Launch Gimkit here</a:t>
            </a:r>
            <a:endParaRPr lang="en-US" sz="1400" dirty="0"/>
          </a:p>
          <a:p>
            <a:pPr marL="0" indent="0" algn="ctr">
              <a:buNone/>
            </a:pPr>
            <a:r>
              <a:rPr lang="en-US" sz="1400" i="1" dirty="0">
                <a:solidFill>
                  <a:srgbClr val="9AA8B5"/>
                </a:solidFill>
                <a:latin typeface="Calibri" pitchFamily="34" charset="0"/>
                <a:ea typeface="Calibri" pitchFamily="34" charset="-122"/>
                <a:cs typeface="Calibri" pitchFamily="34" charset="-120"/>
              </a:rPr>
              <a:t>(game code / link)</a:t>
            </a:r>
            <a:endParaRPr lang="en-US" sz="1400" dirty="0"/>
          </a:p>
        </p:txBody>
      </p:sp>
      <p:sp>
        <p:nvSpPr>
          <p:cNvPr id="10" name="Shape 8"/>
          <p:cNvSpPr/>
          <p:nvPr/>
        </p:nvSpPr>
        <p:spPr>
          <a:xfrm>
            <a:off x="5669280" y="1508760"/>
            <a:ext cx="3017520" cy="2926080"/>
          </a:xfrm>
          <a:prstGeom prst="roundRect">
            <a:avLst>
              <a:gd name="adj" fmla="val 2500"/>
            </a:avLst>
          </a:prstGeom>
          <a:solidFill>
            <a:srgbClr val="EEF2F5"/>
          </a:solidFill>
          <a:ln w="12700">
            <a:solidFill>
              <a:srgbClr val="EEF2F5"/>
            </a:solidFill>
            <a:prstDash val="solid"/>
          </a:ln>
        </p:spPr>
        <p:txBody>
          <a:bodyPr/>
          <a:lstStyle/>
          <a:p>
            <a:endParaRPr lang="en-GB"/>
          </a:p>
        </p:txBody>
      </p:sp>
      <p:sp>
        <p:nvSpPr>
          <p:cNvPr id="11" name="Shape 9"/>
          <p:cNvSpPr/>
          <p:nvPr/>
        </p:nvSpPr>
        <p:spPr>
          <a:xfrm>
            <a:off x="5806440" y="1636776"/>
            <a:ext cx="329184" cy="329184"/>
          </a:xfrm>
          <a:prstGeom prst="ellipse">
            <a:avLst/>
          </a:prstGeom>
          <a:solidFill>
            <a:srgbClr val="D9822B"/>
          </a:solidFill>
          <a:ln w="12700">
            <a:solidFill>
              <a:srgbClr val="D9822B"/>
            </a:solidFill>
            <a:prstDash val="solid"/>
          </a:ln>
        </p:spPr>
        <p:txBody>
          <a:bodyPr/>
          <a:lstStyle/>
          <a:p>
            <a:endParaRPr lang="en-GB"/>
          </a:p>
        </p:txBody>
      </p:sp>
      <p:sp>
        <p:nvSpPr>
          <p:cNvPr id="12" name="Text 10"/>
          <p:cNvSpPr txBox="1"/>
          <p:nvPr/>
        </p:nvSpPr>
        <p:spPr>
          <a:xfrm>
            <a:off x="580644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11"/>
          <p:cNvSpPr txBox="1"/>
          <p:nvPr/>
        </p:nvSpPr>
        <p:spPr>
          <a:xfrm>
            <a:off x="6217920" y="1618488"/>
            <a:ext cx="2331720" cy="365760"/>
          </a:xfrm>
          <a:prstGeom prst="rect">
            <a:avLst/>
          </a:prstGeom>
          <a:noFill/>
          <a:ln/>
        </p:spPr>
        <p:txBody>
          <a:bodyPr wrap="square" lIns="0" tIns="0" rIns="0" bIns="0" rtlCol="0" anchor="ctr"/>
          <a:lstStyle/>
          <a:p>
            <a:pPr marL="0" indent="0">
              <a:buNone/>
            </a:pPr>
            <a:r>
              <a:rPr lang="en-US" sz="1400" b="1" dirty="0">
                <a:solidFill>
                  <a:srgbClr val="16202B"/>
                </a:solidFill>
                <a:latin typeface="Calibri" pitchFamily="34" charset="0"/>
                <a:ea typeface="Calibri" pitchFamily="34" charset="-122"/>
                <a:cs typeface="Calibri" pitchFamily="34" charset="-120"/>
              </a:rPr>
              <a:t>Before you launch</a:t>
            </a:r>
            <a:endParaRPr lang="en-US" sz="1400" dirty="0"/>
          </a:p>
        </p:txBody>
      </p:sp>
      <p:sp>
        <p:nvSpPr>
          <p:cNvPr id="14" name="Text 12"/>
          <p:cNvSpPr txBox="1"/>
          <p:nvPr/>
        </p:nvSpPr>
        <p:spPr>
          <a:xfrm>
            <a:off x="5806440" y="2039112"/>
            <a:ext cx="2743200" cy="2304288"/>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Questions cover all 7 named protocols plus wireless</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Recall only — the formal quiz right after this checks understanding</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Table from the last two slides stays up as a reference if needed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Check  ·  5 min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Quiz 1.7.3 — protocols (formal)</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9AA8B5"/>
                </a:solidFill>
                <a:latin typeface="Calibri" pitchFamily="34" charset="0"/>
                <a:ea typeface="Calibri" pitchFamily="34" charset="-122"/>
                <a:cs typeface="Calibri" pitchFamily="34" charset="-120"/>
              </a:rPr>
              <a:t>1.7.3</a:t>
            </a:r>
            <a:endParaRPr lang="en-US" sz="900" dirty="0"/>
          </a:p>
        </p:txBody>
      </p:sp>
      <p:sp>
        <p:nvSpPr>
          <p:cNvPr id="8" name="Text 6"/>
          <p:cNvSpPr txBox="1"/>
          <p:nvPr/>
        </p:nvSpPr>
        <p:spPr>
          <a:xfrm>
            <a:off x="457200" y="1554480"/>
            <a:ext cx="7772400" cy="457200"/>
          </a:xfrm>
          <a:prstGeom prst="rect">
            <a:avLst/>
          </a:prstGeom>
          <a:noFill/>
          <a:ln/>
        </p:spPr>
        <p:txBody>
          <a:bodyPr wrap="square" lIns="0" tIns="0" rIns="0" bIns="0" rtlCol="0" anchor="ctr"/>
          <a:lstStyle/>
          <a:p>
            <a:pPr marL="0" indent="0">
              <a:buNone/>
            </a:pPr>
            <a:r>
              <a:rPr lang="en-US" sz="1600" dirty="0">
                <a:solidFill>
                  <a:srgbClr val="D9822B"/>
                </a:solidFill>
                <a:latin typeface="Calibri" pitchFamily="34" charset="0"/>
                <a:ea typeface="Calibri" pitchFamily="34" charset="-122"/>
                <a:cs typeface="Calibri" pitchFamily="34" charset="-120"/>
              </a:rPr>
              <a:t>Describe the importance and use of contemporary protocols</a:t>
            </a:r>
            <a:endParaRPr lang="en-US" sz="1600" dirty="0"/>
          </a:p>
        </p:txBody>
      </p:sp>
      <p:sp>
        <p:nvSpPr>
          <p:cNvPr id="9" name="Shape 7"/>
          <p:cNvSpPr/>
          <p:nvPr/>
        </p:nvSpPr>
        <p:spPr>
          <a:xfrm>
            <a:off x="457200" y="2103120"/>
            <a:ext cx="5943600" cy="594360"/>
          </a:xfrm>
          <a:prstGeom prst="roundRect">
            <a:avLst>
              <a:gd name="adj" fmla="val 12308"/>
            </a:avLst>
          </a:prstGeom>
          <a:solidFill>
            <a:srgbClr val="2B3A4A"/>
          </a:solidFill>
          <a:ln w="12700">
            <a:solidFill>
              <a:srgbClr val="2B3A4A"/>
            </a:solidFill>
            <a:prstDash val="solid"/>
          </a:ln>
        </p:spPr>
        <p:txBody>
          <a:bodyPr/>
          <a:lstStyle/>
          <a:p>
            <a:endParaRPr lang="en-GB"/>
          </a:p>
        </p:txBody>
      </p:sp>
      <p:sp>
        <p:nvSpPr>
          <p:cNvPr id="10" name="Text 8"/>
          <p:cNvSpPr txBox="1"/>
          <p:nvPr/>
        </p:nvSpPr>
        <p:spPr>
          <a:xfrm>
            <a:off x="594360" y="2103120"/>
            <a:ext cx="5669280" cy="594360"/>
          </a:xfrm>
          <a:prstGeom prst="rect">
            <a:avLst/>
          </a:prstGeom>
          <a:noFill/>
          <a:ln/>
        </p:spPr>
        <p:txBody>
          <a:bodyPr wrap="square" lIns="0" tIns="0" rIns="0" bIns="0" rtlCol="0" anchor="ctr"/>
          <a:lstStyle/>
          <a:p>
            <a:pPr marL="0" indent="0">
              <a:buNone/>
            </a:pPr>
            <a:r>
              <a:rPr lang="en-US" sz="1200" i="1" dirty="0">
                <a:solidFill>
                  <a:srgbClr val="9AA8B5"/>
                </a:solidFill>
                <a:latin typeface="Courier New" pitchFamily="34" charset="0"/>
                <a:ea typeface="Courier New" pitchFamily="34" charset="-122"/>
                <a:cs typeface="Courier New" pitchFamily="34" charset="-120"/>
              </a:rPr>
              <a:t>Quiz link — Microsoft Forms: [ADD LINK / QR HERE]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Teach  ·  6 min</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6" name="Text 4"/>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7" name="Text 5"/>
          <p:cNvSpPr txBox="1"/>
          <p:nvPr/>
        </p:nvSpPr>
        <p:spPr>
          <a:xfrm>
            <a:off x="457200" y="1188720"/>
            <a:ext cx="8229600" cy="640080"/>
          </a:xfrm>
          <a:prstGeom prst="rect">
            <a:avLst/>
          </a:prstGeom>
          <a:noFill/>
          <a:ln/>
        </p:spPr>
        <p:txBody>
          <a:bodyPr wrap="square" lIns="0" tIns="0" rIns="0" bIns="0" rtlCol="0" anchor="ctr"/>
          <a:lstStyle/>
          <a:p>
            <a:pPr marL="0" indent="0">
              <a:buNone/>
            </a:pPr>
            <a:r>
              <a:rPr lang="en-US" sz="3400" b="1" dirty="0">
                <a:solidFill>
                  <a:srgbClr val="D9822B"/>
                </a:solidFill>
                <a:latin typeface="Courier New" pitchFamily="34" charset="0"/>
                <a:ea typeface="Courier New" pitchFamily="34" charset="-122"/>
                <a:cs typeface="Courier New" pitchFamily="34" charset="-120"/>
              </a:rPr>
              <a:t>1.7.4</a:t>
            </a:r>
            <a:endParaRPr lang="en-US" sz="3400" dirty="0"/>
          </a:p>
        </p:txBody>
      </p:sp>
      <p:sp>
        <p:nvSpPr>
          <p:cNvPr id="8" name="Text 6"/>
          <p:cNvSpPr txBox="1"/>
          <p:nvPr/>
        </p:nvSpPr>
        <p:spPr>
          <a:xfrm>
            <a:off x="457200" y="1874520"/>
            <a:ext cx="8046720" cy="960120"/>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Explain the role of handshaking.</a:t>
            </a:r>
            <a:endParaRPr lang="en-US" sz="1900" dirty="0"/>
          </a:p>
        </p:txBody>
      </p:sp>
      <p:sp>
        <p:nvSpPr>
          <p:cNvPr id="9" name="Text 7"/>
          <p:cNvSpPr txBox="1"/>
          <p:nvPr/>
        </p:nvSpPr>
        <p:spPr>
          <a:xfrm>
            <a:off x="457200" y="2971800"/>
            <a:ext cx="2743200" cy="256032"/>
          </a:xfrm>
          <a:prstGeom prst="rect">
            <a:avLst/>
          </a:prstGeom>
          <a:noFill/>
          <a:ln/>
        </p:spPr>
        <p:txBody>
          <a:bodyPr wrap="square" lIns="0" tIns="0" rIns="0" bIns="0" rtlCol="0" anchor="ctr"/>
          <a:lstStyle/>
          <a:p>
            <a:pPr marL="0" indent="0">
              <a:buNone/>
            </a:pPr>
            <a:r>
              <a:rPr lang="en-US" sz="1100" b="1" dirty="0">
                <a:solidFill>
                  <a:srgbClr val="9AA8B5"/>
                </a:solidFill>
                <a:latin typeface="Calibri" pitchFamily="34" charset="0"/>
                <a:ea typeface="Calibri" pitchFamily="34" charset="-122"/>
                <a:cs typeface="Calibri" pitchFamily="34" charset="-120"/>
              </a:rPr>
              <a:t>In this segment</a:t>
            </a:r>
            <a:endParaRPr lang="en-US" sz="1100" dirty="0"/>
          </a:p>
        </p:txBody>
      </p:sp>
      <p:sp>
        <p:nvSpPr>
          <p:cNvPr id="10" name="Text 8"/>
          <p:cNvSpPr txBox="1"/>
          <p:nvPr/>
        </p:nvSpPr>
        <p:spPr>
          <a:xfrm>
            <a:off x="457200" y="3246120"/>
            <a:ext cx="7863840" cy="13716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What handshaking actually means</a:t>
            </a:r>
            <a:endParaRPr lang="en-US" sz="1300" dirty="0"/>
          </a:p>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Why devices need to do it before sending data</a:t>
            </a:r>
            <a:endParaRPr lang="en-US" sz="1300" dirty="0"/>
          </a:p>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The simple three-step shape it usually takes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Teach 1.7.4</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Handshaking: agreeing to talk before talking</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1.7.4</a:t>
            </a:r>
            <a:endParaRPr lang="en-US" sz="900" dirty="0"/>
          </a:p>
        </p:txBody>
      </p:sp>
      <p:sp>
        <p:nvSpPr>
          <p:cNvPr id="8" name="Shape 6"/>
          <p:cNvSpPr/>
          <p:nvPr/>
        </p:nvSpPr>
        <p:spPr>
          <a:xfrm>
            <a:off x="457200" y="1508760"/>
            <a:ext cx="4023360" cy="1371600"/>
          </a:xfrm>
          <a:prstGeom prst="roundRect">
            <a:avLst>
              <a:gd name="adj" fmla="val 5333"/>
            </a:avLst>
          </a:prstGeom>
          <a:solidFill>
            <a:srgbClr val="EEF2F5"/>
          </a:solidFill>
          <a:ln w="12700">
            <a:solidFill>
              <a:srgbClr val="EEF2F5"/>
            </a:solidFill>
            <a:prstDash val="solid"/>
          </a:ln>
        </p:spPr>
        <p:txBody>
          <a:bodyPr/>
          <a:lstStyle/>
          <a:p>
            <a:endParaRPr lang="en-GB"/>
          </a:p>
        </p:txBody>
      </p:sp>
      <p:sp>
        <p:nvSpPr>
          <p:cNvPr id="9" name="Shape 7"/>
          <p:cNvSpPr/>
          <p:nvPr/>
        </p:nvSpPr>
        <p:spPr>
          <a:xfrm>
            <a:off x="594360" y="1636776"/>
            <a:ext cx="329184" cy="329184"/>
          </a:xfrm>
          <a:prstGeom prst="ellipse">
            <a:avLst/>
          </a:prstGeom>
          <a:solidFill>
            <a:srgbClr val="D9822B"/>
          </a:solidFill>
          <a:ln w="12700">
            <a:solidFill>
              <a:srgbClr val="D9822B"/>
            </a:solidFill>
            <a:prstDash val="solid"/>
          </a:ln>
        </p:spPr>
        <p:txBody>
          <a:bodyPr/>
          <a:lstStyle/>
          <a:p>
            <a:endParaRPr lang="en-GB"/>
          </a:p>
        </p:txBody>
      </p:sp>
      <p:sp>
        <p:nvSpPr>
          <p:cNvPr id="10" name="Text 8"/>
          <p:cNvSpPr txBox="1"/>
          <p:nvPr/>
        </p:nvSpPr>
        <p:spPr>
          <a:xfrm>
            <a:off x="59436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1" name="Text 9"/>
          <p:cNvSpPr txBox="1"/>
          <p:nvPr/>
        </p:nvSpPr>
        <p:spPr>
          <a:xfrm>
            <a:off x="1005840" y="1618488"/>
            <a:ext cx="3337560" cy="365760"/>
          </a:xfrm>
          <a:prstGeom prst="rect">
            <a:avLst/>
          </a:prstGeom>
          <a:noFill/>
          <a:ln/>
        </p:spPr>
        <p:txBody>
          <a:bodyPr wrap="square" lIns="0" tIns="0" rIns="0" bIns="0" rtlCol="0" anchor="ctr"/>
          <a:lstStyle/>
          <a:p>
            <a:pPr marL="0" indent="0">
              <a:buNone/>
            </a:pPr>
            <a:r>
              <a:rPr lang="en-US" sz="1400" b="1" dirty="0">
                <a:solidFill>
                  <a:srgbClr val="16202B"/>
                </a:solidFill>
                <a:latin typeface="Calibri" pitchFamily="34" charset="0"/>
                <a:ea typeface="Calibri" pitchFamily="34" charset="-122"/>
                <a:cs typeface="Calibri" pitchFamily="34" charset="-120"/>
              </a:rPr>
              <a:t>What it is</a:t>
            </a:r>
            <a:endParaRPr lang="en-US" sz="1400" dirty="0"/>
          </a:p>
        </p:txBody>
      </p:sp>
      <p:sp>
        <p:nvSpPr>
          <p:cNvPr id="12" name="Text 10"/>
          <p:cNvSpPr txBox="1"/>
          <p:nvPr/>
        </p:nvSpPr>
        <p:spPr>
          <a:xfrm>
            <a:off x="594360" y="2039112"/>
            <a:ext cx="3749040" cy="749808"/>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When a computer system establishes a device's readiness to communicate</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Happens before any real data is sent</a:t>
            </a:r>
            <a:endParaRPr lang="en-US" sz="1200" dirty="0"/>
          </a:p>
        </p:txBody>
      </p:sp>
      <p:sp>
        <p:nvSpPr>
          <p:cNvPr id="13" name="Shape 11"/>
          <p:cNvSpPr/>
          <p:nvPr/>
        </p:nvSpPr>
        <p:spPr>
          <a:xfrm>
            <a:off x="4663440" y="1508760"/>
            <a:ext cx="4023360" cy="1371600"/>
          </a:xfrm>
          <a:prstGeom prst="roundRect">
            <a:avLst>
              <a:gd name="adj" fmla="val 5333"/>
            </a:avLst>
          </a:prstGeom>
          <a:solidFill>
            <a:srgbClr val="EEF2F5"/>
          </a:solidFill>
          <a:ln w="12700">
            <a:solidFill>
              <a:srgbClr val="EEF2F5"/>
            </a:solidFill>
            <a:prstDash val="solid"/>
          </a:ln>
        </p:spPr>
        <p:txBody>
          <a:bodyPr/>
          <a:lstStyle/>
          <a:p>
            <a:endParaRPr lang="en-GB"/>
          </a:p>
        </p:txBody>
      </p:sp>
      <p:sp>
        <p:nvSpPr>
          <p:cNvPr id="14" name="Shape 12"/>
          <p:cNvSpPr/>
          <p:nvPr/>
        </p:nvSpPr>
        <p:spPr>
          <a:xfrm>
            <a:off x="4800600" y="1636776"/>
            <a:ext cx="329184" cy="329184"/>
          </a:xfrm>
          <a:prstGeom prst="ellipse">
            <a:avLst/>
          </a:prstGeom>
          <a:solidFill>
            <a:srgbClr val="2B3A4A"/>
          </a:solidFill>
          <a:ln w="12700">
            <a:solidFill>
              <a:srgbClr val="2B3A4A"/>
            </a:solidFill>
            <a:prstDash val="solid"/>
          </a:ln>
        </p:spPr>
        <p:txBody>
          <a:bodyPr/>
          <a:lstStyle/>
          <a:p>
            <a:endParaRPr lang="en-GB"/>
          </a:p>
        </p:txBody>
      </p:sp>
      <p:sp>
        <p:nvSpPr>
          <p:cNvPr id="15" name="Text 13"/>
          <p:cNvSpPr txBox="1"/>
          <p:nvPr/>
        </p:nvSpPr>
        <p:spPr>
          <a:xfrm>
            <a:off x="480060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5212080" y="1618488"/>
            <a:ext cx="3337560" cy="365760"/>
          </a:xfrm>
          <a:prstGeom prst="rect">
            <a:avLst/>
          </a:prstGeom>
          <a:noFill/>
          <a:ln/>
        </p:spPr>
        <p:txBody>
          <a:bodyPr wrap="square" lIns="0" tIns="0" rIns="0" bIns="0" rtlCol="0" anchor="ctr"/>
          <a:lstStyle/>
          <a:p>
            <a:pPr marL="0" indent="0">
              <a:buNone/>
            </a:pPr>
            <a:r>
              <a:rPr lang="en-US" sz="1400" b="1" dirty="0">
                <a:solidFill>
                  <a:srgbClr val="16202B"/>
                </a:solidFill>
                <a:latin typeface="Calibri" pitchFamily="34" charset="0"/>
                <a:ea typeface="Calibri" pitchFamily="34" charset="-122"/>
                <a:cs typeface="Calibri" pitchFamily="34" charset="-120"/>
              </a:rPr>
              <a:t>Why it matters</a:t>
            </a:r>
            <a:endParaRPr lang="en-US" sz="1400" dirty="0"/>
          </a:p>
        </p:txBody>
      </p:sp>
      <p:sp>
        <p:nvSpPr>
          <p:cNvPr id="17" name="Text 15"/>
          <p:cNvSpPr txBox="1"/>
          <p:nvPr/>
        </p:nvSpPr>
        <p:spPr>
          <a:xfrm>
            <a:off x="4800600" y="2039112"/>
            <a:ext cx="3749040" cy="749808"/>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Confirms both devices are ready and agree on how to communicate</a:t>
            </a:r>
            <a:endParaRPr lang="en-US" sz="1200" dirty="0"/>
          </a:p>
          <a:p>
            <a:pPr marL="152400" indent="-1524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Avoids data being sent to a device that isn't listening, or can't understand it</a:t>
            </a:r>
            <a:endParaRPr lang="en-US" sz="1200" dirty="0"/>
          </a:p>
        </p:txBody>
      </p:sp>
      <p:sp>
        <p:nvSpPr>
          <p:cNvPr id="18" name="Shape 16"/>
          <p:cNvSpPr/>
          <p:nvPr/>
        </p:nvSpPr>
        <p:spPr>
          <a:xfrm>
            <a:off x="457200" y="3108960"/>
            <a:ext cx="2606040" cy="1371600"/>
          </a:xfrm>
          <a:prstGeom prst="roundRect">
            <a:avLst>
              <a:gd name="adj" fmla="val 5333"/>
            </a:avLst>
          </a:prstGeom>
          <a:solidFill>
            <a:srgbClr val="F6E3CF"/>
          </a:solidFill>
          <a:ln w="12700">
            <a:solidFill>
              <a:srgbClr val="F6E3CF"/>
            </a:solidFill>
            <a:prstDash val="solid"/>
          </a:ln>
        </p:spPr>
        <p:txBody>
          <a:bodyPr/>
          <a:lstStyle/>
          <a:p>
            <a:endParaRPr lang="en-GB"/>
          </a:p>
        </p:txBody>
      </p:sp>
      <p:sp>
        <p:nvSpPr>
          <p:cNvPr id="19" name="Shape 17"/>
          <p:cNvSpPr/>
          <p:nvPr/>
        </p:nvSpPr>
        <p:spPr>
          <a:xfrm>
            <a:off x="594360" y="3246120"/>
            <a:ext cx="365760" cy="365760"/>
          </a:xfrm>
          <a:prstGeom prst="ellipse">
            <a:avLst/>
          </a:prstGeom>
          <a:solidFill>
            <a:srgbClr val="7A4512"/>
          </a:solidFill>
          <a:ln w="12700">
            <a:solidFill>
              <a:srgbClr val="7A4512"/>
            </a:solidFill>
            <a:prstDash val="solid"/>
          </a:ln>
        </p:spPr>
        <p:txBody>
          <a:bodyPr/>
          <a:lstStyle/>
          <a:p>
            <a:endParaRPr lang="en-GB"/>
          </a:p>
        </p:txBody>
      </p:sp>
      <p:sp>
        <p:nvSpPr>
          <p:cNvPr id="20" name="Text 18"/>
          <p:cNvSpPr txBox="1"/>
          <p:nvPr/>
        </p:nvSpPr>
        <p:spPr>
          <a:xfrm>
            <a:off x="594360" y="32461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21" name="Text 19"/>
          <p:cNvSpPr txBox="1"/>
          <p:nvPr/>
        </p:nvSpPr>
        <p:spPr>
          <a:xfrm>
            <a:off x="1051560" y="3246120"/>
            <a:ext cx="1920240" cy="365760"/>
          </a:xfrm>
          <a:prstGeom prst="rect">
            <a:avLst/>
          </a:prstGeom>
          <a:noFill/>
          <a:ln/>
        </p:spPr>
        <p:txBody>
          <a:bodyPr wrap="square" lIns="0" tIns="0" rIns="0" bIns="0" rtlCol="0" anchor="ctr"/>
          <a:lstStyle/>
          <a:p>
            <a:pPr marL="0" indent="0">
              <a:buNone/>
            </a:pPr>
            <a:r>
              <a:rPr lang="en-US" sz="1300" b="1" dirty="0">
                <a:solidFill>
                  <a:srgbClr val="16202B"/>
                </a:solidFill>
                <a:latin typeface="Calibri" pitchFamily="34" charset="0"/>
                <a:ea typeface="Calibri" pitchFamily="34" charset="-122"/>
                <a:cs typeface="Calibri" pitchFamily="34" charset="-120"/>
              </a:rPr>
              <a:t>Request</a:t>
            </a:r>
            <a:endParaRPr lang="en-US" sz="1300" dirty="0"/>
          </a:p>
        </p:txBody>
      </p:sp>
      <p:sp>
        <p:nvSpPr>
          <p:cNvPr id="22" name="Text 20"/>
          <p:cNvSpPr txBox="1"/>
          <p:nvPr/>
        </p:nvSpPr>
        <p:spPr>
          <a:xfrm>
            <a:off x="594360" y="3703320"/>
            <a:ext cx="2331720" cy="731520"/>
          </a:xfrm>
          <a:prstGeom prst="rect">
            <a:avLst/>
          </a:prstGeom>
          <a:noFill/>
          <a:ln/>
        </p:spPr>
        <p:txBody>
          <a:bodyPr wrap="square" lIns="0" tIns="0" rIns="0" bIns="0" rtlCol="0" anchor="t"/>
          <a:lstStyle/>
          <a:p>
            <a:pPr marL="0" indent="0">
              <a:buNone/>
            </a:pPr>
            <a:r>
              <a:rPr lang="en-US" sz="950" dirty="0">
                <a:solidFill>
                  <a:srgbClr val="1F2933"/>
                </a:solidFill>
                <a:latin typeface="Calibri" pitchFamily="34" charset="0"/>
                <a:ea typeface="Calibri" pitchFamily="34" charset="-122"/>
                <a:cs typeface="Calibri" pitchFamily="34" charset="-120"/>
              </a:rPr>
              <a:t>Device A signals it wants to communicate</a:t>
            </a:r>
            <a:endParaRPr lang="en-US" sz="950" dirty="0"/>
          </a:p>
        </p:txBody>
      </p:sp>
      <p:sp>
        <p:nvSpPr>
          <p:cNvPr id="23" name="Shape 21"/>
          <p:cNvSpPr/>
          <p:nvPr/>
        </p:nvSpPr>
        <p:spPr>
          <a:xfrm>
            <a:off x="3081528" y="3794760"/>
            <a:ext cx="146304" cy="914"/>
          </a:xfrm>
          <a:prstGeom prst="line">
            <a:avLst/>
          </a:prstGeom>
          <a:noFill/>
          <a:ln w="25400">
            <a:solidFill>
              <a:srgbClr val="7A4512"/>
            </a:solidFill>
            <a:prstDash val="solid"/>
            <a:tailEnd type="triangle"/>
          </a:ln>
        </p:spPr>
        <p:txBody>
          <a:bodyPr/>
          <a:lstStyle/>
          <a:p>
            <a:endParaRPr lang="en-GB"/>
          </a:p>
        </p:txBody>
      </p:sp>
      <p:sp>
        <p:nvSpPr>
          <p:cNvPr id="24" name="Shape 22"/>
          <p:cNvSpPr/>
          <p:nvPr/>
        </p:nvSpPr>
        <p:spPr>
          <a:xfrm>
            <a:off x="3246120" y="3108960"/>
            <a:ext cx="2606040" cy="1371600"/>
          </a:xfrm>
          <a:prstGeom prst="roundRect">
            <a:avLst>
              <a:gd name="adj" fmla="val 5333"/>
            </a:avLst>
          </a:prstGeom>
          <a:solidFill>
            <a:srgbClr val="F6E3CF"/>
          </a:solidFill>
          <a:ln w="12700">
            <a:solidFill>
              <a:srgbClr val="F6E3CF"/>
            </a:solidFill>
            <a:prstDash val="solid"/>
          </a:ln>
        </p:spPr>
        <p:txBody>
          <a:bodyPr/>
          <a:lstStyle/>
          <a:p>
            <a:endParaRPr lang="en-GB"/>
          </a:p>
        </p:txBody>
      </p:sp>
      <p:sp>
        <p:nvSpPr>
          <p:cNvPr id="25" name="Shape 23"/>
          <p:cNvSpPr/>
          <p:nvPr/>
        </p:nvSpPr>
        <p:spPr>
          <a:xfrm>
            <a:off x="3383280" y="3246120"/>
            <a:ext cx="365760" cy="365760"/>
          </a:xfrm>
          <a:prstGeom prst="ellipse">
            <a:avLst/>
          </a:prstGeom>
          <a:solidFill>
            <a:srgbClr val="7A4512"/>
          </a:solidFill>
          <a:ln w="12700">
            <a:solidFill>
              <a:srgbClr val="7A4512"/>
            </a:solidFill>
            <a:prstDash val="solid"/>
          </a:ln>
        </p:spPr>
        <p:txBody>
          <a:bodyPr/>
          <a:lstStyle/>
          <a:p>
            <a:endParaRPr lang="en-GB"/>
          </a:p>
        </p:txBody>
      </p:sp>
      <p:sp>
        <p:nvSpPr>
          <p:cNvPr id="26" name="Text 24"/>
          <p:cNvSpPr txBox="1"/>
          <p:nvPr/>
        </p:nvSpPr>
        <p:spPr>
          <a:xfrm>
            <a:off x="3383280" y="32461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27" name="Text 25"/>
          <p:cNvSpPr txBox="1"/>
          <p:nvPr/>
        </p:nvSpPr>
        <p:spPr>
          <a:xfrm>
            <a:off x="3840480" y="3246120"/>
            <a:ext cx="1920240" cy="365760"/>
          </a:xfrm>
          <a:prstGeom prst="rect">
            <a:avLst/>
          </a:prstGeom>
          <a:noFill/>
          <a:ln/>
        </p:spPr>
        <p:txBody>
          <a:bodyPr wrap="square" lIns="0" tIns="0" rIns="0" bIns="0" rtlCol="0" anchor="ctr"/>
          <a:lstStyle/>
          <a:p>
            <a:pPr marL="0" indent="0">
              <a:buNone/>
            </a:pPr>
            <a:r>
              <a:rPr lang="en-US" sz="1300" b="1" dirty="0">
                <a:solidFill>
                  <a:srgbClr val="16202B"/>
                </a:solidFill>
                <a:latin typeface="Calibri" pitchFamily="34" charset="0"/>
                <a:ea typeface="Calibri" pitchFamily="34" charset="-122"/>
                <a:cs typeface="Calibri" pitchFamily="34" charset="-120"/>
              </a:rPr>
              <a:t>Acknowledge</a:t>
            </a:r>
            <a:endParaRPr lang="en-US" sz="1300" dirty="0"/>
          </a:p>
        </p:txBody>
      </p:sp>
      <p:sp>
        <p:nvSpPr>
          <p:cNvPr id="28" name="Text 26"/>
          <p:cNvSpPr txBox="1"/>
          <p:nvPr/>
        </p:nvSpPr>
        <p:spPr>
          <a:xfrm>
            <a:off x="3383280" y="3703320"/>
            <a:ext cx="2331720" cy="731520"/>
          </a:xfrm>
          <a:prstGeom prst="rect">
            <a:avLst/>
          </a:prstGeom>
          <a:noFill/>
          <a:ln/>
        </p:spPr>
        <p:txBody>
          <a:bodyPr wrap="square" lIns="0" tIns="0" rIns="0" bIns="0" rtlCol="0" anchor="t"/>
          <a:lstStyle/>
          <a:p>
            <a:pPr marL="0" indent="0">
              <a:buNone/>
            </a:pPr>
            <a:r>
              <a:rPr lang="en-US" sz="950" dirty="0">
                <a:solidFill>
                  <a:srgbClr val="1F2933"/>
                </a:solidFill>
                <a:latin typeface="Calibri" pitchFamily="34" charset="0"/>
                <a:ea typeface="Calibri" pitchFamily="34" charset="-122"/>
                <a:cs typeface="Calibri" pitchFamily="34" charset="-120"/>
              </a:rPr>
              <a:t>Device B responds — I'm ready, here's how I can communicate</a:t>
            </a:r>
            <a:endParaRPr lang="en-US" sz="950" dirty="0"/>
          </a:p>
        </p:txBody>
      </p:sp>
      <p:sp>
        <p:nvSpPr>
          <p:cNvPr id="29" name="Shape 27"/>
          <p:cNvSpPr/>
          <p:nvPr/>
        </p:nvSpPr>
        <p:spPr>
          <a:xfrm>
            <a:off x="5870448" y="3794760"/>
            <a:ext cx="146304" cy="914"/>
          </a:xfrm>
          <a:prstGeom prst="line">
            <a:avLst/>
          </a:prstGeom>
          <a:noFill/>
          <a:ln w="25400">
            <a:solidFill>
              <a:srgbClr val="7A4512"/>
            </a:solidFill>
            <a:prstDash val="solid"/>
            <a:tailEnd type="triangle"/>
          </a:ln>
        </p:spPr>
        <p:txBody>
          <a:bodyPr/>
          <a:lstStyle/>
          <a:p>
            <a:endParaRPr lang="en-GB"/>
          </a:p>
        </p:txBody>
      </p:sp>
      <p:sp>
        <p:nvSpPr>
          <p:cNvPr id="30" name="Shape 28"/>
          <p:cNvSpPr/>
          <p:nvPr/>
        </p:nvSpPr>
        <p:spPr>
          <a:xfrm>
            <a:off x="6035040" y="3108960"/>
            <a:ext cx="2606040" cy="1371600"/>
          </a:xfrm>
          <a:prstGeom prst="roundRect">
            <a:avLst>
              <a:gd name="adj" fmla="val 5333"/>
            </a:avLst>
          </a:prstGeom>
          <a:solidFill>
            <a:srgbClr val="F6E3CF"/>
          </a:solidFill>
          <a:ln w="12700">
            <a:solidFill>
              <a:srgbClr val="F6E3CF"/>
            </a:solidFill>
            <a:prstDash val="solid"/>
          </a:ln>
        </p:spPr>
        <p:txBody>
          <a:bodyPr/>
          <a:lstStyle/>
          <a:p>
            <a:endParaRPr lang="en-GB"/>
          </a:p>
        </p:txBody>
      </p:sp>
      <p:sp>
        <p:nvSpPr>
          <p:cNvPr id="31" name="Shape 29"/>
          <p:cNvSpPr/>
          <p:nvPr/>
        </p:nvSpPr>
        <p:spPr>
          <a:xfrm>
            <a:off x="6172200" y="3246120"/>
            <a:ext cx="365760" cy="365760"/>
          </a:xfrm>
          <a:prstGeom prst="ellipse">
            <a:avLst/>
          </a:prstGeom>
          <a:solidFill>
            <a:srgbClr val="7A4512"/>
          </a:solidFill>
          <a:ln w="12700">
            <a:solidFill>
              <a:srgbClr val="7A4512"/>
            </a:solidFill>
            <a:prstDash val="solid"/>
          </a:ln>
        </p:spPr>
        <p:txBody>
          <a:bodyPr/>
          <a:lstStyle/>
          <a:p>
            <a:endParaRPr lang="en-GB"/>
          </a:p>
        </p:txBody>
      </p:sp>
      <p:sp>
        <p:nvSpPr>
          <p:cNvPr id="32" name="Text 30"/>
          <p:cNvSpPr txBox="1"/>
          <p:nvPr/>
        </p:nvSpPr>
        <p:spPr>
          <a:xfrm>
            <a:off x="6172200" y="32461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33" name="Text 31"/>
          <p:cNvSpPr txBox="1"/>
          <p:nvPr/>
        </p:nvSpPr>
        <p:spPr>
          <a:xfrm>
            <a:off x="6629400" y="3246120"/>
            <a:ext cx="1920240" cy="365760"/>
          </a:xfrm>
          <a:prstGeom prst="rect">
            <a:avLst/>
          </a:prstGeom>
          <a:noFill/>
          <a:ln/>
        </p:spPr>
        <p:txBody>
          <a:bodyPr wrap="square" lIns="0" tIns="0" rIns="0" bIns="0" rtlCol="0" anchor="ctr"/>
          <a:lstStyle/>
          <a:p>
            <a:pPr marL="0" indent="0">
              <a:buNone/>
            </a:pPr>
            <a:r>
              <a:rPr lang="en-US" sz="1300" b="1" dirty="0">
                <a:solidFill>
                  <a:srgbClr val="16202B"/>
                </a:solidFill>
                <a:latin typeface="Calibri" pitchFamily="34" charset="0"/>
                <a:ea typeface="Calibri" pitchFamily="34" charset="-122"/>
                <a:cs typeface="Calibri" pitchFamily="34" charset="-120"/>
              </a:rPr>
              <a:t>Confirm</a:t>
            </a:r>
            <a:endParaRPr lang="en-US" sz="1300" dirty="0"/>
          </a:p>
        </p:txBody>
      </p:sp>
      <p:sp>
        <p:nvSpPr>
          <p:cNvPr id="34" name="Text 32"/>
          <p:cNvSpPr txBox="1"/>
          <p:nvPr/>
        </p:nvSpPr>
        <p:spPr>
          <a:xfrm>
            <a:off x="6172200" y="3703320"/>
            <a:ext cx="2331720" cy="731520"/>
          </a:xfrm>
          <a:prstGeom prst="rect">
            <a:avLst/>
          </a:prstGeom>
          <a:noFill/>
          <a:ln/>
        </p:spPr>
        <p:txBody>
          <a:bodyPr wrap="square" lIns="0" tIns="0" rIns="0" bIns="0" rtlCol="0" anchor="t"/>
          <a:lstStyle/>
          <a:p>
            <a:pPr marL="0" indent="0">
              <a:buNone/>
            </a:pPr>
            <a:r>
              <a:rPr lang="en-US" sz="950" dirty="0">
                <a:solidFill>
                  <a:srgbClr val="1F2933"/>
                </a:solidFill>
                <a:latin typeface="Calibri" pitchFamily="34" charset="0"/>
                <a:ea typeface="Calibri" pitchFamily="34" charset="-122"/>
                <a:cs typeface="Calibri" pitchFamily="34" charset="-120"/>
              </a:rPr>
              <a:t>Device A confirms — agreed, data transfer begins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Interactive task  ·  8 min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Handshake Sequence Builder</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8" name="Text 6"/>
          <p:cNvSpPr txBox="1"/>
          <p:nvPr/>
        </p:nvSpPr>
        <p:spPr>
          <a:xfrm>
            <a:off x="457200" y="1463040"/>
            <a:ext cx="8046720" cy="5486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Put the steps of a device handshake into the correct order, and see why the order itself matters.</a:t>
            </a:r>
            <a:endParaRPr lang="en-US" sz="1500" dirty="0"/>
          </a:p>
        </p:txBody>
      </p:sp>
      <p:sp>
        <p:nvSpPr>
          <p:cNvPr id="9" name="Shape 7"/>
          <p:cNvSpPr/>
          <p:nvPr/>
        </p:nvSpPr>
        <p:spPr>
          <a:xfrm>
            <a:off x="457200" y="2240280"/>
            <a:ext cx="3931920" cy="2331720"/>
          </a:xfrm>
          <a:prstGeom prst="roundRect">
            <a:avLst>
              <a:gd name="adj" fmla="val 3137"/>
            </a:avLst>
          </a:prstGeom>
          <a:solidFill>
            <a:srgbClr val="2B3A4A"/>
          </a:solidFill>
          <a:ln w="12700">
            <a:solidFill>
              <a:srgbClr val="2B3A4A"/>
            </a:solidFill>
            <a:prstDash val="solid"/>
          </a:ln>
        </p:spPr>
        <p:txBody>
          <a:bodyPr/>
          <a:lstStyle/>
          <a:p>
            <a:endParaRPr lang="en-GB"/>
          </a:p>
        </p:txBody>
      </p:sp>
      <p:sp>
        <p:nvSpPr>
          <p:cNvPr id="10" name="Text 8"/>
          <p:cNvSpPr txBox="1"/>
          <p:nvPr/>
        </p:nvSpPr>
        <p:spPr>
          <a:xfrm>
            <a:off x="594360" y="2395728"/>
            <a:ext cx="3657600" cy="201168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How it works</a:t>
            </a:r>
            <a:endParaRPr lang="en-US" sz="1250" dirty="0"/>
          </a:p>
          <a:p>
            <a:pPr marL="0" indent="0">
              <a:buNone/>
            </a:pPr>
            <a:r>
              <a:rPr lang="en-US" sz="1250" dirty="0">
                <a:solidFill>
                  <a:srgbClr val="CBD5DF"/>
                </a:solidFill>
                <a:latin typeface="Calibri" pitchFamily="34" charset="0"/>
                <a:ea typeface="Calibri" pitchFamily="34" charset="-122"/>
                <a:cs typeface="Calibri" pitchFamily="34" charset="-120"/>
              </a:rPr>
              <a:t>A shuffled set of handshake steps. Reorder them, check, and get feedback on exactly where the sequence breaks if it's wrong.</a:t>
            </a:r>
            <a:endParaRPr lang="en-US" sz="1250" dirty="0"/>
          </a:p>
        </p:txBody>
      </p:sp>
      <p:sp>
        <p:nvSpPr>
          <p:cNvPr id="11" name="Shape 9"/>
          <p:cNvSpPr/>
          <p:nvPr/>
        </p:nvSpPr>
        <p:spPr>
          <a:xfrm>
            <a:off x="4663440" y="2240280"/>
            <a:ext cx="3840480" cy="2331720"/>
          </a:xfrm>
          <a:prstGeom prst="roundRect">
            <a:avLst>
              <a:gd name="adj" fmla="val 3137"/>
            </a:avLst>
          </a:prstGeom>
          <a:solidFill>
            <a:srgbClr val="2B3A4A"/>
          </a:solidFill>
          <a:ln w="12700">
            <a:solidFill>
              <a:srgbClr val="2B3A4A"/>
            </a:solidFill>
            <a:prstDash val="solid"/>
          </a:ln>
        </p:spPr>
        <p:txBody>
          <a:bodyPr/>
          <a:lstStyle/>
          <a:p>
            <a:endParaRPr lang="en-GB"/>
          </a:p>
        </p:txBody>
      </p:sp>
      <p:sp>
        <p:nvSpPr>
          <p:cNvPr id="12" name="Text 10"/>
          <p:cNvSpPr txBox="1"/>
          <p:nvPr/>
        </p:nvSpPr>
        <p:spPr>
          <a:xfrm>
            <a:off x="4800600" y="2395728"/>
            <a:ext cx="3566160" cy="201168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Why order matters</a:t>
            </a:r>
            <a:endParaRPr lang="en-US" sz="1250" dirty="0"/>
          </a:p>
          <a:p>
            <a:pPr marL="0" indent="0">
              <a:buNone/>
            </a:pPr>
            <a:r>
              <a:rPr lang="en-US" sz="1250" dirty="0">
                <a:solidFill>
                  <a:srgbClr val="CBD5DF"/>
                </a:solidFill>
                <a:latin typeface="Calibri" pitchFamily="34" charset="0"/>
                <a:ea typeface="Calibri" pitchFamily="34" charset="-122"/>
                <a:cs typeface="Calibri" pitchFamily="34" charset="-120"/>
              </a:rPr>
              <a:t>If a device sends data before the handshake completes, the receiving device may not be ready — data gets lost or misread. Order is the whole point.</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Check  ·  4 min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Quiz 1.7.4 — handshaking</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9AA8B5"/>
                </a:solidFill>
                <a:latin typeface="Calibri" pitchFamily="34" charset="0"/>
                <a:ea typeface="Calibri" pitchFamily="34" charset="-122"/>
                <a:cs typeface="Calibri" pitchFamily="34" charset="-120"/>
              </a:rPr>
              <a:t>1.7.4</a:t>
            </a:r>
            <a:endParaRPr lang="en-US" sz="900" dirty="0"/>
          </a:p>
        </p:txBody>
      </p:sp>
      <p:sp>
        <p:nvSpPr>
          <p:cNvPr id="8" name="Text 6"/>
          <p:cNvSpPr txBox="1"/>
          <p:nvPr/>
        </p:nvSpPr>
        <p:spPr>
          <a:xfrm>
            <a:off x="457200" y="1554480"/>
            <a:ext cx="7772400" cy="457200"/>
          </a:xfrm>
          <a:prstGeom prst="rect">
            <a:avLst/>
          </a:prstGeom>
          <a:noFill/>
          <a:ln/>
        </p:spPr>
        <p:txBody>
          <a:bodyPr wrap="square" lIns="0" tIns="0" rIns="0" bIns="0" rtlCol="0" anchor="ctr"/>
          <a:lstStyle/>
          <a:p>
            <a:pPr marL="0" indent="0">
              <a:buNone/>
            </a:pPr>
            <a:r>
              <a:rPr lang="en-US" sz="1600" dirty="0">
                <a:solidFill>
                  <a:srgbClr val="D9822B"/>
                </a:solidFill>
                <a:latin typeface="Calibri" pitchFamily="34" charset="0"/>
                <a:ea typeface="Calibri" pitchFamily="34" charset="-122"/>
                <a:cs typeface="Calibri" pitchFamily="34" charset="-120"/>
              </a:rPr>
              <a:t>Explain the role of handshaking</a:t>
            </a:r>
            <a:endParaRPr lang="en-US" sz="1600" dirty="0"/>
          </a:p>
        </p:txBody>
      </p:sp>
      <p:sp>
        <p:nvSpPr>
          <p:cNvPr id="9" name="Shape 7"/>
          <p:cNvSpPr/>
          <p:nvPr/>
        </p:nvSpPr>
        <p:spPr>
          <a:xfrm>
            <a:off x="457200" y="2103120"/>
            <a:ext cx="5943600" cy="594360"/>
          </a:xfrm>
          <a:prstGeom prst="roundRect">
            <a:avLst>
              <a:gd name="adj" fmla="val 12308"/>
            </a:avLst>
          </a:prstGeom>
          <a:solidFill>
            <a:srgbClr val="2B3A4A"/>
          </a:solidFill>
          <a:ln w="12700">
            <a:solidFill>
              <a:srgbClr val="2B3A4A"/>
            </a:solidFill>
            <a:prstDash val="solid"/>
          </a:ln>
        </p:spPr>
        <p:txBody>
          <a:bodyPr/>
          <a:lstStyle/>
          <a:p>
            <a:endParaRPr lang="en-GB"/>
          </a:p>
        </p:txBody>
      </p:sp>
      <p:sp>
        <p:nvSpPr>
          <p:cNvPr id="10" name="Text 8"/>
          <p:cNvSpPr txBox="1"/>
          <p:nvPr/>
        </p:nvSpPr>
        <p:spPr>
          <a:xfrm>
            <a:off x="594360" y="2103120"/>
            <a:ext cx="5669280" cy="594360"/>
          </a:xfrm>
          <a:prstGeom prst="rect">
            <a:avLst/>
          </a:prstGeom>
          <a:noFill/>
          <a:ln/>
        </p:spPr>
        <p:txBody>
          <a:bodyPr wrap="square" lIns="0" tIns="0" rIns="0" bIns="0" rtlCol="0" anchor="ctr"/>
          <a:lstStyle/>
          <a:p>
            <a:pPr marL="0" indent="0">
              <a:buNone/>
            </a:pPr>
            <a:r>
              <a:rPr lang="en-US" sz="1200" i="1" dirty="0">
                <a:solidFill>
                  <a:srgbClr val="9AA8B5"/>
                </a:solidFill>
                <a:latin typeface="Courier New" pitchFamily="34" charset="0"/>
                <a:ea typeface="Courier New" pitchFamily="34" charset="-122"/>
                <a:cs typeface="Courier New" pitchFamily="34" charset="-120"/>
              </a:rPr>
              <a:t>Quiz link — Microsoft Forms: [ADD LINK / QR HERE]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Teach  ·  6 min</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6" name="Text 4"/>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7" name="Text 5"/>
          <p:cNvSpPr txBox="1"/>
          <p:nvPr/>
        </p:nvSpPr>
        <p:spPr>
          <a:xfrm>
            <a:off x="457200" y="1188720"/>
            <a:ext cx="8229600" cy="640080"/>
          </a:xfrm>
          <a:prstGeom prst="rect">
            <a:avLst/>
          </a:prstGeom>
          <a:noFill/>
          <a:ln/>
        </p:spPr>
        <p:txBody>
          <a:bodyPr wrap="square" lIns="0" tIns="0" rIns="0" bIns="0" rtlCol="0" anchor="ctr"/>
          <a:lstStyle/>
          <a:p>
            <a:pPr marL="0" indent="0">
              <a:buNone/>
            </a:pPr>
            <a:r>
              <a:rPr lang="en-US" sz="3400" b="1" dirty="0">
                <a:solidFill>
                  <a:srgbClr val="D9822B"/>
                </a:solidFill>
                <a:latin typeface="Courier New" pitchFamily="34" charset="0"/>
                <a:ea typeface="Courier New" pitchFamily="34" charset="-122"/>
                <a:cs typeface="Courier New" pitchFamily="34" charset="-120"/>
              </a:rPr>
              <a:t>1.8.1</a:t>
            </a:r>
            <a:endParaRPr lang="en-US" sz="3400" dirty="0"/>
          </a:p>
        </p:txBody>
      </p:sp>
      <p:sp>
        <p:nvSpPr>
          <p:cNvPr id="8" name="Text 6"/>
          <p:cNvSpPr txBox="1"/>
          <p:nvPr/>
        </p:nvSpPr>
        <p:spPr>
          <a:xfrm>
            <a:off x="457200" y="1874520"/>
            <a:ext cx="8046720" cy="960120"/>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Describe the internet in terms of a world-wide communications infrastructure.</a:t>
            </a:r>
            <a:endParaRPr lang="en-US" sz="1900" dirty="0"/>
          </a:p>
        </p:txBody>
      </p:sp>
      <p:sp>
        <p:nvSpPr>
          <p:cNvPr id="9" name="Text 7"/>
          <p:cNvSpPr txBox="1"/>
          <p:nvPr/>
        </p:nvSpPr>
        <p:spPr>
          <a:xfrm>
            <a:off x="457200" y="2971800"/>
            <a:ext cx="2743200" cy="256032"/>
          </a:xfrm>
          <a:prstGeom prst="rect">
            <a:avLst/>
          </a:prstGeom>
          <a:noFill/>
          <a:ln/>
        </p:spPr>
        <p:txBody>
          <a:bodyPr wrap="square" lIns="0" tIns="0" rIns="0" bIns="0" rtlCol="0" anchor="ctr"/>
          <a:lstStyle/>
          <a:p>
            <a:pPr marL="0" indent="0">
              <a:buNone/>
            </a:pPr>
            <a:r>
              <a:rPr lang="en-US" sz="1100" b="1" dirty="0">
                <a:solidFill>
                  <a:srgbClr val="9AA8B5"/>
                </a:solidFill>
                <a:latin typeface="Calibri" pitchFamily="34" charset="0"/>
                <a:ea typeface="Calibri" pitchFamily="34" charset="-122"/>
                <a:cs typeface="Calibri" pitchFamily="34" charset="-120"/>
              </a:rPr>
              <a:t>In this segment</a:t>
            </a:r>
            <a:endParaRPr lang="en-US" sz="1100" dirty="0"/>
          </a:p>
        </p:txBody>
      </p:sp>
      <p:sp>
        <p:nvSpPr>
          <p:cNvPr id="10" name="Text 8"/>
          <p:cNvSpPr txBox="1"/>
          <p:nvPr/>
        </p:nvSpPr>
        <p:spPr>
          <a:xfrm>
            <a:off x="457200" y="3246120"/>
            <a:ext cx="7863840" cy="13716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Zooming out from single networks to the internet itself</a:t>
            </a:r>
            <a:endParaRPr lang="en-US" sz="1300" dirty="0"/>
          </a:p>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"A network of networks"</a:t>
            </a:r>
            <a:endParaRPr lang="en-US" sz="1300" dirty="0"/>
          </a:p>
          <a:p>
            <a:pPr marL="152400" indent="-1524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How today's four sub-topics all fit underneath this one idea</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Teach 1.8.1</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A network of networks</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1.8.1</a:t>
            </a:r>
            <a:endParaRPr lang="en-US" sz="900" dirty="0"/>
          </a:p>
        </p:txBody>
      </p:sp>
      <p:sp>
        <p:nvSpPr>
          <p:cNvPr id="8" name="Shape 6"/>
          <p:cNvSpPr/>
          <p:nvPr/>
        </p:nvSpPr>
        <p:spPr>
          <a:xfrm>
            <a:off x="3291840" y="2331720"/>
            <a:ext cx="2560320" cy="1417320"/>
          </a:xfrm>
          <a:prstGeom prst="ellipse">
            <a:avLst/>
          </a:prstGeom>
          <a:solidFill>
            <a:srgbClr val="F6E3CF"/>
          </a:solidFill>
          <a:ln w="12700">
            <a:solidFill>
              <a:srgbClr val="F6E3CF"/>
            </a:solidFill>
            <a:prstDash val="solid"/>
          </a:ln>
        </p:spPr>
        <p:txBody>
          <a:bodyPr/>
          <a:lstStyle/>
          <a:p>
            <a:endParaRPr lang="en-GB"/>
          </a:p>
        </p:txBody>
      </p:sp>
      <p:sp>
        <p:nvSpPr>
          <p:cNvPr id="9" name="Text 7"/>
          <p:cNvSpPr txBox="1"/>
          <p:nvPr/>
        </p:nvSpPr>
        <p:spPr>
          <a:xfrm>
            <a:off x="3291840" y="2331720"/>
            <a:ext cx="2560320" cy="1417320"/>
          </a:xfrm>
          <a:prstGeom prst="rect">
            <a:avLst/>
          </a:prstGeom>
          <a:noFill/>
          <a:ln/>
        </p:spPr>
        <p:txBody>
          <a:bodyPr wrap="square" lIns="0" tIns="0" rIns="0" bIns="0" rtlCol="0" anchor="ctr"/>
          <a:lstStyle/>
          <a:p>
            <a:pPr marL="0" indent="0" algn="ctr">
              <a:buNone/>
            </a:pPr>
            <a:r>
              <a:rPr lang="en-US" sz="1300" b="1" dirty="0">
                <a:solidFill>
                  <a:srgbClr val="7A4512"/>
                </a:solidFill>
                <a:latin typeface="Courier New" pitchFamily="34" charset="0"/>
                <a:ea typeface="Courier New" pitchFamily="34" charset="-122"/>
                <a:cs typeface="Courier New" pitchFamily="34" charset="-120"/>
              </a:rPr>
              <a:t>THE INTERNET</a:t>
            </a:r>
            <a:endParaRPr lang="en-US" sz="1300" dirty="0"/>
          </a:p>
        </p:txBody>
      </p:sp>
      <p:sp>
        <p:nvSpPr>
          <p:cNvPr id="10" name="Shape 8"/>
          <p:cNvSpPr/>
          <p:nvPr/>
        </p:nvSpPr>
        <p:spPr>
          <a:xfrm>
            <a:off x="548640" y="1600200"/>
            <a:ext cx="1371600" cy="822960"/>
          </a:xfrm>
          <a:prstGeom prst="ellipse">
            <a:avLst/>
          </a:prstGeom>
          <a:solidFill>
            <a:srgbClr val="EEF2F5"/>
          </a:solidFill>
          <a:ln w="15875">
            <a:solidFill>
              <a:srgbClr val="C9D3DC"/>
            </a:solidFill>
            <a:prstDash val="solid"/>
          </a:ln>
        </p:spPr>
        <p:txBody>
          <a:bodyPr/>
          <a:lstStyle/>
          <a:p>
            <a:endParaRPr lang="en-GB"/>
          </a:p>
        </p:txBody>
      </p:sp>
      <p:sp>
        <p:nvSpPr>
          <p:cNvPr id="11" name="Text 9"/>
          <p:cNvSpPr txBox="1"/>
          <p:nvPr/>
        </p:nvSpPr>
        <p:spPr>
          <a:xfrm>
            <a:off x="548640" y="1600200"/>
            <a:ext cx="1371600" cy="822960"/>
          </a:xfrm>
          <a:prstGeom prst="rect">
            <a:avLst/>
          </a:prstGeom>
          <a:noFill/>
          <a:ln/>
        </p:spPr>
        <p:txBody>
          <a:bodyPr wrap="square" lIns="0" tIns="0" rIns="0" bIns="0" rtlCol="0" anchor="ctr"/>
          <a:lstStyle/>
          <a:p>
            <a:pPr marL="0" indent="0" algn="ctr">
              <a:buNone/>
            </a:pPr>
            <a:r>
              <a:rPr lang="en-US" sz="1000" b="1" dirty="0">
                <a:solidFill>
                  <a:srgbClr val="16202B"/>
                </a:solidFill>
                <a:latin typeface="Calibri" pitchFamily="34" charset="0"/>
                <a:ea typeface="Calibri" pitchFamily="34" charset="-122"/>
                <a:cs typeface="Calibri" pitchFamily="34" charset="-120"/>
              </a:rPr>
              <a:t>LAN</a:t>
            </a:r>
            <a:endParaRPr lang="en-US" sz="1000" dirty="0"/>
          </a:p>
          <a:p>
            <a:pPr marL="0" indent="0" algn="ctr">
              <a:buNone/>
            </a:pPr>
            <a:r>
              <a:rPr lang="en-US" sz="1000" b="1" dirty="0">
                <a:solidFill>
                  <a:srgbClr val="16202B"/>
                </a:solidFill>
                <a:latin typeface="Calibri" pitchFamily="34" charset="0"/>
                <a:ea typeface="Calibri" pitchFamily="34" charset="-122"/>
                <a:cs typeface="Calibri" pitchFamily="34" charset="-120"/>
              </a:rPr>
              <a:t>school</a:t>
            </a:r>
            <a:endParaRPr lang="en-US" sz="1000" dirty="0"/>
          </a:p>
        </p:txBody>
      </p:sp>
      <p:sp>
        <p:nvSpPr>
          <p:cNvPr id="12" name="Shape 10"/>
          <p:cNvSpPr/>
          <p:nvPr/>
        </p:nvSpPr>
        <p:spPr>
          <a:xfrm>
            <a:off x="1874520" y="2148840"/>
            <a:ext cx="1645920" cy="502920"/>
          </a:xfrm>
          <a:prstGeom prst="line">
            <a:avLst/>
          </a:prstGeom>
          <a:noFill/>
          <a:ln w="15875">
            <a:solidFill>
              <a:srgbClr val="2B3A4A"/>
            </a:solidFill>
            <a:prstDash val="solid"/>
          </a:ln>
        </p:spPr>
        <p:txBody>
          <a:bodyPr/>
          <a:lstStyle/>
          <a:p>
            <a:endParaRPr lang="en-GB"/>
          </a:p>
        </p:txBody>
      </p:sp>
      <p:sp>
        <p:nvSpPr>
          <p:cNvPr id="13" name="Shape 11"/>
          <p:cNvSpPr/>
          <p:nvPr/>
        </p:nvSpPr>
        <p:spPr>
          <a:xfrm>
            <a:off x="3520440" y="1280160"/>
            <a:ext cx="1371600" cy="822960"/>
          </a:xfrm>
          <a:prstGeom prst="ellipse">
            <a:avLst/>
          </a:prstGeom>
          <a:solidFill>
            <a:srgbClr val="EEF2F5"/>
          </a:solidFill>
          <a:ln w="15875">
            <a:solidFill>
              <a:srgbClr val="C9D3DC"/>
            </a:solidFill>
            <a:prstDash val="solid"/>
          </a:ln>
        </p:spPr>
        <p:txBody>
          <a:bodyPr/>
          <a:lstStyle/>
          <a:p>
            <a:endParaRPr lang="en-GB"/>
          </a:p>
        </p:txBody>
      </p:sp>
      <p:sp>
        <p:nvSpPr>
          <p:cNvPr id="14" name="Text 12"/>
          <p:cNvSpPr txBox="1"/>
          <p:nvPr/>
        </p:nvSpPr>
        <p:spPr>
          <a:xfrm>
            <a:off x="3520440" y="1280160"/>
            <a:ext cx="1371600" cy="822960"/>
          </a:xfrm>
          <a:prstGeom prst="rect">
            <a:avLst/>
          </a:prstGeom>
          <a:noFill/>
          <a:ln/>
        </p:spPr>
        <p:txBody>
          <a:bodyPr wrap="square" lIns="0" tIns="0" rIns="0" bIns="0" rtlCol="0" anchor="ctr"/>
          <a:lstStyle/>
          <a:p>
            <a:pPr marL="0" indent="0" algn="ctr">
              <a:buNone/>
            </a:pPr>
            <a:r>
              <a:rPr lang="en-US" sz="1000" b="1" dirty="0">
                <a:solidFill>
                  <a:srgbClr val="16202B"/>
                </a:solidFill>
                <a:latin typeface="Calibri" pitchFamily="34" charset="0"/>
                <a:ea typeface="Calibri" pitchFamily="34" charset="-122"/>
                <a:cs typeface="Calibri" pitchFamily="34" charset="-120"/>
              </a:rPr>
              <a:t>LAN</a:t>
            </a:r>
            <a:endParaRPr lang="en-US" sz="1000" dirty="0"/>
          </a:p>
          <a:p>
            <a:pPr marL="0" indent="0" algn="ctr">
              <a:buNone/>
            </a:pPr>
            <a:r>
              <a:rPr lang="en-US" sz="1000" b="1" dirty="0">
                <a:solidFill>
                  <a:srgbClr val="16202B"/>
                </a:solidFill>
                <a:latin typeface="Calibri" pitchFamily="34" charset="0"/>
                <a:ea typeface="Calibri" pitchFamily="34" charset="-122"/>
                <a:cs typeface="Calibri" pitchFamily="34" charset="-120"/>
              </a:rPr>
              <a:t>office</a:t>
            </a:r>
            <a:endParaRPr lang="en-US" sz="1000" dirty="0"/>
          </a:p>
        </p:txBody>
      </p:sp>
      <p:sp>
        <p:nvSpPr>
          <p:cNvPr id="15" name="Shape 13"/>
          <p:cNvSpPr/>
          <p:nvPr/>
        </p:nvSpPr>
        <p:spPr>
          <a:xfrm>
            <a:off x="4274820" y="2080260"/>
            <a:ext cx="171345" cy="251460"/>
          </a:xfrm>
          <a:prstGeom prst="line">
            <a:avLst/>
          </a:prstGeom>
          <a:noFill/>
          <a:ln w="15875">
            <a:solidFill>
              <a:srgbClr val="2B3A4A"/>
            </a:solidFill>
            <a:prstDash val="solid"/>
          </a:ln>
        </p:spPr>
        <p:txBody>
          <a:bodyPr/>
          <a:lstStyle/>
          <a:p>
            <a:endParaRPr lang="en-GB"/>
          </a:p>
        </p:txBody>
      </p:sp>
      <p:sp>
        <p:nvSpPr>
          <p:cNvPr id="16" name="Shape 14"/>
          <p:cNvSpPr/>
          <p:nvPr/>
        </p:nvSpPr>
        <p:spPr>
          <a:xfrm>
            <a:off x="6492240" y="1600200"/>
            <a:ext cx="1371600" cy="822960"/>
          </a:xfrm>
          <a:prstGeom prst="ellipse">
            <a:avLst/>
          </a:prstGeom>
          <a:solidFill>
            <a:srgbClr val="EEF2F5"/>
          </a:solidFill>
          <a:ln w="15875">
            <a:solidFill>
              <a:srgbClr val="C9D3DC"/>
            </a:solidFill>
            <a:prstDash val="solid"/>
          </a:ln>
        </p:spPr>
        <p:txBody>
          <a:bodyPr/>
          <a:lstStyle/>
          <a:p>
            <a:endParaRPr lang="en-GB"/>
          </a:p>
        </p:txBody>
      </p:sp>
      <p:sp>
        <p:nvSpPr>
          <p:cNvPr id="17" name="Text 15"/>
          <p:cNvSpPr txBox="1"/>
          <p:nvPr/>
        </p:nvSpPr>
        <p:spPr>
          <a:xfrm>
            <a:off x="6492240" y="1600200"/>
            <a:ext cx="1371600" cy="822960"/>
          </a:xfrm>
          <a:prstGeom prst="rect">
            <a:avLst/>
          </a:prstGeom>
          <a:noFill/>
          <a:ln/>
        </p:spPr>
        <p:txBody>
          <a:bodyPr wrap="square" lIns="0" tIns="0" rIns="0" bIns="0" rtlCol="0" anchor="ctr"/>
          <a:lstStyle/>
          <a:p>
            <a:pPr marL="0" indent="0" algn="ctr">
              <a:buNone/>
            </a:pPr>
            <a:r>
              <a:rPr lang="en-US" sz="1000" b="1" dirty="0">
                <a:solidFill>
                  <a:srgbClr val="16202B"/>
                </a:solidFill>
                <a:latin typeface="Calibri" pitchFamily="34" charset="0"/>
                <a:ea typeface="Calibri" pitchFamily="34" charset="-122"/>
                <a:cs typeface="Calibri" pitchFamily="34" charset="-120"/>
              </a:rPr>
              <a:t>LAN</a:t>
            </a:r>
            <a:endParaRPr lang="en-US" sz="1000" dirty="0"/>
          </a:p>
          <a:p>
            <a:pPr marL="0" indent="0" algn="ctr">
              <a:buNone/>
            </a:pPr>
            <a:r>
              <a:rPr lang="en-US" sz="1000" b="1" dirty="0">
                <a:solidFill>
                  <a:srgbClr val="16202B"/>
                </a:solidFill>
                <a:latin typeface="Calibri" pitchFamily="34" charset="0"/>
                <a:ea typeface="Calibri" pitchFamily="34" charset="-122"/>
                <a:cs typeface="Calibri" pitchFamily="34" charset="-120"/>
              </a:rPr>
              <a:t>home</a:t>
            </a:r>
            <a:endParaRPr lang="en-US" sz="1000" dirty="0"/>
          </a:p>
        </p:txBody>
      </p:sp>
      <p:sp>
        <p:nvSpPr>
          <p:cNvPr id="18" name="Shape 16"/>
          <p:cNvSpPr/>
          <p:nvPr/>
        </p:nvSpPr>
        <p:spPr>
          <a:xfrm flipV="1">
            <a:off x="5486400" y="2148840"/>
            <a:ext cx="1051560" cy="411480"/>
          </a:xfrm>
          <a:prstGeom prst="line">
            <a:avLst/>
          </a:prstGeom>
          <a:noFill/>
          <a:ln w="15875">
            <a:solidFill>
              <a:srgbClr val="2B3A4A"/>
            </a:solidFill>
            <a:prstDash val="solid"/>
          </a:ln>
        </p:spPr>
        <p:txBody>
          <a:bodyPr/>
          <a:lstStyle/>
          <a:p>
            <a:endParaRPr lang="en-GB"/>
          </a:p>
        </p:txBody>
      </p:sp>
      <p:sp>
        <p:nvSpPr>
          <p:cNvPr id="19" name="Shape 17"/>
          <p:cNvSpPr/>
          <p:nvPr/>
        </p:nvSpPr>
        <p:spPr>
          <a:xfrm>
            <a:off x="822960" y="3566160"/>
            <a:ext cx="1371600" cy="822960"/>
          </a:xfrm>
          <a:prstGeom prst="ellipse">
            <a:avLst/>
          </a:prstGeom>
          <a:solidFill>
            <a:srgbClr val="EEF2F5"/>
          </a:solidFill>
          <a:ln w="15875">
            <a:solidFill>
              <a:srgbClr val="C9D3DC"/>
            </a:solidFill>
            <a:prstDash val="solid"/>
          </a:ln>
        </p:spPr>
        <p:txBody>
          <a:bodyPr/>
          <a:lstStyle/>
          <a:p>
            <a:endParaRPr lang="en-GB"/>
          </a:p>
        </p:txBody>
      </p:sp>
      <p:sp>
        <p:nvSpPr>
          <p:cNvPr id="20" name="Text 18"/>
          <p:cNvSpPr txBox="1"/>
          <p:nvPr/>
        </p:nvSpPr>
        <p:spPr>
          <a:xfrm>
            <a:off x="822960" y="3566160"/>
            <a:ext cx="1371600" cy="822960"/>
          </a:xfrm>
          <a:prstGeom prst="rect">
            <a:avLst/>
          </a:prstGeom>
          <a:noFill/>
          <a:ln/>
        </p:spPr>
        <p:txBody>
          <a:bodyPr wrap="square" lIns="0" tIns="0" rIns="0" bIns="0" rtlCol="0" anchor="ctr"/>
          <a:lstStyle/>
          <a:p>
            <a:pPr marL="0" indent="0" algn="ctr">
              <a:buNone/>
            </a:pPr>
            <a:r>
              <a:rPr lang="en-US" sz="1000" b="1" dirty="0">
                <a:solidFill>
                  <a:srgbClr val="16202B"/>
                </a:solidFill>
                <a:latin typeface="Calibri" pitchFamily="34" charset="0"/>
                <a:ea typeface="Calibri" pitchFamily="34" charset="-122"/>
                <a:cs typeface="Calibri" pitchFamily="34" charset="-120"/>
              </a:rPr>
              <a:t>LAN</a:t>
            </a:r>
            <a:endParaRPr lang="en-US" sz="1000" dirty="0"/>
          </a:p>
          <a:p>
            <a:pPr marL="0" indent="0" algn="ctr">
              <a:buNone/>
            </a:pPr>
            <a:r>
              <a:rPr lang="en-US" sz="1000" b="1" dirty="0">
                <a:solidFill>
                  <a:srgbClr val="16202B"/>
                </a:solidFill>
                <a:latin typeface="Calibri" pitchFamily="34" charset="0"/>
                <a:ea typeface="Calibri" pitchFamily="34" charset="-122"/>
                <a:cs typeface="Calibri" pitchFamily="34" charset="-120"/>
              </a:rPr>
              <a:t>college</a:t>
            </a:r>
            <a:endParaRPr lang="en-US" sz="1000" dirty="0"/>
          </a:p>
        </p:txBody>
      </p:sp>
      <p:sp>
        <p:nvSpPr>
          <p:cNvPr id="21" name="Shape 19"/>
          <p:cNvSpPr/>
          <p:nvPr/>
        </p:nvSpPr>
        <p:spPr>
          <a:xfrm flipV="1">
            <a:off x="2057400" y="3337560"/>
            <a:ext cx="1371600" cy="388620"/>
          </a:xfrm>
          <a:prstGeom prst="line">
            <a:avLst/>
          </a:prstGeom>
          <a:noFill/>
          <a:ln w="15875">
            <a:solidFill>
              <a:srgbClr val="2B3A4A"/>
            </a:solidFill>
            <a:prstDash val="solid"/>
          </a:ln>
        </p:spPr>
        <p:txBody>
          <a:bodyPr/>
          <a:lstStyle/>
          <a:p>
            <a:endParaRPr lang="en-GB"/>
          </a:p>
        </p:txBody>
      </p:sp>
      <p:sp>
        <p:nvSpPr>
          <p:cNvPr id="22" name="Shape 20"/>
          <p:cNvSpPr/>
          <p:nvPr/>
        </p:nvSpPr>
        <p:spPr>
          <a:xfrm>
            <a:off x="6400800" y="3566160"/>
            <a:ext cx="1371600" cy="822960"/>
          </a:xfrm>
          <a:prstGeom prst="ellipse">
            <a:avLst/>
          </a:prstGeom>
          <a:solidFill>
            <a:srgbClr val="EEF2F5"/>
          </a:solidFill>
          <a:ln w="15875">
            <a:solidFill>
              <a:srgbClr val="C9D3DC"/>
            </a:solidFill>
            <a:prstDash val="solid"/>
          </a:ln>
        </p:spPr>
        <p:txBody>
          <a:bodyPr/>
          <a:lstStyle/>
          <a:p>
            <a:endParaRPr lang="en-GB"/>
          </a:p>
        </p:txBody>
      </p:sp>
      <p:sp>
        <p:nvSpPr>
          <p:cNvPr id="23" name="Text 21"/>
          <p:cNvSpPr txBox="1"/>
          <p:nvPr/>
        </p:nvSpPr>
        <p:spPr>
          <a:xfrm>
            <a:off x="6400800" y="3566160"/>
            <a:ext cx="1371600" cy="822960"/>
          </a:xfrm>
          <a:prstGeom prst="rect">
            <a:avLst/>
          </a:prstGeom>
          <a:noFill/>
          <a:ln/>
        </p:spPr>
        <p:txBody>
          <a:bodyPr wrap="square" lIns="0" tIns="0" rIns="0" bIns="0" rtlCol="0" anchor="ctr"/>
          <a:lstStyle/>
          <a:p>
            <a:pPr marL="0" indent="0" algn="ctr">
              <a:buNone/>
            </a:pPr>
            <a:r>
              <a:rPr lang="en-US" sz="1000" b="1" dirty="0">
                <a:solidFill>
                  <a:srgbClr val="16202B"/>
                </a:solidFill>
                <a:latin typeface="Calibri" pitchFamily="34" charset="0"/>
                <a:ea typeface="Calibri" pitchFamily="34" charset="-122"/>
                <a:cs typeface="Calibri" pitchFamily="34" charset="-120"/>
              </a:rPr>
              <a:t>LAN</a:t>
            </a:r>
            <a:endParaRPr lang="en-US" sz="1000" dirty="0"/>
          </a:p>
          <a:p>
            <a:pPr marL="0" indent="0" algn="ctr">
              <a:buNone/>
            </a:pPr>
            <a:r>
              <a:rPr lang="en-US" sz="1000" b="1" dirty="0">
                <a:solidFill>
                  <a:srgbClr val="16202B"/>
                </a:solidFill>
                <a:latin typeface="Calibri" pitchFamily="34" charset="0"/>
                <a:ea typeface="Calibri" pitchFamily="34" charset="-122"/>
                <a:cs typeface="Calibri" pitchFamily="34" charset="-120"/>
              </a:rPr>
              <a:t>business</a:t>
            </a:r>
            <a:endParaRPr lang="en-US" sz="1000" dirty="0"/>
          </a:p>
        </p:txBody>
      </p:sp>
      <p:sp>
        <p:nvSpPr>
          <p:cNvPr id="24" name="Shape 22"/>
          <p:cNvSpPr/>
          <p:nvPr/>
        </p:nvSpPr>
        <p:spPr>
          <a:xfrm>
            <a:off x="5715000" y="3337560"/>
            <a:ext cx="920692" cy="365760"/>
          </a:xfrm>
          <a:prstGeom prst="line">
            <a:avLst/>
          </a:prstGeom>
          <a:noFill/>
          <a:ln w="15875">
            <a:solidFill>
              <a:srgbClr val="2B3A4A"/>
            </a:solidFill>
            <a:prstDash val="solid"/>
          </a:ln>
        </p:spPr>
        <p:txBody>
          <a:bodyPr/>
          <a:lstStyle/>
          <a:p>
            <a:endParaRPr lang="en-GB"/>
          </a:p>
        </p:txBody>
      </p:sp>
      <p:sp>
        <p:nvSpPr>
          <p:cNvPr id="25" name="Text 23"/>
          <p:cNvSpPr txBox="1"/>
          <p:nvPr/>
        </p:nvSpPr>
        <p:spPr>
          <a:xfrm>
            <a:off x="457200" y="4434840"/>
            <a:ext cx="8229600" cy="457200"/>
          </a:xfrm>
          <a:prstGeom prst="rect">
            <a:avLst/>
          </a:prstGeom>
          <a:noFill/>
          <a:ln/>
        </p:spPr>
        <p:txBody>
          <a:bodyPr wrap="square" lIns="0" tIns="0" rIns="0" bIns="0" rtlCol="0" anchor="ctr"/>
          <a:lstStyle/>
          <a:p>
            <a:pPr marL="0" indent="0">
              <a:buNone/>
            </a:pPr>
            <a:r>
              <a:rPr lang="en-US" sz="1150" i="1" dirty="0">
                <a:solidFill>
                  <a:srgbClr val="5C6B7A"/>
                </a:solidFill>
                <a:latin typeface="Calibri" pitchFamily="34" charset="0"/>
                <a:ea typeface="Calibri" pitchFamily="34" charset="-122"/>
                <a:cs typeface="Calibri" pitchFamily="34" charset="-120"/>
              </a:rPr>
              <a:t>Each LAN is its own network. The internet connects them all together — a world-wide infrastructure built from smaller networks, not one single network.</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Check  ·  4 min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Quiz 1.8.1 — the internet</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r>
              <a:rPr lang="en-US" sz="900" dirty="0">
                <a:solidFill>
                  <a:srgbClr val="9AA8B5"/>
                </a:solidFill>
                <a:latin typeface="Calibri" pitchFamily="34" charset="0"/>
                <a:ea typeface="Calibri" pitchFamily="34" charset="-122"/>
                <a:cs typeface="Calibri" pitchFamily="34" charset="-120"/>
              </a:rPr>
              <a:t>1.8.1</a:t>
            </a:r>
            <a:endParaRPr lang="en-US" sz="900" dirty="0"/>
          </a:p>
        </p:txBody>
      </p:sp>
      <p:sp>
        <p:nvSpPr>
          <p:cNvPr id="8" name="Text 6"/>
          <p:cNvSpPr txBox="1"/>
          <p:nvPr/>
        </p:nvSpPr>
        <p:spPr>
          <a:xfrm>
            <a:off x="457200" y="1554480"/>
            <a:ext cx="7772400" cy="457200"/>
          </a:xfrm>
          <a:prstGeom prst="rect">
            <a:avLst/>
          </a:prstGeom>
          <a:noFill/>
          <a:ln/>
        </p:spPr>
        <p:txBody>
          <a:bodyPr wrap="square" lIns="0" tIns="0" rIns="0" bIns="0" rtlCol="0" anchor="ctr"/>
          <a:lstStyle/>
          <a:p>
            <a:pPr marL="0" indent="0">
              <a:buNone/>
            </a:pPr>
            <a:r>
              <a:rPr lang="en-US" sz="1600" dirty="0">
                <a:solidFill>
                  <a:srgbClr val="D9822B"/>
                </a:solidFill>
                <a:latin typeface="Calibri" pitchFamily="34" charset="0"/>
                <a:ea typeface="Calibri" pitchFamily="34" charset="-122"/>
                <a:cs typeface="Calibri" pitchFamily="34" charset="-120"/>
              </a:rPr>
              <a:t>Describe the internet as a world-wide communications infrastructure</a:t>
            </a:r>
            <a:endParaRPr lang="en-US" sz="1600" dirty="0"/>
          </a:p>
        </p:txBody>
      </p:sp>
      <p:sp>
        <p:nvSpPr>
          <p:cNvPr id="9" name="Shape 7"/>
          <p:cNvSpPr/>
          <p:nvPr/>
        </p:nvSpPr>
        <p:spPr>
          <a:xfrm>
            <a:off x="457200" y="2103120"/>
            <a:ext cx="5943600" cy="594360"/>
          </a:xfrm>
          <a:prstGeom prst="roundRect">
            <a:avLst>
              <a:gd name="adj" fmla="val 12308"/>
            </a:avLst>
          </a:prstGeom>
          <a:solidFill>
            <a:srgbClr val="2B3A4A"/>
          </a:solidFill>
          <a:ln w="12700">
            <a:solidFill>
              <a:srgbClr val="2B3A4A"/>
            </a:solidFill>
            <a:prstDash val="solid"/>
          </a:ln>
        </p:spPr>
        <p:txBody>
          <a:bodyPr/>
          <a:lstStyle/>
          <a:p>
            <a:endParaRPr lang="en-GB"/>
          </a:p>
        </p:txBody>
      </p:sp>
      <p:sp>
        <p:nvSpPr>
          <p:cNvPr id="10" name="Text 8"/>
          <p:cNvSpPr txBox="1"/>
          <p:nvPr/>
        </p:nvSpPr>
        <p:spPr>
          <a:xfrm>
            <a:off x="594360" y="2103120"/>
            <a:ext cx="5669280" cy="594360"/>
          </a:xfrm>
          <a:prstGeom prst="rect">
            <a:avLst/>
          </a:prstGeom>
          <a:noFill/>
          <a:ln/>
        </p:spPr>
        <p:txBody>
          <a:bodyPr wrap="square" lIns="0" tIns="0" rIns="0" bIns="0" rtlCol="0" anchor="ctr"/>
          <a:lstStyle/>
          <a:p>
            <a:pPr marL="0" indent="0">
              <a:buNone/>
            </a:pPr>
            <a:r>
              <a:rPr lang="en-US" sz="1200" i="1" dirty="0">
                <a:solidFill>
                  <a:srgbClr val="9AA8B5"/>
                </a:solidFill>
                <a:latin typeface="Courier New" pitchFamily="34" charset="0"/>
                <a:ea typeface="Courier New" pitchFamily="34" charset="-122"/>
                <a:cs typeface="Courier New" pitchFamily="34" charset="-120"/>
              </a:rPr>
              <a:t>Quiz link — Microsoft Forms: [ADD LINK / QR HERE]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202B"/>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2B3A4A"/>
          </a:solidFill>
          <a:ln w="12700">
            <a:solidFill>
              <a:srgbClr val="2B3A4A"/>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Exit ticket  ·  4 min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On your whiteboard</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8B5"/>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8" name="Shape 6"/>
          <p:cNvSpPr/>
          <p:nvPr/>
        </p:nvSpPr>
        <p:spPr>
          <a:xfrm>
            <a:off x="457200" y="1417320"/>
            <a:ext cx="566928" cy="566928"/>
          </a:xfrm>
          <a:prstGeom prst="ellipse">
            <a:avLst/>
          </a:prstGeom>
          <a:solidFill>
            <a:srgbClr val="D9822B"/>
          </a:solidFill>
          <a:ln w="12700">
            <a:solidFill>
              <a:srgbClr val="D9822B"/>
            </a:solidFill>
            <a:prstDash val="solid"/>
          </a:ln>
        </p:spPr>
        <p:txBody>
          <a:bodyPr/>
          <a:lstStyle/>
          <a:p>
            <a:endParaRPr lang="en-GB"/>
          </a:p>
        </p:txBody>
      </p:sp>
      <p:sp>
        <p:nvSpPr>
          <p:cNvPr id="9" name="Text 7"/>
          <p:cNvSpPr txBox="1"/>
          <p:nvPr/>
        </p:nvSpPr>
        <p:spPr>
          <a:xfrm>
            <a:off x="457200" y="141732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1</a:t>
            </a:r>
            <a:endParaRPr lang="en-US" sz="2000" dirty="0"/>
          </a:p>
        </p:txBody>
      </p:sp>
      <p:sp>
        <p:nvSpPr>
          <p:cNvPr id="10" name="Text 8"/>
          <p:cNvSpPr txBox="1"/>
          <p:nvPr/>
        </p:nvSpPr>
        <p:spPr>
          <a:xfrm>
            <a:off x="1207008" y="1417320"/>
            <a:ext cx="7315200" cy="5669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Give one reason networking standards matter.</a:t>
            </a:r>
            <a:endParaRPr lang="en-US" sz="1600" dirty="0"/>
          </a:p>
        </p:txBody>
      </p:sp>
      <p:sp>
        <p:nvSpPr>
          <p:cNvPr id="11" name="Shape 9"/>
          <p:cNvSpPr/>
          <p:nvPr/>
        </p:nvSpPr>
        <p:spPr>
          <a:xfrm>
            <a:off x="457200" y="2377440"/>
            <a:ext cx="566928" cy="566928"/>
          </a:xfrm>
          <a:prstGeom prst="ellipse">
            <a:avLst/>
          </a:prstGeom>
          <a:solidFill>
            <a:srgbClr val="D9822B"/>
          </a:solidFill>
          <a:ln w="12700">
            <a:solidFill>
              <a:srgbClr val="D9822B"/>
            </a:solidFill>
            <a:prstDash val="solid"/>
          </a:ln>
        </p:spPr>
        <p:txBody>
          <a:bodyPr/>
          <a:lstStyle/>
          <a:p>
            <a:endParaRPr lang="en-GB"/>
          </a:p>
        </p:txBody>
      </p:sp>
      <p:sp>
        <p:nvSpPr>
          <p:cNvPr id="12" name="Text 10"/>
          <p:cNvSpPr txBox="1"/>
          <p:nvPr/>
        </p:nvSpPr>
        <p:spPr>
          <a:xfrm>
            <a:off x="457200" y="237744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2</a:t>
            </a:r>
            <a:endParaRPr lang="en-US" sz="2000" dirty="0"/>
          </a:p>
        </p:txBody>
      </p:sp>
      <p:sp>
        <p:nvSpPr>
          <p:cNvPr id="13" name="Text 11"/>
          <p:cNvSpPr txBox="1"/>
          <p:nvPr/>
        </p:nvSpPr>
        <p:spPr>
          <a:xfrm>
            <a:off x="1207008" y="2377440"/>
            <a:ext cx="7315200" cy="5669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Name a protocol used for sending email, and one used for web pages.</a:t>
            </a:r>
            <a:endParaRPr lang="en-US" sz="1600" dirty="0"/>
          </a:p>
        </p:txBody>
      </p:sp>
      <p:sp>
        <p:nvSpPr>
          <p:cNvPr id="14" name="Shape 12"/>
          <p:cNvSpPr/>
          <p:nvPr/>
        </p:nvSpPr>
        <p:spPr>
          <a:xfrm>
            <a:off x="457200" y="3337560"/>
            <a:ext cx="566928" cy="566928"/>
          </a:xfrm>
          <a:prstGeom prst="ellipse">
            <a:avLst/>
          </a:prstGeom>
          <a:solidFill>
            <a:srgbClr val="D9822B"/>
          </a:solidFill>
          <a:ln w="12700">
            <a:solidFill>
              <a:srgbClr val="D9822B"/>
            </a:solidFill>
            <a:prstDash val="solid"/>
          </a:ln>
        </p:spPr>
        <p:txBody>
          <a:bodyPr/>
          <a:lstStyle/>
          <a:p>
            <a:endParaRPr lang="en-GB"/>
          </a:p>
        </p:txBody>
      </p:sp>
      <p:sp>
        <p:nvSpPr>
          <p:cNvPr id="15" name="Text 13"/>
          <p:cNvSpPr txBox="1"/>
          <p:nvPr/>
        </p:nvSpPr>
        <p:spPr>
          <a:xfrm>
            <a:off x="457200" y="333756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3</a:t>
            </a:r>
            <a:endParaRPr lang="en-US" sz="2000" dirty="0"/>
          </a:p>
        </p:txBody>
      </p:sp>
      <p:sp>
        <p:nvSpPr>
          <p:cNvPr id="16" name="Text 14"/>
          <p:cNvSpPr txBox="1"/>
          <p:nvPr/>
        </p:nvSpPr>
        <p:spPr>
          <a:xfrm>
            <a:off x="1207008" y="3337560"/>
            <a:ext cx="7315200" cy="5669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Explain in one sentence why handshaking happens before data is sent.</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651760" cy="310896"/>
          </a:xfrm>
          <a:prstGeom prst="roundRect">
            <a:avLst>
              <a:gd name="adj" fmla="val 50000"/>
            </a:avLst>
          </a:prstGeom>
          <a:solidFill>
            <a:srgbClr val="EEF2F5"/>
          </a:solidFill>
          <a:ln w="12700">
            <a:solidFill>
              <a:srgbClr val="EEF2F5"/>
            </a:solidFill>
            <a:prstDash val="solid"/>
          </a:ln>
        </p:spPr>
        <p:txBody>
          <a:bodyPr/>
          <a:lstStyle/>
          <a:p>
            <a:endParaRPr lang="en-GB"/>
          </a:p>
        </p:txBody>
      </p:sp>
      <p:sp>
        <p:nvSpPr>
          <p:cNvPr id="3" name="Shape 1"/>
          <p:cNvSpPr/>
          <p:nvPr/>
        </p:nvSpPr>
        <p:spPr>
          <a:xfrm>
            <a:off x="566928" y="393192"/>
            <a:ext cx="164592" cy="164592"/>
          </a:xfrm>
          <a:prstGeom prst="ellipse">
            <a:avLst/>
          </a:prstGeom>
          <a:solidFill>
            <a:srgbClr val="D9822B"/>
          </a:solidFill>
          <a:ln w="12700">
            <a:solidFill>
              <a:srgbClr val="D9822B"/>
            </a:solidFill>
            <a:prstDash val="solid"/>
          </a:ln>
        </p:spPr>
        <p:txBody>
          <a:bodyPr/>
          <a:lstStyle/>
          <a:p>
            <a:endParaRPr lang="en-GB"/>
          </a:p>
        </p:txBody>
      </p:sp>
      <p:sp>
        <p:nvSpPr>
          <p:cNvPr id="4" name="Text 2"/>
          <p:cNvSpPr txBox="1"/>
          <p:nvPr/>
        </p:nvSpPr>
        <p:spPr>
          <a:xfrm>
            <a:off x="786384" y="320040"/>
            <a:ext cx="2286000" cy="310896"/>
          </a:xfrm>
          <a:prstGeom prst="rect">
            <a:avLst/>
          </a:prstGeom>
          <a:noFill/>
          <a:ln/>
        </p:spPr>
        <p:txBody>
          <a:bodyPr wrap="square" lIns="0" tIns="0" rIns="0" bIns="0" rtlCol="0" anchor="ctr"/>
          <a:lstStyle/>
          <a:p>
            <a:pPr marL="0" indent="0">
              <a:buNone/>
            </a:pPr>
            <a:r>
              <a:rPr lang="en-US" sz="1100" b="1" dirty="0">
                <a:solidFill>
                  <a:srgbClr val="2B3A4A"/>
                </a:solidFill>
                <a:latin typeface="Calibri" pitchFamily="34" charset="0"/>
                <a:ea typeface="Calibri" pitchFamily="34" charset="-122"/>
                <a:cs typeface="Calibri" pitchFamily="34" charset="-120"/>
              </a:rPr>
              <a:t>Homework  ·  for next lesson</a:t>
            </a:r>
            <a:endParaRPr lang="en-US" sz="1100" dirty="0"/>
          </a:p>
        </p:txBody>
      </p:sp>
      <p:sp>
        <p:nvSpPr>
          <p:cNvPr id="5" name="Text 3"/>
          <p:cNvSpPr txBox="1"/>
          <p:nvPr/>
        </p:nvSpPr>
        <p:spPr>
          <a:xfrm>
            <a:off x="457200" y="731520"/>
            <a:ext cx="8229600" cy="548640"/>
          </a:xfrm>
          <a:prstGeom prst="rect">
            <a:avLst/>
          </a:prstGeom>
          <a:noFill/>
          <a:ln/>
        </p:spPr>
        <p:txBody>
          <a:bodyPr wrap="square" lIns="0" tIns="0" rIns="0" bIns="0" rtlCol="0" anchor="ctr"/>
          <a:lstStyle/>
          <a:p>
            <a:pPr marL="0" indent="0">
              <a:buNone/>
            </a:pPr>
            <a:r>
              <a:rPr lang="en-US" sz="2800" b="1" dirty="0">
                <a:solidFill>
                  <a:srgbClr val="16202B"/>
                </a:solidFill>
                <a:latin typeface="Calibri" pitchFamily="34" charset="0"/>
                <a:ea typeface="Calibri" pitchFamily="34" charset="-122"/>
                <a:cs typeface="Calibri" pitchFamily="34" charset="-120"/>
              </a:rPr>
              <a:t>Before Lesson 05</a:t>
            </a:r>
            <a:endParaRPr lang="en-US" sz="2800" dirty="0"/>
          </a:p>
        </p:txBody>
      </p:sp>
      <p:sp>
        <p:nvSpPr>
          <p:cNvPr id="6"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AS Unit 1 · Topic 1 Hardware &amp; Communication · Lesson 04</a:t>
            </a:r>
            <a:endParaRPr lang="en-US" sz="900" dirty="0"/>
          </a:p>
        </p:txBody>
      </p:sp>
      <p:sp>
        <p:nvSpPr>
          <p:cNvPr id="7" name="Text 5"/>
          <p:cNvSpPr txBox="1"/>
          <p:nvPr/>
        </p:nvSpPr>
        <p:spPr>
          <a:xfrm>
            <a:off x="5943600" y="4754880"/>
            <a:ext cx="2743200" cy="274320"/>
          </a:xfrm>
          <a:prstGeom prst="rect">
            <a:avLst/>
          </a:prstGeom>
          <a:noFill/>
          <a:ln/>
        </p:spPr>
        <p:txBody>
          <a:bodyPr wrap="square" lIns="0" tIns="0" rIns="0" bIns="0" rtlCol="0" anchor="ctr"/>
          <a:lstStyle/>
          <a:p>
            <a:pPr marL="0" indent="0" algn="r">
              <a:buNone/>
            </a:pPr>
            <a:endParaRPr lang="en-US" sz="900" dirty="0"/>
          </a:p>
        </p:txBody>
      </p:sp>
      <p:sp>
        <p:nvSpPr>
          <p:cNvPr id="8" name="Shape 6"/>
          <p:cNvSpPr/>
          <p:nvPr/>
        </p:nvSpPr>
        <p:spPr>
          <a:xfrm>
            <a:off x="457200" y="1508760"/>
            <a:ext cx="4023360" cy="3108960"/>
          </a:xfrm>
          <a:prstGeom prst="roundRect">
            <a:avLst>
              <a:gd name="adj" fmla="val 2353"/>
            </a:avLst>
          </a:prstGeom>
          <a:solidFill>
            <a:srgbClr val="EEF2F5"/>
          </a:solidFill>
          <a:ln w="12700">
            <a:solidFill>
              <a:srgbClr val="EEF2F5"/>
            </a:solidFill>
            <a:prstDash val="solid"/>
          </a:ln>
        </p:spPr>
        <p:txBody>
          <a:bodyPr/>
          <a:lstStyle/>
          <a:p>
            <a:endParaRPr lang="en-GB"/>
          </a:p>
        </p:txBody>
      </p:sp>
      <p:sp>
        <p:nvSpPr>
          <p:cNvPr id="9" name="Shape 7"/>
          <p:cNvSpPr/>
          <p:nvPr/>
        </p:nvSpPr>
        <p:spPr>
          <a:xfrm>
            <a:off x="594360" y="1636776"/>
            <a:ext cx="329184" cy="329184"/>
          </a:xfrm>
          <a:prstGeom prst="ellipse">
            <a:avLst/>
          </a:prstGeom>
          <a:solidFill>
            <a:srgbClr val="D9822B"/>
          </a:solidFill>
          <a:ln w="12700">
            <a:solidFill>
              <a:srgbClr val="D9822B"/>
            </a:solidFill>
            <a:prstDash val="solid"/>
          </a:ln>
        </p:spPr>
        <p:txBody>
          <a:bodyPr/>
          <a:lstStyle/>
          <a:p>
            <a:endParaRPr lang="en-GB"/>
          </a:p>
        </p:txBody>
      </p:sp>
      <p:sp>
        <p:nvSpPr>
          <p:cNvPr id="10" name="Text 8"/>
          <p:cNvSpPr txBox="1"/>
          <p:nvPr/>
        </p:nvSpPr>
        <p:spPr>
          <a:xfrm>
            <a:off x="59436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1" name="Text 9"/>
          <p:cNvSpPr txBox="1"/>
          <p:nvPr/>
        </p:nvSpPr>
        <p:spPr>
          <a:xfrm>
            <a:off x="1005840" y="1618488"/>
            <a:ext cx="3337560" cy="365760"/>
          </a:xfrm>
          <a:prstGeom prst="rect">
            <a:avLst/>
          </a:prstGeom>
          <a:noFill/>
          <a:ln/>
        </p:spPr>
        <p:txBody>
          <a:bodyPr wrap="square" lIns="0" tIns="0" rIns="0" bIns="0" rtlCol="0" anchor="ctr"/>
          <a:lstStyle/>
          <a:p>
            <a:pPr marL="0" indent="0">
              <a:buNone/>
            </a:pPr>
            <a:r>
              <a:rPr lang="en-US" sz="1600" b="1" dirty="0">
                <a:solidFill>
                  <a:srgbClr val="16202B"/>
                </a:solidFill>
                <a:latin typeface="Calibri" pitchFamily="34" charset="0"/>
                <a:ea typeface="Calibri" pitchFamily="34" charset="-122"/>
                <a:cs typeface="Calibri" pitchFamily="34" charset="-120"/>
              </a:rPr>
              <a:t>Extension (optional)</a:t>
            </a:r>
            <a:endParaRPr lang="en-US" sz="1600" dirty="0"/>
          </a:p>
        </p:txBody>
      </p:sp>
      <p:sp>
        <p:nvSpPr>
          <p:cNvPr id="12" name="Text 10"/>
          <p:cNvSpPr txBox="1"/>
          <p:nvPr/>
        </p:nvSpPr>
        <p:spPr>
          <a:xfrm>
            <a:off x="594360" y="2039112"/>
            <a:ext cx="3749040" cy="2487168"/>
          </a:xfrm>
          <a:prstGeom prst="rect">
            <a:avLst/>
          </a:prstGeom>
          <a:noFill/>
          <a:ln/>
        </p:spPr>
        <p:txBody>
          <a:bodyPr wrap="square" lIns="0" tIns="0" rIns="0" bIns="0" rtlCol="0" anchor="t"/>
          <a:lstStyle/>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Pick one protocol from today and find a real example of it failing or being exploited (e.g. an FTP or DHCP security issue)</a:t>
            </a:r>
            <a:endParaRPr lang="en-US" sz="1300" dirty="0"/>
          </a:p>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One paragraph on what went wrong and why the protocol's rules matter</a:t>
            </a:r>
            <a:endParaRPr lang="en-US" sz="1300" dirty="0"/>
          </a:p>
        </p:txBody>
      </p:sp>
      <p:sp>
        <p:nvSpPr>
          <p:cNvPr id="13" name="Shape 11"/>
          <p:cNvSpPr/>
          <p:nvPr/>
        </p:nvSpPr>
        <p:spPr>
          <a:xfrm>
            <a:off x="4663440" y="1508760"/>
            <a:ext cx="4023360" cy="3108960"/>
          </a:xfrm>
          <a:prstGeom prst="roundRect">
            <a:avLst>
              <a:gd name="adj" fmla="val 2353"/>
            </a:avLst>
          </a:prstGeom>
          <a:solidFill>
            <a:srgbClr val="EEF2F5"/>
          </a:solidFill>
          <a:ln w="12700">
            <a:solidFill>
              <a:srgbClr val="EEF2F5"/>
            </a:solidFill>
            <a:prstDash val="solid"/>
          </a:ln>
        </p:spPr>
        <p:txBody>
          <a:bodyPr/>
          <a:lstStyle/>
          <a:p>
            <a:endParaRPr lang="en-GB"/>
          </a:p>
        </p:txBody>
      </p:sp>
      <p:sp>
        <p:nvSpPr>
          <p:cNvPr id="14" name="Shape 12"/>
          <p:cNvSpPr/>
          <p:nvPr/>
        </p:nvSpPr>
        <p:spPr>
          <a:xfrm>
            <a:off x="4800600" y="1636776"/>
            <a:ext cx="329184" cy="329184"/>
          </a:xfrm>
          <a:prstGeom prst="ellipse">
            <a:avLst/>
          </a:prstGeom>
          <a:solidFill>
            <a:srgbClr val="2B3A4A"/>
          </a:solidFill>
          <a:ln w="12700">
            <a:solidFill>
              <a:srgbClr val="2B3A4A"/>
            </a:solidFill>
            <a:prstDash val="solid"/>
          </a:ln>
        </p:spPr>
        <p:txBody>
          <a:bodyPr/>
          <a:lstStyle/>
          <a:p>
            <a:endParaRPr lang="en-GB"/>
          </a:p>
        </p:txBody>
      </p:sp>
      <p:sp>
        <p:nvSpPr>
          <p:cNvPr id="15" name="Text 13"/>
          <p:cNvSpPr txBox="1"/>
          <p:nvPr/>
        </p:nvSpPr>
        <p:spPr>
          <a:xfrm>
            <a:off x="4800600" y="1636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5212080" y="1618488"/>
            <a:ext cx="3337560" cy="365760"/>
          </a:xfrm>
          <a:prstGeom prst="rect">
            <a:avLst/>
          </a:prstGeom>
          <a:noFill/>
          <a:ln/>
        </p:spPr>
        <p:txBody>
          <a:bodyPr wrap="square" lIns="0" tIns="0" rIns="0" bIns="0" rtlCol="0" anchor="ctr"/>
          <a:lstStyle/>
          <a:p>
            <a:pPr marL="0" indent="0">
              <a:buNone/>
            </a:pPr>
            <a:r>
              <a:rPr lang="en-US" sz="1600" b="1" dirty="0">
                <a:solidFill>
                  <a:srgbClr val="16202B"/>
                </a:solidFill>
                <a:latin typeface="Calibri" pitchFamily="34" charset="0"/>
                <a:ea typeface="Calibri" pitchFamily="34" charset="-122"/>
                <a:cs typeface="Calibri" pitchFamily="34" charset="-120"/>
              </a:rPr>
              <a:t>If anything felt shaky</a:t>
            </a:r>
            <a:endParaRPr lang="en-US" sz="1600" dirty="0"/>
          </a:p>
        </p:txBody>
      </p:sp>
      <p:sp>
        <p:nvSpPr>
          <p:cNvPr id="17" name="Text 15"/>
          <p:cNvSpPr txBox="1"/>
          <p:nvPr/>
        </p:nvSpPr>
        <p:spPr>
          <a:xfrm>
            <a:off x="4800600" y="2039112"/>
            <a:ext cx="3749040" cy="2487168"/>
          </a:xfrm>
          <a:prstGeom prst="rect">
            <a:avLst/>
          </a:prstGeom>
          <a:noFill/>
          <a:ln/>
        </p:spPr>
        <p:txBody>
          <a:bodyPr wrap="square" lIns="0" tIns="0" rIns="0" bIns="0" rtlCol="0" anchor="t"/>
          <a:lstStyle/>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Reread the protocols table and the handshaking section of the Topic 1 notes</a:t>
            </a:r>
            <a:endParaRPr lang="en-US" sz="1300" dirty="0"/>
          </a:p>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Redo any Handshake Sequence Builder attempt you got wrong first time</a:t>
            </a:r>
            <a:endParaRPr lang="en-US" sz="1300" dirty="0"/>
          </a:p>
          <a:p>
            <a:pPr marL="152400" indent="-152400">
              <a:spcAft>
                <a:spcPts val="300"/>
              </a:spcAft>
              <a:buSzPct val="100000"/>
              <a:buChar char="•"/>
            </a:pPr>
            <a:r>
              <a:rPr lang="en-US" sz="1300" dirty="0">
                <a:solidFill>
                  <a:srgbClr val="1F2933"/>
                </a:solidFill>
                <a:latin typeface="Calibri" pitchFamily="34" charset="0"/>
                <a:ea typeface="Calibri" pitchFamily="34" charset="-122"/>
                <a:cs typeface="Calibri" pitchFamily="34" charset="-120"/>
              </a:rPr>
              <a:t>All four of today's quizzes were completed in lesson — nothing new to do there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3458</Words>
  <Application>Microsoft Office PowerPoint</Application>
  <PresentationFormat>On-screen Show (16:9)</PresentationFormat>
  <Paragraphs>429</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04 - Standards, Protocols, Handshaking and the Internet</dc:title>
  <dc:subject>PptxGenJS Presentation</dc:subject>
  <dc:creator>Aled Evans</dc:creator>
  <cp:lastModifiedBy>Aled Evans</cp:lastModifiedBy>
  <cp:revision>1</cp:revision>
  <dcterms:created xsi:type="dcterms:W3CDTF">2026-09-18T15:43:10Z</dcterms:created>
  <dcterms:modified xsi:type="dcterms:W3CDTF">2026-09-21T07:40:47Z</dcterms:modified>
</cp:coreProperties>
</file>