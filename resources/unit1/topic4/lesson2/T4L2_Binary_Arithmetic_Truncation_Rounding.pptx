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0A7DCF65-C7A9-3411-8FF4-A602688868F6}">
          <p14:sldIdLst>
            <p14:sldId id="256"/>
            <p14:sldId id="257"/>
            <p14:sldId id="258"/>
            <p14:sldId id="259"/>
            <p14:sldId id="260"/>
          </p14:sldIdLst>
        </p14:section>
        <p14:section name="Binary addition" id="{27D3E427-5FF1-7954-E2D8-5116EAE3D4AD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Overflow" id="{FF85692C-C58D-2913-EBA6-FDAAF3F7B29A}">
          <p14:sldIdLst>
            <p14:sldId id="267"/>
            <p14:sldId id="268"/>
          </p14:sldIdLst>
        </p14:section>
        <p14:section name="Subtraction" id="{D7483465-28BB-8391-F4C4-391CADE5832D}">
          <p14:sldIdLst>
            <p14:sldId id="269"/>
            <p14:sldId id="270"/>
            <p14:sldId id="271"/>
            <p14:sldId id="272"/>
          </p14:sldIdLst>
        </p14:section>
        <p14:section name="Truncation and rounding" id="{EB6507F9-950A-7D88-AEC3-AAE48C4A63F0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A level preview: shifts" id="{8BF4B7E0-D24D-33DB-96FF-D0D89B108408}">
          <p14:sldIdLst>
            <p14:sldId id="281"/>
            <p14:sldId id="282"/>
            <p14:sldId id="283"/>
          </p14:sldIdLst>
        </p14:section>
        <p14:section name="Practice and close" id="{B4D3B2CD-6C98-558E-6CAE-D145321FF7A9}">
          <p14:sldIdLst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d Evans" userId="6f7e106d-40fd-400d-8500-fbffefdddad3" providerId="ADAL" clId="{4068B1EE-A56E-4132-9E2F-ECE8E11E063C}"/>
    <pc:docChg chg="modSld">
      <pc:chgData name="Aled Evans" userId="6f7e106d-40fd-400d-8500-fbffefdddad3" providerId="ADAL" clId="{4068B1EE-A56E-4132-9E2F-ECE8E11E063C}" dt="2026-10-19T12:40:00.351" v="17" actId="20577"/>
      <pc:docMkLst>
        <pc:docMk/>
      </pc:docMkLst>
      <pc:sldChg chg="modSp mod">
        <pc:chgData name="Aled Evans" userId="6f7e106d-40fd-400d-8500-fbffefdddad3" providerId="ADAL" clId="{4068B1EE-A56E-4132-9E2F-ECE8E11E063C}" dt="2026-10-19T12:40:00.351" v="17" actId="20577"/>
        <pc:sldMkLst>
          <pc:docMk/>
          <pc:sldMk cId="0" sldId="286"/>
        </pc:sldMkLst>
        <pc:graphicFrameChg chg="modGraphic">
          <ac:chgData name="Aled Evans" userId="6f7e106d-40fd-400d-8500-fbffefdddad3" providerId="ADAL" clId="{4068B1EE-A56E-4132-9E2F-ECE8E11E063C}" dt="2026-10-19T12:40:00.351" v="17" actId="20577"/>
          <ac:graphicFrameMkLst>
            <pc:docMk/>
            <pc:sldMk cId="0" sldId="286"/>
            <ac:graphicFrameMk id="32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64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post is up. Students open the Lesson 1 recall starter while you take the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objectives. Point out the exam weight: binary addition has appeared in 2016, 2017, 2022 and 2024; truncation and rounding in 2016, 2022, 2024 and 2025, for up to 6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replies from the Teams post before the lesson, one strong and one that misses a mark. Paste them in or read them out. Ask the group which marks each earns.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minutes, self-paced, individual. Conversions and two's complement: exactly what today's addition and subtraction depend on. Note who struggles with two's complement before the subtraction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NotebookLM summary. Students listen for the three things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1. About 15 minutes including the pairs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the rules. The only new idea compared with denary is that a carry happens at 2, not 10. Then the example from your notes: 10 + 3. 0+1 = 1; 1+1 = 0 carry 1; 0+0+carry = 1; 1+0 = 1. Answer 1101 =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question: convert 87 and 113 into unsigned 8-bit binary, then add them using binary addition. Students converted both for homework. Work right to left, saying each column aloud. Carries go above the next column. Answer 11001000 = 200 = C8 (the next part of the question asked for hex).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2024 mark scheme gives 4 marks: one for each conversion, one for the carry row, one for the answer. A student who gets the right answer but doesn't write the carries loses a mark. Make them label it 'Carry'. Same pattern in 2016 Q6(b) and 2022 Q4(b).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minutes. On paper or the Teams whiteboard first, then check with the Binary adder tab. Answer on the next slide: 00011011 + 01111110, carry 111111, answer 10011001 (153).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scheme: 00011011, 01111110, carry 111111, answer 10011001. Six carries in a row is where most errors happen. Check: 27 + 126 = 153 = 10011001.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your notes: 197 + 211 = 408, but 8 bits can only hold up to 255. The carry out of the 128 column has nowhere to go. What is stored is 10011000 = 152. Exam technique from the notes: make it clear that an overflow error has occurred.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two's complement the largest 8-bit value is 127. 100 + 50 = 150 is too big, and the result 10010110 has a 1 in the MSB, so it reads as -106. Rule of thumb: two positives giving a negative (or two negatives giving a positive) means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from your notes. The CPU doesn't need a separate subtraction circuit: A - B = A + (-B). Notes example: 1011 - 0110 (11 - 6). Two's complement of 0110: flip 1001, add 1, 1010. Add: 1011 + 1010 = 10101. Discard the carry: 0101 =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Reuse -39 from Lesson 1: 11011001. 87 + (-39): 01010111 + 11011001 = 1 00110000. Discard the 9th bit: 00110000 = 48. Check: 87 - 39 = 48. Here the carry out is NOT overflow: in two's complement, a carry out of the MSB is normal and discarded.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minutes, then reveal. Q1 is unsigned addition with a lot of carries. Q2 is a subtraction: students must make -20 first (they did -20 in Lesson 1's check slide: 11101100).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108 + 53 = 161 = 10100001. Q2: 50 = 00110010, -20 = 11101100. Sum 1 00011110, discard the carry: 00011110 =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 About 17 minutes. High mark value: 6 marks in 2016 and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 values continue past the binary point, halving each time: 0.5, 0.25, 0.125, 0.0625, 0.03125. 101.0101 = 4 + 1 + 0.25 + 0.0625 = 5.3125 (this is the 2024 Q4(c) number). 2025 Q4(a) added two binary fractions, so students need this before floating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scheme wording from 2016 Q6(e): truncation approximates to the value nearer zero (the digits are cut off); rounding approximates to the nearest value. Your notes say truncation is always lower: true for positive numbers only. 'Nearer zero' also covers negatives. Example: 2.718 to 2 dp. Truncate 2.71. Round 2.72.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Absolute error = the size of the difference between the true value and the approximation. Relative error = absolute error divided by the true value. Truncation: |2.718 - 2.71| = 0.008, relative 0.008 / 2.718 = 0.0029. Rounding: 0.002, relative 0.00074. Rounding is more accurate here. Mark schemes accept relative error as a decimal or a percentage.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Question: using 111.10110, describe truncation and rounding to two binary places, and their effect on accuracy in terms of absolute errors. State which is more accurate. [5]. Original = 7.6875. Truncate: 111.10 = 7.5, error 0.1875. Round: the next bit is 1, so round up: 111.11 = 7.75, error 0.0625. Rounding is more accurate. MS accepts binary or denary.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minutes on paper, then check with the Truncate and round tab. Answer next slide. Truncate 101.0101 to one binary place: 101.0 = 5. Absolute error 0.3125. Relative 0.3125 / 5.3125 = 0.0588.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 scheme: truncation 101.0; absolute error 0.3125; relative error 0.3125 / 5.3125 = 0.0588 (accept 0.06, 5.88%, 6%).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 Q4(a): add 01011.010 and 01101.101 [3]: carries 11110.000, sum 11000.111 = 24.875. Q4(b): truncate and round to 1 dp, with absolute and relative errors [6]: 24.8, 0.075, 0.003; 24.9, 0.025, 0.001. 'No ECF': a slip in (a) loses the (b) marks too. This is the homework, so the slide shows the question and technique only, not the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Optional, about 8 minutes. Shifts are an A level spec point (Unit 3), not AS. Cut this section if time is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Logical shift: every bit moves one place, a 0 fills the gap, and the bit pushed off the end is lost. Left = x2, right = /2 (for unsigned numbers). 22 left gives 44, right gives 11. A 1 shifted off the end means data is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two's complement, a logical right shift puts a 0 into the MSB and turns a negative into a positive. An arithmetic right shift copies the sign bit instead. -20 = 11101100. Arithmetic right gives 11110110 = -10. Logical right gives 01110110 = 118.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minutes. Individual, no notes, working on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Individual, reply on the Teams post. Mark scheme (2016 Q6e): truncation 26, error -0.8; rounding 27, error +0.2. Then: rounding is more accurate. Full question was 6 marks and also asked for the descriptions, which they now have the wording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Welsh terms are draft until checked against Y Termiadur Addysg. Next lesson: floating point, which builds directly on binary fractions.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11680"/>
            <a:ext cx="78638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84048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77440"/>
            <a:ext cx="69494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79476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Topic 4, Lesson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Topic 4, Lesson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1168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Binary arithmetic, overflow, truncation and rounding</a:t>
            </a:r>
            <a:endParaRPr lang="en-US" sz="48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840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3"/>
                </a:solidFill>
              </a:rPr>
              <a:t>Unit 1, Topic 4: Data representation and data types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chemeClr val="accent3"/>
                </a:solidFill>
              </a:rPr>
              <a:t>Lesson 2 of 4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595360" y="210312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970264" y="210312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345168" y="210312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720072" y="210312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195560" y="210312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70464" y="210312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945368" y="210312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320272" y="210312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95360" y="27432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970264" y="27432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345168" y="27432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720072" y="27432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195560" y="27432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570464" y="27432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945368" y="27432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1320272" y="27432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595360" y="3291840"/>
            <a:ext cx="3017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8595360" y="34290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970264" y="34290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345168" y="34290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720072" y="34290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0195560" y="34290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0570464" y="34290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0945368" y="34290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1320272" y="3429000"/>
            <a:ext cx="329184" cy="411480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87 + 113 = 200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035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Spec 4.4.1, 4.4.5, plus an A level preview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By the end of this lesson you can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868680" y="1627632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508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Add </a:t>
            </a:r>
            <a:r>
              <a:rPr lang="en-US" sz="2400" dirty="0">
                <a:solidFill>
                  <a:schemeClr val="tx1"/>
                </a:solidFill>
              </a:rPr>
              <a:t>binary numbers, showing a carry row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68680" y="2816352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69748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Explain </a:t>
            </a:r>
            <a:r>
              <a:rPr lang="en-US" sz="2400" dirty="0">
                <a:solidFill>
                  <a:schemeClr val="tx1"/>
                </a:solidFill>
              </a:rPr>
              <a:t>overflow and spot when it has happened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868680" y="4005072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3886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Subtract </a:t>
            </a:r>
            <a:r>
              <a:rPr lang="en-US" sz="2400" dirty="0">
                <a:solidFill>
                  <a:schemeClr val="tx1"/>
                </a:solidFill>
              </a:rPr>
              <a:t>by adding the two's complement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868680" y="5193792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50749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Truncate and round </a:t>
            </a:r>
            <a:r>
              <a:rPr lang="en-US" sz="2400" dirty="0">
                <a:solidFill>
                  <a:schemeClr val="tx1"/>
                </a:solidFill>
              </a:rPr>
              <a:t>binary fractions, and calculate absolute and relative error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Last lesson's exit question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868680" y="160020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Using an example, describe two's complementation in an 8 bit register.  [2]   (2016, Q6c)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48640" y="3017520"/>
            <a:ext cx="356616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Reply 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033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Paste a reply from Teams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89120" y="3017520"/>
            <a:ext cx="3566160" cy="28803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466344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Reply B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370332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Paste a reply from Teams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0" y="3017520"/>
            <a:ext cx="3383280" cy="2880360"/>
          </a:xfrm>
          <a:prstGeom prst="roundRect">
            <a:avLst>
              <a:gd name="adj" fmla="val 381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8503920" y="3200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Mark scheme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503920" y="365760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1 mark: flip the bits and add 1 (or copy to the first 1, then flip)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1 mark: a full example, such as 00011011 → 11100101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Starter: Lesson 1 recall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76656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914400" y="1691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On your own, 10 minutes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3317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Open the Lesson 1 recall starter from the Teams channel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Work each answer out on paper before you choose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Note anything you got wrong: you need all of it today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66760" y="1874520"/>
            <a:ext cx="2743200" cy="2743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Watch: today in five minutes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 rot="5400000">
            <a:off x="3520440" y="2971800"/>
            <a:ext cx="1005840" cy="914400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 txBox="1"/>
          <p:nvPr/>
        </p:nvSpPr>
        <p:spPr>
          <a:xfrm>
            <a:off x="822960" y="5074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NotebookLM summary video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Listen out for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55280" y="224028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22402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What 1 + 1 + 1 gives in binary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955280" y="329184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What overflow means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55280" y="434340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4343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The difference between truncating and rounding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774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Binary addition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7947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</a:rPr>
              <a:t>4.4.1 Apply binary arithmetic techniques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651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+ 1 = 10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</a:rPr>
              <a:t>0, carry 1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Five rules are all you need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4937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86868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+ 0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2834640" y="1508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=  0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313432"/>
            <a:ext cx="4937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868680" y="24048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+ 1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2834640" y="24048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=  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3209544"/>
            <a:ext cx="49377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868680" y="33009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+ 0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834640" y="33009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=  1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48640" y="4105656"/>
            <a:ext cx="493776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 txBox="1"/>
          <p:nvPr/>
        </p:nvSpPr>
        <p:spPr>
          <a:xfrm>
            <a:off x="868680" y="41970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+ 1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41970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=  0, carry 1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48640" y="5001768"/>
            <a:ext cx="493776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868680" y="50932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+ 1 + 1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2834640" y="50932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=  1, carry 1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1417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10 + 3, from your notes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732520" y="209397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8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372600" y="209397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012680" y="209397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652760" y="209397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2423160"/>
            <a:ext cx="17373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10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355080" y="3184855"/>
            <a:ext cx="17373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355080" y="3946550"/>
            <a:ext cx="17373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Carry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355080" y="4817974"/>
            <a:ext cx="17373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869680" y="2423160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509760" y="2423160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10149840" y="2423160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0789920" y="2423160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8869680" y="3184855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509760" y="3184855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10149840" y="3184855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10789920" y="3184855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9509760" y="3946550"/>
            <a:ext cx="56692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8183880" y="4744822"/>
            <a:ext cx="3200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8869680" y="4817974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9509760" y="4817974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10149840" y="4817974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10789920" y="4817974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2" name="Text 39"/>
          <p:cNvSpPr txBox="1"/>
          <p:nvPr/>
        </p:nvSpPr>
        <p:spPr>
          <a:xfrm>
            <a:off x="8138160" y="3184855"/>
            <a:ext cx="56692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43" name="Text 40"/>
          <p:cNvSpPr txBox="1"/>
          <p:nvPr/>
        </p:nvSpPr>
        <p:spPr>
          <a:xfrm>
            <a:off x="11567160" y="481797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= 13</a:t>
            </a:r>
            <a:endParaRPr lang="en-US" sz="26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5623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Work right to left. Write every carry above the next column.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Worked exam example  (2017, Q7a)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Convert 87 and 113 into 8-bit binary, then add them.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3044952" y="1956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128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666744" y="1956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64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288536" y="1956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32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910328" y="1956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532120" y="1956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8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153912" y="1956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4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775704" y="1956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397496" y="19568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286000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87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026664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113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767328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Carry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4617720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182112" y="22860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803904" y="22860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425696" y="22860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047488" y="22860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669280" y="22860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291072" y="22860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912864" y="22860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534656" y="22860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182112" y="30266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3803904" y="30266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4425696" y="30266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047488" y="30266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669280" y="30266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291072" y="30266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6912864" y="30266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7534656" y="30266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3182112" y="37673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3803904" y="37673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425696" y="37673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5669280" y="37673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291072" y="37673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6912864" y="37673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2514600" y="4544568"/>
            <a:ext cx="559612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3182112" y="46177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3803904" y="46177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4425696" y="46177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5047488" y="46177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5669280" y="46177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6291072" y="46177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6" name="Text 43"/>
          <p:cNvSpPr/>
          <p:nvPr/>
        </p:nvSpPr>
        <p:spPr>
          <a:xfrm>
            <a:off x="6912864" y="46177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7534656" y="46177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8" name="Text 45"/>
          <p:cNvSpPr txBox="1"/>
          <p:nvPr/>
        </p:nvSpPr>
        <p:spPr>
          <a:xfrm>
            <a:off x="2468880" y="3026664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49" name="Shape 46"/>
          <p:cNvSpPr/>
          <p:nvPr/>
        </p:nvSpPr>
        <p:spPr>
          <a:xfrm>
            <a:off x="8321040" y="2011680"/>
            <a:ext cx="3291840" cy="3840480"/>
          </a:xfrm>
          <a:prstGeom prst="roundRect">
            <a:avLst>
              <a:gd name="adj" fmla="val 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 txBox="1"/>
          <p:nvPr/>
        </p:nvSpPr>
        <p:spPr>
          <a:xfrm>
            <a:off x="859536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Answer</a:t>
            </a:r>
            <a:endParaRPr lang="en-US" sz="1800" dirty="0"/>
          </a:p>
        </p:txBody>
      </p:sp>
      <p:sp>
        <p:nvSpPr>
          <p:cNvPr id="51" name="Text 48"/>
          <p:cNvSpPr txBox="1"/>
          <p:nvPr/>
        </p:nvSpPr>
        <p:spPr>
          <a:xfrm>
            <a:off x="859536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1100 1000</a:t>
            </a:r>
            <a:endParaRPr lang="en-US" sz="2600" dirty="0"/>
          </a:p>
        </p:txBody>
      </p:sp>
      <p:sp>
        <p:nvSpPr>
          <p:cNvPr id="52" name="Text 49"/>
          <p:cNvSpPr txBox="1"/>
          <p:nvPr/>
        </p:nvSpPr>
        <p:spPr>
          <a:xfrm>
            <a:off x="8595360" y="32918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= 128 + 64 + 8 = 200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= C8 in hex</a:t>
            </a:r>
            <a:endParaRPr lang="en-US" sz="1800" dirty="0"/>
          </a:p>
        </p:txBody>
      </p:sp>
      <p:sp>
        <p:nvSpPr>
          <p:cNvPr id="53" name="Text 50"/>
          <p:cNvSpPr txBox="1"/>
          <p:nvPr/>
        </p:nvSpPr>
        <p:spPr>
          <a:xfrm>
            <a:off x="8595360" y="4572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Check in denary: 87 + 113 = 200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the marks are  (2024, Q4b)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868680" y="15544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Convert the denary number 27 and the hexadecimal number 7E into two 8-bit binary numbers. Add the two numbers together using binary addition, leaving your answer in binary. You must show all of your workings.  [4]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310896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77724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 mark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840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Convert 27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3364992" y="310896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3593592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 mark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593592" y="3840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Convert 7E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181344" y="310896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6409944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1 mark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09944" y="3840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carry row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8997696" y="3108960"/>
            <a:ext cx="2606040" cy="18288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 txBox="1"/>
          <p:nvPr/>
        </p:nvSpPr>
        <p:spPr>
          <a:xfrm>
            <a:off x="9226296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 mark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226296" y="3840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answer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Right answer, no carry row: 3 out of 4. Label it "Carry".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Pairs: the full 2024 question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76656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914400" y="1691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 pairs, 6 minutes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3317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Convert 27 and 7E₁₆ into 8-bit binary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Add them, writing a labelled carry row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Check with the Binary adder tab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Mark each other out of 4 using the mark scheme slide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448056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804672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+ 7E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chemeClr val="accent3"/>
                </a:solidFill>
              </a:rPr>
              <a:t>denary + hex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840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[4]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Answer: 2024, Q4(b)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3044952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128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66744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64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288536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32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10328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8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153912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775704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97496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828800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27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569464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7E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310128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Carry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160520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182112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803904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425696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047488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669280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291072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912864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534656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182112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803904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425696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5047488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669280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291072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912864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534656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3182112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803904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4425696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047488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5669280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291072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2514600" y="4087368"/>
            <a:ext cx="559612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/>
          <p:nvPr/>
        </p:nvSpPr>
        <p:spPr>
          <a:xfrm>
            <a:off x="3182112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3803904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4425696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5047488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5669280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6291072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6912864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6" name="Text 43"/>
          <p:cNvSpPr/>
          <p:nvPr/>
        </p:nvSpPr>
        <p:spPr>
          <a:xfrm>
            <a:off x="7534656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7" name="Text 44"/>
          <p:cNvSpPr txBox="1"/>
          <p:nvPr/>
        </p:nvSpPr>
        <p:spPr>
          <a:xfrm>
            <a:off x="2468880" y="2569464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48" name="Shape 45"/>
          <p:cNvSpPr/>
          <p:nvPr/>
        </p:nvSpPr>
        <p:spPr>
          <a:xfrm>
            <a:off x="8321040" y="1554480"/>
            <a:ext cx="3291840" cy="4297680"/>
          </a:xfrm>
          <a:prstGeom prst="roundRect">
            <a:avLst>
              <a:gd name="adj" fmla="val 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 txBox="1"/>
          <p:nvPr/>
        </p:nvSpPr>
        <p:spPr>
          <a:xfrm>
            <a:off x="859536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Mark scheme</a:t>
            </a:r>
            <a:endParaRPr lang="en-US" sz="1800" dirty="0"/>
          </a:p>
        </p:txBody>
      </p:sp>
      <p:sp>
        <p:nvSpPr>
          <p:cNvPr id="50" name="Text 47"/>
          <p:cNvSpPr txBox="1"/>
          <p:nvPr/>
        </p:nvSpPr>
        <p:spPr>
          <a:xfrm>
            <a:off x="8595360" y="22402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= 0001 1011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= 0111 1110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Carry: 111111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1001 1001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8595360" y="4937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Check: 27 + 126 = 153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Overflow: the answer needs a ninth bit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3044952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128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66744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64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288536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32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10328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8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153912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775704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97496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828800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197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569464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211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310128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Carry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160520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182112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803904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425696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047488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669280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291072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912864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534656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182112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803904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425696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5047488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669280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291072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912864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534656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2560320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182112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669280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291072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912864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2514600" y="4087368"/>
            <a:ext cx="559612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2560320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3182112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3803904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4425696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5047488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5669280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6291072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6912864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6" name="Text 43"/>
          <p:cNvSpPr/>
          <p:nvPr/>
        </p:nvSpPr>
        <p:spPr>
          <a:xfrm>
            <a:off x="7534656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7" name="Text 44"/>
          <p:cNvSpPr txBox="1"/>
          <p:nvPr/>
        </p:nvSpPr>
        <p:spPr>
          <a:xfrm>
            <a:off x="2468880" y="2569464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4892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No room for this bit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321040" y="1554480"/>
            <a:ext cx="3291840" cy="4297680"/>
          </a:xfrm>
          <a:prstGeom prst="roundRect">
            <a:avLst>
              <a:gd name="adj" fmla="val 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 txBox="1"/>
          <p:nvPr/>
        </p:nvSpPr>
        <p:spPr>
          <a:xfrm>
            <a:off x="8595360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197 + 211 = 408</a:t>
            </a:r>
            <a:endParaRPr lang="en-US" sz="2000" dirty="0"/>
          </a:p>
        </p:txBody>
      </p:sp>
      <p:sp>
        <p:nvSpPr>
          <p:cNvPr id="51" name="Text 48"/>
          <p:cNvSpPr txBox="1"/>
          <p:nvPr/>
        </p:nvSpPr>
        <p:spPr>
          <a:xfrm>
            <a:off x="8595360" y="2331720"/>
            <a:ext cx="2834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8 bits hold 0 to 255, so 408 does not fit.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Stored: 1001 1000 = 152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In the exam, say that an overflow error has occurred.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Overflow with two's complement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3044952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−128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66744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64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288536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32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10328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8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153912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775704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97496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828800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100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569464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50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310128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Carry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160520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182112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803904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425696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047488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669280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291072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912864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534656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182112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803904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425696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5047488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669280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291072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912864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534656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3182112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803904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2514600" y="4087368"/>
            <a:ext cx="559612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3182112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3803904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4425696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5047488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5669280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6291072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6912864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7534656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3" name="Text 40"/>
          <p:cNvSpPr txBox="1"/>
          <p:nvPr/>
        </p:nvSpPr>
        <p:spPr>
          <a:xfrm>
            <a:off x="2468880" y="2569464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44" name="Shape 41"/>
          <p:cNvSpPr/>
          <p:nvPr/>
        </p:nvSpPr>
        <p:spPr>
          <a:xfrm>
            <a:off x="8321040" y="1554480"/>
            <a:ext cx="3291840" cy="4297680"/>
          </a:xfrm>
          <a:prstGeom prst="roundRect">
            <a:avLst>
              <a:gd name="adj" fmla="val 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 txBox="1"/>
          <p:nvPr/>
        </p:nvSpPr>
        <p:spPr>
          <a:xfrm>
            <a:off x="8595360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100 + 50 = 150</a:t>
            </a:r>
            <a:endParaRPr lang="en-US" sz="2000" dirty="0"/>
          </a:p>
        </p:txBody>
      </p:sp>
      <p:sp>
        <p:nvSpPr>
          <p:cNvPr id="46" name="Text 43"/>
          <p:cNvSpPr txBox="1"/>
          <p:nvPr/>
        </p:nvSpPr>
        <p:spPr>
          <a:xfrm>
            <a:off x="8595360" y="23317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Two's complement only reaches +127.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The result has MSB 1, so it reads as:</a:t>
            </a:r>
            <a:endParaRPr lang="en-US" sz="1700" dirty="0"/>
          </a:p>
        </p:txBody>
      </p:sp>
      <p:sp>
        <p:nvSpPr>
          <p:cNvPr id="47" name="Text 44"/>
          <p:cNvSpPr txBox="1"/>
          <p:nvPr/>
        </p:nvSpPr>
        <p:spPr>
          <a:xfrm>
            <a:off x="8595360" y="4069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−128 + 16 + 4 + 2 = −106</a:t>
            </a:r>
            <a:endParaRPr lang="en-US" sz="18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" y="5669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Positive + positive = negative? Overflow.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Subtract by adding a negative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14630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Write the first number in binary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3774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Find the two's complement of the second number: flip, add 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2918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Add the two numbers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420624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Discard any carry beyond the word size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1325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11 − 6, from your notes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20482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8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098280" y="20482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738360" y="20482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378440" y="204825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80760" y="2377440"/>
            <a:ext cx="17373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11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3139135"/>
            <a:ext cx="17373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−6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080760" y="3900830"/>
            <a:ext cx="17373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Carry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080760" y="4772254"/>
            <a:ext cx="1737360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95360" y="2377440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235440" y="2377440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9875520" y="2377440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0515600" y="2377440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595360" y="3139135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235440" y="3139135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9875520" y="3139135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0515600" y="3139135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955280" y="3900830"/>
            <a:ext cx="56692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235440" y="3900830"/>
            <a:ext cx="56692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7909560" y="4699102"/>
            <a:ext cx="3200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7955280" y="4772254"/>
            <a:ext cx="56692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8595360" y="4772254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235440" y="4772254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9875520" y="4772254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10515600" y="4772254"/>
            <a:ext cx="566928" cy="651967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7863840" y="3139135"/>
            <a:ext cx="56692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38" name="Text 35"/>
          <p:cNvSpPr txBox="1"/>
          <p:nvPr/>
        </p:nvSpPr>
        <p:spPr>
          <a:xfrm>
            <a:off x="11247120" y="477225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= 5</a:t>
            </a:r>
            <a:endParaRPr lang="en-US" sz="2600" dirty="0"/>
          </a:p>
        </p:txBody>
      </p:sp>
      <p:sp>
        <p:nvSpPr>
          <p:cNvPr id="39" name="Text 36"/>
          <p:cNvSpPr txBox="1"/>
          <p:nvPr/>
        </p:nvSpPr>
        <p:spPr>
          <a:xfrm>
            <a:off x="6583680" y="5623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The carry out on the left is thrown away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8 bits: 87 − 39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3044952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−128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66744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64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288536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32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10328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8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153912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775704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97496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1828800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87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569464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−39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310128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Carry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160520"/>
            <a:ext cx="1737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Result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182112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3803904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425696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047488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669280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291072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912864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7534656" y="182880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182112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803904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4425696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5047488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669280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291072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912864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7534656" y="2569464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2560320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182112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4425696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047488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5669280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291072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6912864" y="3310128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2514600" y="4087368"/>
            <a:ext cx="559612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7"/>
          <p:cNvSpPr/>
          <p:nvPr/>
        </p:nvSpPr>
        <p:spPr>
          <a:xfrm>
            <a:off x="2560320" y="4160520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3182112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3803904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4425696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5047488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5669280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6" name="Text 43"/>
          <p:cNvSpPr/>
          <p:nvPr/>
        </p:nvSpPr>
        <p:spPr>
          <a:xfrm>
            <a:off x="6291072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6912864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7534656" y="4160520"/>
            <a:ext cx="548640" cy="6309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200" dirty="0"/>
          </a:p>
        </p:txBody>
      </p:sp>
      <p:sp>
        <p:nvSpPr>
          <p:cNvPr id="49" name="Text 46"/>
          <p:cNvSpPr txBox="1"/>
          <p:nvPr/>
        </p:nvSpPr>
        <p:spPr>
          <a:xfrm>
            <a:off x="2468880" y="2569464"/>
            <a:ext cx="548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+</a:t>
            </a:r>
            <a:endParaRPr lang="en-US" sz="2200" dirty="0"/>
          </a:p>
        </p:txBody>
      </p:sp>
      <p:sp>
        <p:nvSpPr>
          <p:cNvPr id="50" name="Shape 47"/>
          <p:cNvSpPr/>
          <p:nvPr/>
        </p:nvSpPr>
        <p:spPr>
          <a:xfrm>
            <a:off x="8321040" y="1554480"/>
            <a:ext cx="3291840" cy="4297680"/>
          </a:xfrm>
          <a:prstGeom prst="roundRect">
            <a:avLst>
              <a:gd name="adj" fmla="val 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 txBox="1"/>
          <p:nvPr/>
        </p:nvSpPr>
        <p:spPr>
          <a:xfrm>
            <a:off x="8595360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−39 from last lesson</a:t>
            </a:r>
            <a:endParaRPr lang="en-US" sz="1800" dirty="0"/>
          </a:p>
        </p:txBody>
      </p:sp>
      <p:sp>
        <p:nvSpPr>
          <p:cNvPr id="52" name="Text 49"/>
          <p:cNvSpPr txBox="1"/>
          <p:nvPr/>
        </p:nvSpPr>
        <p:spPr>
          <a:xfrm>
            <a:off x="8595360" y="22860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+39 = 0010 0111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Flip: 1101 1000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1: 1101 1001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8595360" y="3703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Discard the 9th bit: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0011 0000 = 48</a:t>
            </a:r>
            <a:endParaRPr lang="en-US" sz="1800" dirty="0"/>
          </a:p>
        </p:txBody>
      </p:sp>
      <p:sp>
        <p:nvSpPr>
          <p:cNvPr id="54" name="Text 51"/>
          <p:cNvSpPr txBox="1"/>
          <p:nvPr/>
        </p:nvSpPr>
        <p:spPr>
          <a:xfrm>
            <a:off x="8595360" y="4846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Carry out here is normal, not overflow.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Mini whiteboards: your turn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110642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868680" y="2121408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82880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Add 0110 1100 and 0011 0101. Show a carry row.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642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68680" y="4133088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384048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chemeClr val="tx1"/>
                </a:solidFill>
              </a:rPr>
              <a:t>Calculate 50 − 20 in 8-bit two's complement by adding a negative number.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Answers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320040" y="19202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108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20040" y="24505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53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20040" y="29809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Carry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20040" y="36210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= 161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633472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72384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11296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950208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89120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28032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66944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705856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633472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072384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511296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950208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389120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828032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266944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705856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633472" y="298094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072384" y="298094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511296" y="298094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950208" y="298094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389120" y="298094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148840" y="3547872"/>
            <a:ext cx="395020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2633472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072384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511296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950208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389120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4828032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266944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705856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2103120" y="245059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+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309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2</a:t>
            </a:r>
            <a:endParaRPr lang="en-US" sz="2600" dirty="0"/>
          </a:p>
        </p:txBody>
      </p:sp>
      <p:sp>
        <p:nvSpPr>
          <p:cNvPr id="41" name="Text 38"/>
          <p:cNvSpPr txBox="1"/>
          <p:nvPr/>
        </p:nvSpPr>
        <p:spPr>
          <a:xfrm>
            <a:off x="6172200" y="19202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50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6172200" y="24505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−20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6172200" y="29809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Carry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6172200" y="36210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1"/>
                </a:solidFill>
              </a:rPr>
              <a:t>= 30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485632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8924544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9363456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9802368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10241280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0680192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11119104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11558016" y="1920240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8485632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8924544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9363456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56" name="Text 53"/>
          <p:cNvSpPr/>
          <p:nvPr/>
        </p:nvSpPr>
        <p:spPr>
          <a:xfrm>
            <a:off x="9802368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57" name="Text 54"/>
          <p:cNvSpPr/>
          <p:nvPr/>
        </p:nvSpPr>
        <p:spPr>
          <a:xfrm>
            <a:off x="10241280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10680192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59" name="Text 56"/>
          <p:cNvSpPr/>
          <p:nvPr/>
        </p:nvSpPr>
        <p:spPr>
          <a:xfrm>
            <a:off x="11119104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1558016" y="2450592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8046720" y="298094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8485632" y="298094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8924544" y="298094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001000" y="3547872"/>
            <a:ext cx="395020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2"/>
          <p:cNvSpPr/>
          <p:nvPr/>
        </p:nvSpPr>
        <p:spPr>
          <a:xfrm>
            <a:off x="8046720" y="362102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8485632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8924544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9363456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69" name="Text 66"/>
          <p:cNvSpPr/>
          <p:nvPr/>
        </p:nvSpPr>
        <p:spPr>
          <a:xfrm>
            <a:off x="9802368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10241280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1" name="Text 68"/>
          <p:cNvSpPr/>
          <p:nvPr/>
        </p:nvSpPr>
        <p:spPr>
          <a:xfrm>
            <a:off x="10680192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1119104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11558016" y="3621024"/>
            <a:ext cx="365760" cy="420624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5875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74" name="Text 71"/>
          <p:cNvSpPr txBox="1"/>
          <p:nvPr/>
        </p:nvSpPr>
        <p:spPr>
          <a:xfrm>
            <a:off x="7955280" y="245059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+</a:t>
            </a:r>
            <a:endParaRPr lang="en-US" sz="1400" dirty="0"/>
          </a:p>
        </p:txBody>
      </p:sp>
      <p:sp>
        <p:nvSpPr>
          <p:cNvPr id="75" name="Text 72"/>
          <p:cNvSpPr txBox="1"/>
          <p:nvPr/>
        </p:nvSpPr>
        <p:spPr>
          <a:xfrm>
            <a:off x="6309360" y="4572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Discard the carry out: 0001 1110 = 30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774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Truncation and rounding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7947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</a:rPr>
              <a:t>4.4.5 Describe truncation and rounding, and explain their effect upon accuracy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5603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111.10110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3291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111.11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Binary fractions: keep halving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1325880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6"/>
                </a:solidFill>
              </a:rPr>
              <a:t>4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63040" y="2194560"/>
            <a:ext cx="868680" cy="998982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2304288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6"/>
                </a:solidFill>
              </a:rPr>
              <a:t>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441448" y="2194560"/>
            <a:ext cx="868680" cy="998982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3282696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6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19856" y="2194560"/>
            <a:ext cx="868680" cy="998982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4379976" y="2194560"/>
            <a:ext cx="274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1"/>
                </a:solidFill>
              </a:rPr>
              <a:t>.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4535424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0.5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672584" y="2194560"/>
            <a:ext cx="868680" cy="998982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5513832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0.25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650992" y="2194560"/>
            <a:ext cx="868680" cy="998982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0.125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29400" y="2194560"/>
            <a:ext cx="868680" cy="998982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7470648" y="178308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0.0625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607808" y="2194560"/>
            <a:ext cx="868680" cy="998982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19" name="Shape 16"/>
          <p:cNvSpPr/>
          <p:nvPr/>
        </p:nvSpPr>
        <p:spPr>
          <a:xfrm>
            <a:off x="548640" y="3840480"/>
            <a:ext cx="7589520" cy="2011680"/>
          </a:xfrm>
          <a:prstGeom prst="roundRect">
            <a:avLst>
              <a:gd name="adj" fmla="val 545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 txBox="1"/>
          <p:nvPr/>
        </p:nvSpPr>
        <p:spPr>
          <a:xfrm>
            <a:off x="868680" y="40690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101.0101 = 4 + 1 + 0.25 + 0.0625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7548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5.3125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39319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Each place after the point is worth half the one before.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Truncation and rounding: the mark scheme wording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3949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82296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Truncation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86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Cut off the extra digits. The number moves nearer zero.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2.718 → 2.71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949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6492240" y="1645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Rounding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286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Go to the nearest value: look at the next digit to decide.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3566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2.718 → 2.72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868680" y="5120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 binary, round by looking at the next bit: 1 means round up, 0 means leave 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Measuring the effect on accuracy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86868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Absolute error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1488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= true value − approximation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(ignore the sign)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217920" y="141732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Relative error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537960" y="21488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= absolute error ÷ true value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(as a decimal or a %)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64240" cy="16459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2.718 to 2 dp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Absolute error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Relative error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Truncation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2.71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0.008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0.008 ÷ 2.718 = 0.0029 (0.29%)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Rounding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2.72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0.002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0.002 ÷ 2.718 = 0.00074 (0.074%)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Worked exam example  (2022, Q4e)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11064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868680" y="13716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Using 111.10110₂, describe truncation and rounding to two binary places, and their effect upon accuracy in terms of their absolute errors. State which method is more accurate.  [5]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64240" cy="226771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Binary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Denary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Absolute error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4213D"/>
                          </a:solidFill>
                        </a:rPr>
                        <a:t>Original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111.10110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7.6875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—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28C28"/>
                          </a:solidFill>
                        </a:rPr>
                        <a:t>Truncation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111.10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7.5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0.1875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0F8B8D"/>
                          </a:solidFill>
                        </a:rPr>
                        <a:t>Rounding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111.11  (next bit 1: round up)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7.75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</a:rPr>
                        <a:t>0.0625</a:t>
                      </a:r>
                      <a:endParaRPr lang="en-US" sz="18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074920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868680" y="5166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Rounding is more accurate: its absolute error is smaller.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Pairs: 2024, Q4(c)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766560" cy="4480560"/>
          </a:xfrm>
          <a:prstGeom prst="roundRect">
            <a:avLst>
              <a:gd name="adj" fmla="val 24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914400" y="1691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In pairs, 5 minutes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3317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Convert 101.0101 to denary first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Truncate to one binary place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Calculate the absolute error, then the relative error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Check with the Truncate and round tab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448056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8046720" y="169164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Using the binary number 101.0101₂, demonstrate truncation to one binary place, and calculate the effect upon accuracy in terms of relative error.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4937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[3]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Answer: 2024, Q4(c)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77240" y="1755648"/>
            <a:ext cx="10058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 mark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96596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Truncation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1645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101.0101 → 101.0 = 5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77240" y="2944368"/>
            <a:ext cx="10058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 mark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96596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Absolute error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28346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5.3125 − 5 = 0.3125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77240" y="4133088"/>
            <a:ext cx="10058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 mark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96596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Relative error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297680" y="40233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0.3125 ÷ 5.3125 = 0.0588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Also accepted: 0.06, 5.88% or 6%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Exam watch: 2025, Q4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868680" y="1645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(a)  Add 01011.010₂ and 01101.101₂. Convert your answer into denary.  [3]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8346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Line the binary points up before you add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Write and label the carry row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Convert using 0.5, 0.25, 0.125 after the point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309360" y="141732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6583680" y="16459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(b)  Truncate and round your answer to one decimal place. Calculate the relative and absolute error for each.  [6]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8346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Six marks: a result, an absolute error and a relative error for each method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Relative error can be a decimal or a %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83680" y="4434840"/>
            <a:ext cx="4663440" cy="411480"/>
          </a:xfrm>
          <a:prstGeom prst="roundRect">
            <a:avLst>
              <a:gd name="adj" fmla="val 44444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No ECF: a slip in (a) costs (b) too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774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A level preview: shifts</a:t>
            </a:r>
            <a:endParaRPr lang="en-US" sz="4400" dirty="0"/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7947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</a:rPr>
              <a:t>Not on the AS paper. A quick look ahead to A level.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183880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613648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043416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473184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985248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415016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844784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274552" y="2743200"/>
            <a:ext cx="384048" cy="480060"/>
          </a:xfrm>
          <a:prstGeom prst="roundRect">
            <a:avLst>
              <a:gd name="adj" fmla="val 19048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3429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← ×2          ÷2 →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Logical shifts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Start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108960" y="1828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75888" y="1828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242816" y="1828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809744" y="1828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541264" y="1828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108192" y="1828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675120" y="1828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242048" y="1828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= 22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154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Shift left 1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108960" y="3063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675888" y="3063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242816" y="3063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809744" y="3063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541264" y="3063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108192" y="3063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675120" y="3063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242048" y="3063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3154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= 44  (×2)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389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Shift right 1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108960" y="429768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3675888" y="429768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4242816" y="429768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4809744" y="429768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5541264" y="429768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6108192" y="429768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6675120" y="429768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7242048" y="429768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8138160" y="43891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= 11  (÷2)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Orange: the new 0 that fills the gap. The bit pushed off the other end is lost.</a:t>
            </a:r>
            <a:endParaRPr lang="en-US" sz="17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Arithmetic right shift keeps the sign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Start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108960" y="173736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675888" y="173736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242816" y="173736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809744" y="173736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541264" y="173736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108192" y="173736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675120" y="173736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242048" y="173736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= −20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063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Arithmetic right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108960" y="2971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675888" y="2971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4242816" y="2971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809744" y="2971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541264" y="2971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108192" y="2971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675120" y="2971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242048" y="297180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3063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= −10  ✓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Logical right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108960" y="4206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3675888" y="4206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4242816" y="4206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4809744" y="4206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5541264" y="4206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6108192" y="4206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6675120" y="4206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7242048" y="4206240"/>
            <a:ext cx="502920" cy="62865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33" name="Text 30"/>
          <p:cNvSpPr txBox="1"/>
          <p:nvPr/>
        </p:nvSpPr>
        <p:spPr>
          <a:xfrm>
            <a:off x="8138160" y="4297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= 118  ✗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 txBox="1"/>
          <p:nvPr/>
        </p:nvSpPr>
        <p:spPr>
          <a:xfrm>
            <a:off x="868680" y="54132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Arithmetic right shift: copy the sign bit into the gap, so ÷2 still works for negatives.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Quiz: Microsoft Forms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29260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914400" y="1691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On your own, no notes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Open the Topic 4 Lesson 2 quiz from the Teams channel. Work out each answer on paper first, then choose.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4846320"/>
            <a:ext cx="2606040" cy="41148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Addition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364992" y="4846320"/>
            <a:ext cx="2606040" cy="41148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Overflow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81344" y="4846320"/>
            <a:ext cx="2606040" cy="411480"/>
          </a:xfrm>
          <a:prstGeom prst="roundRect">
            <a:avLst>
              <a:gd name="adj" fmla="val 44444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Subtraction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97696" y="4846320"/>
            <a:ext cx="260604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Truncation and rounding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Exit question  (adapted from 2016, Q6e)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210312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 txBox="1"/>
          <p:nvPr/>
        </p:nvSpPr>
        <p:spPr>
          <a:xfrm>
            <a:off x="868680" y="164592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Using 26.8₁₀ as an example, truncate and round to a whole number. Give the error for each method and say which is more accurate.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Reply on the Teams post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4434840"/>
            <a:ext cx="3474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822960" y="4617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Truncation
</a:t>
            </a:r>
            <a:r>
              <a:rPr lang="en-US" sz="1800" dirty="0">
                <a:solidFill>
                  <a:schemeClr val="accent6"/>
                </a:solidFill>
              </a:rPr>
              <a:t>Number and error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297680" y="4434840"/>
            <a:ext cx="3474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4572000" y="4617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Rounding
</a:t>
            </a:r>
            <a:r>
              <a:rPr lang="en-US" sz="1800" dirty="0">
                <a:solidFill>
                  <a:schemeClr val="accent6"/>
                </a:solidFill>
              </a:rPr>
              <a:t>Number and error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046720" y="4434840"/>
            <a:ext cx="34747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 txBox="1"/>
          <p:nvPr/>
        </p:nvSpPr>
        <p:spPr>
          <a:xfrm>
            <a:off x="8321040" y="46177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Which is better?
</a:t>
            </a:r>
            <a:r>
              <a:rPr lang="en-US" sz="1800" dirty="0">
                <a:solidFill>
                  <a:schemeClr val="accent6"/>
                </a:solidFill>
              </a:rPr>
              <a:t>And why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Key terms and homework</a:t>
            </a:r>
            <a:endParaRPr lang="en-US" sz="3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634162"/>
              </p:ext>
            </p:extLst>
          </p:nvPr>
        </p:nvGraphicFramePr>
        <p:xfrm>
          <a:off x="548640" y="1417320"/>
          <a:ext cx="5852160" cy="429768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English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Cymraeg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Binary addition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Adio deuaidd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Carry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Cario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Overflow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Gorlif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Subtraction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Tynnu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Binary point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Pwynt deuaidd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Truncation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Blaendorri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Rounding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Talgrynnu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Absolute error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 err="1">
                          <a:solidFill>
                            <a:srgbClr val="14213D"/>
                          </a:solidFill>
                        </a:rPr>
                        <a:t>Gwall</a:t>
                      </a: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 absoliwt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Relative error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 err="1">
                          <a:solidFill>
                            <a:srgbClr val="14213D"/>
                          </a:solidFill>
                        </a:rPr>
                        <a:t>Gwall</a:t>
                      </a:r>
                      <a:r>
                        <a:rPr lang="en-US" sz="1500" dirty="0">
                          <a:solidFill>
                            <a:srgbClr val="14213D"/>
                          </a:solidFill>
                        </a:rPr>
                        <a:t> cymharol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6858000" y="1417320"/>
            <a:ext cx="4754880" cy="2788920"/>
          </a:xfrm>
          <a:prstGeom prst="roundRect">
            <a:avLst>
              <a:gd name="adj" fmla="val 393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2"/>
          <p:cNvSpPr txBox="1"/>
          <p:nvPr/>
        </p:nvSpPr>
        <p:spPr>
          <a:xfrm>
            <a:off x="7132320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Homework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7132320" y="210312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Complete the exam practice sheet on Teams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round on the Binary adder and one on Truncate and round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6858000" y="4434840"/>
            <a:ext cx="4754880" cy="146304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 txBox="1"/>
          <p:nvPr/>
        </p:nvSpPr>
        <p:spPr>
          <a:xfrm>
            <a:off x="7132320" y="4572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Next lesson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49834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Floating point: binary fractions with a mantissa and an exponent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6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VC CS Navy Teal">
  <a:themeElements>
    <a:clrScheme name="CAVC CS Navy Teal">
      <a:dk1>
        <a:srgbClr val="14213D"/>
      </a:dk1>
      <a:lt1>
        <a:srgbClr val="FFFFFF"/>
      </a:lt1>
      <a:dk2>
        <a:srgbClr val="22335A"/>
      </a:dk2>
      <a:lt2>
        <a:srgbClr val="EEF3F8"/>
      </a:lt2>
      <a:accent1>
        <a:srgbClr val="0F8B8D"/>
      </a:accent1>
      <a:accent2>
        <a:srgbClr val="F28C28"/>
      </a:accent2>
      <a:accent3>
        <a:srgbClr val="D6EFEF"/>
      </a:accent3>
      <a:accent4>
        <a:srgbClr val="1E8A4C"/>
      </a:accent4>
      <a:accent5>
        <a:srgbClr val="C0392B"/>
      </a:accent5>
      <a:accent6>
        <a:srgbClr val="5A667A"/>
      </a:accent6>
      <a:hlink>
        <a:srgbClr val="0F8B8D"/>
      </a:hlink>
      <a:folHlink>
        <a:srgbClr val="22335A"/>
      </a:folHlink>
    </a:clrScheme>
    <a:fontScheme name="CAVC CS Navy Te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3380</Words>
  <Application>Microsoft Office PowerPoint</Application>
  <PresentationFormat>Widescreen</PresentationFormat>
  <Paragraphs>787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Courier New</vt:lpstr>
      <vt:lpstr>CAVC CS Navy Teal</vt:lpstr>
      <vt:lpstr>Binary arithmetic, overflow, truncation and rounding</vt:lpstr>
      <vt:lpstr>By the end of this lesson you can</vt:lpstr>
      <vt:lpstr>Last lesson's exit question</vt:lpstr>
      <vt:lpstr>Starter: Lesson 1 recall</vt:lpstr>
      <vt:lpstr>Watch: today in five minutes</vt:lpstr>
      <vt:lpstr>Binary addition</vt:lpstr>
      <vt:lpstr>Five rules are all you need</vt:lpstr>
      <vt:lpstr>Worked exam example  (2017, Q7a)</vt:lpstr>
      <vt:lpstr>Where the marks are  (2024, Q4b)</vt:lpstr>
      <vt:lpstr>Pairs: the full 2024 question</vt:lpstr>
      <vt:lpstr>Answer: 2024, Q4(b)</vt:lpstr>
      <vt:lpstr>Overflow: the answer needs a ninth bit</vt:lpstr>
      <vt:lpstr>Overflow with two's complement</vt:lpstr>
      <vt:lpstr>Subtract by adding a negative</vt:lpstr>
      <vt:lpstr>8 bits: 87 − 39</vt:lpstr>
      <vt:lpstr>Mini whiteboards: your turn</vt:lpstr>
      <vt:lpstr>Answers</vt:lpstr>
      <vt:lpstr>Truncation and rounding</vt:lpstr>
      <vt:lpstr>Binary fractions: keep halving</vt:lpstr>
      <vt:lpstr>Truncation and rounding: the mark scheme wording</vt:lpstr>
      <vt:lpstr>Measuring the effect on accuracy</vt:lpstr>
      <vt:lpstr>Worked exam example  (2022, Q4e)</vt:lpstr>
      <vt:lpstr>Pairs: 2024, Q4(c)</vt:lpstr>
      <vt:lpstr>Answer: 2024, Q4(c)</vt:lpstr>
      <vt:lpstr>Exam watch: 2025, Q4</vt:lpstr>
      <vt:lpstr>A level preview: shifts</vt:lpstr>
      <vt:lpstr>Logical shifts</vt:lpstr>
      <vt:lpstr>Arithmetic right shift keeps the sign</vt:lpstr>
      <vt:lpstr>Quiz: Microsoft Forms</vt:lpstr>
      <vt:lpstr>Exit question  (adapted from 2016, Q6e)</vt:lpstr>
      <vt:lpstr>Key terms and homework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4 Lesson 2: Binary arithmetic, overflow, truncation and rounding</dc:title>
  <dc:subject>PptxGenJS Presentation</dc:subject>
  <dc:creator>Aled Evans</dc:creator>
  <cp:lastModifiedBy>Aled Evans</cp:lastModifiedBy>
  <cp:revision>1</cp:revision>
  <dcterms:created xsi:type="dcterms:W3CDTF">2026-10-15T07:19:32Z</dcterms:created>
  <dcterms:modified xsi:type="dcterms:W3CDTF">2026-10-19T12:40:01Z</dcterms:modified>
</cp:coreProperties>
</file>