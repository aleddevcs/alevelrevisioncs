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aefeb5f-533c-2bda-f7c0-b4b2c3cb5916}">
          <p14:sldIdLst>
            <p14:sldId id="256"/>
            <p14:sldId id="257"/>
            <p14:sldId id="258"/>
            <p14:sldId id="259"/>
          </p14:sldIdLst>
        </p14:section>
        <p14:section name="Bits, bytes and words" id="{e9bc6fd9-cbc1-8929-240d-9726f96fc1f1}">
          <p14:sldIdLst>
            <p14:sldId id="260"/>
            <p14:sldId id="261"/>
            <p14:sldId id="262"/>
            <p14:sldId id="263"/>
          </p14:sldIdLst>
        </p14:section>
        <p14:section name="Number systems" id="{38d8d95b-ef68-9d13-b2a5-703dcdcb7059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Negative numbers" id="{69c159e5-3f7c-38e8-abb5-b5085d44749d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Practice and close" id="{4a18be81-6e70-4798-a5b0-4352255840c2}">
          <p14:sldIdLst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Teams post is up with today's objectives and key terms in English and Welsh. Students log in and open the Topic 3 recall starter while you take the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three objectives. Point out that the first two are GCSE recap done at A level pace, and the third is new: negative numbers. Exam link: every Unit 1 paper since 2016 has had at least one question on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minutes. Self-paced HTML starter on Topic 3 (data transmission). Students work individually. Circulate and note any common misconceptions to pick up in the Topic 3 exam questions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NotebookLM summary video. Ask students to listen out for three things: what a word is, why hex exists, and how a computer stores a minus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of 3. About 8 minutes including the card 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Bit: binary digit, two states. Byte: 8 bits, 256 values, one ASCII character, e.g. A = 01000001. Word: set by the CPU design. A 64-bit CPU handles 64 bits in one operation. Ask: how many bytes in a 32-bit word? (4)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has appeared in 2016, 2022 and 2024, each for 1 mark. The mark scheme: the total number of bits that can be manipulated as a single unit by the CPU. 'A group of bits' on its own does not get the mark. The CPU link is the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Bits and Bases interactive, tab 2. One go per card, so they must agree before clicking. Then open the past-paper check at the bottom and compare their definitions with the mark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of 3. Recap from GCSE at A level pace, about 15 minutes. Push for speed and correct notation (subscript bases).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base works the same way: each column is worth base times the column to its right. Denary 8211 = 8x1000 + 2x100 + 1x10 + 1. Binary 11010110 = 128+64+16+4+2 = 214. Hex 7A19 = 7x4096 + 10x256 + 1x16 + 9 = 31,257. Ask: what is the largest digit in each base?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example: 10110100. Write the place values above, add where there is a 1: 128 + 32 + 16 + 4 = 180. Quick fire: students call out 00001111 (15), 10000000 (128), 11111111 (255).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exam number from 2017 Q7(a): 87. 128 does not fit, write 0. 64 fits: 1, leaves 23. 32 no: 0. 16 yes: 1, leaves 7. 8 no: 0. 4 yes, leaves 3. 2 yes, leaves 1. 1 yes, leaves 0. Answer 01010111. Stress: the question said 8 bits, so write all 8 including the leading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Hex is for humans. Every hex digit is exactly 4 bits (a nibble), so it converts to and from binary instantly. Example from your notes: the web colour orange is 24 bits, or 6 hex digits FFA500. Other places students will meet hex: memory addresses, MAC addresses, error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 to hex: split into groups of 4 from the right, convert each nibble with 8 4 2 1. 1011 0100 gives B and 4, so B4. Hex to binary: each digit becomes exactly four bits. 2A from 2016 Q6(b): 2 = 0010, A = 1010, so 0010 1010. Common error: writing 2 as 10 and losing the leading zeros.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Denary to hex: divide by 16, keep the remainder, read remainders bottom up. 180 / 16 = 11 r 4, 11 / 16 = 0 r 11 = B, so B4. Hex to denary: 7E from 2024 Q4(b): 7 x 16 + 14 = 126. Alternative route both ways: go via binary. Students can choose the method they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Bits and Bases, tab 1, Unsigned, 8-bit. Press Give us a target. Pairs race to set the bits, and the timer shows how long it took. Then try a few targets in 16-bit. Use it yourself on the board to show 'All 1' = 255 and the 8-bit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of 3. The new content. About 17 minutes before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the problem: a register only holds 0s and 1s, so how can it store -5? Take ideas. Lead them to: give up one bit, the MSB, to show the sign. That is the idea behind both methods. The price: you lose half the positive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MSB is the sign, the other 7 bits are the magnitude in normal binary. +39 = 0 0100111, -39 = 1 0100111 (this is the 2022 Q4(c) answer: 10100111). Problems: two zeros (00000000 and 10000000) wastes a pattern, and adding +5 and -5 in binary does not give 0, so arithmetic needs extra circuitry. Range in 8 bits: -127 to +127.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tiles, different place value on the MSB. In an 8-bit register it is worth -128 instead of +128. Then add the other place values as normal. 11011001 = -128 + 64 + 16 + 8 + 1 = -39. If the MSB is 0, the number is positive and reads exactly as normal binary. Range: -128 to +127, one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from 2022 Q4(c): -39. Step 1 write +39 in 8 bits: 00100111. Step 2 flip every bit: 11011000. Step 3 add 1: 11011001. Check using the -128 method: -128 + 89 = -39. Mark scheme for 2016 Q6(c) also accepts the shortcut: from the right, copy up to and including the first 1, then flip everything to its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11100101 (from the 2016 mark scheme example). Route A: MSB worth -128, so -128 + 64 + 32 + 4 + 1 = -27. Route B: flip and add 1 gives 00011011 = 27, so the original was -27. Use one route to answer and the other to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 formula for n bits. Sign and magnitude: -(2^(n-1) - 1) to +(2^(n-1) - 1), so -127 to +127 in 8 bits. Two's complement: -2^(n-1) to +(2^(n-1) - 1), so -128 to +127. 2023 Q14 asked for the 8-bit two's complement integer range. Ask: why is two's complement one bigger on the negative side? (Because it only has one zero.)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on the Teams whiteboard or mini whiteboards. 3 minutes, then reveal. Question 3 is the key one: same bits, three different meanings, depending on how the register is being interpreted.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+20 = 00010100, so S&amp;M is 10010100. Q2: flip 11101011, add 1 11101100. Check: -128 + 64 + 32 + 8 + 4 = -20. Q3: unsigned 129, S&amp;M -1, two's complement -128 + 1 = -127.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minutes. Bits and Bases, tab 3. Defaults are binary/denary plus two's complement. Driver types, navigator explains the method out loud, swap every question. Wrong answers get targeted hints (e.g. 'you flipped but did not add 1'). Extension: 2024 Q4(b) conversion part, 27 and 7E into 8-bit binary (00011011 and 01111110). Addition is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minutes. Individual, no notes. Results feed into your tracking for this lesson. Look out for students who mix up the two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minutes. Individually, written. Mark scheme: 1 mark for the method (flip the bits and add one, or copy from the right up to the first 1 and flip the rest), 1 mark for a correct worked example such as 00011011 becomes 11100101. Collect or ask for a few to read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Welsh terms are draft until checked against Y Termiadur Addysg. Homework is posted on Teams. Next lesson: binary arithmetic, shifts, overflow, truncation and rounding. The hex-to-binary-then-add questions from 2016, 2022 and 2024 will be the starting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8638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9476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Topic 4, Lesson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Topic 4, Lesson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Bits, bases and negative numbers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Unit 1, Topic 4: Data representation and data types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Lesson 1 of 4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595360" y="237744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970264" y="237744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45168" y="237744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20072" y="237744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195560" y="237744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70464" y="237744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45368" y="237744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320272" y="237744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+39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95360" y="356616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70264" y="356616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345168" y="356616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720072" y="356616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195560" y="356616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570464" y="356616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945368" y="356616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320272" y="356616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−39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Spec 4.1.1, 4.1.2, 4.4.2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By the end of this lesson you can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47088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6916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Define </a:t>
            </a:r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bit, byte and word using the wording examiners expect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10128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31546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Convert </a:t>
            </a:r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between binary, denary and hexadecimal in all six directions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773168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6177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Represent </a:t>
            </a:r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negative integers using sign and magnitude and two's complement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Starter: Topic 3 recall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7665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On your own, 10 minutes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317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Open the Topic 3 recall starter from the Teams channel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Answer every question before checking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Note down anything you got wrong: we will come back to 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66760" y="1874520"/>
            <a:ext cx="2743200" cy="2743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Watch: today in five minutes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5400000">
            <a:off x="3520440" y="2971800"/>
            <a:ext cx="1005840" cy="914400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074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NotebookLM summary video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Listen out for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55280" y="224028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240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What a word is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55280" y="329184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Why programmers use hex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55280" y="434340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4343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a computer stores a minus sign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Bits, bytes and words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794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4.1.1 Explain the terms bit, byte and word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412480" y="2743200"/>
            <a:ext cx="73152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412480" y="393192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842248" y="393192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72016" y="393192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701784" y="393192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213848" y="393192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43616" y="393192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073384" y="393192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503152" y="393192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 sizes of data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Bit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single binary digit: 0 or 1. The smallest unit of data.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54864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Like one light switch: on or off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Byte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286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collection of 8 bits. Can hold 256 different values (0 to 255).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0" y="3977640"/>
            <a:ext cx="310896" cy="388620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19472" y="3977640"/>
            <a:ext cx="310896" cy="388620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66944" y="3977640"/>
            <a:ext cx="310896" cy="388620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14416" y="3977640"/>
            <a:ext cx="310896" cy="388620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16752" y="3977640"/>
            <a:ext cx="310896" cy="388620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64224" y="3977640"/>
            <a:ext cx="310896" cy="388620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11696" y="3977640"/>
            <a:ext cx="310896" cy="388620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059168" y="3977640"/>
            <a:ext cx="310896" cy="388620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letter A in ASCII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046720" y="1417320"/>
            <a:ext cx="3474720" cy="45720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2104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Word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2286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number of bits the CPU can manipulate as a single unit.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321040" y="3977640"/>
            <a:ext cx="292608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32 or 64 bits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A 32-bit word is 4 bytes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examiners want "word" defined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583680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Mark scheme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116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"The total number of bits that can be manipulated as a single unit by the CPU."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6583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Not enough for the mark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891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"A group of bits." It needs the link to the CPU processing it as one unit.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Asked in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680960" y="2057400"/>
            <a:ext cx="1005840" cy="41148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2016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869680" y="2011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Q6(a)  State the meaning of byte and word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80960" y="3337560"/>
            <a:ext cx="1005840" cy="41148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2022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869680" y="3291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Q4(a)  State the meaning of "word"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80960" y="4617720"/>
            <a:ext cx="1005840" cy="41148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2024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4572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Q4(a)  Describe "word length"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Pairs: bit, byte or word?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7665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 pairs, 5 minutes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317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Open Bits and Bases, tab 2: Bit, byte or word?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Agree before you click: one go per card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Open the past paper check and compare your definitions with the mark scheme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38160" y="2011680"/>
            <a:ext cx="2926080" cy="41148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3017520"/>
            <a:ext cx="292608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Byte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38160" y="4023360"/>
            <a:ext cx="2926080" cy="41148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Word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5166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12 cards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Number systems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794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4.1.2 Binary, and hexadecimal as shorthand for binary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412480" y="2286000"/>
            <a:ext cx="2377440" cy="1280160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1011 0100 = 180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Same idea, three bases: place value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Denary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base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digits 0 to 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8960" y="19202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971800" y="15910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1000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21024" y="19202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483864" y="15910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33088" y="19202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995928" y="15910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45152" y="19202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07992" y="15910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8 × 1000 + 2 × 100 + 1 × 10 + 1 = 8211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30175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Binary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657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base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digits 0 and 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108960" y="352044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2971800" y="3191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128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547872" y="352044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3410712" y="3191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64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986784" y="352044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3849624" y="3191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425696" y="352044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4288536" y="3191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64608" y="352044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4727448" y="3191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303520" y="352044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5166360" y="3191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742432" y="352044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5605272" y="3191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181344" y="352044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6044184" y="3191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128 + 64 + 16 + 4 + 2 = 214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" y="4800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Hex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" y="5257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base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digits 0 to 9, A to F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3108960" y="51206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297180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4096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621024" y="51206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3483864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256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133088" y="51206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4" name="Text 41"/>
          <p:cNvSpPr txBox="1"/>
          <p:nvPr/>
        </p:nvSpPr>
        <p:spPr>
          <a:xfrm>
            <a:off x="3995928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16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645152" y="51206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000" dirty="0"/>
          </a:p>
        </p:txBody>
      </p:sp>
      <p:sp>
        <p:nvSpPr>
          <p:cNvPr id="46" name="Text 43"/>
          <p:cNvSpPr txBox="1"/>
          <p:nvPr/>
        </p:nvSpPr>
        <p:spPr>
          <a:xfrm>
            <a:off x="4507992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858000" y="5029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7 × 4096 + 10 × 256 + 1 × 16 + 9 = 31,257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Binary to denary: add the place values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22960" y="2011680"/>
            <a:ext cx="777240" cy="97155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82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128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09928" y="2011680"/>
            <a:ext cx="777240" cy="97155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572768" y="1682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64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96896" y="2011680"/>
            <a:ext cx="777240" cy="97155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2459736" y="1682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32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483864" y="2011680"/>
            <a:ext cx="777240" cy="97155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346704" y="1682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26864" y="2011680"/>
            <a:ext cx="777240" cy="97155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4489704" y="1682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8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13832" y="2011680"/>
            <a:ext cx="777240" cy="97155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5376672" y="1682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0" y="2011680"/>
            <a:ext cx="777240" cy="97155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1682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87768" y="2011680"/>
            <a:ext cx="777240" cy="97155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7150608" y="16824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3840480"/>
            <a:ext cx="7223760" cy="201168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41148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+ 32 + 16 + 4 = 180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49377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Only the columns holding a 1 count.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Quick fire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412480" y="2103120"/>
            <a:ext cx="32004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0000 1111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412480" y="3108960"/>
            <a:ext cx="32004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1000 0000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8412480" y="4114800"/>
            <a:ext cx="32004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1111 1111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Denary to binary: subtract the biggest place value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Convert 87 into an 8-bit binary number  (2017, Q7a)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309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2377440"/>
                <a:gridCol w="9144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Place value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Does it fit?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is left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128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87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64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87 − 64 = 23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8B8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32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23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23 − 16 = 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8B8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7 − 4 = 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8B8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3 − 2 = 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8B8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1 − 1 = 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8B8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40664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Read the bits down the table: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406640" y="2834640"/>
            <a:ext cx="438912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900416" y="2834640"/>
            <a:ext cx="438912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394192" y="2834640"/>
            <a:ext cx="438912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887968" y="2834640"/>
            <a:ext cx="438912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528048" y="2834640"/>
            <a:ext cx="438912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0021824" y="2834640"/>
            <a:ext cx="438912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0515600" y="2834640"/>
            <a:ext cx="438912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1009376" y="2834640"/>
            <a:ext cx="438912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7406640" y="4023360"/>
            <a:ext cx="4206240" cy="1737360"/>
          </a:xfrm>
          <a:prstGeom prst="roundRect">
            <a:avLst>
              <a:gd name="adj" fmla="val 631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635240" y="42062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Write all 8 bits. If the question says 8-bit, the leading 0 is part of the answer.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hexadecimal?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Orange on a web page, as 24 bits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1111 1111 1010 0101 0000 0000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same colour in hex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14800" y="2697480"/>
            <a:ext cx="822960" cy="594360"/>
          </a:xfrm>
          <a:prstGeom prst="roundRect">
            <a:avLst>
              <a:gd name="adj" fmla="val 12308"/>
            </a:avLst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FFA500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38404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Shorter: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hex digit replaces four bits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4572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Fewer mistakes: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Easier to read, copy and type than long binary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53035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Converts instantly: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Each digit maps straight to one nibble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417320"/>
          <a:ext cx="37490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02920"/>
                <a:gridCol w="841248"/>
                <a:gridCol w="457200"/>
                <a:gridCol w="502920"/>
                <a:gridCol w="89611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8C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Binary and hex: work in nibbles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Binary to hex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2606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72184" y="2606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335024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84248" y="2606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47088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496312" y="2606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359152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64992" y="2606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227832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8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77056" y="2606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3739896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389120" y="2606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4251960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01184" y="2606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4764024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63040" y="3657600"/>
            <a:ext cx="9144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3867912" y="3657600"/>
            <a:ext cx="9144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+ 2 + 1 = 11 = B      4 = 4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120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Split from the right. Pad the left with 0s if needed.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Hex to binary  (2016, Q6b)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178040" y="2286000"/>
            <a:ext cx="9144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9555480" y="2286000"/>
            <a:ext cx="9144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6629400" y="342900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141464" y="342900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7653528" y="342900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8165592" y="342900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034272" y="342900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9546336" y="342900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10058400" y="342900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10570464" y="342900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649224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= 0010      A = 10 = 1010</a:t>
            </a:r>
            <a:endParaRPr lang="en-US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6492240" y="5120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Every hex digit becomes exactly four bits.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Denary and hex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Denary to hex: divide by 16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40280"/>
          <a:ext cx="4846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Divide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Remainder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180 ÷ 16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11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28C28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11 ÷ 16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0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28C28"/>
                          </a:solidFill>
                        </a:rPr>
                        <a:t>11 = B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2296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Read the remainders from the bottom up: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434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= B4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Hex to denary  (2024, Q4b)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98080" y="2697480"/>
            <a:ext cx="91440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2368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16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595360" y="2697480"/>
            <a:ext cx="91440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8458200" y="23682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39776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× 16 = 112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14, 14 × 1 = 14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+ 14 = 126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5303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Stuck? Go via binary instead.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Pairs: target race on the bit board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7665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 pairs, 5 minutes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31720"/>
            <a:ext cx="6035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Open Bits and Bases, tab 1. Keep it on Unsigned, 8-bit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Press Give us a target, then flip bits to match it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Take turns: beat your partner's time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Finished? Switch to 16-bit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Target: B4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001000" y="2651760"/>
            <a:ext cx="3657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0" y="2651760"/>
            <a:ext cx="3657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23960" y="2651760"/>
            <a:ext cx="3657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235440" y="2651760"/>
            <a:ext cx="3657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747504" y="2651760"/>
            <a:ext cx="3657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158984" y="2651760"/>
            <a:ext cx="3657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570464" y="2651760"/>
            <a:ext cx="3657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981944" y="2651760"/>
            <a:ext cx="3657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Matched in 6.2 seconds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Negative numbers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794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4.4.2 Sign and magnitude, and two's complement, in a fixed-length store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183880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613648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043416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473184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985248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415016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844784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274552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3429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= −39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There is no minus key in binary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register only holds 0s and 1s. So how do we store −5?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291840" y="26060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3154680" y="22768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MSB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931920" y="26060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3794760" y="22768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26060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22768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0" y="26060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22768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53328" y="26060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916168" y="22768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93408" y="26060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556248" y="22768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33488" y="26060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7196328" y="22768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973568" y="26060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7836408" y="22768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LSB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+5</a:t>
            </a:r>
            <a:endParaRPr lang="en-US" sz="3000" dirty="0"/>
          </a:p>
        </p:txBody>
      </p:sp>
      <p:sp>
        <p:nvSpPr>
          <p:cNvPr id="22" name="Shape 19"/>
          <p:cNvSpPr/>
          <p:nvPr/>
        </p:nvSpPr>
        <p:spPr>
          <a:xfrm>
            <a:off x="548640" y="4206240"/>
            <a:ext cx="11064240" cy="1691640"/>
          </a:xfrm>
          <a:prstGeom prst="roundRect">
            <a:avLst>
              <a:gd name="adj" fmla="val 64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43891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idea: </a:t>
            </a:r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the most significant bit (MSB) to show the sign. 0 means positive, 1 means negative.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" y="5303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two methods do this in different ways: sign and magnitude, and two's complement.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Sign and magnitude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83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+39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828800" y="173736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4081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sign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359152" y="173736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221992" y="14081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64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889504" y="173736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752344" y="14081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32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19856" y="173736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282696" y="14081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16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50208" y="173736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813048" y="14081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8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80560" y="173736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343400" y="14081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10912" y="173736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4873752" y="14081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41264" y="173736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5404104" y="14081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28803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−39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1828800" y="283464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2359152" y="283464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889504" y="283464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419856" y="283464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3950208" y="283464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4480560" y="283464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010912" y="283464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541264" y="2834640"/>
            <a:ext cx="475488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1828800" y="3657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Only the sign bit changes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675120" y="1417320"/>
            <a:ext cx="4937760" cy="2606040"/>
          </a:xfrm>
          <a:prstGeom prst="roundRect">
            <a:avLst>
              <a:gd name="adj" fmla="val 421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94944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Easy to read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6949440" y="2011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Sign bit, then the magnitude as normal binary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6949440" y="2926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Range in 8 bits: −127 to +127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8680" y="4480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Two problems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Two zeros: 0000 0000 (+0) and 1000 0000 (−0) waste a pattern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Arithmetic is harder: adding +5 and −5 as binary does not give 0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Two's complement: the MSB is worth −128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22960" y="1874520"/>
            <a:ext cx="73152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545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−128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664208" y="1874520"/>
            <a:ext cx="7315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527048" y="1545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64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505456" y="1874520"/>
            <a:ext cx="7315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2368296" y="1545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32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346704" y="1874520"/>
            <a:ext cx="7315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3209544" y="1545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16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443984" y="1874520"/>
            <a:ext cx="7315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4306824" y="1545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8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285232" y="1874520"/>
            <a:ext cx="7315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5148072" y="1545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4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126480" y="1874520"/>
            <a:ext cx="73152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1545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967728" y="1874520"/>
            <a:ext cx="7315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830568" y="15453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1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3566160"/>
            <a:ext cx="7315200" cy="2331720"/>
          </a:xfrm>
          <a:prstGeom prst="roundRect">
            <a:avLst>
              <a:gd name="adj" fmla="val 470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37947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−128 + 64 + 16 + 8 + 1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44805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−39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52120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MSB 1 means negative. MSB 0 reads as normal binary.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8321040" y="1417320"/>
            <a:ext cx="32918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4964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One zero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0000 0000 only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8321040" y="2926080"/>
            <a:ext cx="32918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4964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Range in 8 bits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854964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−128 to +127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8321040" y="4434840"/>
            <a:ext cx="32918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49640" y="4572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Arithmetic works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549640" y="5029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Subtraction becomes addition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Denary to two's complement: flip and add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1600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Write +39 in 8 bits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480560" y="1463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992624" y="1463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504688" y="1463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16752" y="1463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702552" y="1463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214616" y="1463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726680" y="1463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38744" y="146304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Flip every bit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480560" y="269748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992624" y="269748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504688" y="269748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016752" y="269748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702552" y="269748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214616" y="269748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726680" y="269748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238744" y="269748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4069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Add 1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480560" y="393192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4992624" y="393192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504688" y="393192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016752" y="393192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702552" y="393192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214616" y="393192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7726680" y="393192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8238744" y="3931920"/>
            <a:ext cx="457200" cy="5715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120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Answer: −39 = 1101 1001</a:t>
            </a:r>
            <a:endParaRPr lang="en-US" sz="2400" dirty="0"/>
          </a:p>
        </p:txBody>
      </p:sp>
      <p:sp>
        <p:nvSpPr>
          <p:cNvPr id="35" name="Shape 32"/>
          <p:cNvSpPr/>
          <p:nvPr/>
        </p:nvSpPr>
        <p:spPr>
          <a:xfrm>
            <a:off x="8778240" y="1417320"/>
            <a:ext cx="2834640" cy="4480560"/>
          </a:xfrm>
          <a:prstGeom prst="roundRect">
            <a:avLst>
              <a:gd name="adj" fmla="val 387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006840" y="1600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Shortcut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9006840" y="2057400"/>
            <a:ext cx="2423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From the right, copy up to and including the first 1. Flip every bit to its left.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0010 0111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1101 1001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Accepted by the 2016 mark scheme.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Two's complement to denary: two routes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108960" y="16916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2971800" y="13624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−128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749040" y="16916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611880" y="13624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64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89120" y="16916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4251960" y="13624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32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6916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13624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70448" y="16916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733288" y="13624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8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10528" y="16916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373368" y="13624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50608" y="16916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3448" y="13624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90688" y="1691640"/>
            <a:ext cx="566928" cy="708660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7653528" y="13624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017520"/>
            <a:ext cx="539496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3200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Route A: use −128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3794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−128 + 64 + 32 + 4 + 1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−27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Fastest in the exam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17920" y="3017520"/>
            <a:ext cx="539496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3200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Route B: flip and add 1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37947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Flip:   0001 1010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1:  0001 1011 = 27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the number is −27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Good for checking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Comparing the two methods</a:t>
            </a:r>
            <a:endParaRPr lang="en-US" sz="3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3891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Sign and magnitude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Two's complement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</a:rPr>
                        <a:t>MSB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Sign only (0 = +, 1 = −)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Worth −128 (in 8 bits)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</a:rPr>
                        <a:t>Zero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Two zeros: +0 and −0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One zero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</a:rPr>
                        <a:t>Range, 8 bits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−127 to +127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−128 to +127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</a:rPr>
                        <a:t>Range, n bits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−(2^(n−1) − 1) to 2^(n−1) − 1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−2^(n−1) to 2^(n−1) − 1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</a:rPr>
                        <a:t>Arithmetic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Harder: needs extra rules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Simple: subtraction is done by adding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213D"/>
                          </a:solidFill>
                        </a:rPr>
                        <a:t>Used in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Rarely, easy to explain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</a:rPr>
                        <a:t>Almost every modern CPU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Mini whiteboards: check yourself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645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Write −20 in 8-bit sign and magnitude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29184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31089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Write −20 in 8-bit two's complement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438912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75488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572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What does 1000 0001 mean as unsigned, sign and magnitude, and two's complement?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Check yourself: answers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Sign and magnitude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846320" y="137160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03520" y="137160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760720" y="137160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217920" y="137160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812280" y="137160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269480" y="137160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726680" y="137160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183880" y="137160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514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Two's complement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846320" y="242316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303520" y="242316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5760720" y="242316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217920" y="242316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812280" y="242316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7269480" y="242316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726680" y="242316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183880" y="242316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886968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+20 = 0001 0100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flip, then add 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Same bits, three meanings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846320" y="352044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5303520" y="352044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5760720" y="352044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6217920" y="352044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31" name="Text 28"/>
          <p:cNvSpPr/>
          <p:nvPr/>
        </p:nvSpPr>
        <p:spPr>
          <a:xfrm>
            <a:off x="6812280" y="352044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32" name="Text 29"/>
          <p:cNvSpPr/>
          <p:nvPr/>
        </p:nvSpPr>
        <p:spPr>
          <a:xfrm>
            <a:off x="7269480" y="352044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7726680" y="352044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8183880" y="3520440"/>
            <a:ext cx="411480" cy="51435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00" dirty="0"/>
          </a:p>
        </p:txBody>
      </p:sp>
      <p:sp>
        <p:nvSpPr>
          <p:cNvPr id="35" name="Shape 32"/>
          <p:cNvSpPr/>
          <p:nvPr/>
        </p:nvSpPr>
        <p:spPr>
          <a:xfrm>
            <a:off x="548640" y="452628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Unsigned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+ 1 = 129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4297680" y="452628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2628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Sign and magnitude</a:t>
            </a:r>
            <a:endParaRPr lang="en-US" sz="1700" dirty="0"/>
          </a:p>
        </p:txBody>
      </p:sp>
      <p:sp>
        <p:nvSpPr>
          <p:cNvPr id="40" name="Text 37"/>
          <p:cNvSpPr txBox="1"/>
          <p:nvPr/>
        </p:nvSpPr>
        <p:spPr>
          <a:xfrm>
            <a:off x="452628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</a:t>
            </a:r>
            <a:endParaRPr lang="en-US" sz="2400" dirty="0"/>
          </a:p>
        </p:txBody>
      </p:sp>
      <p:sp>
        <p:nvSpPr>
          <p:cNvPr id="41" name="Shape 38"/>
          <p:cNvSpPr/>
          <p:nvPr/>
        </p:nvSpPr>
        <p:spPr>
          <a:xfrm>
            <a:off x="8046720" y="452628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Two's complement</a:t>
            </a:r>
            <a:endParaRPr lang="en-US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827532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−128 + 1 = −127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Pairs: conversion practice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7665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 pairs, 20 minutes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31720"/>
            <a:ext cx="6035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Open Bits and Bases, tab 3, on Exam level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Driver types, navigator explains the method out loud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Swap roles after every question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9 or 10 first time? Tick more types or move to Stretch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448056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Finished early?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2024, Q4(b) (part)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Convert the denary number 27 and the hexadecimal number 7E into two 8-bit binary numbers.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800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Show all of your working.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Quiz: Microsoft Forms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91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On your own, no notes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Open the Topic 4 Lesson 1 quiz from the Teams channel. Work out each answer on paper first, then choose.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4846320"/>
            <a:ext cx="3474720" cy="41148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Bit, byte, word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297680" y="4846320"/>
            <a:ext cx="3474720" cy="41148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Conversions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0" y="4846320"/>
            <a:ext cx="347472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Negative numbers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Exit question  (2016, Q6c)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201168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916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Using an example, describe two's complementation in an 8 bit register.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1691640"/>
            <a:ext cx="82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[2]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To get both marks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4343400"/>
            <a:ext cx="53949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4632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4572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Method
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Say what you do to the bits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0" y="4343400"/>
            <a:ext cx="53949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484632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4572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Example
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Show a full 8-bit before and after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terms and homework</a:t>
            </a:r>
            <a:endParaRPr lang="en-US" sz="3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8521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8346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English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Cymraeg (draft)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Did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Byte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Beit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Word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Gair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Binary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Deuaidd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Denary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Degol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Hexadecimal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Hecsadegol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Place value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Gwerth lle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Sign and magnitude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Arwydd a maint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Two's complement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Cyflenwad dau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858000" y="1417320"/>
            <a:ext cx="4754880" cy="2788920"/>
          </a:xfrm>
          <a:prstGeom prst="roundRect">
            <a:avLst>
              <a:gd name="adj" fmla="val 393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13232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Homework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7132320" y="210312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Two rounds of Conversion practice with every type ticked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Complete the exam practice sheet on Teams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6858000" y="4434840"/>
            <a:ext cx="4754880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0" y="4572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Next lesson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4983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Binary arithmetic, shifts, overflow, truncation and rounding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VC CS Navy Teal">
  <a:themeElements>
    <a:clrScheme name="CAVC CS Navy Teal">
      <a:dk1>
        <a:srgbClr val="14213D"/>
      </a:dk1>
      <a:lt1>
        <a:srgbClr val="FFFFFF"/>
      </a:lt1>
      <a:dk2>
        <a:srgbClr val="22335A"/>
      </a:dk2>
      <a:lt2>
        <a:srgbClr val="EEF3F8"/>
      </a:lt2>
      <a:accent1>
        <a:srgbClr val="0F8B8D"/>
      </a:accent1>
      <a:accent2>
        <a:srgbClr val="F28C28"/>
      </a:accent2>
      <a:accent3>
        <a:srgbClr val="D6EFEF"/>
      </a:accent3>
      <a:accent4>
        <a:srgbClr val="1E8A4C"/>
      </a:accent4>
      <a:accent5>
        <a:srgbClr val="C0392B"/>
      </a:accent5>
      <a:accent6>
        <a:srgbClr val="5A667A"/>
      </a:accent6>
      <a:hlink>
        <a:srgbClr val="0F8B8D"/>
      </a:hlink>
      <a:folHlink>
        <a:srgbClr val="22335A"/>
      </a:folHlink>
    </a:clrScheme>
    <a:fontScheme name="CAVC CS Navy Te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4 Lesson 1: Bits, bases and negative numbers</dc:title>
  <dc:subject>PptxGenJS Presentation</dc:subject>
  <dc:creator>Aled Evans</dc:creator>
  <cp:lastModifiedBy>Aled Evans</cp:lastModifiedBy>
  <cp:revision>1</cp:revision>
  <dcterms:created xsi:type="dcterms:W3CDTF">2026-10-09T07:42:24Z</dcterms:created>
  <dcterms:modified xsi:type="dcterms:W3CDTF">2026-10-09T07:42:24Z</dcterms:modified>
</cp:coreProperties>
</file>