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65A104-C33B-446B-808B-F93AB5624230}" v="4" dt="2026-09-22T16:03:34.8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d Evans" userId="6f7e106d-40fd-400d-8500-fbffefdddad3" providerId="ADAL" clId="{9C50400A-926F-4AC1-BAF0-09988A1F867F}"/>
    <pc:docChg chg="modSld">
      <pc:chgData name="Aled Evans" userId="6f7e106d-40fd-400d-8500-fbffefdddad3" providerId="ADAL" clId="{9C50400A-926F-4AC1-BAF0-09988A1F867F}" dt="2026-09-22T16:03:34.871" v="5" actId="20577"/>
      <pc:docMkLst>
        <pc:docMk/>
      </pc:docMkLst>
      <pc:sldChg chg="modSp mod">
        <pc:chgData name="Aled Evans" userId="6f7e106d-40fd-400d-8500-fbffefdddad3" providerId="ADAL" clId="{9C50400A-926F-4AC1-BAF0-09988A1F867F}" dt="2026-09-22T16:03:34.871" v="5" actId="20577"/>
        <pc:sldMkLst>
          <pc:docMk/>
          <pc:sldMk cId="0" sldId="272"/>
        </pc:sldMkLst>
        <pc:spChg chg="mod">
          <ac:chgData name="Aled Evans" userId="6f7e106d-40fd-400d-8500-fbffefdddad3" providerId="ADAL" clId="{9C50400A-926F-4AC1-BAF0-09988A1F867F}" dt="2026-09-22T16:03:34.871" v="5" actId="20577"/>
          <ac:spMkLst>
            <pc:docMk/>
            <pc:sldMk cId="0" sldId="272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271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607040" y="448056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COMPUTER SCIENCE  ·  UNIT 1  ·  TOPIC 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Operations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375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1: Truth Tables &amp; Notation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381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822960" y="4343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AND, OR, NOT &amp; XOR to building your own truth tables from scratch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lesson, you will be able to…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3736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correct Boolean notation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11226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apply the order of operations: brackets → NOT → AND → OR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8986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45720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85292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truth tables for AND, OR, NOT and XOR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2278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systematic method, always working from 00 through to 11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401421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457200" y="4014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9684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truth tables with three or more inputs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434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2^n rule to work out how many rows you need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5129784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457200" y="51297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08406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completed truth table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4589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write the simplest Boolean expression it represents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1: Truth Tables &amp; Notation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switches, one bulb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circuit only has ONE path from the battery to the bulb — the current has to pass through both switches.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4754880" cy="0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88720" y="2487168"/>
            <a:ext cx="822960" cy="512064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1188720" y="2487168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017520" y="2487168"/>
            <a:ext cx="822960" cy="512064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3017520" y="2487168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92040" y="2377440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4892040" y="31272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bulb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1148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for every combination of switch A and switch B being ON or OFF, does the bulb light up?</a:t>
            </a:r>
            <a:endParaRPr lang="en-US" sz="13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417320"/>
          <a:ext cx="4480560" cy="25146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Bulb?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1: Truth Tables &amp; Notation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— DEBRIEF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Series and parallel → AND and 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CIRCUIT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switches must be ON for current to flow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" y="2606040"/>
            <a:ext cx="914400" cy="9144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777240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2834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. B — true only when A = 1 AND B = 1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749040"/>
          <a:ext cx="4114800" cy="2057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92240" y="155448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 txBox="1"/>
          <p:nvPr/>
        </p:nvSpPr>
        <p:spPr>
          <a:xfrm>
            <a:off x="681228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CIRCUIT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81228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switch being ON is enough for current to flow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812280" y="26060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 txBox="1"/>
          <p:nvPr/>
        </p:nvSpPr>
        <p:spPr>
          <a:xfrm>
            <a:off x="6812280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955280" y="2834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+ B — true when A = 1 OR B = 1 (or both)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3749040"/>
          <a:ext cx="4114800" cy="2057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A+B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1: Truth Tables &amp; Notation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TEACH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Boolean notation you need to know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0789920" cy="29718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. B  (or AB)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only when both A and B are true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+ 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when at least one of A or B is true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Ā   (or ¬A)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Reverses the value of 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⊕ 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when A and B are different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70916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3"/>
          <p:cNvSpPr txBox="1"/>
          <p:nvPr/>
        </p:nvSpPr>
        <p:spPr>
          <a:xfrm>
            <a:off x="777240" y="4892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OF OPERATIONS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519379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Brackets  →  NOT  →  AND  →  OR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623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like BIDMAS: AND behaves like ×, OR behaves like +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1: Truth Tables &amp; Notation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TEACH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practice: always start at 00, end at 11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filling in any values, list every combination of inputs in order — this way you never miss a row or repeat one. It's the same pattern as counting in binary: 00, 01, 10, 11.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3291840" cy="21945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931920" y="27706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start here</a:t>
            </a:r>
            <a:endParaRPr lang="en-US" sz="1300" dirty="0"/>
          </a:p>
        </p:txBody>
      </p:sp>
      <p:sp>
        <p:nvSpPr>
          <p:cNvPr id="5" name="Text 4"/>
          <p:cNvSpPr txBox="1"/>
          <p:nvPr/>
        </p:nvSpPr>
        <p:spPr>
          <a:xfrm>
            <a:off x="3931920" y="4041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end here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470916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EAF3F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 txBox="1"/>
          <p:nvPr/>
        </p:nvSpPr>
        <p:spPr>
          <a:xfrm>
            <a:off x="777240" y="4892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later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519379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you're building tables with 3 inputs and no columns given, this habit is what stops you from missing a row on an exam question — it becomes 000, 001, 010, 011, 100, 101, 110, 111.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1: Truth Tables &amp; Notation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TASK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truth table for A AND B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8346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each row systematically (00 → 11). Ask yourself: are BOTH inputs 1?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table on your whiteboard/worksheet before checking.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965960"/>
          <a:ext cx="4389120" cy="25146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5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1: Truth Tables &amp; Notation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TASK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truth table for A OR B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8346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systematic order. Ask yourself: is AT LEAST ONE input 1?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965960"/>
          <a:ext cx="4389120" cy="25146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A+B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1: Truth Tables &amp; Notation</a:t>
            </a:r>
            <a:endParaRPr lang="en-US" sz="900" dirty="0"/>
          </a:p>
        </p:txBody>
      </p:sp>
      <p:sp>
        <p:nvSpPr>
          <p:cNvPr id="7" name="Text 6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TASK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truth table for NOT A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8346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only takes ONE input, so you only need 2 rows, not 4.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NOT do to each value?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965960"/>
          <a:ext cx="4114800" cy="15087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Ā (NOT A)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1: Truth Tables &amp; Notation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TASK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6D4C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truth table for A XOR B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8346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means “exclusive or.” Ask yourself: are A and B DIFFERENT from each other?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965960"/>
          <a:ext cx="4389120" cy="25146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A⊕B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1: Truth Tables &amp; Notation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Answers: the four core operators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" cy="320040"/>
          </a:xfrm>
          <a:prstGeom prst="roundRect">
            <a:avLst>
              <a:gd name="adj" fmla="val 17143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4297680" cy="19202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309360" y="1508760"/>
            <a:ext cx="822960" cy="320040"/>
          </a:xfrm>
          <a:prstGeom prst="roundRect">
            <a:avLst>
              <a:gd name="adj" fmla="val 17143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 txBox="1"/>
          <p:nvPr/>
        </p:nvSpPr>
        <p:spPr>
          <a:xfrm>
            <a:off x="6309360" y="15087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1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920240"/>
          <a:ext cx="4297680" cy="19202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A+B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4069080"/>
            <a:ext cx="822960" cy="320040"/>
          </a:xfrm>
          <a:prstGeom prst="roundRect">
            <a:avLst>
              <a:gd name="adj" fmla="val 17143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7"/>
          <p:cNvSpPr txBox="1"/>
          <p:nvPr/>
        </p:nvSpPr>
        <p:spPr>
          <a:xfrm>
            <a:off x="457200" y="4069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11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480560"/>
          <a:ext cx="3017520" cy="1042416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6309360" y="4069080"/>
            <a:ext cx="822960" cy="320040"/>
          </a:xfrm>
          <a:prstGeom prst="roundRect">
            <a:avLst>
              <a:gd name="adj" fmla="val 17143"/>
            </a:avLst>
          </a:prstGeom>
          <a:solidFill>
            <a:srgbClr val="6D4C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9"/>
          <p:cNvSpPr txBox="1"/>
          <p:nvPr/>
        </p:nvSpPr>
        <p:spPr>
          <a:xfrm>
            <a:off x="6309360" y="4069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</a:t>
            </a:r>
            <a:endParaRPr lang="en-US" sz="1100" dirty="0"/>
          </a:p>
        </p:txBody>
      </p:sp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4480560"/>
          <a:ext cx="4297680" cy="17373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A⊕B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 10"/>
          <p:cNvSpPr txBox="1"/>
          <p:nvPr/>
        </p:nvSpPr>
        <p:spPr>
          <a:xfrm>
            <a:off x="457200" y="6272784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slide handy — you'll use these four tables constantly for the rest of the topic.</a:t>
            </a:r>
            <a:endParaRPr lang="en-US" sz="1050" dirty="0"/>
          </a:p>
        </p:txBody>
      </p:sp>
      <p:sp>
        <p:nvSpPr>
          <p:cNvPr id="17" name="Text 11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1: Truth Tables &amp; Notation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120640" y="1737360"/>
            <a:ext cx="1645920" cy="16459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5120640" y="17373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6576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time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448056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truth table multiple choice quiz before we move on — AND, OR, NOT and XOR.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1: Truth Tables &amp; Notation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TEACH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up: how many rows do you need?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rows in a truth table depends on how many inputs there are.</a:t>
            </a:r>
            <a:endParaRPr lang="en-US" sz="14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4389120" cy="25146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Inputs (n)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(2^n)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303520" y="1965960"/>
            <a:ext cx="630936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 txBox="1"/>
          <p:nvPr/>
        </p:nvSpPr>
        <p:spPr>
          <a:xfrm>
            <a:off x="5623560" y="21762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INPUTS → 8 ROWS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623560" y="248716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same 00→11 habit to three variables — count in binary from 000 to 111:</a:t>
            </a:r>
            <a:endParaRPr lang="en-US" sz="125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3063240"/>
          <a:ext cx="4663440" cy="3127248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1: Truth Tables &amp; Notation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TASK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SCAFFOLDED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this 3-input table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432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left to right, one column at a time. Use the operator tables from earlier if you need reminding.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. B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 (A . B) + C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783080"/>
          <a:ext cx="5760720" cy="3621024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(A.B)+C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1: Truth Tables &amp; Notation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TASK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UNAIDED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build these completely from scratch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88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columns are given this time. Decide your own working order using the precedence rules, and remember: 8 rows, starting at 000.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35661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45720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3538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A ⊕ B + C.(A + B)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a genuine WJEC/Eduqas exam question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4805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45720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44531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(A + C) . (B ⊕ C)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5394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457200" y="5394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53675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= Ā . (B + C)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stretch: try it without writing out Ā as a separate column first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1: Truth Tables &amp; Notation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TEACH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reverse skill: table → expression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you're given a completed truth table and asked for the simplest Boolean expression. Use the “Find the 1s” method: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685800" y="2551176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685800" y="255117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441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1s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8346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only at the rows where the output is 1 — ignore every row where it's 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685800" y="3785616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685800" y="378561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6758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term per row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40690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of those rows, AND the inputs together — use the letter if it's 1, NOT the letter if it's 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80060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685800" y="5020056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685800" y="502005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910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the terms together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53035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all your terms with OR — that's your expression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1: Truth Tables &amp; Notation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Applying “Find the 1s”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4480560" cy="25146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120640" y="1691640"/>
            <a:ext cx="6583680" cy="4206240"/>
          </a:xfrm>
          <a:prstGeom prst="roundRect">
            <a:avLst>
              <a:gd name="adj" fmla="val 1739"/>
            </a:avLst>
          </a:prstGeom>
          <a:solidFill>
            <a:srgbClr val="EAF3F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 txBox="1"/>
          <p:nvPr/>
        </p:nvSpPr>
        <p:spPr>
          <a:xfrm>
            <a:off x="5440680" y="1920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1 on two rows: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40680" y="23317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Row: A = 0, B = 1  →  Ā . B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40680" y="26974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Row: A = 1, B = 0  →  A . B̄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40680" y="32004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the two terms together: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7"/>
              <p:cNvSpPr txBox="1"/>
              <p:nvPr/>
            </p:nvSpPr>
            <p:spPr>
              <a:xfrm>
                <a:off x="5440680" y="3611880"/>
                <a:ext cx="5943600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600" b="1" dirty="0">
                    <a:solidFill>
                      <a:srgbClr val="1B2A4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Ā.B + A.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sz="2600" b="1" i="1" smtClean="0">
                            <a:solidFill>
                              <a:srgbClr val="1B2A4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accPr>
                      <m:e>
                        <m:r>
                          <a:rPr lang="en-GB" sz="2600" b="1" i="1" smtClean="0">
                            <a:solidFill>
                              <a:srgbClr val="1B2A4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𝑩</m:t>
                        </m:r>
                      </m:e>
                    </m:acc>
                  </m:oMath>
                </a14:m>
                <a:endParaRPr lang="en-US" sz="2600" dirty="0"/>
              </a:p>
            </p:txBody>
          </p:sp>
        </mc:Choice>
        <mc:Fallback>
          <p:sp>
            <p:nvSpPr>
              <p:cNvPr id="10" name="Tex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0680" y="3611880"/>
                <a:ext cx="5943600" cy="548640"/>
              </a:xfrm>
              <a:prstGeom prst="rect">
                <a:avLst/>
              </a:prstGeom>
              <a:blipFill>
                <a:blip r:embed="rId3"/>
                <a:stretch>
                  <a:fillRect l="-3385" t="-7778" b="-20000"/>
                </a:stretch>
              </a:blipFill>
              <a:ln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8"/>
          <p:cNvSpPr txBox="1"/>
          <p:nvPr/>
        </p:nvSpPr>
        <p:spPr>
          <a:xfrm>
            <a:off x="5440680" y="42976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(This is the same pattern as XOR — worth noticing!)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1: Truth Tables &amp; Notation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PRACTICE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turn: find the expression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3108960" cy="22860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43484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2</a:t>
            </a:r>
            <a:endParaRPr lang="en-US" sz="14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920240"/>
          <a:ext cx="3108960" cy="22860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841248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3</a:t>
            </a:r>
            <a:endParaRPr lang="en-US" sz="1400" dirty="0"/>
          </a:p>
        </p:txBody>
      </p:sp>
      <p:graphicFrame>
        <p:nvGraphicFramePr>
          <p:cNvPr id="5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0" y="1920240"/>
          <a:ext cx="3108960" cy="22860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457200" y="45720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table: find the 1s, write a term per row, OR them together. One of these should simplify to something you already recognise — which operator is it?</a:t>
            </a:r>
            <a:endParaRPr lang="en-US" sz="1350" dirty="0"/>
          </a:p>
        </p:txBody>
      </p:sp>
      <p:sp>
        <p:nvSpPr>
          <p:cNvPr id="11" name="Text 6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1: Truth Tables &amp; Notation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have we covered today?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6479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5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notation and order of operations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64008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45059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5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tables for AND, OR, NOT and XOR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64008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13639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5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2^n rule for scaling up to more inputs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82219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5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3-input tables completely from scratch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526280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64008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50799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5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“Find the 1s” — reading a table back into an expression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5760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masking, clearing registers, and the Boolean identity laws.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1: Truth Tables &amp; Notation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POST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summary &amp; key vocabulary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OBJECTIVES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Boolean notation &amp; order of operations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Truth tables for AND, OR, NOT, XOR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Scaling up with the 2^n rule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Finding an expression from a completed table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931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251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independent practice tasks if not completed in class.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6583680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 (EN / CY)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212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table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052560" y="22128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[verify – Y Termiadur Addysg]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715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operator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27157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[verify – Y Termiadur Addysg]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218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expression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0" y="32186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[verify – Y Termiadur Addysg]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37216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/ OR / NOT / XOR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37216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[verify – Y Termiadur Addysg]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436168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Welsh terms are placeholders — confirm against Y Termiadur Addysg before posting.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1: Truth Tables &amp; Notation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1816</Words>
  <Application>Microsoft Office PowerPoint</Application>
  <PresentationFormat>Widescreen</PresentationFormat>
  <Paragraphs>500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Aled Evans</cp:lastModifiedBy>
  <cp:revision>1</cp:revision>
  <dcterms:created xsi:type="dcterms:W3CDTF">2026-09-22T15:46:23Z</dcterms:created>
  <dcterms:modified xsi:type="dcterms:W3CDTF">2026-09-22T16:03:40Z</dcterms:modified>
</cp:coreProperties>
</file>