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5cb77ca-2735-8bac-c54f-bfd718babce8}">
          <p14:sldIdLst>
            <p14:sldId id="256"/>
            <p14:sldId id="257"/>
            <p14:sldId id="258"/>
            <p14:sldId id="259"/>
            <p14:sldId id="260"/>
            <p14:sldId id="261"/>
          </p14:sldIdLst>
        </p14:section>
        <p14:section name="Multiplexing and switching" id="{8c1631a9-994b-03c4-c5b3-530327dbb21a}">
          <p14:sldIdLst>
            <p14:sldId id="262"/>
            <p14:sldId id="263"/>
            <p14:sldId id="264"/>
            <p14:sldId id="265"/>
            <p14:sldId id="266"/>
            <p14:sldId id="267"/>
            <p14:sldId id="268"/>
          </p14:sldIdLst>
        </p14:section>
        <p14:section name="Packet contents" id="{5fa01124-4e92-b979-ab3a-12e18734bdc7}">
          <p14:sldIdLst>
            <p14:sldId id="269"/>
            <p14:sldId id="270"/>
            <p14:sldId id="271"/>
            <p14:sldId id="272"/>
            <p14:sldId id="273"/>
            <p14:sldId id="274"/>
            <p14:sldId id="275"/>
          </p14:sldIdLst>
        </p14:section>
        <p14:section name="Routing" id="{418cf0eb-a753-dd2b-a3fe-c3ab162156a2}">
          <p14:sldIdLst>
            <p14:sldId id="276"/>
            <p14:sldId id="277"/>
            <p14:sldId id="278"/>
            <p14:sldId id="279"/>
            <p14:sldId id="280"/>
            <p14:sldId id="281"/>
          </p14:sldIdLst>
        </p14:section>
        <p14:section name="Collisions" id="{5fbc47a0-0604-3faf-e065-2892bc8fe094}">
          <p14:sldIdLst>
            <p14:sldId id="282"/>
            <p14:sldId id="283"/>
            <p14:sldId id="284"/>
            <p14:sldId id="285"/>
            <p14:sldId id="286"/>
            <p14:sldId id="287"/>
          </p14:sldIdLst>
        </p14:section>
        <p14:section name="Check and plenary" id="{19e9c6b4-c030-ea12-5e8e-7072aeedc440}">
          <p14:sldIdLst>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 of 3 on Topic 3 (spec 3.1.3, 3.2.1, 3.2.2, 3.2.3). Lesson 3 is consolidation and a full past-paper session, so today is about understanding each stage; the heavy exam rehearsal comes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Welsh terms. Least certain: Switsio (switching), Llwyth (payload), Swm gwirio (checksum). Verify before the Teams post.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lesson map. Return to it at each 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2022 mark scheme wording: several independent data sources combined, to be sent along a single route to a specific destination. Students need both parts for 2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the spec says "explain the need", and the types have never been examined. Mention in passing that fibre uses wavelength division (different colours of light) and mobile networks use code division.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notes claim packet switching is secure because transfers are hard to intercept. Avoid this: packets can be intercepted, which is why encryption is used. Stick to reliability and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is a preview: the routing interactive later goes into routing tables and reassembly in more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2024 scheme (Q2a) credited field names alone, but the 2022 scheme said no credit for a list. Always teach field + purpose: it earns the marks under either scheme.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across, then down. These six steps match the 2025 Q3(c) mark scheme almost exactly. Steps 5 and 6 are the ones students most often leave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collision demo from the front after this slide: first with a fixed wait (repeated collisions), then a random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the message is split into packets, each with a header holding the source and destination addresses and a sequence number. Routers use routing tables to send each packet along the best available path, so packets may take different routes. If two devices transmit on a shared cable at once, the collision is detected and each waits a random time before resending. At the destination, the checksum is used to check each packet, the packets are reassembled in order, and any missing packet is requested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788920"/>
            <a:ext cx="8046720" cy="91440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8046720" cy="10058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2697480"/>
            <a:ext cx="8046720" cy="82296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4"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chemeClr val="bg1"/>
                </a:solidFill>
              </a:rPr>
              <a:t>AS Computer Science  |  Unit 1 Topic 3  |  Lesson 2</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chemeClr val="accent6"/>
                </a:solidFill>
              </a:rPr>
              <a:t>AS Computer Science  |  Unit 1 Topic 3  |  Lesson 2</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ASK">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035040"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chemeClr val="accent6"/>
                </a:solidFill>
              </a:rPr>
              <a:t>AS Computer Science  |  Unit 1 Topic 3  |  Lesson 2</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5.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5.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5.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5.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5.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5.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5.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5.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5.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5.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lIns="0" tIns="0" rIns="0" bIns="0" rtlCol="0" anchor="b"/>
          <a:lstStyle/>
          <a:p>
            <a:pPr algn="l" indent="0" marL="0">
              <a:buNone/>
            </a:pPr>
            <a:r>
              <a:rPr lang="en-US" sz="4000" b="1" dirty="0">
                <a:solidFill>
                  <a:schemeClr val="bg1"/>
                </a:solidFill>
              </a:rPr>
              <a:t>The journey of a packet</a:t>
            </a:r>
            <a:endParaRPr lang="en-US" sz="4000" dirty="0"/>
          </a:p>
        </p:txBody>
      </p:sp>
      <p:sp>
        <p:nvSpPr>
          <p:cNvPr id="3" name="Text 0"/>
          <p:cNvSpPr/>
          <p:nvPr>
            <p:ph idx="101" type="body" hasCustomPrompt="1"/>
          </p:nvPr>
        </p:nvSpPr>
        <p:spPr>
          <a:xfrm>
            <a:off x="548640" y="2788920"/>
            <a:ext cx="8046720" cy="914400"/>
          </a:xfrm>
          <a:prstGeom prst="rect">
            <a:avLst/>
          </a:prstGeom>
          <a:noFill/>
          <a:ln/>
        </p:spPr>
        <p:txBody>
          <a:bodyPr wrap="square" lIns="0" tIns="0" rIns="0" bIns="0" rtlCol="0" anchor="t"/>
          <a:lstStyle/>
          <a:p>
            <a:pPr indent="0" marL="0">
              <a:buNone/>
            </a:pPr>
            <a:r>
              <a:rPr lang="en-US" sz="1800" dirty="0">
                <a:solidFill>
                  <a:schemeClr val="accent6"/>
                </a:solidFill>
              </a:rPr>
              <a:t>Topic 3: Data transmission  |  Lesson 2 of 3</a:t>
            </a:r>
            <a:endParaRPr lang="en-US" sz="1800" dirty="0"/>
          </a:p>
          <a:p>
            <a:pPr indent="0" marL="0">
              <a:buNone/>
            </a:pPr>
            <a:r>
              <a:rPr lang="en-US" sz="1800" dirty="0">
                <a:solidFill>
                  <a:schemeClr val="accent6"/>
                </a:solidFill>
              </a:rPr>
              <a:t>Multiplexing and switching  |  Packets  |  Routing  |  Collisions</a:t>
            </a:r>
            <a:endParaRPr lang="en-US" sz="1800" dirty="0"/>
          </a:p>
        </p:txBody>
      </p:sp>
      <p:sp>
        <p:nvSpPr>
          <p:cNvPr id="4" name="Shape 2"/>
          <p:cNvSpPr/>
          <p:nvPr/>
        </p:nvSpPr>
        <p:spPr>
          <a:xfrm flipV="1">
            <a:off x="5669280" y="320040"/>
            <a:ext cx="914400" cy="182880"/>
          </a:xfrm>
          <a:prstGeom prst="line">
            <a:avLst/>
          </a:prstGeom>
          <a:noFill/>
          <a:ln w="15875">
            <a:solidFill>
              <a:schemeClr val="accent6"/>
            </a:solidFill>
            <a:prstDash val="solid"/>
          </a:ln>
        </p:spPr>
      </p:sp>
      <p:sp>
        <p:nvSpPr>
          <p:cNvPr id="5" name="Shape 3"/>
          <p:cNvSpPr/>
          <p:nvPr/>
        </p:nvSpPr>
        <p:spPr>
          <a:xfrm>
            <a:off x="5669280" y="502920"/>
            <a:ext cx="1097280" cy="457200"/>
          </a:xfrm>
          <a:prstGeom prst="line">
            <a:avLst/>
          </a:prstGeom>
          <a:noFill/>
          <a:ln w="15875">
            <a:solidFill>
              <a:schemeClr val="accent6"/>
            </a:solidFill>
            <a:prstDash val="solid"/>
          </a:ln>
        </p:spPr>
      </p:sp>
      <p:sp>
        <p:nvSpPr>
          <p:cNvPr id="6" name="Shape 4"/>
          <p:cNvSpPr/>
          <p:nvPr/>
        </p:nvSpPr>
        <p:spPr>
          <a:xfrm>
            <a:off x="6583680" y="320040"/>
            <a:ext cx="1097280" cy="228600"/>
          </a:xfrm>
          <a:prstGeom prst="line">
            <a:avLst/>
          </a:prstGeom>
          <a:noFill/>
          <a:ln w="15875">
            <a:solidFill>
              <a:schemeClr val="accent6"/>
            </a:solidFill>
            <a:prstDash val="solid"/>
          </a:ln>
        </p:spPr>
      </p:sp>
      <p:sp>
        <p:nvSpPr>
          <p:cNvPr id="7" name="Shape 5"/>
          <p:cNvSpPr/>
          <p:nvPr/>
        </p:nvSpPr>
        <p:spPr>
          <a:xfrm flipV="1">
            <a:off x="6766560" y="548640"/>
            <a:ext cx="914400" cy="411480"/>
          </a:xfrm>
          <a:prstGeom prst="line">
            <a:avLst/>
          </a:prstGeom>
          <a:noFill/>
          <a:ln w="15875">
            <a:solidFill>
              <a:schemeClr val="accent6"/>
            </a:solidFill>
            <a:prstDash val="solid"/>
          </a:ln>
        </p:spPr>
      </p:sp>
      <p:sp>
        <p:nvSpPr>
          <p:cNvPr id="8" name="Shape 6"/>
          <p:cNvSpPr/>
          <p:nvPr/>
        </p:nvSpPr>
        <p:spPr>
          <a:xfrm>
            <a:off x="7680960" y="548640"/>
            <a:ext cx="731520" cy="320040"/>
          </a:xfrm>
          <a:prstGeom prst="line">
            <a:avLst/>
          </a:prstGeom>
          <a:noFill/>
          <a:ln w="15875">
            <a:solidFill>
              <a:schemeClr val="accent6"/>
            </a:solidFill>
            <a:prstDash val="solid"/>
          </a:ln>
        </p:spPr>
      </p:sp>
      <p:sp>
        <p:nvSpPr>
          <p:cNvPr id="9" name="Shape 7"/>
          <p:cNvSpPr/>
          <p:nvPr/>
        </p:nvSpPr>
        <p:spPr>
          <a:xfrm flipV="1">
            <a:off x="6766560" y="868680"/>
            <a:ext cx="1645920" cy="91440"/>
          </a:xfrm>
          <a:prstGeom prst="line">
            <a:avLst/>
          </a:prstGeom>
          <a:noFill/>
          <a:ln w="15875">
            <a:solidFill>
              <a:schemeClr val="accent6"/>
            </a:solidFill>
            <a:prstDash val="solid"/>
          </a:ln>
        </p:spPr>
      </p:sp>
      <p:sp>
        <p:nvSpPr>
          <p:cNvPr id="10" name="Shape 8"/>
          <p:cNvSpPr/>
          <p:nvPr/>
        </p:nvSpPr>
        <p:spPr>
          <a:xfrm>
            <a:off x="5586984" y="420624"/>
            <a:ext cx="164592" cy="164592"/>
          </a:xfrm>
          <a:prstGeom prst="ellipse">
            <a:avLst/>
          </a:prstGeom>
          <a:solidFill>
            <a:schemeClr val="accent2"/>
          </a:solidFill>
          <a:ln w="12700">
            <a:solidFill>
              <a:schemeClr val="tx1"/>
            </a:solidFill>
            <a:prstDash val="solid"/>
          </a:ln>
        </p:spPr>
      </p:sp>
      <p:sp>
        <p:nvSpPr>
          <p:cNvPr id="11" name="Shape 9"/>
          <p:cNvSpPr/>
          <p:nvPr/>
        </p:nvSpPr>
        <p:spPr>
          <a:xfrm>
            <a:off x="6501384" y="237744"/>
            <a:ext cx="164592" cy="164592"/>
          </a:xfrm>
          <a:prstGeom prst="ellipse">
            <a:avLst/>
          </a:prstGeom>
          <a:solidFill>
            <a:schemeClr val="accent1"/>
          </a:solidFill>
          <a:ln w="12700">
            <a:solidFill>
              <a:schemeClr val="tx1"/>
            </a:solidFill>
            <a:prstDash val="solid"/>
          </a:ln>
        </p:spPr>
      </p:sp>
      <p:sp>
        <p:nvSpPr>
          <p:cNvPr id="12" name="Shape 10"/>
          <p:cNvSpPr/>
          <p:nvPr/>
        </p:nvSpPr>
        <p:spPr>
          <a:xfrm>
            <a:off x="6684264" y="877824"/>
            <a:ext cx="164592" cy="164592"/>
          </a:xfrm>
          <a:prstGeom prst="ellipse">
            <a:avLst/>
          </a:prstGeom>
          <a:solidFill>
            <a:schemeClr val="accent1"/>
          </a:solidFill>
          <a:ln w="12700">
            <a:solidFill>
              <a:schemeClr val="tx1"/>
            </a:solidFill>
            <a:prstDash val="solid"/>
          </a:ln>
        </p:spPr>
      </p:sp>
      <p:sp>
        <p:nvSpPr>
          <p:cNvPr id="13" name="Shape 11"/>
          <p:cNvSpPr/>
          <p:nvPr/>
        </p:nvSpPr>
        <p:spPr>
          <a:xfrm>
            <a:off x="7598664" y="466344"/>
            <a:ext cx="164592" cy="164592"/>
          </a:xfrm>
          <a:prstGeom prst="ellipse">
            <a:avLst/>
          </a:prstGeom>
          <a:solidFill>
            <a:schemeClr val="accent1"/>
          </a:solidFill>
          <a:ln w="12700">
            <a:solidFill>
              <a:schemeClr val="tx1"/>
            </a:solidFill>
            <a:prstDash val="solid"/>
          </a:ln>
        </p:spPr>
      </p:sp>
      <p:sp>
        <p:nvSpPr>
          <p:cNvPr id="14" name="Shape 12"/>
          <p:cNvSpPr/>
          <p:nvPr/>
        </p:nvSpPr>
        <p:spPr>
          <a:xfrm>
            <a:off x="8330184" y="786384"/>
            <a:ext cx="164592" cy="164592"/>
          </a:xfrm>
          <a:prstGeom prst="ellipse">
            <a:avLst/>
          </a:prstGeom>
          <a:solidFill>
            <a:schemeClr val="accent2"/>
          </a:solidFill>
          <a:ln w="12700">
            <a:solidFill>
              <a:schemeClr val="tx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Lesson objectives</a:t>
            </a:r>
            <a:endParaRPr lang="en-US" sz="3000" dirty="0"/>
          </a:p>
        </p:txBody>
      </p:sp>
      <p:sp>
        <p:nvSpPr>
          <p:cNvPr id="3" name="obj0"/>
          <p:cNvSpPr/>
          <p:nvPr/>
        </p:nvSpPr>
        <p:spPr>
          <a:xfrm>
            <a:off x="457200" y="1143000"/>
            <a:ext cx="8229600" cy="713232"/>
          </a:xfrm>
          <a:prstGeom prst="roundRect">
            <a:avLst>
              <a:gd name="adj" fmla="val 102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621792" y="1271016"/>
            <a:ext cx="457200" cy="45720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722376" y="1371600"/>
            <a:ext cx="256032" cy="256032"/>
          </a:xfrm>
          <a:prstGeom prst="rect">
            <a:avLst/>
          </a:prstGeom>
        </p:spPr>
      </p:pic>
      <p:sp>
        <p:nvSpPr>
          <p:cNvPr id="6" name="Text 3"/>
          <p:cNvSpPr txBox="1"/>
          <p:nvPr/>
        </p:nvSpPr>
        <p:spPr>
          <a:xfrm>
            <a:off x="1261872" y="1143000"/>
            <a:ext cx="6309360" cy="713232"/>
          </a:xfrm>
          <a:prstGeom prst="rect">
            <a:avLst/>
          </a:prstGeom>
          <a:noFill/>
          <a:ln/>
        </p:spPr>
        <p:txBody>
          <a:bodyPr wrap="square" lIns="0" tIns="0" rIns="0" bIns="0" rtlCol="0" anchor="ctr"/>
          <a:lstStyle/>
          <a:p>
            <a:pPr indent="0" marL="0">
              <a:buNone/>
            </a:pPr>
            <a:r>
              <a:rPr lang="en-US" sz="1600" b="1" dirty="0">
                <a:solidFill>
                  <a:schemeClr val="tx1"/>
                </a:solidFill>
              </a:rPr>
              <a:t>Explain </a:t>
            </a:r>
            <a:pPr indent="0" marL="0">
              <a:buNone/>
            </a:pPr>
            <a:r>
              <a:rPr lang="en-US" sz="1600" dirty="0">
                <a:solidFill>
                  <a:schemeClr val="tx1"/>
                </a:solidFill>
              </a:rPr>
              <a:t>the need for multiplexing and switching, and compare circuit and packet switching</a:t>
            </a:r>
            <a:endParaRPr lang="en-US" sz="1600" dirty="0"/>
          </a:p>
        </p:txBody>
      </p:sp>
      <p:sp>
        <p:nvSpPr>
          <p:cNvPr id="7" name="Text 4"/>
          <p:cNvSpPr txBox="1"/>
          <p:nvPr/>
        </p:nvSpPr>
        <p:spPr>
          <a:xfrm>
            <a:off x="7589520" y="1143000"/>
            <a:ext cx="960120" cy="713232"/>
          </a:xfrm>
          <a:prstGeom prst="rect">
            <a:avLst/>
          </a:prstGeom>
          <a:noFill/>
          <a:ln/>
        </p:spPr>
        <p:txBody>
          <a:bodyPr wrap="square" lIns="0" tIns="0" rIns="0" bIns="0" rtlCol="0" anchor="ctr"/>
          <a:lstStyle/>
          <a:p>
            <a:pPr algn="r" indent="0" marL="0">
              <a:buNone/>
            </a:pPr>
            <a:r>
              <a:rPr lang="en-US" sz="1200" dirty="0">
                <a:solidFill>
                  <a:schemeClr val="accent6"/>
                </a:solidFill>
              </a:rPr>
              <a:t>Spec 3.1.3</a:t>
            </a:r>
            <a:endParaRPr lang="en-US" sz="1200" dirty="0"/>
          </a:p>
        </p:txBody>
      </p:sp>
      <p:sp>
        <p:nvSpPr>
          <p:cNvPr id="8" name="obj1"/>
          <p:cNvSpPr/>
          <p:nvPr/>
        </p:nvSpPr>
        <p:spPr>
          <a:xfrm>
            <a:off x="457200" y="2011680"/>
            <a:ext cx="8229600" cy="713232"/>
          </a:xfrm>
          <a:prstGeom prst="roundRect">
            <a:avLst>
              <a:gd name="adj" fmla="val 102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Shape 6"/>
          <p:cNvSpPr/>
          <p:nvPr/>
        </p:nvSpPr>
        <p:spPr>
          <a:xfrm>
            <a:off x="621792" y="2139696"/>
            <a:ext cx="457200" cy="457200"/>
          </a:xfrm>
          <a:prstGeom prst="ellipse">
            <a:avLst/>
          </a:prstGeom>
          <a:solidFill>
            <a:schemeClr val="tx1"/>
          </a:solidFill>
          <a:ln w="12700">
            <a:solidFill>
              <a:schemeClr val="tx1"/>
            </a:solidFill>
            <a:prstDash val="solid"/>
          </a:ln>
        </p:spPr>
      </p:sp>
      <p:pic>
        <p:nvPicPr>
          <p:cNvPr id="10" name="Image 1" descr="preencoded.png">    </p:cNvPr>
          <p:cNvPicPr>
            <a:picLocks noChangeAspect="1"/>
          </p:cNvPicPr>
          <p:nvPr/>
        </p:nvPicPr>
        <p:blipFill>
          <a:blip r:embed="rId2"/>
          <a:stretch>
            <a:fillRect/>
          </a:stretch>
        </p:blipFill>
        <p:spPr>
          <a:xfrm>
            <a:off x="722376" y="2240280"/>
            <a:ext cx="256032" cy="256032"/>
          </a:xfrm>
          <a:prstGeom prst="rect">
            <a:avLst/>
          </a:prstGeom>
        </p:spPr>
      </p:pic>
      <p:sp>
        <p:nvSpPr>
          <p:cNvPr id="11" name="Text 7"/>
          <p:cNvSpPr txBox="1"/>
          <p:nvPr/>
        </p:nvSpPr>
        <p:spPr>
          <a:xfrm>
            <a:off x="1261872" y="2011680"/>
            <a:ext cx="6309360" cy="713232"/>
          </a:xfrm>
          <a:prstGeom prst="rect">
            <a:avLst/>
          </a:prstGeom>
          <a:noFill/>
          <a:ln/>
        </p:spPr>
        <p:txBody>
          <a:bodyPr wrap="square" lIns="0" tIns="0" rIns="0" bIns="0" rtlCol="0" anchor="ctr"/>
          <a:lstStyle/>
          <a:p>
            <a:pPr indent="0" marL="0">
              <a:buNone/>
            </a:pPr>
            <a:r>
              <a:rPr lang="en-US" sz="1600" b="1" dirty="0">
                <a:solidFill>
                  <a:schemeClr val="tx1"/>
                </a:solidFill>
              </a:rPr>
              <a:t>Describe </a:t>
            </a:r>
            <a:pPr indent="0" marL="0">
              <a:buNone/>
            </a:pPr>
            <a:r>
              <a:rPr lang="en-US" sz="1600" dirty="0">
                <a:solidFill>
                  <a:schemeClr val="tx1"/>
                </a:solidFill>
              </a:rPr>
              <a:t>the typical contents of a TCP/IP packet and the purpose of each part</a:t>
            </a:r>
            <a:endParaRPr lang="en-US" sz="1600" dirty="0"/>
          </a:p>
        </p:txBody>
      </p:sp>
      <p:sp>
        <p:nvSpPr>
          <p:cNvPr id="12" name="Text 8"/>
          <p:cNvSpPr txBox="1"/>
          <p:nvPr/>
        </p:nvSpPr>
        <p:spPr>
          <a:xfrm>
            <a:off x="7589520" y="2011680"/>
            <a:ext cx="960120" cy="713232"/>
          </a:xfrm>
          <a:prstGeom prst="rect">
            <a:avLst/>
          </a:prstGeom>
          <a:noFill/>
          <a:ln/>
        </p:spPr>
        <p:txBody>
          <a:bodyPr wrap="square" lIns="0" tIns="0" rIns="0" bIns="0" rtlCol="0" anchor="ctr"/>
          <a:lstStyle/>
          <a:p>
            <a:pPr algn="r" indent="0" marL="0">
              <a:buNone/>
            </a:pPr>
            <a:r>
              <a:rPr lang="en-US" sz="1200" dirty="0">
                <a:solidFill>
                  <a:schemeClr val="accent6"/>
                </a:solidFill>
              </a:rPr>
              <a:t>Spec 3.2.1</a:t>
            </a:r>
            <a:endParaRPr lang="en-US" sz="1200" dirty="0"/>
          </a:p>
        </p:txBody>
      </p:sp>
      <p:sp>
        <p:nvSpPr>
          <p:cNvPr id="13" name="obj2"/>
          <p:cNvSpPr/>
          <p:nvPr/>
        </p:nvSpPr>
        <p:spPr>
          <a:xfrm>
            <a:off x="457200" y="2880360"/>
            <a:ext cx="8229600" cy="713232"/>
          </a:xfrm>
          <a:prstGeom prst="roundRect">
            <a:avLst>
              <a:gd name="adj" fmla="val 102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Shape 10"/>
          <p:cNvSpPr/>
          <p:nvPr/>
        </p:nvSpPr>
        <p:spPr>
          <a:xfrm>
            <a:off x="621792" y="3008376"/>
            <a:ext cx="457200" cy="457200"/>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722376" y="3108960"/>
            <a:ext cx="256032" cy="256032"/>
          </a:xfrm>
          <a:prstGeom prst="rect">
            <a:avLst/>
          </a:prstGeom>
        </p:spPr>
      </p:pic>
      <p:sp>
        <p:nvSpPr>
          <p:cNvPr id="16" name="Text 11"/>
          <p:cNvSpPr txBox="1"/>
          <p:nvPr/>
        </p:nvSpPr>
        <p:spPr>
          <a:xfrm>
            <a:off x="1261872" y="2880360"/>
            <a:ext cx="6309360" cy="713232"/>
          </a:xfrm>
          <a:prstGeom prst="rect">
            <a:avLst/>
          </a:prstGeom>
          <a:noFill/>
          <a:ln/>
        </p:spPr>
        <p:txBody>
          <a:bodyPr wrap="square" lIns="0" tIns="0" rIns="0" bIns="0" rtlCol="0" anchor="ctr"/>
          <a:lstStyle/>
          <a:p>
            <a:pPr indent="0" marL="0">
              <a:buNone/>
            </a:pPr>
            <a:r>
              <a:rPr lang="en-US" sz="1600" b="1" dirty="0">
                <a:solidFill>
                  <a:schemeClr val="tx1"/>
                </a:solidFill>
              </a:rPr>
              <a:t>Describe </a:t>
            </a:r>
            <a:pPr indent="0" marL="0">
              <a:buNone/>
            </a:pPr>
            <a:r>
              <a:rPr lang="en-US" sz="1600" dirty="0">
                <a:solidFill>
                  <a:schemeClr val="tx1"/>
                </a:solidFill>
              </a:rPr>
              <a:t>how traffic is routed on a packet-switched network</a:t>
            </a:r>
            <a:endParaRPr lang="en-US" sz="1600" dirty="0"/>
          </a:p>
        </p:txBody>
      </p:sp>
      <p:sp>
        <p:nvSpPr>
          <p:cNvPr id="17" name="Text 12"/>
          <p:cNvSpPr txBox="1"/>
          <p:nvPr/>
        </p:nvSpPr>
        <p:spPr>
          <a:xfrm>
            <a:off x="7589520" y="2880360"/>
            <a:ext cx="960120" cy="713232"/>
          </a:xfrm>
          <a:prstGeom prst="rect">
            <a:avLst/>
          </a:prstGeom>
          <a:noFill/>
          <a:ln/>
        </p:spPr>
        <p:txBody>
          <a:bodyPr wrap="square" lIns="0" tIns="0" rIns="0" bIns="0" rtlCol="0" anchor="ctr"/>
          <a:lstStyle/>
          <a:p>
            <a:pPr algn="r" indent="0" marL="0">
              <a:buNone/>
            </a:pPr>
            <a:r>
              <a:rPr lang="en-US" sz="1200" dirty="0">
                <a:solidFill>
                  <a:schemeClr val="accent6"/>
                </a:solidFill>
              </a:rPr>
              <a:t>Spec 3.2.3</a:t>
            </a:r>
            <a:endParaRPr lang="en-US" sz="1200" dirty="0"/>
          </a:p>
        </p:txBody>
      </p:sp>
      <p:sp>
        <p:nvSpPr>
          <p:cNvPr id="18" name="obj3"/>
          <p:cNvSpPr/>
          <p:nvPr/>
        </p:nvSpPr>
        <p:spPr>
          <a:xfrm>
            <a:off x="457200" y="3749040"/>
            <a:ext cx="8229600" cy="713232"/>
          </a:xfrm>
          <a:prstGeom prst="roundRect">
            <a:avLst>
              <a:gd name="adj" fmla="val 102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Shape 14"/>
          <p:cNvSpPr/>
          <p:nvPr/>
        </p:nvSpPr>
        <p:spPr>
          <a:xfrm>
            <a:off x="621792" y="3877056"/>
            <a:ext cx="457200" cy="457200"/>
          </a:xfrm>
          <a:prstGeom prst="ellipse">
            <a:avLst/>
          </a:prstGeom>
          <a:solidFill>
            <a:schemeClr val="tx1"/>
          </a:solidFill>
          <a:ln w="12700">
            <a:solidFill>
              <a:schemeClr val="tx1"/>
            </a:solidFill>
            <a:prstDash val="solid"/>
          </a:ln>
        </p:spPr>
      </p:sp>
      <p:pic>
        <p:nvPicPr>
          <p:cNvPr id="20" name="Image 3" descr="preencoded.png">    </p:cNvPr>
          <p:cNvPicPr>
            <a:picLocks noChangeAspect="1"/>
          </p:cNvPicPr>
          <p:nvPr/>
        </p:nvPicPr>
        <p:blipFill>
          <a:blip r:embed="rId4"/>
          <a:stretch>
            <a:fillRect/>
          </a:stretch>
        </p:blipFill>
        <p:spPr>
          <a:xfrm>
            <a:off x="722376" y="3977640"/>
            <a:ext cx="256032" cy="256032"/>
          </a:xfrm>
          <a:prstGeom prst="rect">
            <a:avLst/>
          </a:prstGeom>
        </p:spPr>
      </p:pic>
      <p:sp>
        <p:nvSpPr>
          <p:cNvPr id="21" name="Text 15"/>
          <p:cNvSpPr txBox="1"/>
          <p:nvPr/>
        </p:nvSpPr>
        <p:spPr>
          <a:xfrm>
            <a:off x="1261872" y="3749040"/>
            <a:ext cx="6309360" cy="713232"/>
          </a:xfrm>
          <a:prstGeom prst="rect">
            <a:avLst/>
          </a:prstGeom>
          <a:noFill/>
          <a:ln/>
        </p:spPr>
        <p:txBody>
          <a:bodyPr wrap="square" lIns="0" tIns="0" rIns="0" bIns="0" rtlCol="0" anchor="ctr"/>
          <a:lstStyle/>
          <a:p>
            <a:pPr indent="0" marL="0">
              <a:buNone/>
            </a:pPr>
            <a:r>
              <a:rPr lang="en-US" sz="1600" b="1" dirty="0">
                <a:solidFill>
                  <a:schemeClr val="tx1"/>
                </a:solidFill>
              </a:rPr>
              <a:t>Explain </a:t>
            </a:r>
            <a:pPr indent="0" marL="0">
              <a:buNone/>
            </a:pPr>
            <a:r>
              <a:rPr lang="en-US" sz="1600" dirty="0">
                <a:solidFill>
                  <a:schemeClr val="tx1"/>
                </a:solidFill>
              </a:rPr>
              <a:t>network collisions, how they are detected and how they are dealt with</a:t>
            </a:r>
            <a:endParaRPr lang="en-US" sz="1600" dirty="0"/>
          </a:p>
        </p:txBody>
      </p:sp>
      <p:sp>
        <p:nvSpPr>
          <p:cNvPr id="22" name="Text 16"/>
          <p:cNvSpPr txBox="1"/>
          <p:nvPr/>
        </p:nvSpPr>
        <p:spPr>
          <a:xfrm>
            <a:off x="7589520" y="3749040"/>
            <a:ext cx="960120" cy="713232"/>
          </a:xfrm>
          <a:prstGeom prst="rect">
            <a:avLst/>
          </a:prstGeom>
          <a:noFill/>
          <a:ln/>
        </p:spPr>
        <p:txBody>
          <a:bodyPr wrap="square" lIns="0" tIns="0" rIns="0" bIns="0" rtlCol="0" anchor="ctr"/>
          <a:lstStyle/>
          <a:p>
            <a:pPr algn="r" indent="0" marL="0">
              <a:buNone/>
            </a:pPr>
            <a:r>
              <a:rPr lang="en-US" sz="1200" dirty="0">
                <a:solidFill>
                  <a:schemeClr val="accent6"/>
                </a:solidFill>
              </a:rPr>
              <a:t>Spec 3.2.2</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Key terms  |  Termau allweddol</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5669280" cy="914400"/>
        </p:xfrm>
        <a:graphic>
          <a:graphicData uri="http://schemas.openxmlformats.org/drawingml/2006/table">
            <a:tbl>
              <a:tblPr/>
              <a:tblGrid>
                <a:gridCol w="2834640"/>
                <a:gridCol w="2834640"/>
              </a:tblGrid>
              <a:tr h="329184">
                <a:tc>
                  <a:txBody>
                    <a:bodyPr/>
                    <a:lstStyle/>
                    <a:p>
                      <a:pPr indent="0" marL="0">
                        <a:buNone/>
                      </a:pPr>
                      <a:r>
                        <a:rPr lang="en-US" sz="1400" b="1" dirty="0">
                          <a:solidFill>
                            <a:schemeClr val="bg1"/>
                          </a:solidFill>
                        </a:rPr>
                        <a:t>English</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Cymraeg</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accent1"/>
                    </a:solidFill>
                  </a:tcPr>
                </a:tc>
              </a:tr>
              <a:tr h="329184">
                <a:tc>
                  <a:txBody>
                    <a:bodyPr/>
                    <a:lstStyle/>
                    <a:p>
                      <a:pPr indent="0" marL="0">
                        <a:buNone/>
                      </a:pPr>
                      <a:r>
                        <a:rPr lang="en-US" sz="1400" dirty="0">
                          <a:solidFill>
                            <a:schemeClr val="tx1"/>
                          </a:solidFill>
                        </a:rPr>
                        <a:t>Multiplexing</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Amlblecsio</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r>
              <a:tr h="329184">
                <a:tc>
                  <a:txBody>
                    <a:bodyPr/>
                    <a:lstStyle/>
                    <a:p>
                      <a:pPr indent="0" marL="0">
                        <a:buNone/>
                      </a:pPr>
                      <a:r>
                        <a:rPr lang="en-US" sz="1400" dirty="0">
                          <a:solidFill>
                            <a:schemeClr val="tx1"/>
                          </a:solidFill>
                        </a:rPr>
                        <a:t>Switching</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Switsio</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r>
              <a:tr h="329184">
                <a:tc>
                  <a:txBody>
                    <a:bodyPr/>
                    <a:lstStyle/>
                    <a:p>
                      <a:pPr indent="0" marL="0">
                        <a:buNone/>
                      </a:pPr>
                      <a:r>
                        <a:rPr lang="en-US" sz="1400" dirty="0">
                          <a:solidFill>
                            <a:schemeClr val="tx1"/>
                          </a:solidFill>
                        </a:rPr>
                        <a:t>Packet</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Pecyn</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r>
              <a:tr h="329184">
                <a:tc>
                  <a:txBody>
                    <a:bodyPr/>
                    <a:lstStyle/>
                    <a:p>
                      <a:pPr indent="0" marL="0">
                        <a:buNone/>
                      </a:pPr>
                      <a:r>
                        <a:rPr lang="en-US" sz="1400" dirty="0">
                          <a:solidFill>
                            <a:schemeClr val="tx1"/>
                          </a:solidFill>
                        </a:rPr>
                        <a:t>Header</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Pennawd</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r>
              <a:tr h="329184">
                <a:tc>
                  <a:txBody>
                    <a:bodyPr/>
                    <a:lstStyle/>
                    <a:p>
                      <a:pPr indent="0" marL="0">
                        <a:buNone/>
                      </a:pPr>
                      <a:r>
                        <a:rPr lang="en-US" sz="1400" dirty="0">
                          <a:solidFill>
                            <a:schemeClr val="tx1"/>
                          </a:solidFill>
                        </a:rPr>
                        <a:t>Payload</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Llwyth</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r>
              <a:tr h="329184">
                <a:tc>
                  <a:txBody>
                    <a:bodyPr/>
                    <a:lstStyle/>
                    <a:p>
                      <a:pPr indent="0" marL="0">
                        <a:buNone/>
                      </a:pPr>
                      <a:r>
                        <a:rPr lang="en-US" sz="1400" dirty="0">
                          <a:solidFill>
                            <a:schemeClr val="tx1"/>
                          </a:solidFill>
                        </a:rPr>
                        <a:t>Checksum</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Swm gwirio</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r>
              <a:tr h="329184">
                <a:tc>
                  <a:txBody>
                    <a:bodyPr/>
                    <a:lstStyle/>
                    <a:p>
                      <a:pPr indent="0" marL="0">
                        <a:buNone/>
                      </a:pPr>
                      <a:r>
                        <a:rPr lang="en-US" sz="1400" dirty="0">
                          <a:solidFill>
                            <a:schemeClr val="tx1"/>
                          </a:solidFill>
                        </a:rPr>
                        <a:t>Routing</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Llwybro</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r>
              <a:tr h="329184">
                <a:tc>
                  <a:txBody>
                    <a:bodyPr/>
                    <a:lstStyle/>
                    <a:p>
                      <a:pPr indent="0" marL="0">
                        <a:buNone/>
                      </a:pPr>
                      <a:r>
                        <a:rPr lang="en-US" sz="1400" dirty="0">
                          <a:solidFill>
                            <a:schemeClr val="tx1"/>
                          </a:solidFill>
                        </a:rPr>
                        <a:t>Router</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Llwybrydd</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r>
              <a:tr h="329184">
                <a:tc>
                  <a:txBody>
                    <a:bodyPr/>
                    <a:lstStyle/>
                    <a:p>
                      <a:pPr indent="0" marL="0">
                        <a:buNone/>
                      </a:pPr>
                      <a:r>
                        <a:rPr lang="en-US" sz="1400" dirty="0">
                          <a:solidFill>
                            <a:schemeClr val="tx1"/>
                          </a:solidFill>
                        </a:rPr>
                        <a:t>Collision</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Gwrthdrawiad</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r>
            </a:tbl>
          </a:graphicData>
        </a:graphic>
      </p:graphicFrame>
      <p:sp>
        <p:nvSpPr>
          <p:cNvPr id="4" name="cy"/>
          <p:cNvSpPr/>
          <p:nvPr/>
        </p:nvSpPr>
        <p:spPr>
          <a:xfrm>
            <a:off x="6400800" y="1051560"/>
            <a:ext cx="228600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6537960" y="1188720"/>
            <a:ext cx="457200" cy="45720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6638544" y="1289304"/>
            <a:ext cx="256032" cy="256032"/>
          </a:xfrm>
          <a:prstGeom prst="rect">
            <a:avLst/>
          </a:prstGeom>
        </p:spPr>
      </p:pic>
      <p:sp>
        <p:nvSpPr>
          <p:cNvPr id="7" name="Text 3"/>
          <p:cNvSpPr txBox="1"/>
          <p:nvPr/>
        </p:nvSpPr>
        <p:spPr>
          <a:xfrm>
            <a:off x="6537960" y="1737360"/>
            <a:ext cx="2011680" cy="1234440"/>
          </a:xfrm>
          <a:prstGeom prst="rect">
            <a:avLst/>
          </a:prstGeom>
          <a:noFill/>
          <a:ln/>
        </p:spPr>
        <p:txBody>
          <a:bodyPr wrap="square" lIns="0" tIns="0" rIns="0" bIns="0" rtlCol="0" anchor="t"/>
          <a:lstStyle/>
          <a:p>
            <a:pPr indent="0" marL="0">
              <a:buNone/>
            </a:pPr>
            <a:r>
              <a:rPr lang="en-US" sz="1300" dirty="0">
                <a:solidFill>
                  <a:schemeClr val="tx1"/>
                </a:solidFill>
              </a:rPr>
              <a:t>Welsh terms are a draft. Check against Y Termiadur Addysg before use.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03504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Starter: Lesson 1 recall</a:t>
            </a:r>
            <a:endParaRPr lang="en-US" sz="3000" dirty="0"/>
          </a:p>
        </p:txBody>
      </p:sp>
      <p:sp>
        <p:nvSpPr>
          <p:cNvPr id="3" name="Shape 1"/>
          <p:cNvSpPr/>
          <p:nvPr/>
        </p:nvSpPr>
        <p:spPr>
          <a:xfrm>
            <a:off x="6400800" y="347472"/>
            <a:ext cx="2286000" cy="502920"/>
          </a:xfrm>
          <a:prstGeom prst="roundRect">
            <a:avLst>
              <a:gd name="adj" fmla="val 49091"/>
            </a:avLst>
          </a:prstGeom>
          <a:solidFill>
            <a:schemeClr val="accent2"/>
          </a:solidFill>
          <a:ln w="12700">
            <a:solidFill>
              <a:schemeClr val="accent2"/>
            </a:solidFill>
            <a:prstDash val="solid"/>
          </a:ln>
        </p:spPr>
      </p:sp>
      <p:pic>
        <p:nvPicPr>
          <p:cNvPr id="4" name="Image 0" descr="preencoded.png">    </p:cNvPr>
          <p:cNvPicPr>
            <a:picLocks noChangeAspect="1"/>
          </p:cNvPicPr>
          <p:nvPr/>
        </p:nvPicPr>
        <p:blipFill>
          <a:blip r:embed="rId1"/>
          <a:stretch>
            <a:fillRect/>
          </a:stretch>
        </p:blipFill>
        <p:spPr>
          <a:xfrm>
            <a:off x="6537960" y="448056"/>
            <a:ext cx="301752" cy="301752"/>
          </a:xfrm>
          <a:prstGeom prst="rect">
            <a:avLst/>
          </a:prstGeom>
        </p:spPr>
      </p:pic>
      <p:sp>
        <p:nvSpPr>
          <p:cNvPr id="5" name="Text 2"/>
          <p:cNvSpPr txBox="1"/>
          <p:nvPr/>
        </p:nvSpPr>
        <p:spPr>
          <a:xfrm>
            <a:off x="6903720" y="347472"/>
            <a:ext cx="1737360" cy="502920"/>
          </a:xfrm>
          <a:prstGeom prst="rect">
            <a:avLst/>
          </a:prstGeom>
          <a:noFill/>
          <a:ln/>
        </p:spPr>
        <p:txBody>
          <a:bodyPr wrap="square" lIns="0" tIns="0" rIns="0" bIns="0" rtlCol="0" anchor="ctr"/>
          <a:lstStyle/>
          <a:p>
            <a:pPr indent="0" marL="0">
              <a:buNone/>
            </a:pPr>
            <a:r>
              <a:rPr lang="en-US" sz="1400" b="1" dirty="0">
                <a:solidFill>
                  <a:schemeClr val="bg1"/>
                </a:solidFill>
              </a:rPr>
              <a:t>8 min  on your own</a:t>
            </a:r>
            <a:endParaRPr lang="en-US" sz="1400" dirty="0"/>
          </a:p>
        </p:txBody>
      </p:sp>
      <p:sp>
        <p:nvSpPr>
          <p:cNvPr id="6" name="st"/>
          <p:cNvSpPr/>
          <p:nvPr/>
        </p:nvSpPr>
        <p:spPr>
          <a:xfrm>
            <a:off x="457200" y="1097280"/>
            <a:ext cx="5120640" cy="3291840"/>
          </a:xfrm>
          <a:prstGeom prst="roundRect">
            <a:avLst>
              <a:gd name="adj" fmla="val 2222"/>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685800" y="1234440"/>
            <a:ext cx="4663440" cy="731520"/>
          </a:xfrm>
          <a:prstGeom prst="rect">
            <a:avLst/>
          </a:prstGeom>
          <a:noFill/>
          <a:ln/>
        </p:spPr>
        <p:txBody>
          <a:bodyPr wrap="square" lIns="0" tIns="0" rIns="0" bIns="0" rtlCol="0" anchor="t"/>
          <a:lstStyle/>
          <a:p>
            <a:pPr indent="0" marL="0">
              <a:buNone/>
            </a:pPr>
            <a:r>
              <a:rPr lang="en-US" sz="1700" b="1" dirty="0">
                <a:solidFill>
                  <a:schemeClr val="tx1"/>
                </a:solidFill>
              </a:rPr>
              <a:t>Open the starter on Teams and answer every question. You get feedback after each one.</a:t>
            </a:r>
            <a:endParaRPr lang="en-US" sz="1700" dirty="0"/>
          </a:p>
        </p:txBody>
      </p:sp>
      <p:sp>
        <p:nvSpPr>
          <p:cNvPr id="8" name="Text 5"/>
          <p:cNvSpPr txBox="1"/>
          <p:nvPr/>
        </p:nvSpPr>
        <p:spPr>
          <a:xfrm>
            <a:off x="685800" y="2057400"/>
            <a:ext cx="4663440" cy="21945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Serial vs parallel transmission</a:t>
            </a:r>
            <a:endParaRPr lang="en-US" sz="1500" dirty="0"/>
          </a:p>
          <a:p>
            <a:pPr marL="342900" indent="-342900">
              <a:spcAft>
                <a:spcPts val="600"/>
              </a:spcAft>
              <a:buSzPct val="100000"/>
              <a:buChar char="•"/>
            </a:pPr>
            <a:r>
              <a:rPr lang="en-US" sz="1500" dirty="0">
                <a:solidFill>
                  <a:schemeClr val="tx1"/>
                </a:solidFill>
              </a:rPr>
              <a:t>Skew and crosstalk</a:t>
            </a:r>
            <a:endParaRPr lang="en-US" sz="1500" dirty="0"/>
          </a:p>
          <a:p>
            <a:pPr marL="342900" indent="-342900">
              <a:spcAft>
                <a:spcPts val="600"/>
              </a:spcAft>
              <a:buSzPct val="100000"/>
              <a:buChar char="•"/>
            </a:pPr>
            <a:r>
              <a:rPr lang="en-US" sz="1500" dirty="0">
                <a:solidFill>
                  <a:schemeClr val="tx1"/>
                </a:solidFill>
              </a:rPr>
              <a:t>Simplex, half duplex and full duplex</a:t>
            </a:r>
            <a:endParaRPr lang="en-US" sz="1500" dirty="0"/>
          </a:p>
          <a:p>
            <a:pPr marL="342900" indent="-342900">
              <a:spcAft>
                <a:spcPts val="600"/>
              </a:spcAft>
              <a:buSzPct val="100000"/>
              <a:buChar char="•"/>
            </a:pPr>
            <a:r>
              <a:rPr lang="en-US" sz="1500" dirty="0">
                <a:solidFill>
                  <a:schemeClr val="tx1"/>
                </a:solidFill>
              </a:rPr>
              <a:t>Picking the explanation that earns the mark</a:t>
            </a:r>
            <a:endParaRPr lang="en-US" sz="1500" dirty="0"/>
          </a:p>
        </p:txBody>
      </p:sp>
      <p:sp>
        <p:nvSpPr>
          <p:cNvPr id="9" name="st2"/>
          <p:cNvSpPr/>
          <p:nvPr/>
        </p:nvSpPr>
        <p:spPr>
          <a:xfrm>
            <a:off x="5852160" y="1097280"/>
            <a:ext cx="2834640" cy="3291840"/>
          </a:xfrm>
          <a:prstGeom prst="roundRect">
            <a:avLst>
              <a:gd name="adj" fmla="val 2581"/>
            </a:avLst>
          </a:prstGeom>
          <a:solidFill>
            <a:schemeClr val="tx1"/>
          </a:solidFill>
          <a:ln w="12700">
            <a:solidFill>
              <a:schemeClr val="tx1"/>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6035040" y="1280160"/>
            <a:ext cx="502920" cy="502920"/>
          </a:xfrm>
          <a:prstGeom prst="ellipse">
            <a:avLst/>
          </a:prstGeom>
          <a:solidFill>
            <a:schemeClr val="accent2"/>
          </a:solidFill>
          <a:ln w="12700">
            <a:solidFill>
              <a:schemeClr val="accent2"/>
            </a:solidFill>
            <a:prstDash val="solid"/>
          </a:ln>
        </p:spPr>
      </p:sp>
      <p:pic>
        <p:nvPicPr>
          <p:cNvPr id="11" name="Image 1" descr="preencoded.png">    </p:cNvPr>
          <p:cNvPicPr>
            <a:picLocks noChangeAspect="1"/>
          </p:cNvPicPr>
          <p:nvPr/>
        </p:nvPicPr>
        <p:blipFill>
          <a:blip r:embed="rId2"/>
          <a:stretch>
            <a:fillRect/>
          </a:stretch>
        </p:blipFill>
        <p:spPr>
          <a:xfrm>
            <a:off x="6145682" y="1390802"/>
            <a:ext cx="281635" cy="281635"/>
          </a:xfrm>
          <a:prstGeom prst="rect">
            <a:avLst/>
          </a:prstGeom>
        </p:spPr>
      </p:pic>
      <p:sp>
        <p:nvSpPr>
          <p:cNvPr id="12" name="Text 8"/>
          <p:cNvSpPr txBox="1"/>
          <p:nvPr/>
        </p:nvSpPr>
        <p:spPr>
          <a:xfrm>
            <a:off x="6035040" y="1920240"/>
            <a:ext cx="2514600" cy="2286000"/>
          </a:xfrm>
          <a:prstGeom prst="rect">
            <a:avLst/>
          </a:prstGeom>
          <a:noFill/>
          <a:ln/>
        </p:spPr>
        <p:txBody>
          <a:bodyPr wrap="square" lIns="0" tIns="0" rIns="0" bIns="0" rtlCol="0" anchor="t"/>
          <a:lstStyle/>
          <a:p>
            <a:pPr indent="0" marL="0">
              <a:buNone/>
            </a:pPr>
            <a:r>
              <a:rPr lang="en-US" sz="1400" dirty="0">
                <a:solidFill>
                  <a:schemeClr val="bg1"/>
                </a:solidFill>
              </a:rPr>
              <a:t>Finished? Write down one thing from Lesson 1 you are still unsure about. We will pick it up in Lesson 3.</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03504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Watch: the journey of a packet</a:t>
            </a:r>
            <a:endParaRPr lang="en-US" sz="3000" dirty="0"/>
          </a:p>
        </p:txBody>
      </p:sp>
      <p:sp>
        <p:nvSpPr>
          <p:cNvPr id="3" name="Shape 1"/>
          <p:cNvSpPr/>
          <p:nvPr/>
        </p:nvSpPr>
        <p:spPr>
          <a:xfrm>
            <a:off x="6400800" y="347472"/>
            <a:ext cx="2286000" cy="502920"/>
          </a:xfrm>
          <a:prstGeom prst="roundRect">
            <a:avLst>
              <a:gd name="adj" fmla="val 49091"/>
            </a:avLst>
          </a:prstGeom>
          <a:solidFill>
            <a:schemeClr val="accent2"/>
          </a:solidFill>
          <a:ln w="12700">
            <a:solidFill>
              <a:schemeClr val="accent2"/>
            </a:solidFill>
            <a:prstDash val="solid"/>
          </a:ln>
        </p:spPr>
      </p:sp>
      <p:pic>
        <p:nvPicPr>
          <p:cNvPr id="4" name="Image 0" descr="preencoded.png">    </p:cNvPr>
          <p:cNvPicPr>
            <a:picLocks noChangeAspect="1"/>
          </p:cNvPicPr>
          <p:nvPr/>
        </p:nvPicPr>
        <p:blipFill>
          <a:blip r:embed="rId1"/>
          <a:stretch>
            <a:fillRect/>
          </a:stretch>
        </p:blipFill>
        <p:spPr>
          <a:xfrm>
            <a:off x="6537960" y="448056"/>
            <a:ext cx="301752" cy="301752"/>
          </a:xfrm>
          <a:prstGeom prst="rect">
            <a:avLst/>
          </a:prstGeom>
        </p:spPr>
      </p:pic>
      <p:sp>
        <p:nvSpPr>
          <p:cNvPr id="5" name="Text 2"/>
          <p:cNvSpPr txBox="1"/>
          <p:nvPr/>
        </p:nvSpPr>
        <p:spPr>
          <a:xfrm>
            <a:off x="6903720" y="347472"/>
            <a:ext cx="1737360" cy="502920"/>
          </a:xfrm>
          <a:prstGeom prst="rect">
            <a:avLst/>
          </a:prstGeom>
          <a:noFill/>
          <a:ln/>
        </p:spPr>
        <p:txBody>
          <a:bodyPr wrap="square" lIns="0" tIns="0" rIns="0" bIns="0" rtlCol="0" anchor="ctr"/>
          <a:lstStyle/>
          <a:p>
            <a:pPr indent="0" marL="0">
              <a:buNone/>
            </a:pPr>
            <a:r>
              <a:rPr lang="en-US" sz="1400" b="1" dirty="0">
                <a:solidFill>
                  <a:schemeClr val="bg1"/>
                </a:solidFill>
              </a:rPr>
              <a:t>5 min</a:t>
            </a:r>
            <a:endParaRPr lang="en-US" sz="1400" dirty="0"/>
          </a:p>
        </p:txBody>
      </p:sp>
      <p:sp>
        <p:nvSpPr>
          <p:cNvPr id="6" name="video"/>
          <p:cNvSpPr/>
          <p:nvPr/>
        </p:nvSpPr>
        <p:spPr>
          <a:xfrm>
            <a:off x="457200" y="1097280"/>
            <a:ext cx="5120640" cy="3474720"/>
          </a:xfrm>
          <a:prstGeom prst="roundRect">
            <a:avLst>
              <a:gd name="adj" fmla="val 2105"/>
            </a:avLst>
          </a:prstGeom>
          <a:solidFill>
            <a:schemeClr val="tx1"/>
          </a:solidFill>
          <a:ln w="12700">
            <a:solidFill>
              <a:schemeClr val="tx1"/>
            </a:solidFill>
            <a:prstDash val="solid"/>
          </a:ln>
          <a:effectLst>
            <a:outerShdw sx="100000" sy="100000" kx="0" ky="0" algn="bl" rotWithShape="0" blurRad="76200" dist="25400" dir="5400000">
              <a:srgbClr val="000000">
                <a:alpha val="12000"/>
              </a:srgbClr>
            </a:outerShdw>
          </a:effectLst>
        </p:spPr>
      </p:sp>
      <p:pic>
        <p:nvPicPr>
          <p:cNvPr id="7" name="Image 1" descr="preencoded.png">    </p:cNvPr>
          <p:cNvPicPr>
            <a:picLocks noChangeAspect="1"/>
          </p:cNvPicPr>
          <p:nvPr/>
        </p:nvPicPr>
        <p:blipFill>
          <a:blip r:embed="rId2"/>
          <a:stretch>
            <a:fillRect/>
          </a:stretch>
        </p:blipFill>
        <p:spPr>
          <a:xfrm>
            <a:off x="2514600" y="2331720"/>
            <a:ext cx="1005840" cy="1005840"/>
          </a:xfrm>
          <a:prstGeom prst="rect">
            <a:avLst/>
          </a:prstGeom>
        </p:spPr>
      </p:pic>
      <p:sp>
        <p:nvSpPr>
          <p:cNvPr id="8" name="Text 4"/>
          <p:cNvSpPr txBox="1"/>
          <p:nvPr/>
        </p:nvSpPr>
        <p:spPr>
          <a:xfrm>
            <a:off x="457200" y="3566160"/>
            <a:ext cx="5120640" cy="457200"/>
          </a:xfrm>
          <a:prstGeom prst="rect">
            <a:avLst/>
          </a:prstGeom>
          <a:noFill/>
          <a:ln/>
        </p:spPr>
        <p:txBody>
          <a:bodyPr wrap="square" lIns="0" tIns="0" rIns="0" bIns="0" rtlCol="0" anchor="t"/>
          <a:lstStyle/>
          <a:p>
            <a:pPr algn="ctr" indent="0" marL="0">
              <a:buNone/>
            </a:pPr>
            <a:r>
              <a:rPr lang="en-US" sz="1300" dirty="0">
                <a:solidFill>
                  <a:schemeClr val="accent6"/>
                </a:solidFill>
              </a:rPr>
              <a:t>Insert NotebookLM video here</a:t>
            </a:r>
            <a:endParaRPr lang="en-US" sz="1300" dirty="0"/>
          </a:p>
        </p:txBody>
      </p:sp>
      <p:sp>
        <p:nvSpPr>
          <p:cNvPr id="9" name="Text 5"/>
          <p:cNvSpPr txBox="1"/>
          <p:nvPr/>
        </p:nvSpPr>
        <p:spPr>
          <a:xfrm>
            <a:off x="5943600" y="1143000"/>
            <a:ext cx="2743200" cy="365760"/>
          </a:xfrm>
          <a:prstGeom prst="rect">
            <a:avLst/>
          </a:prstGeom>
          <a:noFill/>
          <a:ln/>
        </p:spPr>
        <p:txBody>
          <a:bodyPr wrap="square" lIns="0" tIns="0" rIns="0" bIns="0" rtlCol="0" anchor="t"/>
          <a:lstStyle/>
          <a:p>
            <a:pPr indent="0" marL="0">
              <a:buNone/>
            </a:pPr>
            <a:r>
              <a:rPr lang="en-US" sz="1600" b="1" dirty="0">
                <a:solidFill>
                  <a:schemeClr val="tx1"/>
                </a:solidFill>
              </a:rPr>
              <a:t>While you watch, note down:</a:t>
            </a:r>
            <a:endParaRPr lang="en-US" sz="1600" dirty="0"/>
          </a:p>
        </p:txBody>
      </p:sp>
      <p:sp>
        <p:nvSpPr>
          <p:cNvPr id="10" name="Text 6"/>
          <p:cNvSpPr txBox="1"/>
          <p:nvPr/>
        </p:nvSpPr>
        <p:spPr>
          <a:xfrm>
            <a:off x="5943600" y="1600200"/>
            <a:ext cx="2743200" cy="2743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why many signals share one cable</a:t>
            </a:r>
            <a:endParaRPr lang="en-US" sz="1500" dirty="0"/>
          </a:p>
          <a:p>
            <a:pPr marL="342900" indent="-342900">
              <a:spcAft>
                <a:spcPts val="600"/>
              </a:spcAft>
              <a:buSzPct val="100000"/>
              <a:buChar char="•"/>
            </a:pPr>
            <a:r>
              <a:rPr lang="en-US" sz="1500" dirty="0">
                <a:solidFill>
                  <a:schemeClr val="tx1"/>
                </a:solidFill>
              </a:rPr>
              <a:t>two things a packet carries besides data</a:t>
            </a:r>
            <a:endParaRPr lang="en-US" sz="1500" dirty="0"/>
          </a:p>
          <a:p>
            <a:pPr marL="342900" indent="-342900">
              <a:spcAft>
                <a:spcPts val="600"/>
              </a:spcAft>
              <a:buSzPct val="100000"/>
              <a:buChar char="•"/>
            </a:pPr>
            <a:r>
              <a:rPr lang="en-US" sz="1500" dirty="0">
                <a:solidFill>
                  <a:schemeClr val="tx1"/>
                </a:solidFill>
              </a:rPr>
              <a:t>what happens if a router fails</a:t>
            </a:r>
            <a:endParaRPr lang="en-US" sz="1500" dirty="0"/>
          </a:p>
          <a:p>
            <a:pPr marL="342900" indent="-342900">
              <a:spcAft>
                <a:spcPts val="600"/>
              </a:spcAft>
              <a:buSzPct val="100000"/>
              <a:buChar char="•"/>
            </a:pPr>
            <a:r>
              <a:rPr lang="en-US" sz="1500" dirty="0">
                <a:solidFill>
                  <a:schemeClr val="tx1"/>
                </a:solidFill>
              </a:rPr>
              <a:t>what happens when two devices send at once</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Today: a packet's journey</a:t>
            </a:r>
            <a:endParaRPr lang="en-US" sz="3000" dirty="0"/>
          </a:p>
        </p:txBody>
      </p:sp>
      <p:sp>
        <p:nvSpPr>
          <p:cNvPr id="3" name="Shape 1"/>
          <p:cNvSpPr/>
          <p:nvPr/>
        </p:nvSpPr>
        <p:spPr>
          <a:xfrm>
            <a:off x="457200" y="1463040"/>
            <a:ext cx="1463040" cy="1371600"/>
          </a:xfrm>
          <a:prstGeom prst="roundRect">
            <a:avLst>
              <a:gd name="adj" fmla="val 5333"/>
            </a:avLst>
          </a:prstGeom>
          <a:solidFill>
            <a:schemeClr val="accent1"/>
          </a:solidFill>
          <a:ln w="12700">
            <a:solidFill>
              <a:schemeClr val="accent1"/>
            </a:solidFill>
            <a:prstDash val="solid"/>
          </a:ln>
        </p:spPr>
      </p:sp>
      <p:sp>
        <p:nvSpPr>
          <p:cNvPr id="4" name="Text 2"/>
          <p:cNvSpPr txBox="1"/>
          <p:nvPr/>
        </p:nvSpPr>
        <p:spPr>
          <a:xfrm>
            <a:off x="457200" y="1536192"/>
            <a:ext cx="1463040" cy="457200"/>
          </a:xfrm>
          <a:prstGeom prst="rect">
            <a:avLst/>
          </a:prstGeom>
          <a:noFill/>
          <a:ln/>
        </p:spPr>
        <p:txBody>
          <a:bodyPr wrap="square" lIns="0" tIns="0" rIns="0" bIns="0" rtlCol="0" anchor="t"/>
          <a:lstStyle/>
          <a:p>
            <a:pPr algn="ctr" indent="0" marL="0">
              <a:buNone/>
            </a:pPr>
            <a:r>
              <a:rPr lang="en-US" sz="2200" b="1" dirty="0">
                <a:solidFill>
                  <a:schemeClr val="bg1"/>
                </a:solidFill>
              </a:rPr>
              <a:t>1</a:t>
            </a:r>
            <a:endParaRPr lang="en-US" sz="2200" dirty="0"/>
          </a:p>
        </p:txBody>
      </p:sp>
      <p:sp>
        <p:nvSpPr>
          <p:cNvPr id="5" name="Text 3"/>
          <p:cNvSpPr txBox="1"/>
          <p:nvPr/>
        </p:nvSpPr>
        <p:spPr>
          <a:xfrm>
            <a:off x="548640" y="2057400"/>
            <a:ext cx="1280160" cy="685800"/>
          </a:xfrm>
          <a:prstGeom prst="rect">
            <a:avLst/>
          </a:prstGeom>
          <a:noFill/>
          <a:ln/>
        </p:spPr>
        <p:txBody>
          <a:bodyPr wrap="square" lIns="0" tIns="0" rIns="0" bIns="0" rtlCol="0" anchor="t"/>
          <a:lstStyle/>
          <a:p>
            <a:pPr algn="ctr" indent="0" marL="0">
              <a:buNone/>
            </a:pPr>
            <a:r>
              <a:rPr lang="en-US" sz="1400" b="1" dirty="0">
                <a:solidFill>
                  <a:schemeClr val="bg1"/>
                </a:solidFill>
              </a:rPr>
              <a:t>Share the line</a:t>
            </a:r>
            <a:endParaRPr lang="en-US" sz="1400" dirty="0"/>
          </a:p>
        </p:txBody>
      </p:sp>
      <p:sp>
        <p:nvSpPr>
          <p:cNvPr id="6" name="Text 4"/>
          <p:cNvSpPr txBox="1"/>
          <p:nvPr/>
        </p:nvSpPr>
        <p:spPr>
          <a:xfrm>
            <a:off x="457200" y="2971800"/>
            <a:ext cx="1463040" cy="365760"/>
          </a:xfrm>
          <a:prstGeom prst="rect">
            <a:avLst/>
          </a:prstGeom>
          <a:noFill/>
          <a:ln/>
        </p:spPr>
        <p:txBody>
          <a:bodyPr wrap="square" lIns="0" tIns="0" rIns="0" bIns="0" rtlCol="0" anchor="t"/>
          <a:lstStyle/>
          <a:p>
            <a:pPr algn="ctr" indent="0" marL="0">
              <a:buNone/>
            </a:pPr>
            <a:r>
              <a:rPr lang="en-US" sz="1300" dirty="0">
                <a:solidFill>
                  <a:schemeClr val="tx1"/>
                </a:solidFill>
              </a:rPr>
              <a:t>Multiplexing</a:t>
            </a:r>
            <a:endParaRPr lang="en-US" sz="1300" dirty="0"/>
          </a:p>
        </p:txBody>
      </p:sp>
      <p:sp>
        <p:nvSpPr>
          <p:cNvPr id="7" name="Shape 5"/>
          <p:cNvSpPr/>
          <p:nvPr/>
        </p:nvSpPr>
        <p:spPr>
          <a:xfrm>
            <a:off x="1938528" y="2148840"/>
            <a:ext cx="201168" cy="0"/>
          </a:xfrm>
          <a:prstGeom prst="line">
            <a:avLst/>
          </a:prstGeom>
          <a:noFill/>
          <a:ln w="25400">
            <a:solidFill>
              <a:schemeClr val="accent6"/>
            </a:solidFill>
            <a:prstDash val="solid"/>
            <a:tailEnd type="triangle"/>
          </a:ln>
        </p:spPr>
      </p:sp>
      <p:sp>
        <p:nvSpPr>
          <p:cNvPr id="8" name="Shape 6"/>
          <p:cNvSpPr/>
          <p:nvPr/>
        </p:nvSpPr>
        <p:spPr>
          <a:xfrm>
            <a:off x="2157984" y="1463040"/>
            <a:ext cx="1463040" cy="1371600"/>
          </a:xfrm>
          <a:prstGeom prst="roundRect">
            <a:avLst>
              <a:gd name="adj" fmla="val 5333"/>
            </a:avLst>
          </a:prstGeom>
          <a:solidFill>
            <a:schemeClr val="accent1"/>
          </a:solidFill>
          <a:ln w="12700">
            <a:solidFill>
              <a:schemeClr val="accent1"/>
            </a:solidFill>
            <a:prstDash val="solid"/>
          </a:ln>
        </p:spPr>
      </p:sp>
      <p:sp>
        <p:nvSpPr>
          <p:cNvPr id="9" name="Text 7"/>
          <p:cNvSpPr txBox="1"/>
          <p:nvPr/>
        </p:nvSpPr>
        <p:spPr>
          <a:xfrm>
            <a:off x="2157984" y="1536192"/>
            <a:ext cx="1463040" cy="457200"/>
          </a:xfrm>
          <a:prstGeom prst="rect">
            <a:avLst/>
          </a:prstGeom>
          <a:noFill/>
          <a:ln/>
        </p:spPr>
        <p:txBody>
          <a:bodyPr wrap="square" lIns="0" tIns="0" rIns="0" bIns="0" rtlCol="0" anchor="t"/>
          <a:lstStyle/>
          <a:p>
            <a:pPr algn="ctr" indent="0" marL="0">
              <a:buNone/>
            </a:pPr>
            <a:r>
              <a:rPr lang="en-US" sz="2200" b="1" dirty="0">
                <a:solidFill>
                  <a:schemeClr val="bg1"/>
                </a:solidFill>
              </a:rPr>
              <a:t>2</a:t>
            </a:r>
            <a:endParaRPr lang="en-US" sz="2200" dirty="0"/>
          </a:p>
        </p:txBody>
      </p:sp>
      <p:sp>
        <p:nvSpPr>
          <p:cNvPr id="10" name="Text 8"/>
          <p:cNvSpPr txBox="1"/>
          <p:nvPr/>
        </p:nvSpPr>
        <p:spPr>
          <a:xfrm>
            <a:off x="2249424" y="2057400"/>
            <a:ext cx="1280160" cy="685800"/>
          </a:xfrm>
          <a:prstGeom prst="rect">
            <a:avLst/>
          </a:prstGeom>
          <a:noFill/>
          <a:ln/>
        </p:spPr>
        <p:txBody>
          <a:bodyPr wrap="square" lIns="0" tIns="0" rIns="0" bIns="0" rtlCol="0" anchor="t"/>
          <a:lstStyle/>
          <a:p>
            <a:pPr algn="ctr" indent="0" marL="0">
              <a:buNone/>
            </a:pPr>
            <a:r>
              <a:rPr lang="en-US" sz="1400" b="1" dirty="0">
                <a:solidFill>
                  <a:schemeClr val="bg1"/>
                </a:solidFill>
              </a:rPr>
              <a:t>Find a path</a:t>
            </a:r>
            <a:endParaRPr lang="en-US" sz="1400" dirty="0"/>
          </a:p>
        </p:txBody>
      </p:sp>
      <p:sp>
        <p:nvSpPr>
          <p:cNvPr id="11" name="Text 9"/>
          <p:cNvSpPr txBox="1"/>
          <p:nvPr/>
        </p:nvSpPr>
        <p:spPr>
          <a:xfrm>
            <a:off x="2157984" y="2971800"/>
            <a:ext cx="1463040" cy="365760"/>
          </a:xfrm>
          <a:prstGeom prst="rect">
            <a:avLst/>
          </a:prstGeom>
          <a:noFill/>
          <a:ln/>
        </p:spPr>
        <p:txBody>
          <a:bodyPr wrap="square" lIns="0" tIns="0" rIns="0" bIns="0" rtlCol="0" anchor="t"/>
          <a:lstStyle/>
          <a:p>
            <a:pPr algn="ctr" indent="0" marL="0">
              <a:buNone/>
            </a:pPr>
            <a:r>
              <a:rPr lang="en-US" sz="1300" dirty="0">
                <a:solidFill>
                  <a:schemeClr val="tx1"/>
                </a:solidFill>
              </a:rPr>
              <a:t>Switching</a:t>
            </a:r>
            <a:endParaRPr lang="en-US" sz="1300" dirty="0"/>
          </a:p>
        </p:txBody>
      </p:sp>
      <p:sp>
        <p:nvSpPr>
          <p:cNvPr id="12" name="Shape 10"/>
          <p:cNvSpPr/>
          <p:nvPr/>
        </p:nvSpPr>
        <p:spPr>
          <a:xfrm>
            <a:off x="3639312" y="2148840"/>
            <a:ext cx="201168" cy="0"/>
          </a:xfrm>
          <a:prstGeom prst="line">
            <a:avLst/>
          </a:prstGeom>
          <a:noFill/>
          <a:ln w="25400">
            <a:solidFill>
              <a:schemeClr val="accent6"/>
            </a:solidFill>
            <a:prstDash val="solid"/>
            <a:tailEnd type="triangle"/>
          </a:ln>
        </p:spPr>
      </p:sp>
      <p:sp>
        <p:nvSpPr>
          <p:cNvPr id="13" name="Shape 11"/>
          <p:cNvSpPr/>
          <p:nvPr/>
        </p:nvSpPr>
        <p:spPr>
          <a:xfrm>
            <a:off x="3858768" y="1463040"/>
            <a:ext cx="1463040" cy="1371600"/>
          </a:xfrm>
          <a:prstGeom prst="roundRect">
            <a:avLst>
              <a:gd name="adj" fmla="val 5333"/>
            </a:avLst>
          </a:prstGeom>
          <a:solidFill>
            <a:schemeClr val="tx1"/>
          </a:solidFill>
          <a:ln w="12700">
            <a:solidFill>
              <a:schemeClr val="tx1"/>
            </a:solidFill>
            <a:prstDash val="solid"/>
          </a:ln>
        </p:spPr>
      </p:sp>
      <p:sp>
        <p:nvSpPr>
          <p:cNvPr id="14" name="Text 12"/>
          <p:cNvSpPr txBox="1"/>
          <p:nvPr/>
        </p:nvSpPr>
        <p:spPr>
          <a:xfrm>
            <a:off x="3858768" y="1536192"/>
            <a:ext cx="1463040" cy="457200"/>
          </a:xfrm>
          <a:prstGeom prst="rect">
            <a:avLst/>
          </a:prstGeom>
          <a:noFill/>
          <a:ln/>
        </p:spPr>
        <p:txBody>
          <a:bodyPr wrap="square" lIns="0" tIns="0" rIns="0" bIns="0" rtlCol="0" anchor="t"/>
          <a:lstStyle/>
          <a:p>
            <a:pPr algn="ctr" indent="0" marL="0">
              <a:buNone/>
            </a:pPr>
            <a:r>
              <a:rPr lang="en-US" sz="2200" b="1" dirty="0">
                <a:solidFill>
                  <a:schemeClr val="bg1"/>
                </a:solidFill>
              </a:rPr>
              <a:t>3</a:t>
            </a:r>
            <a:endParaRPr lang="en-US" sz="2200" dirty="0"/>
          </a:p>
        </p:txBody>
      </p:sp>
      <p:sp>
        <p:nvSpPr>
          <p:cNvPr id="15" name="Text 13"/>
          <p:cNvSpPr txBox="1"/>
          <p:nvPr/>
        </p:nvSpPr>
        <p:spPr>
          <a:xfrm>
            <a:off x="3950208" y="2057400"/>
            <a:ext cx="1280160" cy="685800"/>
          </a:xfrm>
          <a:prstGeom prst="rect">
            <a:avLst/>
          </a:prstGeom>
          <a:noFill/>
          <a:ln/>
        </p:spPr>
        <p:txBody>
          <a:bodyPr wrap="square" lIns="0" tIns="0" rIns="0" bIns="0" rtlCol="0" anchor="t"/>
          <a:lstStyle/>
          <a:p>
            <a:pPr algn="ctr" indent="0" marL="0">
              <a:buNone/>
            </a:pPr>
            <a:r>
              <a:rPr lang="en-US" sz="1400" b="1" dirty="0">
                <a:solidFill>
                  <a:schemeClr val="bg1"/>
                </a:solidFill>
              </a:rPr>
              <a:t>What's inside</a:t>
            </a:r>
            <a:endParaRPr lang="en-US" sz="1400" dirty="0"/>
          </a:p>
        </p:txBody>
      </p:sp>
      <p:sp>
        <p:nvSpPr>
          <p:cNvPr id="16" name="Text 14"/>
          <p:cNvSpPr txBox="1"/>
          <p:nvPr/>
        </p:nvSpPr>
        <p:spPr>
          <a:xfrm>
            <a:off x="3858768" y="2971800"/>
            <a:ext cx="1463040" cy="365760"/>
          </a:xfrm>
          <a:prstGeom prst="rect">
            <a:avLst/>
          </a:prstGeom>
          <a:noFill/>
          <a:ln/>
        </p:spPr>
        <p:txBody>
          <a:bodyPr wrap="square" lIns="0" tIns="0" rIns="0" bIns="0" rtlCol="0" anchor="t"/>
          <a:lstStyle/>
          <a:p>
            <a:pPr algn="ctr" indent="0" marL="0">
              <a:buNone/>
            </a:pPr>
            <a:r>
              <a:rPr lang="en-US" sz="1300" dirty="0">
                <a:solidFill>
                  <a:schemeClr val="tx1"/>
                </a:solidFill>
              </a:rPr>
              <a:t>Packet contents</a:t>
            </a:r>
            <a:endParaRPr lang="en-US" sz="1300" dirty="0"/>
          </a:p>
        </p:txBody>
      </p:sp>
      <p:sp>
        <p:nvSpPr>
          <p:cNvPr id="17" name="Shape 15"/>
          <p:cNvSpPr/>
          <p:nvPr/>
        </p:nvSpPr>
        <p:spPr>
          <a:xfrm>
            <a:off x="5340096" y="2148840"/>
            <a:ext cx="201168" cy="0"/>
          </a:xfrm>
          <a:prstGeom prst="line">
            <a:avLst/>
          </a:prstGeom>
          <a:noFill/>
          <a:ln w="25400">
            <a:solidFill>
              <a:schemeClr val="accent6"/>
            </a:solidFill>
            <a:prstDash val="solid"/>
            <a:tailEnd type="triangle"/>
          </a:ln>
        </p:spPr>
      </p:sp>
      <p:sp>
        <p:nvSpPr>
          <p:cNvPr id="18" name="Shape 16"/>
          <p:cNvSpPr/>
          <p:nvPr/>
        </p:nvSpPr>
        <p:spPr>
          <a:xfrm>
            <a:off x="5559552" y="1463040"/>
            <a:ext cx="1463040" cy="1371600"/>
          </a:xfrm>
          <a:prstGeom prst="roundRect">
            <a:avLst>
              <a:gd name="adj" fmla="val 5333"/>
            </a:avLst>
          </a:prstGeom>
          <a:solidFill>
            <a:schemeClr val="tx1"/>
          </a:solidFill>
          <a:ln w="12700">
            <a:solidFill>
              <a:schemeClr val="tx1"/>
            </a:solidFill>
            <a:prstDash val="solid"/>
          </a:ln>
        </p:spPr>
      </p:sp>
      <p:sp>
        <p:nvSpPr>
          <p:cNvPr id="19" name="Text 17"/>
          <p:cNvSpPr txBox="1"/>
          <p:nvPr/>
        </p:nvSpPr>
        <p:spPr>
          <a:xfrm>
            <a:off x="5559552" y="1536192"/>
            <a:ext cx="1463040" cy="457200"/>
          </a:xfrm>
          <a:prstGeom prst="rect">
            <a:avLst/>
          </a:prstGeom>
          <a:noFill/>
          <a:ln/>
        </p:spPr>
        <p:txBody>
          <a:bodyPr wrap="square" lIns="0" tIns="0" rIns="0" bIns="0" rtlCol="0" anchor="t"/>
          <a:lstStyle/>
          <a:p>
            <a:pPr algn="ctr" indent="0" marL="0">
              <a:buNone/>
            </a:pPr>
            <a:r>
              <a:rPr lang="en-US" sz="2200" b="1" dirty="0">
                <a:solidFill>
                  <a:schemeClr val="bg1"/>
                </a:solidFill>
              </a:rPr>
              <a:t>4</a:t>
            </a:r>
            <a:endParaRPr lang="en-US" sz="2200" dirty="0"/>
          </a:p>
        </p:txBody>
      </p:sp>
      <p:sp>
        <p:nvSpPr>
          <p:cNvPr id="20" name="Text 18"/>
          <p:cNvSpPr txBox="1"/>
          <p:nvPr/>
        </p:nvSpPr>
        <p:spPr>
          <a:xfrm>
            <a:off x="5650992" y="2057400"/>
            <a:ext cx="1280160" cy="685800"/>
          </a:xfrm>
          <a:prstGeom prst="rect">
            <a:avLst/>
          </a:prstGeom>
          <a:noFill/>
          <a:ln/>
        </p:spPr>
        <p:txBody>
          <a:bodyPr wrap="square" lIns="0" tIns="0" rIns="0" bIns="0" rtlCol="0" anchor="t"/>
          <a:lstStyle/>
          <a:p>
            <a:pPr algn="ctr" indent="0" marL="0">
              <a:buNone/>
            </a:pPr>
            <a:r>
              <a:rPr lang="en-US" sz="1400" b="1" dirty="0">
                <a:solidFill>
                  <a:schemeClr val="bg1"/>
                </a:solidFill>
              </a:rPr>
              <a:t>Route it</a:t>
            </a:r>
            <a:endParaRPr lang="en-US" sz="1400" dirty="0"/>
          </a:p>
        </p:txBody>
      </p:sp>
      <p:sp>
        <p:nvSpPr>
          <p:cNvPr id="21" name="Text 19"/>
          <p:cNvSpPr txBox="1"/>
          <p:nvPr/>
        </p:nvSpPr>
        <p:spPr>
          <a:xfrm>
            <a:off x="5559552" y="2971800"/>
            <a:ext cx="1463040" cy="365760"/>
          </a:xfrm>
          <a:prstGeom prst="rect">
            <a:avLst/>
          </a:prstGeom>
          <a:noFill/>
          <a:ln/>
        </p:spPr>
        <p:txBody>
          <a:bodyPr wrap="square" lIns="0" tIns="0" rIns="0" bIns="0" rtlCol="0" anchor="t"/>
          <a:lstStyle/>
          <a:p>
            <a:pPr algn="ctr" indent="0" marL="0">
              <a:buNone/>
            </a:pPr>
            <a:r>
              <a:rPr lang="en-US" sz="1300" dirty="0">
                <a:solidFill>
                  <a:schemeClr val="tx1"/>
                </a:solidFill>
              </a:rPr>
              <a:t>Routing</a:t>
            </a:r>
            <a:endParaRPr lang="en-US" sz="1300" dirty="0"/>
          </a:p>
        </p:txBody>
      </p:sp>
      <p:sp>
        <p:nvSpPr>
          <p:cNvPr id="22" name="Shape 20"/>
          <p:cNvSpPr/>
          <p:nvPr/>
        </p:nvSpPr>
        <p:spPr>
          <a:xfrm>
            <a:off x="7040880" y="2148840"/>
            <a:ext cx="201168" cy="0"/>
          </a:xfrm>
          <a:prstGeom prst="line">
            <a:avLst/>
          </a:prstGeom>
          <a:noFill/>
          <a:ln w="25400">
            <a:solidFill>
              <a:schemeClr val="accent6"/>
            </a:solidFill>
            <a:prstDash val="solid"/>
            <a:tailEnd type="triangle"/>
          </a:ln>
        </p:spPr>
      </p:sp>
      <p:sp>
        <p:nvSpPr>
          <p:cNvPr id="23" name="Shape 21"/>
          <p:cNvSpPr/>
          <p:nvPr/>
        </p:nvSpPr>
        <p:spPr>
          <a:xfrm>
            <a:off x="7260336" y="1463040"/>
            <a:ext cx="1463040" cy="1371600"/>
          </a:xfrm>
          <a:prstGeom prst="roundRect">
            <a:avLst>
              <a:gd name="adj" fmla="val 5333"/>
            </a:avLst>
          </a:prstGeom>
          <a:solidFill>
            <a:schemeClr val="accent2"/>
          </a:solidFill>
          <a:ln w="12700">
            <a:solidFill>
              <a:schemeClr val="accent2"/>
            </a:solidFill>
            <a:prstDash val="solid"/>
          </a:ln>
        </p:spPr>
      </p:sp>
      <p:sp>
        <p:nvSpPr>
          <p:cNvPr id="24" name="Text 22"/>
          <p:cNvSpPr txBox="1"/>
          <p:nvPr/>
        </p:nvSpPr>
        <p:spPr>
          <a:xfrm>
            <a:off x="7260336" y="1536192"/>
            <a:ext cx="1463040" cy="457200"/>
          </a:xfrm>
          <a:prstGeom prst="rect">
            <a:avLst/>
          </a:prstGeom>
          <a:noFill/>
          <a:ln/>
        </p:spPr>
        <p:txBody>
          <a:bodyPr wrap="square" lIns="0" tIns="0" rIns="0" bIns="0" rtlCol="0" anchor="t"/>
          <a:lstStyle/>
          <a:p>
            <a:pPr algn="ctr" indent="0" marL="0">
              <a:buNone/>
            </a:pPr>
            <a:r>
              <a:rPr lang="en-US" sz="2200" b="1" dirty="0">
                <a:solidFill>
                  <a:schemeClr val="bg1"/>
                </a:solidFill>
              </a:rPr>
              <a:t>5</a:t>
            </a:r>
            <a:endParaRPr lang="en-US" sz="2200" dirty="0"/>
          </a:p>
        </p:txBody>
      </p:sp>
      <p:sp>
        <p:nvSpPr>
          <p:cNvPr id="25" name="Text 23"/>
          <p:cNvSpPr txBox="1"/>
          <p:nvPr/>
        </p:nvSpPr>
        <p:spPr>
          <a:xfrm>
            <a:off x="7351776" y="2057400"/>
            <a:ext cx="1280160" cy="685800"/>
          </a:xfrm>
          <a:prstGeom prst="rect">
            <a:avLst/>
          </a:prstGeom>
          <a:noFill/>
          <a:ln/>
        </p:spPr>
        <p:txBody>
          <a:bodyPr wrap="square" lIns="0" tIns="0" rIns="0" bIns="0" rtlCol="0" anchor="t"/>
          <a:lstStyle/>
          <a:p>
            <a:pPr algn="ctr" indent="0" marL="0">
              <a:buNone/>
            </a:pPr>
            <a:r>
              <a:rPr lang="en-US" sz="1400" b="1" dirty="0">
                <a:solidFill>
                  <a:schemeClr val="bg1"/>
                </a:solidFill>
              </a:rPr>
              <a:t>When packets clash</a:t>
            </a:r>
            <a:endParaRPr lang="en-US" sz="1400" dirty="0"/>
          </a:p>
        </p:txBody>
      </p:sp>
      <p:sp>
        <p:nvSpPr>
          <p:cNvPr id="26" name="Text 24"/>
          <p:cNvSpPr txBox="1"/>
          <p:nvPr/>
        </p:nvSpPr>
        <p:spPr>
          <a:xfrm>
            <a:off x="7260336" y="2971800"/>
            <a:ext cx="1463040" cy="365760"/>
          </a:xfrm>
          <a:prstGeom prst="rect">
            <a:avLst/>
          </a:prstGeom>
          <a:noFill/>
          <a:ln/>
        </p:spPr>
        <p:txBody>
          <a:bodyPr wrap="square" lIns="0" tIns="0" rIns="0" bIns="0" rtlCol="0" anchor="t"/>
          <a:lstStyle/>
          <a:p>
            <a:pPr algn="ctr" indent="0" marL="0">
              <a:buNone/>
            </a:pPr>
            <a:r>
              <a:rPr lang="en-US" sz="1300" dirty="0">
                <a:solidFill>
                  <a:schemeClr val="tx1"/>
                </a:solidFill>
              </a:rPr>
              <a:t>Collisions</a:t>
            </a:r>
            <a:endParaRPr lang="en-US" sz="1300" dirty="0"/>
          </a:p>
        </p:txBody>
      </p:sp>
      <p:sp>
        <p:nvSpPr>
          <p:cNvPr id="27" name="Text 25"/>
          <p:cNvSpPr txBox="1"/>
          <p:nvPr/>
        </p:nvSpPr>
        <p:spPr>
          <a:xfrm>
            <a:off x="457200" y="3749040"/>
            <a:ext cx="8229600" cy="548640"/>
          </a:xfrm>
          <a:prstGeom prst="rect">
            <a:avLst/>
          </a:prstGeom>
          <a:noFill/>
          <a:ln/>
        </p:spPr>
        <p:txBody>
          <a:bodyPr wrap="square" lIns="0" tIns="0" rIns="0" bIns="0" rtlCol="0" anchor="t"/>
          <a:lstStyle/>
          <a:p>
            <a:pPr indent="0" marL="0">
              <a:buNone/>
            </a:pPr>
            <a:r>
              <a:rPr lang="en-US" sz="1500" dirty="0">
                <a:solidFill>
                  <a:schemeClr val="accent6"/>
                </a:solidFill>
              </a:rPr>
              <a:t>Every stage has come up in a Unit 1 exam. Packet contents and routing are worth the most: up to 6 marks each.</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8046720" cy="1005840"/>
          </a:xfrm>
          <a:prstGeom prst="rect">
            <a:avLst/>
          </a:prstGeom>
          <a:noFill/>
          <a:ln/>
        </p:spPr>
        <p:txBody>
          <a:bodyPr wrap="square" lIns="0" tIns="0" rIns="0" bIns="0" rtlCol="0" anchor="b"/>
          <a:lstStyle/>
          <a:p>
            <a:pPr algn="l" indent="0" marL="0">
              <a:buNone/>
            </a:pPr>
            <a:r>
              <a:rPr lang="en-US" sz="3800" b="1" dirty="0">
                <a:solidFill>
                  <a:schemeClr val="bg1"/>
                </a:solidFill>
              </a:rPr>
              <a:t>Multiplexing and switching</a:t>
            </a:r>
            <a:endParaRPr lang="en-US" sz="3800" dirty="0"/>
          </a:p>
        </p:txBody>
      </p:sp>
      <p:sp>
        <p:nvSpPr>
          <p:cNvPr id="3" name="Text 0"/>
          <p:cNvSpPr/>
          <p:nvPr>
            <p:ph idx="101" type="body" hasCustomPrompt="1"/>
          </p:nvPr>
        </p:nvSpPr>
        <p:spPr>
          <a:xfrm>
            <a:off x="548640" y="2697480"/>
            <a:ext cx="8046720" cy="822960"/>
          </a:xfrm>
          <a:prstGeom prst="rect">
            <a:avLst/>
          </a:prstGeom>
          <a:noFill/>
          <a:ln/>
        </p:spPr>
        <p:txBody>
          <a:bodyPr wrap="square" lIns="0" tIns="0" rIns="0" bIns="0" rtlCol="0" anchor="t"/>
          <a:lstStyle/>
          <a:p>
            <a:pPr indent="0" marL="0">
              <a:buNone/>
            </a:pPr>
            <a:r>
              <a:rPr lang="en-US" sz="1800" dirty="0">
                <a:solidFill>
                  <a:schemeClr val="bg1"/>
                </a:solidFill>
              </a:rPr>
              <a:t>Spec 3.1.3: explain the need for multiplexing and switching</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Multiplexing: many signals, one line</a:t>
            </a:r>
            <a:endParaRPr lang="en-US" sz="3000" dirty="0"/>
          </a:p>
        </p:txBody>
      </p:sp>
      <p:sp>
        <p:nvSpPr>
          <p:cNvPr id="3" name="Shape 1"/>
          <p:cNvSpPr/>
          <p:nvPr/>
        </p:nvSpPr>
        <p:spPr>
          <a:xfrm>
            <a:off x="457200" y="1033272"/>
            <a:ext cx="822960" cy="310896"/>
          </a:xfrm>
          <a:prstGeom prst="roundRect">
            <a:avLst>
              <a:gd name="adj" fmla="val 17647"/>
            </a:avLst>
          </a:prstGeom>
          <a:solidFill>
            <a:schemeClr val="accent1"/>
          </a:solidFill>
          <a:ln w="12700">
            <a:solidFill>
              <a:schemeClr val="accent1"/>
            </a:solidFill>
            <a:prstDash val="solid"/>
          </a:ln>
        </p:spPr>
      </p:sp>
      <p:sp>
        <p:nvSpPr>
          <p:cNvPr id="4" name="Text 2"/>
          <p:cNvSpPr txBox="1"/>
          <p:nvPr/>
        </p:nvSpPr>
        <p:spPr>
          <a:xfrm>
            <a:off x="457200" y="1033272"/>
            <a:ext cx="822960" cy="310896"/>
          </a:xfrm>
          <a:prstGeom prst="rect">
            <a:avLst/>
          </a:prstGeom>
          <a:noFill/>
          <a:ln/>
        </p:spPr>
        <p:txBody>
          <a:bodyPr wrap="square" lIns="0" tIns="0" rIns="0" bIns="0" rtlCol="0" anchor="ctr"/>
          <a:lstStyle/>
          <a:p>
            <a:pPr algn="ctr" indent="0" marL="0">
              <a:buNone/>
            </a:pPr>
            <a:r>
              <a:rPr lang="en-US" sz="1300" b="1" dirty="0">
                <a:solidFill>
                  <a:schemeClr val="bg1"/>
                </a:solidFill>
              </a:rPr>
              <a:t>User 1</a:t>
            </a:r>
            <a:endParaRPr lang="en-US" sz="1300" dirty="0"/>
          </a:p>
        </p:txBody>
      </p:sp>
      <p:sp>
        <p:nvSpPr>
          <p:cNvPr id="5" name="Shape 3"/>
          <p:cNvSpPr/>
          <p:nvPr/>
        </p:nvSpPr>
        <p:spPr>
          <a:xfrm>
            <a:off x="1280160" y="1188720"/>
            <a:ext cx="822960" cy="640080"/>
          </a:xfrm>
          <a:prstGeom prst="line">
            <a:avLst/>
          </a:prstGeom>
          <a:noFill/>
          <a:ln w="25400">
            <a:solidFill>
              <a:schemeClr val="accent1"/>
            </a:solidFill>
            <a:prstDash val="solid"/>
          </a:ln>
        </p:spPr>
      </p:sp>
      <p:sp>
        <p:nvSpPr>
          <p:cNvPr id="6" name="Shape 4"/>
          <p:cNvSpPr/>
          <p:nvPr/>
        </p:nvSpPr>
        <p:spPr>
          <a:xfrm>
            <a:off x="7863840" y="1033272"/>
            <a:ext cx="822960" cy="310896"/>
          </a:xfrm>
          <a:prstGeom prst="roundRect">
            <a:avLst>
              <a:gd name="adj" fmla="val 17647"/>
            </a:avLst>
          </a:prstGeom>
          <a:solidFill>
            <a:schemeClr val="accent1"/>
          </a:solidFill>
          <a:ln w="12700">
            <a:solidFill>
              <a:schemeClr val="accent1"/>
            </a:solidFill>
            <a:prstDash val="solid"/>
          </a:ln>
        </p:spPr>
      </p:sp>
      <p:sp>
        <p:nvSpPr>
          <p:cNvPr id="7" name="Text 5"/>
          <p:cNvSpPr txBox="1"/>
          <p:nvPr/>
        </p:nvSpPr>
        <p:spPr>
          <a:xfrm>
            <a:off x="7863840" y="1033272"/>
            <a:ext cx="822960" cy="310896"/>
          </a:xfrm>
          <a:prstGeom prst="rect">
            <a:avLst/>
          </a:prstGeom>
          <a:noFill/>
          <a:ln/>
        </p:spPr>
        <p:txBody>
          <a:bodyPr wrap="square" lIns="0" tIns="0" rIns="0" bIns="0" rtlCol="0" anchor="ctr"/>
          <a:lstStyle/>
          <a:p>
            <a:pPr algn="ctr" indent="0" marL="0">
              <a:buNone/>
            </a:pPr>
            <a:r>
              <a:rPr lang="en-US" sz="1300" b="1" dirty="0">
                <a:solidFill>
                  <a:schemeClr val="bg1"/>
                </a:solidFill>
              </a:rPr>
              <a:t>User 1</a:t>
            </a:r>
            <a:endParaRPr lang="en-US" sz="1300" dirty="0"/>
          </a:p>
        </p:txBody>
      </p:sp>
      <p:sp>
        <p:nvSpPr>
          <p:cNvPr id="8" name="Shape 6"/>
          <p:cNvSpPr/>
          <p:nvPr/>
        </p:nvSpPr>
        <p:spPr>
          <a:xfrm flipV="1">
            <a:off x="6949440" y="1188720"/>
            <a:ext cx="914400" cy="640080"/>
          </a:xfrm>
          <a:prstGeom prst="line">
            <a:avLst/>
          </a:prstGeom>
          <a:noFill/>
          <a:ln w="25400">
            <a:solidFill>
              <a:schemeClr val="accent1"/>
            </a:solidFill>
            <a:prstDash val="solid"/>
          </a:ln>
        </p:spPr>
      </p:sp>
      <p:sp>
        <p:nvSpPr>
          <p:cNvPr id="9" name="Shape 7"/>
          <p:cNvSpPr/>
          <p:nvPr/>
        </p:nvSpPr>
        <p:spPr>
          <a:xfrm>
            <a:off x="457200" y="1444752"/>
            <a:ext cx="822960" cy="310896"/>
          </a:xfrm>
          <a:prstGeom prst="roundRect">
            <a:avLst>
              <a:gd name="adj" fmla="val 17647"/>
            </a:avLst>
          </a:prstGeom>
          <a:solidFill>
            <a:schemeClr val="tx1"/>
          </a:solidFill>
          <a:ln w="12700">
            <a:solidFill>
              <a:schemeClr val="tx1"/>
            </a:solidFill>
            <a:prstDash val="solid"/>
          </a:ln>
        </p:spPr>
      </p:sp>
      <p:sp>
        <p:nvSpPr>
          <p:cNvPr id="10" name="Text 8"/>
          <p:cNvSpPr txBox="1"/>
          <p:nvPr/>
        </p:nvSpPr>
        <p:spPr>
          <a:xfrm>
            <a:off x="457200" y="1444752"/>
            <a:ext cx="822960" cy="310896"/>
          </a:xfrm>
          <a:prstGeom prst="rect">
            <a:avLst/>
          </a:prstGeom>
          <a:noFill/>
          <a:ln/>
        </p:spPr>
        <p:txBody>
          <a:bodyPr wrap="square" lIns="0" tIns="0" rIns="0" bIns="0" rtlCol="0" anchor="ctr"/>
          <a:lstStyle/>
          <a:p>
            <a:pPr algn="ctr" indent="0" marL="0">
              <a:buNone/>
            </a:pPr>
            <a:r>
              <a:rPr lang="en-US" sz="1300" b="1" dirty="0">
                <a:solidFill>
                  <a:schemeClr val="bg1"/>
                </a:solidFill>
              </a:rPr>
              <a:t>User 2</a:t>
            </a:r>
            <a:endParaRPr lang="en-US" sz="1300" dirty="0"/>
          </a:p>
        </p:txBody>
      </p:sp>
      <p:sp>
        <p:nvSpPr>
          <p:cNvPr id="11" name="Shape 9"/>
          <p:cNvSpPr/>
          <p:nvPr/>
        </p:nvSpPr>
        <p:spPr>
          <a:xfrm>
            <a:off x="1280160" y="1600200"/>
            <a:ext cx="822960" cy="228600"/>
          </a:xfrm>
          <a:prstGeom prst="line">
            <a:avLst/>
          </a:prstGeom>
          <a:noFill/>
          <a:ln w="25400">
            <a:solidFill>
              <a:schemeClr val="tx1"/>
            </a:solidFill>
            <a:prstDash val="solid"/>
          </a:ln>
        </p:spPr>
      </p:sp>
      <p:sp>
        <p:nvSpPr>
          <p:cNvPr id="12" name="Shape 10"/>
          <p:cNvSpPr/>
          <p:nvPr/>
        </p:nvSpPr>
        <p:spPr>
          <a:xfrm>
            <a:off x="7863840" y="1444752"/>
            <a:ext cx="822960" cy="310896"/>
          </a:xfrm>
          <a:prstGeom prst="roundRect">
            <a:avLst>
              <a:gd name="adj" fmla="val 17647"/>
            </a:avLst>
          </a:prstGeom>
          <a:solidFill>
            <a:schemeClr val="tx1"/>
          </a:solidFill>
          <a:ln w="12700">
            <a:solidFill>
              <a:schemeClr val="tx1"/>
            </a:solidFill>
            <a:prstDash val="solid"/>
          </a:ln>
        </p:spPr>
      </p:sp>
      <p:sp>
        <p:nvSpPr>
          <p:cNvPr id="13" name="Text 11"/>
          <p:cNvSpPr txBox="1"/>
          <p:nvPr/>
        </p:nvSpPr>
        <p:spPr>
          <a:xfrm>
            <a:off x="7863840" y="1444752"/>
            <a:ext cx="822960" cy="310896"/>
          </a:xfrm>
          <a:prstGeom prst="rect">
            <a:avLst/>
          </a:prstGeom>
          <a:noFill/>
          <a:ln/>
        </p:spPr>
        <p:txBody>
          <a:bodyPr wrap="square" lIns="0" tIns="0" rIns="0" bIns="0" rtlCol="0" anchor="ctr"/>
          <a:lstStyle/>
          <a:p>
            <a:pPr algn="ctr" indent="0" marL="0">
              <a:buNone/>
            </a:pPr>
            <a:r>
              <a:rPr lang="en-US" sz="1300" b="1" dirty="0">
                <a:solidFill>
                  <a:schemeClr val="bg1"/>
                </a:solidFill>
              </a:rPr>
              <a:t>User 2</a:t>
            </a:r>
            <a:endParaRPr lang="en-US" sz="1300" dirty="0"/>
          </a:p>
        </p:txBody>
      </p:sp>
      <p:sp>
        <p:nvSpPr>
          <p:cNvPr id="14" name="Shape 12"/>
          <p:cNvSpPr/>
          <p:nvPr/>
        </p:nvSpPr>
        <p:spPr>
          <a:xfrm flipV="1">
            <a:off x="6949440" y="1600200"/>
            <a:ext cx="914400" cy="228600"/>
          </a:xfrm>
          <a:prstGeom prst="line">
            <a:avLst/>
          </a:prstGeom>
          <a:noFill/>
          <a:ln w="25400">
            <a:solidFill>
              <a:schemeClr val="tx1"/>
            </a:solidFill>
            <a:prstDash val="solid"/>
          </a:ln>
        </p:spPr>
      </p:sp>
      <p:sp>
        <p:nvSpPr>
          <p:cNvPr id="15" name="Shape 13"/>
          <p:cNvSpPr/>
          <p:nvPr/>
        </p:nvSpPr>
        <p:spPr>
          <a:xfrm>
            <a:off x="457200" y="1856232"/>
            <a:ext cx="822960" cy="310896"/>
          </a:xfrm>
          <a:prstGeom prst="roundRect">
            <a:avLst>
              <a:gd name="adj" fmla="val 17647"/>
            </a:avLst>
          </a:prstGeom>
          <a:solidFill>
            <a:schemeClr val="accent2"/>
          </a:solidFill>
          <a:ln w="12700">
            <a:solidFill>
              <a:schemeClr val="accent2"/>
            </a:solidFill>
            <a:prstDash val="solid"/>
          </a:ln>
        </p:spPr>
      </p:sp>
      <p:sp>
        <p:nvSpPr>
          <p:cNvPr id="16" name="Text 14"/>
          <p:cNvSpPr txBox="1"/>
          <p:nvPr/>
        </p:nvSpPr>
        <p:spPr>
          <a:xfrm>
            <a:off x="457200" y="1856232"/>
            <a:ext cx="822960" cy="310896"/>
          </a:xfrm>
          <a:prstGeom prst="rect">
            <a:avLst/>
          </a:prstGeom>
          <a:noFill/>
          <a:ln/>
        </p:spPr>
        <p:txBody>
          <a:bodyPr wrap="square" lIns="0" tIns="0" rIns="0" bIns="0" rtlCol="0" anchor="ctr"/>
          <a:lstStyle/>
          <a:p>
            <a:pPr algn="ctr" indent="0" marL="0">
              <a:buNone/>
            </a:pPr>
            <a:r>
              <a:rPr lang="en-US" sz="1300" b="1" dirty="0">
                <a:solidFill>
                  <a:schemeClr val="bg1"/>
                </a:solidFill>
              </a:rPr>
              <a:t>User 3</a:t>
            </a:r>
            <a:endParaRPr lang="en-US" sz="1300" dirty="0"/>
          </a:p>
        </p:txBody>
      </p:sp>
      <p:sp>
        <p:nvSpPr>
          <p:cNvPr id="17" name="Shape 15"/>
          <p:cNvSpPr/>
          <p:nvPr/>
        </p:nvSpPr>
        <p:spPr>
          <a:xfrm flipV="1">
            <a:off x="1280160" y="1828800"/>
            <a:ext cx="822960" cy="182880"/>
          </a:xfrm>
          <a:prstGeom prst="line">
            <a:avLst/>
          </a:prstGeom>
          <a:noFill/>
          <a:ln w="25400">
            <a:solidFill>
              <a:schemeClr val="accent2"/>
            </a:solidFill>
            <a:prstDash val="solid"/>
          </a:ln>
        </p:spPr>
      </p:sp>
      <p:sp>
        <p:nvSpPr>
          <p:cNvPr id="18" name="Shape 16"/>
          <p:cNvSpPr/>
          <p:nvPr/>
        </p:nvSpPr>
        <p:spPr>
          <a:xfrm>
            <a:off x="7863840" y="1856232"/>
            <a:ext cx="822960" cy="310896"/>
          </a:xfrm>
          <a:prstGeom prst="roundRect">
            <a:avLst>
              <a:gd name="adj" fmla="val 17647"/>
            </a:avLst>
          </a:prstGeom>
          <a:solidFill>
            <a:schemeClr val="accent2"/>
          </a:solidFill>
          <a:ln w="12700">
            <a:solidFill>
              <a:schemeClr val="accent2"/>
            </a:solidFill>
            <a:prstDash val="solid"/>
          </a:ln>
        </p:spPr>
      </p:sp>
      <p:sp>
        <p:nvSpPr>
          <p:cNvPr id="19" name="Text 17"/>
          <p:cNvSpPr txBox="1"/>
          <p:nvPr/>
        </p:nvSpPr>
        <p:spPr>
          <a:xfrm>
            <a:off x="7863840" y="1856232"/>
            <a:ext cx="822960" cy="310896"/>
          </a:xfrm>
          <a:prstGeom prst="rect">
            <a:avLst/>
          </a:prstGeom>
          <a:noFill/>
          <a:ln/>
        </p:spPr>
        <p:txBody>
          <a:bodyPr wrap="square" lIns="0" tIns="0" rIns="0" bIns="0" rtlCol="0" anchor="ctr"/>
          <a:lstStyle/>
          <a:p>
            <a:pPr algn="ctr" indent="0" marL="0">
              <a:buNone/>
            </a:pPr>
            <a:r>
              <a:rPr lang="en-US" sz="1300" b="1" dirty="0">
                <a:solidFill>
                  <a:schemeClr val="bg1"/>
                </a:solidFill>
              </a:rPr>
              <a:t>User 3</a:t>
            </a:r>
            <a:endParaRPr lang="en-US" sz="1300" dirty="0"/>
          </a:p>
        </p:txBody>
      </p:sp>
      <p:sp>
        <p:nvSpPr>
          <p:cNvPr id="20" name="Shape 18"/>
          <p:cNvSpPr/>
          <p:nvPr/>
        </p:nvSpPr>
        <p:spPr>
          <a:xfrm>
            <a:off x="6949440" y="1828800"/>
            <a:ext cx="914400" cy="182880"/>
          </a:xfrm>
          <a:prstGeom prst="line">
            <a:avLst/>
          </a:prstGeom>
          <a:noFill/>
          <a:ln w="25400">
            <a:solidFill>
              <a:schemeClr val="accent2"/>
            </a:solidFill>
            <a:prstDash val="solid"/>
          </a:ln>
        </p:spPr>
      </p:sp>
      <p:sp>
        <p:nvSpPr>
          <p:cNvPr id="21" name="Shape 19"/>
          <p:cNvSpPr/>
          <p:nvPr/>
        </p:nvSpPr>
        <p:spPr>
          <a:xfrm>
            <a:off x="457200" y="2267712"/>
            <a:ext cx="822960" cy="310896"/>
          </a:xfrm>
          <a:prstGeom prst="roundRect">
            <a:avLst>
              <a:gd name="adj" fmla="val 17647"/>
            </a:avLst>
          </a:prstGeom>
          <a:solidFill>
            <a:schemeClr val="accent5"/>
          </a:solidFill>
          <a:ln w="12700">
            <a:solidFill>
              <a:schemeClr val="accent5"/>
            </a:solidFill>
            <a:prstDash val="solid"/>
          </a:ln>
        </p:spPr>
      </p:sp>
      <p:sp>
        <p:nvSpPr>
          <p:cNvPr id="22" name="Text 20"/>
          <p:cNvSpPr txBox="1"/>
          <p:nvPr/>
        </p:nvSpPr>
        <p:spPr>
          <a:xfrm>
            <a:off x="457200" y="2267712"/>
            <a:ext cx="822960" cy="310896"/>
          </a:xfrm>
          <a:prstGeom prst="rect">
            <a:avLst/>
          </a:prstGeom>
          <a:noFill/>
          <a:ln/>
        </p:spPr>
        <p:txBody>
          <a:bodyPr wrap="square" lIns="0" tIns="0" rIns="0" bIns="0" rtlCol="0" anchor="ctr"/>
          <a:lstStyle/>
          <a:p>
            <a:pPr algn="ctr" indent="0" marL="0">
              <a:buNone/>
            </a:pPr>
            <a:r>
              <a:rPr lang="en-US" sz="1300" b="1" dirty="0">
                <a:solidFill>
                  <a:schemeClr val="bg1"/>
                </a:solidFill>
              </a:rPr>
              <a:t>User 4</a:t>
            </a:r>
            <a:endParaRPr lang="en-US" sz="1300" dirty="0"/>
          </a:p>
        </p:txBody>
      </p:sp>
      <p:sp>
        <p:nvSpPr>
          <p:cNvPr id="23" name="Shape 21"/>
          <p:cNvSpPr/>
          <p:nvPr/>
        </p:nvSpPr>
        <p:spPr>
          <a:xfrm flipV="1">
            <a:off x="1280160" y="1828800"/>
            <a:ext cx="822960" cy="594360"/>
          </a:xfrm>
          <a:prstGeom prst="line">
            <a:avLst/>
          </a:prstGeom>
          <a:noFill/>
          <a:ln w="25400">
            <a:solidFill>
              <a:schemeClr val="accent5"/>
            </a:solidFill>
            <a:prstDash val="solid"/>
          </a:ln>
        </p:spPr>
      </p:sp>
      <p:sp>
        <p:nvSpPr>
          <p:cNvPr id="24" name="Shape 22"/>
          <p:cNvSpPr/>
          <p:nvPr/>
        </p:nvSpPr>
        <p:spPr>
          <a:xfrm>
            <a:off x="7863840" y="2267712"/>
            <a:ext cx="822960" cy="310896"/>
          </a:xfrm>
          <a:prstGeom prst="roundRect">
            <a:avLst>
              <a:gd name="adj" fmla="val 17647"/>
            </a:avLst>
          </a:prstGeom>
          <a:solidFill>
            <a:schemeClr val="accent5"/>
          </a:solidFill>
          <a:ln w="12700">
            <a:solidFill>
              <a:schemeClr val="accent5"/>
            </a:solidFill>
            <a:prstDash val="solid"/>
          </a:ln>
        </p:spPr>
      </p:sp>
      <p:sp>
        <p:nvSpPr>
          <p:cNvPr id="25" name="Text 23"/>
          <p:cNvSpPr txBox="1"/>
          <p:nvPr/>
        </p:nvSpPr>
        <p:spPr>
          <a:xfrm>
            <a:off x="7863840" y="2267712"/>
            <a:ext cx="822960" cy="310896"/>
          </a:xfrm>
          <a:prstGeom prst="rect">
            <a:avLst/>
          </a:prstGeom>
          <a:noFill/>
          <a:ln/>
        </p:spPr>
        <p:txBody>
          <a:bodyPr wrap="square" lIns="0" tIns="0" rIns="0" bIns="0" rtlCol="0" anchor="ctr"/>
          <a:lstStyle/>
          <a:p>
            <a:pPr algn="ctr" indent="0" marL="0">
              <a:buNone/>
            </a:pPr>
            <a:r>
              <a:rPr lang="en-US" sz="1300" b="1" dirty="0">
                <a:solidFill>
                  <a:schemeClr val="bg1"/>
                </a:solidFill>
              </a:rPr>
              <a:t>User 4</a:t>
            </a:r>
            <a:endParaRPr lang="en-US" sz="1300" dirty="0"/>
          </a:p>
        </p:txBody>
      </p:sp>
      <p:sp>
        <p:nvSpPr>
          <p:cNvPr id="26" name="Shape 24"/>
          <p:cNvSpPr/>
          <p:nvPr/>
        </p:nvSpPr>
        <p:spPr>
          <a:xfrm>
            <a:off x="6949440" y="1828800"/>
            <a:ext cx="914400" cy="594360"/>
          </a:xfrm>
          <a:prstGeom prst="line">
            <a:avLst/>
          </a:prstGeom>
          <a:noFill/>
          <a:ln w="25400">
            <a:solidFill>
              <a:schemeClr val="accent5"/>
            </a:solidFill>
            <a:prstDash val="solid"/>
          </a:ln>
        </p:spPr>
      </p:sp>
      <p:sp>
        <p:nvSpPr>
          <p:cNvPr id="27" name="Shape 25"/>
          <p:cNvSpPr/>
          <p:nvPr/>
        </p:nvSpPr>
        <p:spPr>
          <a:xfrm>
            <a:off x="2103120" y="1417320"/>
            <a:ext cx="822960" cy="822960"/>
          </a:xfrm>
          <a:prstGeom prst="roundRect">
            <a:avLst>
              <a:gd name="adj" fmla="val 6667"/>
            </a:avLst>
          </a:prstGeom>
          <a:solidFill>
            <a:schemeClr val="tx1"/>
          </a:solidFill>
          <a:ln w="12700">
            <a:solidFill>
              <a:schemeClr val="tx1"/>
            </a:solidFill>
            <a:prstDash val="solid"/>
          </a:ln>
        </p:spPr>
      </p:sp>
      <p:sp>
        <p:nvSpPr>
          <p:cNvPr id="28" name="Text 26"/>
          <p:cNvSpPr txBox="1"/>
          <p:nvPr/>
        </p:nvSpPr>
        <p:spPr>
          <a:xfrm>
            <a:off x="2103120" y="1417320"/>
            <a:ext cx="822960" cy="822960"/>
          </a:xfrm>
          <a:prstGeom prst="rect">
            <a:avLst/>
          </a:prstGeom>
          <a:noFill/>
          <a:ln/>
        </p:spPr>
        <p:txBody>
          <a:bodyPr wrap="square" lIns="0" tIns="0" rIns="0" bIns="0" rtlCol="0" anchor="ctr"/>
          <a:lstStyle/>
          <a:p>
            <a:pPr algn="ctr" indent="0" marL="0">
              <a:buNone/>
            </a:pPr>
            <a:r>
              <a:rPr lang="en-US" sz="1300" b="1" dirty="0">
                <a:solidFill>
                  <a:schemeClr val="bg1"/>
                </a:solidFill>
              </a:rPr>
              <a:t>MUX</a:t>
            </a:r>
            <a:endParaRPr lang="en-US" sz="1300" dirty="0"/>
          </a:p>
        </p:txBody>
      </p:sp>
      <p:sp>
        <p:nvSpPr>
          <p:cNvPr id="29" name="Shape 27"/>
          <p:cNvSpPr/>
          <p:nvPr/>
        </p:nvSpPr>
        <p:spPr>
          <a:xfrm>
            <a:off x="6126480" y="1417320"/>
            <a:ext cx="822960" cy="822960"/>
          </a:xfrm>
          <a:prstGeom prst="roundRect">
            <a:avLst>
              <a:gd name="adj" fmla="val 6667"/>
            </a:avLst>
          </a:prstGeom>
          <a:solidFill>
            <a:schemeClr val="tx1"/>
          </a:solidFill>
          <a:ln w="12700">
            <a:solidFill>
              <a:schemeClr val="tx1"/>
            </a:solidFill>
            <a:prstDash val="solid"/>
          </a:ln>
        </p:spPr>
      </p:sp>
      <p:sp>
        <p:nvSpPr>
          <p:cNvPr id="30" name="Text 28"/>
          <p:cNvSpPr txBox="1"/>
          <p:nvPr/>
        </p:nvSpPr>
        <p:spPr>
          <a:xfrm>
            <a:off x="6126480" y="1417320"/>
            <a:ext cx="822960" cy="822960"/>
          </a:xfrm>
          <a:prstGeom prst="rect">
            <a:avLst/>
          </a:prstGeom>
          <a:noFill/>
          <a:ln/>
        </p:spPr>
        <p:txBody>
          <a:bodyPr wrap="square" lIns="0" tIns="0" rIns="0" bIns="0" rtlCol="0" anchor="ctr"/>
          <a:lstStyle/>
          <a:p>
            <a:pPr algn="ctr" indent="0" marL="0">
              <a:buNone/>
            </a:pPr>
            <a:r>
              <a:rPr lang="en-US" sz="1300" b="1" dirty="0">
                <a:solidFill>
                  <a:schemeClr val="bg1"/>
                </a:solidFill>
              </a:rPr>
              <a:t>DEMUX</a:t>
            </a:r>
            <a:endParaRPr lang="en-US" sz="1300" dirty="0"/>
          </a:p>
        </p:txBody>
      </p:sp>
      <p:sp>
        <p:nvSpPr>
          <p:cNvPr id="31" name="Shape 29"/>
          <p:cNvSpPr/>
          <p:nvPr/>
        </p:nvSpPr>
        <p:spPr>
          <a:xfrm>
            <a:off x="2926080" y="1828800"/>
            <a:ext cx="3200400" cy="0"/>
          </a:xfrm>
          <a:prstGeom prst="line">
            <a:avLst/>
          </a:prstGeom>
          <a:noFill/>
          <a:ln w="76200">
            <a:solidFill>
              <a:schemeClr val="accent6"/>
            </a:solidFill>
            <a:prstDash val="solid"/>
          </a:ln>
        </p:spPr>
      </p:sp>
      <p:sp>
        <p:nvSpPr>
          <p:cNvPr id="32" name="Shape 30"/>
          <p:cNvSpPr/>
          <p:nvPr/>
        </p:nvSpPr>
        <p:spPr>
          <a:xfrm>
            <a:off x="3108960" y="1719072"/>
            <a:ext cx="274320" cy="219456"/>
          </a:xfrm>
          <a:prstGeom prst="rect">
            <a:avLst/>
          </a:prstGeom>
          <a:solidFill>
            <a:schemeClr val="accent1"/>
          </a:solidFill>
          <a:ln w="12700">
            <a:solidFill>
              <a:schemeClr val="accent1"/>
            </a:solidFill>
            <a:prstDash val="solid"/>
          </a:ln>
        </p:spPr>
      </p:sp>
      <p:sp>
        <p:nvSpPr>
          <p:cNvPr id="33" name="Shape 31"/>
          <p:cNvSpPr/>
          <p:nvPr/>
        </p:nvSpPr>
        <p:spPr>
          <a:xfrm>
            <a:off x="3474720" y="1719072"/>
            <a:ext cx="274320" cy="219456"/>
          </a:xfrm>
          <a:prstGeom prst="rect">
            <a:avLst/>
          </a:prstGeom>
          <a:solidFill>
            <a:schemeClr val="tx1"/>
          </a:solidFill>
          <a:ln w="12700">
            <a:solidFill>
              <a:schemeClr val="tx1"/>
            </a:solidFill>
            <a:prstDash val="solid"/>
          </a:ln>
        </p:spPr>
      </p:sp>
      <p:sp>
        <p:nvSpPr>
          <p:cNvPr id="34" name="Shape 32"/>
          <p:cNvSpPr/>
          <p:nvPr/>
        </p:nvSpPr>
        <p:spPr>
          <a:xfrm>
            <a:off x="3840480" y="1719072"/>
            <a:ext cx="274320" cy="219456"/>
          </a:xfrm>
          <a:prstGeom prst="rect">
            <a:avLst/>
          </a:prstGeom>
          <a:solidFill>
            <a:schemeClr val="accent2"/>
          </a:solidFill>
          <a:ln w="12700">
            <a:solidFill>
              <a:schemeClr val="accent2"/>
            </a:solidFill>
            <a:prstDash val="solid"/>
          </a:ln>
        </p:spPr>
      </p:sp>
      <p:sp>
        <p:nvSpPr>
          <p:cNvPr id="35" name="Shape 33"/>
          <p:cNvSpPr/>
          <p:nvPr/>
        </p:nvSpPr>
        <p:spPr>
          <a:xfrm>
            <a:off x="4206240" y="1719072"/>
            <a:ext cx="274320" cy="219456"/>
          </a:xfrm>
          <a:prstGeom prst="rect">
            <a:avLst/>
          </a:prstGeom>
          <a:solidFill>
            <a:schemeClr val="accent5"/>
          </a:solidFill>
          <a:ln w="12700">
            <a:solidFill>
              <a:schemeClr val="accent5"/>
            </a:solidFill>
            <a:prstDash val="solid"/>
          </a:ln>
        </p:spPr>
      </p:sp>
      <p:sp>
        <p:nvSpPr>
          <p:cNvPr id="36" name="Shape 34"/>
          <p:cNvSpPr/>
          <p:nvPr/>
        </p:nvSpPr>
        <p:spPr>
          <a:xfrm>
            <a:off x="4572000" y="1719072"/>
            <a:ext cx="274320" cy="219456"/>
          </a:xfrm>
          <a:prstGeom prst="rect">
            <a:avLst/>
          </a:prstGeom>
          <a:solidFill>
            <a:schemeClr val="accent1"/>
          </a:solidFill>
          <a:ln w="12700">
            <a:solidFill>
              <a:schemeClr val="accent1"/>
            </a:solidFill>
            <a:prstDash val="solid"/>
          </a:ln>
        </p:spPr>
      </p:sp>
      <p:sp>
        <p:nvSpPr>
          <p:cNvPr id="37" name="Shape 35"/>
          <p:cNvSpPr/>
          <p:nvPr/>
        </p:nvSpPr>
        <p:spPr>
          <a:xfrm>
            <a:off x="4937760" y="1719072"/>
            <a:ext cx="274320" cy="219456"/>
          </a:xfrm>
          <a:prstGeom prst="rect">
            <a:avLst/>
          </a:prstGeom>
          <a:solidFill>
            <a:schemeClr val="tx1"/>
          </a:solidFill>
          <a:ln w="12700">
            <a:solidFill>
              <a:schemeClr val="tx1"/>
            </a:solidFill>
            <a:prstDash val="solid"/>
          </a:ln>
        </p:spPr>
      </p:sp>
      <p:sp>
        <p:nvSpPr>
          <p:cNvPr id="38" name="Shape 36"/>
          <p:cNvSpPr/>
          <p:nvPr/>
        </p:nvSpPr>
        <p:spPr>
          <a:xfrm>
            <a:off x="5303520" y="1719072"/>
            <a:ext cx="274320" cy="219456"/>
          </a:xfrm>
          <a:prstGeom prst="rect">
            <a:avLst/>
          </a:prstGeom>
          <a:solidFill>
            <a:schemeClr val="accent2"/>
          </a:solidFill>
          <a:ln w="12700">
            <a:solidFill>
              <a:schemeClr val="accent2"/>
            </a:solidFill>
            <a:prstDash val="solid"/>
          </a:ln>
        </p:spPr>
      </p:sp>
      <p:sp>
        <p:nvSpPr>
          <p:cNvPr id="39" name="Shape 37"/>
          <p:cNvSpPr/>
          <p:nvPr/>
        </p:nvSpPr>
        <p:spPr>
          <a:xfrm>
            <a:off x="5669280" y="1719072"/>
            <a:ext cx="274320" cy="219456"/>
          </a:xfrm>
          <a:prstGeom prst="rect">
            <a:avLst/>
          </a:prstGeom>
          <a:solidFill>
            <a:schemeClr val="accent5"/>
          </a:solidFill>
          <a:ln w="12700">
            <a:solidFill>
              <a:schemeClr val="accent5"/>
            </a:solidFill>
            <a:prstDash val="solid"/>
          </a:ln>
        </p:spPr>
      </p:sp>
      <p:sp>
        <p:nvSpPr>
          <p:cNvPr id="40" name="Text 38"/>
          <p:cNvSpPr txBox="1"/>
          <p:nvPr/>
        </p:nvSpPr>
        <p:spPr>
          <a:xfrm>
            <a:off x="2926080" y="2011680"/>
            <a:ext cx="3200400" cy="274320"/>
          </a:xfrm>
          <a:prstGeom prst="rect">
            <a:avLst/>
          </a:prstGeom>
          <a:noFill/>
          <a:ln/>
        </p:spPr>
        <p:txBody>
          <a:bodyPr wrap="square" lIns="0" tIns="0" rIns="0" bIns="0" rtlCol="0" anchor="t"/>
          <a:lstStyle/>
          <a:p>
            <a:pPr algn="ctr" indent="0" marL="0">
              <a:buNone/>
            </a:pPr>
            <a:r>
              <a:rPr lang="en-US" sz="1100" dirty="0">
                <a:solidFill>
                  <a:schemeClr val="accent6"/>
                </a:solidFill>
              </a:rPr>
              <a:t>One shared line</a:t>
            </a:r>
            <a:endParaRPr lang="en-US" sz="1100" dirty="0"/>
          </a:p>
        </p:txBody>
      </p:sp>
      <p:sp>
        <p:nvSpPr>
          <p:cNvPr id="41" name="mdef"/>
          <p:cNvSpPr/>
          <p:nvPr/>
        </p:nvSpPr>
        <p:spPr>
          <a:xfrm>
            <a:off x="457200" y="2880360"/>
            <a:ext cx="3977640" cy="173736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2" name="Text 40"/>
          <p:cNvSpPr txBox="1"/>
          <p:nvPr/>
        </p:nvSpPr>
        <p:spPr>
          <a:xfrm>
            <a:off x="640080" y="2971800"/>
            <a:ext cx="3657600" cy="320040"/>
          </a:xfrm>
          <a:prstGeom prst="rect">
            <a:avLst/>
          </a:prstGeom>
          <a:noFill/>
          <a:ln/>
        </p:spPr>
        <p:txBody>
          <a:bodyPr wrap="square" lIns="0" tIns="0" rIns="0" bIns="0" rtlCol="0" anchor="t"/>
          <a:lstStyle/>
          <a:p>
            <a:pPr indent="0" marL="0">
              <a:buNone/>
            </a:pPr>
            <a:r>
              <a:rPr lang="en-US" sz="1700" b="1" dirty="0">
                <a:solidFill>
                  <a:schemeClr val="accent1"/>
                </a:solidFill>
              </a:rPr>
              <a:t>What it is</a:t>
            </a:r>
            <a:endParaRPr lang="en-US" sz="1700" dirty="0"/>
          </a:p>
        </p:txBody>
      </p:sp>
      <p:sp>
        <p:nvSpPr>
          <p:cNvPr id="43" name="Text 41"/>
          <p:cNvSpPr txBox="1"/>
          <p:nvPr/>
        </p:nvSpPr>
        <p:spPr>
          <a:xfrm>
            <a:off x="640080" y="3310128"/>
            <a:ext cx="3657600" cy="1234440"/>
          </a:xfrm>
          <a:prstGeom prst="rect">
            <a:avLst/>
          </a:prstGeom>
          <a:noFill/>
          <a:ln/>
        </p:spPr>
        <p:txBody>
          <a:bodyPr wrap="square" lIns="0" tIns="0" rIns="0" bIns="0" rtlCol="0" anchor="t"/>
          <a:lstStyle/>
          <a:p>
            <a:pPr indent="0" marL="0">
              <a:buNone/>
            </a:pPr>
            <a:r>
              <a:rPr lang="en-US" sz="1400" dirty="0">
                <a:solidFill>
                  <a:schemeClr val="tx1"/>
                </a:solidFill>
              </a:rPr>
              <a:t>Several independent data sources are combined so they can be sent along a single route. A demultiplexer separates them again at the other end.</a:t>
            </a:r>
            <a:endParaRPr lang="en-US" sz="1400" dirty="0"/>
          </a:p>
        </p:txBody>
      </p:sp>
      <p:sp>
        <p:nvSpPr>
          <p:cNvPr id="44" name="mneed"/>
          <p:cNvSpPr/>
          <p:nvPr/>
        </p:nvSpPr>
        <p:spPr>
          <a:xfrm>
            <a:off x="4709160" y="2880360"/>
            <a:ext cx="3977640" cy="173736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5" name="Text 43"/>
          <p:cNvSpPr txBox="1"/>
          <p:nvPr/>
        </p:nvSpPr>
        <p:spPr>
          <a:xfrm>
            <a:off x="4892040" y="2971800"/>
            <a:ext cx="3657600" cy="320040"/>
          </a:xfrm>
          <a:prstGeom prst="rect">
            <a:avLst/>
          </a:prstGeom>
          <a:noFill/>
          <a:ln/>
        </p:spPr>
        <p:txBody>
          <a:bodyPr wrap="square" lIns="0" tIns="0" rIns="0" bIns="0" rtlCol="0" anchor="t"/>
          <a:lstStyle/>
          <a:p>
            <a:pPr indent="0" marL="0">
              <a:buNone/>
            </a:pPr>
            <a:r>
              <a:rPr lang="en-US" sz="1700" b="1" dirty="0">
                <a:solidFill>
                  <a:schemeClr val="accent1"/>
                </a:solidFill>
              </a:rPr>
              <a:t>Why it is needed</a:t>
            </a:r>
            <a:endParaRPr lang="en-US" sz="1700" dirty="0"/>
          </a:p>
        </p:txBody>
      </p:sp>
      <p:sp>
        <p:nvSpPr>
          <p:cNvPr id="46" name="Text 44"/>
          <p:cNvSpPr txBox="1"/>
          <p:nvPr/>
        </p:nvSpPr>
        <p:spPr>
          <a:xfrm>
            <a:off x="4892040" y="3310128"/>
            <a:ext cx="3657600" cy="1234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One line instead of a separate cable for every user</a:t>
            </a:r>
            <a:endParaRPr lang="en-US" sz="1400" dirty="0"/>
          </a:p>
          <a:p>
            <a:pPr marL="342900" indent="-342900">
              <a:spcAft>
                <a:spcPts val="600"/>
              </a:spcAft>
              <a:buSzPct val="100000"/>
              <a:buChar char="•"/>
            </a:pPr>
            <a:r>
              <a:rPr lang="en-US" sz="1400" dirty="0">
                <a:solidFill>
                  <a:schemeClr val="tx1"/>
                </a:solidFill>
              </a:rPr>
              <a:t>Cheaper to install and maintain</a:t>
            </a:r>
            <a:endParaRPr lang="en-US" sz="1400" dirty="0"/>
          </a:p>
          <a:p>
            <a:pPr marL="342900" indent="-342900">
              <a:spcAft>
                <a:spcPts val="600"/>
              </a:spcAft>
              <a:buSzPct val="100000"/>
              <a:buChar char="•"/>
            </a:pPr>
            <a:r>
              <a:rPr lang="en-US" sz="1400" dirty="0">
                <a:solidFill>
                  <a:schemeClr val="tx1"/>
                </a:solidFill>
              </a:rPr>
              <a:t>Makes full use of the line’s bandwidth</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Two ways to share a line</a:t>
            </a:r>
            <a:endParaRPr lang="en-US" sz="3000" dirty="0"/>
          </a:p>
        </p:txBody>
      </p:sp>
      <p:sp>
        <p:nvSpPr>
          <p:cNvPr id="3" name="tdm"/>
          <p:cNvSpPr/>
          <p:nvPr/>
        </p:nvSpPr>
        <p:spPr>
          <a:xfrm>
            <a:off x="457200" y="1051560"/>
            <a:ext cx="3977640" cy="3566160"/>
          </a:xfrm>
          <a:prstGeom prst="roundRect">
            <a:avLst>
              <a:gd name="adj" fmla="val 205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640080" y="1143000"/>
            <a:ext cx="3657600" cy="365760"/>
          </a:xfrm>
          <a:prstGeom prst="rect">
            <a:avLst/>
          </a:prstGeom>
          <a:noFill/>
          <a:ln/>
        </p:spPr>
        <p:txBody>
          <a:bodyPr wrap="square" lIns="0" tIns="0" rIns="0" bIns="0" rtlCol="0" anchor="t"/>
          <a:lstStyle/>
          <a:p>
            <a:pPr indent="0" marL="0">
              <a:buNone/>
            </a:pPr>
            <a:r>
              <a:rPr lang="en-US" sz="1800" b="1" dirty="0">
                <a:solidFill>
                  <a:schemeClr val="accent1"/>
                </a:solidFill>
              </a:rPr>
              <a:t>Time division (TDM)</a:t>
            </a:r>
            <a:endParaRPr lang="en-US" sz="1800" dirty="0"/>
          </a:p>
        </p:txBody>
      </p:sp>
      <p:sp>
        <p:nvSpPr>
          <p:cNvPr id="5" name="Shape 3"/>
          <p:cNvSpPr/>
          <p:nvPr/>
        </p:nvSpPr>
        <p:spPr>
          <a:xfrm>
            <a:off x="731520" y="1691640"/>
            <a:ext cx="384048" cy="822960"/>
          </a:xfrm>
          <a:prstGeom prst="rect">
            <a:avLst/>
          </a:prstGeom>
          <a:solidFill>
            <a:schemeClr val="accent1"/>
          </a:solidFill>
          <a:ln w="12700">
            <a:solidFill>
              <a:schemeClr val="bg1"/>
            </a:solidFill>
            <a:prstDash val="solid"/>
          </a:ln>
        </p:spPr>
      </p:sp>
      <p:sp>
        <p:nvSpPr>
          <p:cNvPr id="6" name="Shape 4"/>
          <p:cNvSpPr/>
          <p:nvPr/>
        </p:nvSpPr>
        <p:spPr>
          <a:xfrm>
            <a:off x="1161288" y="1691640"/>
            <a:ext cx="384048" cy="822960"/>
          </a:xfrm>
          <a:prstGeom prst="rect">
            <a:avLst/>
          </a:prstGeom>
          <a:solidFill>
            <a:schemeClr val="tx1"/>
          </a:solidFill>
          <a:ln w="12700">
            <a:solidFill>
              <a:schemeClr val="bg1"/>
            </a:solidFill>
            <a:prstDash val="solid"/>
          </a:ln>
        </p:spPr>
      </p:sp>
      <p:sp>
        <p:nvSpPr>
          <p:cNvPr id="7" name="Shape 5"/>
          <p:cNvSpPr/>
          <p:nvPr/>
        </p:nvSpPr>
        <p:spPr>
          <a:xfrm>
            <a:off x="1591056" y="1691640"/>
            <a:ext cx="384048" cy="822960"/>
          </a:xfrm>
          <a:prstGeom prst="rect">
            <a:avLst/>
          </a:prstGeom>
          <a:solidFill>
            <a:schemeClr val="accent2"/>
          </a:solidFill>
          <a:ln w="12700">
            <a:solidFill>
              <a:schemeClr val="bg1"/>
            </a:solidFill>
            <a:prstDash val="solid"/>
          </a:ln>
        </p:spPr>
      </p:sp>
      <p:sp>
        <p:nvSpPr>
          <p:cNvPr id="8" name="Shape 6"/>
          <p:cNvSpPr/>
          <p:nvPr/>
        </p:nvSpPr>
        <p:spPr>
          <a:xfrm>
            <a:off x="2020824" y="1691640"/>
            <a:ext cx="384048" cy="822960"/>
          </a:xfrm>
          <a:prstGeom prst="rect">
            <a:avLst/>
          </a:prstGeom>
          <a:solidFill>
            <a:schemeClr val="accent5"/>
          </a:solidFill>
          <a:ln w="12700">
            <a:solidFill>
              <a:schemeClr val="bg1"/>
            </a:solidFill>
            <a:prstDash val="solid"/>
          </a:ln>
        </p:spPr>
      </p:sp>
      <p:sp>
        <p:nvSpPr>
          <p:cNvPr id="9" name="Shape 7"/>
          <p:cNvSpPr/>
          <p:nvPr/>
        </p:nvSpPr>
        <p:spPr>
          <a:xfrm>
            <a:off x="2450592" y="1691640"/>
            <a:ext cx="384048" cy="822960"/>
          </a:xfrm>
          <a:prstGeom prst="rect">
            <a:avLst/>
          </a:prstGeom>
          <a:solidFill>
            <a:schemeClr val="accent1"/>
          </a:solidFill>
          <a:ln w="12700">
            <a:solidFill>
              <a:schemeClr val="bg1"/>
            </a:solidFill>
            <a:prstDash val="solid"/>
          </a:ln>
        </p:spPr>
      </p:sp>
      <p:sp>
        <p:nvSpPr>
          <p:cNvPr id="10" name="Shape 8"/>
          <p:cNvSpPr/>
          <p:nvPr/>
        </p:nvSpPr>
        <p:spPr>
          <a:xfrm>
            <a:off x="2880360" y="1691640"/>
            <a:ext cx="384048" cy="822960"/>
          </a:xfrm>
          <a:prstGeom prst="rect">
            <a:avLst/>
          </a:prstGeom>
          <a:solidFill>
            <a:schemeClr val="tx1"/>
          </a:solidFill>
          <a:ln w="12700">
            <a:solidFill>
              <a:schemeClr val="bg1"/>
            </a:solidFill>
            <a:prstDash val="solid"/>
          </a:ln>
        </p:spPr>
      </p:sp>
      <p:sp>
        <p:nvSpPr>
          <p:cNvPr id="11" name="Shape 9"/>
          <p:cNvSpPr/>
          <p:nvPr/>
        </p:nvSpPr>
        <p:spPr>
          <a:xfrm>
            <a:off x="3310128" y="1691640"/>
            <a:ext cx="384048" cy="822960"/>
          </a:xfrm>
          <a:prstGeom prst="rect">
            <a:avLst/>
          </a:prstGeom>
          <a:solidFill>
            <a:schemeClr val="accent2"/>
          </a:solidFill>
          <a:ln w="12700">
            <a:solidFill>
              <a:schemeClr val="bg1"/>
            </a:solidFill>
            <a:prstDash val="solid"/>
          </a:ln>
        </p:spPr>
      </p:sp>
      <p:sp>
        <p:nvSpPr>
          <p:cNvPr id="12" name="Shape 10"/>
          <p:cNvSpPr/>
          <p:nvPr/>
        </p:nvSpPr>
        <p:spPr>
          <a:xfrm>
            <a:off x="3739896" y="1691640"/>
            <a:ext cx="384048" cy="822960"/>
          </a:xfrm>
          <a:prstGeom prst="rect">
            <a:avLst/>
          </a:prstGeom>
          <a:solidFill>
            <a:schemeClr val="accent5"/>
          </a:solidFill>
          <a:ln w="12700">
            <a:solidFill>
              <a:schemeClr val="bg1"/>
            </a:solidFill>
            <a:prstDash val="solid"/>
          </a:ln>
        </p:spPr>
      </p:sp>
      <p:sp>
        <p:nvSpPr>
          <p:cNvPr id="13" name="Text 11"/>
          <p:cNvSpPr txBox="1"/>
          <p:nvPr/>
        </p:nvSpPr>
        <p:spPr>
          <a:xfrm>
            <a:off x="731520" y="2542032"/>
            <a:ext cx="3429000" cy="274320"/>
          </a:xfrm>
          <a:prstGeom prst="rect">
            <a:avLst/>
          </a:prstGeom>
          <a:noFill/>
          <a:ln/>
        </p:spPr>
        <p:txBody>
          <a:bodyPr wrap="square" lIns="0" tIns="0" rIns="0" bIns="0" rtlCol="0" anchor="t"/>
          <a:lstStyle/>
          <a:p>
            <a:pPr algn="r" indent="0" marL="0">
              <a:buNone/>
            </a:pPr>
            <a:r>
              <a:rPr lang="en-US" sz="1100" dirty="0">
                <a:solidFill>
                  <a:schemeClr val="accent6"/>
                </a:solidFill>
              </a:rPr>
              <a:t>time →</a:t>
            </a:r>
            <a:endParaRPr lang="en-US" sz="1100" dirty="0"/>
          </a:p>
        </p:txBody>
      </p:sp>
      <p:sp>
        <p:nvSpPr>
          <p:cNvPr id="14" name="Text 12"/>
          <p:cNvSpPr txBox="1"/>
          <p:nvPr/>
        </p:nvSpPr>
        <p:spPr>
          <a:xfrm>
            <a:off x="640080" y="2880360"/>
            <a:ext cx="3657600" cy="1005840"/>
          </a:xfrm>
          <a:prstGeom prst="rect">
            <a:avLst/>
          </a:prstGeom>
          <a:noFill/>
          <a:ln/>
        </p:spPr>
        <p:txBody>
          <a:bodyPr wrap="square" lIns="0" tIns="0" rIns="0" bIns="0" rtlCol="0" anchor="t"/>
          <a:lstStyle/>
          <a:p>
            <a:pPr indent="0" marL="0">
              <a:buNone/>
            </a:pPr>
            <a:r>
              <a:rPr lang="en-US" sz="1400" dirty="0">
                <a:solidFill>
                  <a:schemeClr val="tx1"/>
                </a:solidFill>
              </a:rPr>
              <a:t>Each user gets a time slot and takes turns using the whole line. The turns are so quick that everyone seems to send at once.</a:t>
            </a:r>
            <a:endParaRPr lang="en-US" sz="1400" dirty="0"/>
          </a:p>
        </p:txBody>
      </p:sp>
      <p:sp>
        <p:nvSpPr>
          <p:cNvPr id="15" name="Text 13"/>
          <p:cNvSpPr txBox="1"/>
          <p:nvPr/>
        </p:nvSpPr>
        <p:spPr>
          <a:xfrm>
            <a:off x="640080" y="4023360"/>
            <a:ext cx="3657600" cy="365760"/>
          </a:xfrm>
          <a:prstGeom prst="rect">
            <a:avLst/>
          </a:prstGeom>
          <a:noFill/>
          <a:ln/>
        </p:spPr>
        <p:txBody>
          <a:bodyPr wrap="square" lIns="0" tIns="0" rIns="0" bIns="0" rtlCol="0" anchor="t"/>
          <a:lstStyle/>
          <a:p>
            <a:pPr indent="0" marL="0">
              <a:buNone/>
            </a:pPr>
            <a:r>
              <a:rPr lang="en-US" sz="1300" b="1" dirty="0">
                <a:solidFill>
                  <a:schemeClr val="tx1"/>
                </a:solidFill>
              </a:rPr>
              <a:t>Example: </a:t>
            </a:r>
            <a:pPr indent="0" marL="0">
              <a:buNone/>
            </a:pPr>
            <a:r>
              <a:rPr lang="en-US" sz="1300" dirty="0">
                <a:solidFill>
                  <a:schemeClr val="tx1"/>
                </a:solidFill>
              </a:rPr>
              <a:t>digital telephone networks</a:t>
            </a:r>
            <a:endParaRPr lang="en-US" sz="1300" dirty="0"/>
          </a:p>
        </p:txBody>
      </p:sp>
      <p:sp>
        <p:nvSpPr>
          <p:cNvPr id="16" name="fdm"/>
          <p:cNvSpPr/>
          <p:nvPr/>
        </p:nvSpPr>
        <p:spPr>
          <a:xfrm>
            <a:off x="4709160" y="1051560"/>
            <a:ext cx="3977640" cy="3566160"/>
          </a:xfrm>
          <a:prstGeom prst="roundRect">
            <a:avLst>
              <a:gd name="adj" fmla="val 205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4892040" y="1143000"/>
            <a:ext cx="3657600" cy="365760"/>
          </a:xfrm>
          <a:prstGeom prst="rect">
            <a:avLst/>
          </a:prstGeom>
          <a:noFill/>
          <a:ln/>
        </p:spPr>
        <p:txBody>
          <a:bodyPr wrap="square" lIns="0" tIns="0" rIns="0" bIns="0" rtlCol="0" anchor="t"/>
          <a:lstStyle/>
          <a:p>
            <a:pPr indent="0" marL="0">
              <a:buNone/>
            </a:pPr>
            <a:r>
              <a:rPr lang="en-US" sz="1800" b="1" dirty="0">
                <a:solidFill>
                  <a:schemeClr val="accent1"/>
                </a:solidFill>
              </a:rPr>
              <a:t>Frequency division (FDM)</a:t>
            </a:r>
            <a:endParaRPr lang="en-US" sz="1800" dirty="0"/>
          </a:p>
        </p:txBody>
      </p:sp>
      <p:sp>
        <p:nvSpPr>
          <p:cNvPr id="18" name="Shape 16"/>
          <p:cNvSpPr/>
          <p:nvPr/>
        </p:nvSpPr>
        <p:spPr>
          <a:xfrm>
            <a:off x="4983480" y="1691640"/>
            <a:ext cx="3429000" cy="182880"/>
          </a:xfrm>
          <a:prstGeom prst="rect">
            <a:avLst/>
          </a:prstGeom>
          <a:solidFill>
            <a:schemeClr val="accent1"/>
          </a:solidFill>
          <a:ln w="12700">
            <a:solidFill>
              <a:schemeClr val="accent1"/>
            </a:solidFill>
            <a:prstDash val="solid"/>
          </a:ln>
        </p:spPr>
      </p:sp>
      <p:sp>
        <p:nvSpPr>
          <p:cNvPr id="19" name="Shape 17"/>
          <p:cNvSpPr/>
          <p:nvPr/>
        </p:nvSpPr>
        <p:spPr>
          <a:xfrm>
            <a:off x="4983480" y="1901952"/>
            <a:ext cx="3429000" cy="182880"/>
          </a:xfrm>
          <a:prstGeom prst="rect">
            <a:avLst/>
          </a:prstGeom>
          <a:solidFill>
            <a:schemeClr val="tx1"/>
          </a:solidFill>
          <a:ln w="12700">
            <a:solidFill>
              <a:schemeClr val="tx1"/>
            </a:solidFill>
            <a:prstDash val="solid"/>
          </a:ln>
        </p:spPr>
      </p:sp>
      <p:sp>
        <p:nvSpPr>
          <p:cNvPr id="20" name="Shape 18"/>
          <p:cNvSpPr/>
          <p:nvPr/>
        </p:nvSpPr>
        <p:spPr>
          <a:xfrm>
            <a:off x="4983480" y="2112264"/>
            <a:ext cx="3429000" cy="182880"/>
          </a:xfrm>
          <a:prstGeom prst="rect">
            <a:avLst/>
          </a:prstGeom>
          <a:solidFill>
            <a:schemeClr val="accent2"/>
          </a:solidFill>
          <a:ln w="12700">
            <a:solidFill>
              <a:schemeClr val="accent2"/>
            </a:solidFill>
            <a:prstDash val="solid"/>
          </a:ln>
        </p:spPr>
      </p:sp>
      <p:sp>
        <p:nvSpPr>
          <p:cNvPr id="21" name="Shape 19"/>
          <p:cNvSpPr/>
          <p:nvPr/>
        </p:nvSpPr>
        <p:spPr>
          <a:xfrm>
            <a:off x="4983480" y="2322576"/>
            <a:ext cx="3429000" cy="182880"/>
          </a:xfrm>
          <a:prstGeom prst="rect">
            <a:avLst/>
          </a:prstGeom>
          <a:solidFill>
            <a:schemeClr val="accent5"/>
          </a:solidFill>
          <a:ln w="12700">
            <a:solidFill>
              <a:schemeClr val="accent5"/>
            </a:solidFill>
            <a:prstDash val="solid"/>
          </a:ln>
        </p:spPr>
      </p:sp>
      <p:sp>
        <p:nvSpPr>
          <p:cNvPr id="22" name="Text 20"/>
          <p:cNvSpPr txBox="1"/>
          <p:nvPr/>
        </p:nvSpPr>
        <p:spPr>
          <a:xfrm>
            <a:off x="4983480" y="2542032"/>
            <a:ext cx="3429000" cy="274320"/>
          </a:xfrm>
          <a:prstGeom prst="rect">
            <a:avLst/>
          </a:prstGeom>
          <a:noFill/>
          <a:ln/>
        </p:spPr>
        <p:txBody>
          <a:bodyPr wrap="square" lIns="0" tIns="0" rIns="0" bIns="0" rtlCol="0" anchor="t"/>
          <a:lstStyle/>
          <a:p>
            <a:pPr algn="r" indent="0" marL="0">
              <a:buNone/>
            </a:pPr>
            <a:r>
              <a:rPr lang="en-US" sz="1100" dirty="0">
                <a:solidFill>
                  <a:schemeClr val="accent6"/>
                </a:solidFill>
              </a:rPr>
              <a:t>time →</a:t>
            </a:r>
            <a:endParaRPr lang="en-US" sz="1100" dirty="0"/>
          </a:p>
        </p:txBody>
      </p:sp>
      <p:sp>
        <p:nvSpPr>
          <p:cNvPr id="23" name="Text 21"/>
          <p:cNvSpPr txBox="1"/>
          <p:nvPr/>
        </p:nvSpPr>
        <p:spPr>
          <a:xfrm>
            <a:off x="4892040" y="2880360"/>
            <a:ext cx="3657600" cy="1005840"/>
          </a:xfrm>
          <a:prstGeom prst="rect">
            <a:avLst/>
          </a:prstGeom>
          <a:noFill/>
          <a:ln/>
        </p:spPr>
        <p:txBody>
          <a:bodyPr wrap="square" lIns="0" tIns="0" rIns="0" bIns="0" rtlCol="0" anchor="t"/>
          <a:lstStyle/>
          <a:p>
            <a:pPr indent="0" marL="0">
              <a:buNone/>
            </a:pPr>
            <a:r>
              <a:rPr lang="en-US" sz="1400" dirty="0">
                <a:solidFill>
                  <a:schemeClr val="tx1"/>
                </a:solidFill>
              </a:rPr>
              <a:t>Each user gets their own frequency band and sends all the time, side by side on the same line.</a:t>
            </a:r>
            <a:endParaRPr lang="en-US" sz="1400" dirty="0"/>
          </a:p>
        </p:txBody>
      </p:sp>
      <p:sp>
        <p:nvSpPr>
          <p:cNvPr id="24" name="Text 22"/>
          <p:cNvSpPr txBox="1"/>
          <p:nvPr/>
        </p:nvSpPr>
        <p:spPr>
          <a:xfrm>
            <a:off x="4892040" y="4023360"/>
            <a:ext cx="3657600" cy="365760"/>
          </a:xfrm>
          <a:prstGeom prst="rect">
            <a:avLst/>
          </a:prstGeom>
          <a:noFill/>
          <a:ln/>
        </p:spPr>
        <p:txBody>
          <a:bodyPr wrap="square" lIns="0" tIns="0" rIns="0" bIns="0" rtlCol="0" anchor="t"/>
          <a:lstStyle/>
          <a:p>
            <a:pPr indent="0" marL="0">
              <a:buNone/>
            </a:pPr>
            <a:r>
              <a:rPr lang="en-US" sz="1300" b="1" dirty="0">
                <a:solidFill>
                  <a:schemeClr val="tx1"/>
                </a:solidFill>
              </a:rPr>
              <a:t>Example: </a:t>
            </a:r>
            <a:pPr indent="0" marL="0">
              <a:buNone/>
            </a:pPr>
            <a:r>
              <a:rPr lang="en-US" sz="1300" dirty="0">
                <a:solidFill>
                  <a:schemeClr val="tx1"/>
                </a:solidFill>
              </a:rPr>
              <a:t>radio and TV broadcasting</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Switching: getting from A to B</a:t>
            </a:r>
            <a:endParaRPr lang="en-US" sz="3000" dirty="0"/>
          </a:p>
        </p:txBody>
      </p:sp>
      <p:sp>
        <p:nvSpPr>
          <p:cNvPr id="3" name="Text 1"/>
          <p:cNvSpPr txBox="1"/>
          <p:nvPr/>
        </p:nvSpPr>
        <p:spPr>
          <a:xfrm>
            <a:off x="457200" y="960120"/>
            <a:ext cx="8229600" cy="365760"/>
          </a:xfrm>
          <a:prstGeom prst="rect">
            <a:avLst/>
          </a:prstGeom>
          <a:noFill/>
          <a:ln/>
        </p:spPr>
        <p:txBody>
          <a:bodyPr wrap="square" lIns="0" tIns="0" rIns="0" bIns="0" rtlCol="0" anchor="t"/>
          <a:lstStyle/>
          <a:p>
            <a:pPr indent="0" marL="0">
              <a:buNone/>
            </a:pPr>
            <a:r>
              <a:rPr lang="en-US" sz="1500" dirty="0">
                <a:solidFill>
                  <a:schemeClr val="tx1"/>
                </a:solidFill>
              </a:rPr>
              <a:t>Switching directs data from its source to its destination through a network of connected nodes.</a:t>
            </a:r>
            <a:endParaRPr lang="en-US" sz="1500" dirty="0"/>
          </a:p>
        </p:txBody>
      </p:sp>
      <p:sp>
        <p:nvSpPr>
          <p:cNvPr id="4" name="sw0"/>
          <p:cNvSpPr/>
          <p:nvPr/>
        </p:nvSpPr>
        <p:spPr>
          <a:xfrm>
            <a:off x="457200" y="1417320"/>
            <a:ext cx="3977640" cy="3200400"/>
          </a:xfrm>
          <a:prstGeom prst="roundRect">
            <a:avLst>
              <a:gd name="adj" fmla="val 228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457200" y="1417320"/>
            <a:ext cx="3977640" cy="457200"/>
          </a:xfrm>
          <a:prstGeom prst="roundRect">
            <a:avLst>
              <a:gd name="adj" fmla="val 16000"/>
            </a:avLst>
          </a:prstGeom>
          <a:solidFill>
            <a:schemeClr val="tx1"/>
          </a:solidFill>
          <a:ln w="12700">
            <a:solidFill>
              <a:schemeClr val="tx1"/>
            </a:solidFill>
            <a:prstDash val="solid"/>
          </a:ln>
        </p:spPr>
      </p:sp>
      <p:sp>
        <p:nvSpPr>
          <p:cNvPr id="6" name="Text 4"/>
          <p:cNvSpPr txBox="1"/>
          <p:nvPr/>
        </p:nvSpPr>
        <p:spPr>
          <a:xfrm>
            <a:off x="640080" y="1417320"/>
            <a:ext cx="3657600" cy="457200"/>
          </a:xfrm>
          <a:prstGeom prst="rect">
            <a:avLst/>
          </a:prstGeom>
          <a:noFill/>
          <a:ln/>
        </p:spPr>
        <p:txBody>
          <a:bodyPr wrap="square" lIns="0" tIns="0" rIns="0" bIns="0" rtlCol="0" anchor="ctr"/>
          <a:lstStyle/>
          <a:p>
            <a:pPr indent="0" marL="0">
              <a:buNone/>
            </a:pPr>
            <a:r>
              <a:rPr lang="en-US" sz="1700" b="1" dirty="0">
                <a:solidFill>
                  <a:schemeClr val="bg1"/>
                </a:solidFill>
              </a:rPr>
              <a:t>Circuit switching</a:t>
            </a:r>
            <a:endParaRPr lang="en-US" sz="1700" dirty="0"/>
          </a:p>
        </p:txBody>
      </p:sp>
      <p:sp>
        <p:nvSpPr>
          <p:cNvPr id="7" name="Text 5"/>
          <p:cNvSpPr txBox="1"/>
          <p:nvPr/>
        </p:nvSpPr>
        <p:spPr>
          <a:xfrm>
            <a:off x="640080" y="1965960"/>
            <a:ext cx="3611880" cy="685800"/>
          </a:xfrm>
          <a:prstGeom prst="rect">
            <a:avLst/>
          </a:prstGeom>
          <a:noFill/>
          <a:ln/>
        </p:spPr>
        <p:txBody>
          <a:bodyPr wrap="square" lIns="0" tIns="0" rIns="0" bIns="0" rtlCol="0" anchor="t"/>
          <a:lstStyle/>
          <a:p>
            <a:pPr indent="0" marL="0">
              <a:buNone/>
            </a:pPr>
            <a:r>
              <a:rPr lang="en-US" sz="1350" dirty="0">
                <a:solidFill>
                  <a:schemeClr val="tx1"/>
                </a:solidFill>
              </a:rPr>
              <a:t>A dedicated path is set up between sender and receiver for the whole communication.</a:t>
            </a:r>
            <a:endParaRPr lang="en-US" sz="1350" dirty="0"/>
          </a:p>
        </p:txBody>
      </p:sp>
      <p:sp>
        <p:nvSpPr>
          <p:cNvPr id="8" name="Text 6"/>
          <p:cNvSpPr txBox="1"/>
          <p:nvPr/>
        </p:nvSpPr>
        <p:spPr>
          <a:xfrm>
            <a:off x="640080" y="2651760"/>
            <a:ext cx="3611880" cy="320040"/>
          </a:xfrm>
          <a:prstGeom prst="rect">
            <a:avLst/>
          </a:prstGeom>
          <a:noFill/>
          <a:ln/>
        </p:spPr>
        <p:txBody>
          <a:bodyPr wrap="square" lIns="0" tIns="0" rIns="0" bIns="0" rtlCol="0" anchor="t"/>
          <a:lstStyle/>
          <a:p>
            <a:pPr indent="0" marL="0">
              <a:buNone/>
            </a:pPr>
            <a:r>
              <a:rPr lang="en-US" sz="1300" b="1" dirty="0">
                <a:solidFill>
                  <a:schemeClr val="tx1"/>
                </a:solidFill>
              </a:rPr>
              <a:t>Example: </a:t>
            </a:r>
            <a:pPr indent="0" marL="0">
              <a:buNone/>
            </a:pPr>
            <a:r>
              <a:rPr lang="en-US" sz="1300" dirty="0">
                <a:solidFill>
                  <a:schemeClr val="tx1"/>
                </a:solidFill>
              </a:rPr>
              <a:t>Traditional telephone network</a:t>
            </a:r>
            <a:endParaRPr lang="en-US" sz="1300" dirty="0"/>
          </a:p>
        </p:txBody>
      </p:sp>
      <p:sp>
        <p:nvSpPr>
          <p:cNvPr id="9" name="Text 7"/>
          <p:cNvSpPr txBox="1"/>
          <p:nvPr/>
        </p:nvSpPr>
        <p:spPr>
          <a:xfrm>
            <a:off x="640080" y="3017520"/>
            <a:ext cx="3611880" cy="685800"/>
          </a:xfrm>
          <a:prstGeom prst="rect">
            <a:avLst/>
          </a:prstGeom>
          <a:noFill/>
          <a:ln/>
        </p:spPr>
        <p:txBody>
          <a:bodyPr wrap="square" lIns="0" tIns="0" rIns="0" bIns="0" rtlCol="0" anchor="t"/>
          <a:lstStyle/>
          <a:p>
            <a:pPr indent="0" marL="0">
              <a:buNone/>
            </a:pPr>
            <a:r>
              <a:rPr lang="en-US" sz="1300" b="1" dirty="0">
                <a:solidFill>
                  <a:schemeClr val="accent5"/>
                </a:solidFill>
              </a:rPr>
              <a:t>+ </a:t>
            </a:r>
            <a:pPr indent="0" marL="0">
              <a:buNone/>
            </a:pPr>
            <a:r>
              <a:rPr lang="en-US" sz="1300" dirty="0">
                <a:solidFill>
                  <a:schemeClr val="tx1"/>
                </a:solidFill>
              </a:rPr>
              <a:t>Once connected, data arrives fast and in order</a:t>
            </a:r>
            <a:endParaRPr lang="en-US" sz="1300" dirty="0"/>
          </a:p>
        </p:txBody>
      </p:sp>
      <p:sp>
        <p:nvSpPr>
          <p:cNvPr id="10" name="Text 8"/>
          <p:cNvSpPr txBox="1"/>
          <p:nvPr/>
        </p:nvSpPr>
        <p:spPr>
          <a:xfrm>
            <a:off x="640080" y="3703320"/>
            <a:ext cx="3611880" cy="822960"/>
          </a:xfrm>
          <a:prstGeom prst="rect">
            <a:avLst/>
          </a:prstGeom>
          <a:noFill/>
          <a:ln/>
        </p:spPr>
        <p:txBody>
          <a:bodyPr wrap="square" lIns="0" tIns="0" rIns="0" bIns="0" rtlCol="0" anchor="t"/>
          <a:lstStyle/>
          <a:p>
            <a:pPr indent="0" marL="0">
              <a:buNone/>
            </a:pPr>
            <a:r>
              <a:rPr lang="en-US" sz="1300" b="1" dirty="0">
                <a:solidFill>
                  <a:schemeClr val="accent4"/>
                </a:solidFill>
              </a:rPr>
              <a:t>− </a:t>
            </a:r>
            <a:pPr indent="0" marL="0">
              <a:buNone/>
            </a:pPr>
            <a:r>
              <a:rPr lang="en-US" sz="1300" dirty="0">
                <a:solidFill>
                  <a:schemeClr val="tx1"/>
                </a:solidFill>
              </a:rPr>
              <a:t>If any part of the path fails, the connection breaks. The path is reserved even when nothing is sent.</a:t>
            </a:r>
            <a:endParaRPr lang="en-US" sz="1300" dirty="0"/>
          </a:p>
        </p:txBody>
      </p:sp>
      <p:sp>
        <p:nvSpPr>
          <p:cNvPr id="11" name="sw1"/>
          <p:cNvSpPr/>
          <p:nvPr/>
        </p:nvSpPr>
        <p:spPr>
          <a:xfrm>
            <a:off x="4709160" y="1417320"/>
            <a:ext cx="3977640" cy="3200400"/>
          </a:xfrm>
          <a:prstGeom prst="roundRect">
            <a:avLst>
              <a:gd name="adj" fmla="val 228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4709160" y="1417320"/>
            <a:ext cx="3977640" cy="457200"/>
          </a:xfrm>
          <a:prstGeom prst="roundRect">
            <a:avLst>
              <a:gd name="adj" fmla="val 16000"/>
            </a:avLst>
          </a:prstGeom>
          <a:solidFill>
            <a:schemeClr val="accent1"/>
          </a:solidFill>
          <a:ln w="12700">
            <a:solidFill>
              <a:schemeClr val="accent1"/>
            </a:solidFill>
            <a:prstDash val="solid"/>
          </a:ln>
        </p:spPr>
      </p:sp>
      <p:sp>
        <p:nvSpPr>
          <p:cNvPr id="13" name="Text 11"/>
          <p:cNvSpPr txBox="1"/>
          <p:nvPr/>
        </p:nvSpPr>
        <p:spPr>
          <a:xfrm>
            <a:off x="4892040" y="1417320"/>
            <a:ext cx="3657600" cy="457200"/>
          </a:xfrm>
          <a:prstGeom prst="rect">
            <a:avLst/>
          </a:prstGeom>
          <a:noFill/>
          <a:ln/>
        </p:spPr>
        <p:txBody>
          <a:bodyPr wrap="square" lIns="0" tIns="0" rIns="0" bIns="0" rtlCol="0" anchor="ctr"/>
          <a:lstStyle/>
          <a:p>
            <a:pPr indent="0" marL="0">
              <a:buNone/>
            </a:pPr>
            <a:r>
              <a:rPr lang="en-US" sz="1700" b="1" dirty="0">
                <a:solidFill>
                  <a:schemeClr val="bg1"/>
                </a:solidFill>
              </a:rPr>
              <a:t>Packet switching</a:t>
            </a:r>
            <a:endParaRPr lang="en-US" sz="1700" dirty="0"/>
          </a:p>
        </p:txBody>
      </p:sp>
      <p:sp>
        <p:nvSpPr>
          <p:cNvPr id="14" name="Text 12"/>
          <p:cNvSpPr txBox="1"/>
          <p:nvPr/>
        </p:nvSpPr>
        <p:spPr>
          <a:xfrm>
            <a:off x="4892040" y="1965960"/>
            <a:ext cx="3611880" cy="685800"/>
          </a:xfrm>
          <a:prstGeom prst="rect">
            <a:avLst/>
          </a:prstGeom>
          <a:noFill/>
          <a:ln/>
        </p:spPr>
        <p:txBody>
          <a:bodyPr wrap="square" lIns="0" tIns="0" rIns="0" bIns="0" rtlCol="0" anchor="t"/>
          <a:lstStyle/>
          <a:p>
            <a:pPr indent="0" marL="0">
              <a:buNone/>
            </a:pPr>
            <a:r>
              <a:rPr lang="en-US" sz="1350" dirty="0">
                <a:solidFill>
                  <a:schemeClr val="tx1"/>
                </a:solidFill>
              </a:rPr>
              <a:t>Data is split into packets that are sent independently and can take different routes.</a:t>
            </a:r>
            <a:endParaRPr lang="en-US" sz="1350" dirty="0"/>
          </a:p>
        </p:txBody>
      </p:sp>
      <p:sp>
        <p:nvSpPr>
          <p:cNvPr id="15" name="Text 13"/>
          <p:cNvSpPr txBox="1"/>
          <p:nvPr/>
        </p:nvSpPr>
        <p:spPr>
          <a:xfrm>
            <a:off x="4892040" y="2651760"/>
            <a:ext cx="3611880" cy="320040"/>
          </a:xfrm>
          <a:prstGeom prst="rect">
            <a:avLst/>
          </a:prstGeom>
          <a:noFill/>
          <a:ln/>
        </p:spPr>
        <p:txBody>
          <a:bodyPr wrap="square" lIns="0" tIns="0" rIns="0" bIns="0" rtlCol="0" anchor="t"/>
          <a:lstStyle/>
          <a:p>
            <a:pPr indent="0" marL="0">
              <a:buNone/>
            </a:pPr>
            <a:r>
              <a:rPr lang="en-US" sz="1300" b="1" dirty="0">
                <a:solidFill>
                  <a:schemeClr val="tx1"/>
                </a:solidFill>
              </a:rPr>
              <a:t>Example: </a:t>
            </a:r>
            <a:pPr indent="0" marL="0">
              <a:buNone/>
            </a:pPr>
            <a:r>
              <a:rPr lang="en-US" sz="1300" dirty="0">
                <a:solidFill>
                  <a:schemeClr val="tx1"/>
                </a:solidFill>
              </a:rPr>
              <a:t>The internet</a:t>
            </a:r>
            <a:endParaRPr lang="en-US" sz="1300" dirty="0"/>
          </a:p>
        </p:txBody>
      </p:sp>
      <p:sp>
        <p:nvSpPr>
          <p:cNvPr id="16" name="Text 14"/>
          <p:cNvSpPr txBox="1"/>
          <p:nvPr/>
        </p:nvSpPr>
        <p:spPr>
          <a:xfrm>
            <a:off x="4892040" y="3017520"/>
            <a:ext cx="3611880" cy="685800"/>
          </a:xfrm>
          <a:prstGeom prst="rect">
            <a:avLst/>
          </a:prstGeom>
          <a:noFill/>
          <a:ln/>
        </p:spPr>
        <p:txBody>
          <a:bodyPr wrap="square" lIns="0" tIns="0" rIns="0" bIns="0" rtlCol="0" anchor="t"/>
          <a:lstStyle/>
          <a:p>
            <a:pPr indent="0" marL="0">
              <a:buNone/>
            </a:pPr>
            <a:r>
              <a:rPr lang="en-US" sz="1300" b="1" dirty="0">
                <a:solidFill>
                  <a:schemeClr val="accent5"/>
                </a:solidFill>
              </a:rPr>
              <a:t>+ </a:t>
            </a:r>
            <a:pPr indent="0" marL="0">
              <a:buNone/>
            </a:pPr>
            <a:r>
              <a:rPr lang="en-US" sz="1300" dirty="0">
                <a:solidFill>
                  <a:schemeClr val="tx1"/>
                </a:solidFill>
              </a:rPr>
              <a:t>If a link fails, packets take another route. Links are shared, so they are used efficiently.</a:t>
            </a:r>
            <a:endParaRPr lang="en-US" sz="1300" dirty="0"/>
          </a:p>
        </p:txBody>
      </p:sp>
      <p:sp>
        <p:nvSpPr>
          <p:cNvPr id="17" name="Text 15"/>
          <p:cNvSpPr txBox="1"/>
          <p:nvPr/>
        </p:nvSpPr>
        <p:spPr>
          <a:xfrm>
            <a:off x="4892040" y="3703320"/>
            <a:ext cx="3611880" cy="822960"/>
          </a:xfrm>
          <a:prstGeom prst="rect">
            <a:avLst/>
          </a:prstGeom>
          <a:noFill/>
          <a:ln/>
        </p:spPr>
        <p:txBody>
          <a:bodyPr wrap="square" lIns="0" tIns="0" rIns="0" bIns="0" rtlCol="0" anchor="t"/>
          <a:lstStyle/>
          <a:p>
            <a:pPr indent="0" marL="0">
              <a:buNone/>
            </a:pPr>
            <a:r>
              <a:rPr lang="en-US" sz="1300" b="1" dirty="0">
                <a:solidFill>
                  <a:schemeClr val="accent4"/>
                </a:solidFill>
              </a:rPr>
              <a:t>− </a:t>
            </a:r>
            <a:pPr indent="0" marL="0">
              <a:buNone/>
            </a:pPr>
            <a:r>
              <a:rPr lang="en-US" sz="1300" dirty="0">
                <a:solidFill>
                  <a:schemeClr val="tx1"/>
                </a:solidFill>
              </a:rPr>
              <a:t>Packets can arrive out of order and must be reassembled.</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03504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Task: Share the line</a:t>
            </a:r>
            <a:endParaRPr lang="en-US" sz="3000" dirty="0"/>
          </a:p>
        </p:txBody>
      </p:sp>
      <p:sp>
        <p:nvSpPr>
          <p:cNvPr id="3" name="Shape 1"/>
          <p:cNvSpPr/>
          <p:nvPr/>
        </p:nvSpPr>
        <p:spPr>
          <a:xfrm>
            <a:off x="6400800" y="347472"/>
            <a:ext cx="2286000" cy="502920"/>
          </a:xfrm>
          <a:prstGeom prst="roundRect">
            <a:avLst>
              <a:gd name="adj" fmla="val 49091"/>
            </a:avLst>
          </a:prstGeom>
          <a:solidFill>
            <a:schemeClr val="accent2"/>
          </a:solidFill>
          <a:ln w="12700">
            <a:solidFill>
              <a:schemeClr val="accent2"/>
            </a:solidFill>
            <a:prstDash val="solid"/>
          </a:ln>
        </p:spPr>
      </p:sp>
      <p:pic>
        <p:nvPicPr>
          <p:cNvPr id="4" name="Image 0" descr="preencoded.png">    </p:cNvPr>
          <p:cNvPicPr>
            <a:picLocks noChangeAspect="1"/>
          </p:cNvPicPr>
          <p:nvPr/>
        </p:nvPicPr>
        <p:blipFill>
          <a:blip r:embed="rId1"/>
          <a:stretch>
            <a:fillRect/>
          </a:stretch>
        </p:blipFill>
        <p:spPr>
          <a:xfrm>
            <a:off x="6537960" y="448056"/>
            <a:ext cx="301752" cy="301752"/>
          </a:xfrm>
          <a:prstGeom prst="rect">
            <a:avLst/>
          </a:prstGeom>
        </p:spPr>
      </p:pic>
      <p:sp>
        <p:nvSpPr>
          <p:cNvPr id="5" name="Text 2"/>
          <p:cNvSpPr txBox="1"/>
          <p:nvPr/>
        </p:nvSpPr>
        <p:spPr>
          <a:xfrm>
            <a:off x="6903720" y="347472"/>
            <a:ext cx="1737360" cy="502920"/>
          </a:xfrm>
          <a:prstGeom prst="rect">
            <a:avLst/>
          </a:prstGeom>
          <a:noFill/>
          <a:ln/>
        </p:spPr>
        <p:txBody>
          <a:bodyPr wrap="square" lIns="0" tIns="0" rIns="0" bIns="0" rtlCol="0" anchor="ctr"/>
          <a:lstStyle/>
          <a:p>
            <a:pPr indent="0" marL="0">
              <a:buNone/>
            </a:pPr>
            <a:r>
              <a:rPr lang="en-US" sz="1400" b="1" dirty="0">
                <a:solidFill>
                  <a:schemeClr val="bg1"/>
                </a:solidFill>
              </a:rPr>
              <a:t>12 min  in pairs</a:t>
            </a:r>
            <a:endParaRPr lang="en-US" sz="1400" dirty="0"/>
          </a:p>
        </p:txBody>
      </p:sp>
      <p:sp>
        <p:nvSpPr>
          <p:cNvPr id="6" name="st0"/>
          <p:cNvSpPr/>
          <p:nvPr/>
        </p:nvSpPr>
        <p:spPr>
          <a:xfrm>
            <a:off x="457200" y="1097280"/>
            <a:ext cx="5303520" cy="617220"/>
          </a:xfrm>
          <a:prstGeom prst="roundRect">
            <a:avLst>
              <a:gd name="adj" fmla="val 11852"/>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7" name="Shape 4"/>
          <p:cNvSpPr/>
          <p:nvPr/>
        </p:nvSpPr>
        <p:spPr>
          <a:xfrm>
            <a:off x="594360" y="1177290"/>
            <a:ext cx="457200" cy="457200"/>
          </a:xfrm>
          <a:prstGeom prst="ellipse">
            <a:avLst/>
          </a:prstGeom>
          <a:solidFill>
            <a:schemeClr val="accent1"/>
          </a:solidFill>
          <a:ln w="12700">
            <a:solidFill>
              <a:schemeClr val="accent1"/>
            </a:solidFill>
            <a:prstDash val="solid"/>
          </a:ln>
        </p:spPr>
      </p:sp>
      <p:sp>
        <p:nvSpPr>
          <p:cNvPr id="8" name="Text 5"/>
          <p:cNvSpPr txBox="1"/>
          <p:nvPr/>
        </p:nvSpPr>
        <p:spPr>
          <a:xfrm>
            <a:off x="594360" y="117729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9" name="Text 6"/>
          <p:cNvSpPr txBox="1"/>
          <p:nvPr/>
        </p:nvSpPr>
        <p:spPr>
          <a:xfrm>
            <a:off x="1188720" y="1097280"/>
            <a:ext cx="4434840" cy="617220"/>
          </a:xfrm>
          <a:prstGeom prst="rect">
            <a:avLst/>
          </a:prstGeom>
          <a:noFill/>
          <a:ln/>
        </p:spPr>
        <p:txBody>
          <a:bodyPr wrap="square" lIns="0" tIns="0" rIns="0" bIns="0" rtlCol="0" anchor="ctr"/>
          <a:lstStyle/>
          <a:p>
            <a:pPr indent="0" marL="0">
              <a:buNone/>
            </a:pPr>
            <a:r>
              <a:rPr lang="en-US" sz="1400" dirty="0">
                <a:solidFill>
                  <a:schemeClr val="tx1"/>
                </a:solidFill>
              </a:rPr>
              <a:t>Part 1: four users, one cable. Send their messages using time division, then frequency division.</a:t>
            </a:r>
            <a:endParaRPr lang="en-US" sz="1400" dirty="0"/>
          </a:p>
        </p:txBody>
      </p:sp>
      <p:sp>
        <p:nvSpPr>
          <p:cNvPr id="10" name="st1"/>
          <p:cNvSpPr/>
          <p:nvPr/>
        </p:nvSpPr>
        <p:spPr>
          <a:xfrm>
            <a:off x="457200" y="1851660"/>
            <a:ext cx="5303520" cy="617220"/>
          </a:xfrm>
          <a:prstGeom prst="roundRect">
            <a:avLst>
              <a:gd name="adj" fmla="val 11852"/>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594360" y="1931670"/>
            <a:ext cx="457200" cy="457200"/>
          </a:xfrm>
          <a:prstGeom prst="ellipse">
            <a:avLst/>
          </a:prstGeom>
          <a:solidFill>
            <a:schemeClr val="accent1"/>
          </a:solidFill>
          <a:ln w="12700">
            <a:solidFill>
              <a:schemeClr val="accent1"/>
            </a:solidFill>
            <a:prstDash val="solid"/>
          </a:ln>
        </p:spPr>
      </p:sp>
      <p:sp>
        <p:nvSpPr>
          <p:cNvPr id="12" name="Text 9"/>
          <p:cNvSpPr txBox="1"/>
          <p:nvPr/>
        </p:nvSpPr>
        <p:spPr>
          <a:xfrm>
            <a:off x="594360" y="193167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0"/>
          <p:cNvSpPr txBox="1"/>
          <p:nvPr/>
        </p:nvSpPr>
        <p:spPr>
          <a:xfrm>
            <a:off x="1188720" y="1851660"/>
            <a:ext cx="4434840" cy="617220"/>
          </a:xfrm>
          <a:prstGeom prst="rect">
            <a:avLst/>
          </a:prstGeom>
          <a:noFill/>
          <a:ln/>
        </p:spPr>
        <p:txBody>
          <a:bodyPr wrap="square" lIns="0" tIns="0" rIns="0" bIns="0" rtlCol="0" anchor="ctr"/>
          <a:lstStyle/>
          <a:p>
            <a:pPr indent="0" marL="0">
              <a:buNone/>
            </a:pPr>
            <a:r>
              <a:rPr lang="en-US" sz="1400" dirty="0">
                <a:solidFill>
                  <a:schemeClr val="tx1"/>
                </a:solidFill>
              </a:rPr>
              <a:t>Watch the demultiplexer split the signals. Compare the cost of one shared line with four separate cables.</a:t>
            </a:r>
            <a:endParaRPr lang="en-US" sz="1400" dirty="0"/>
          </a:p>
        </p:txBody>
      </p:sp>
      <p:sp>
        <p:nvSpPr>
          <p:cNvPr id="14" name="st2"/>
          <p:cNvSpPr/>
          <p:nvPr/>
        </p:nvSpPr>
        <p:spPr>
          <a:xfrm>
            <a:off x="457200" y="2606040"/>
            <a:ext cx="5303520" cy="617220"/>
          </a:xfrm>
          <a:prstGeom prst="roundRect">
            <a:avLst>
              <a:gd name="adj" fmla="val 11852"/>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594360" y="2686050"/>
            <a:ext cx="457200" cy="457200"/>
          </a:xfrm>
          <a:prstGeom prst="ellipse">
            <a:avLst/>
          </a:prstGeom>
          <a:solidFill>
            <a:schemeClr val="accent1"/>
          </a:solidFill>
          <a:ln w="12700">
            <a:solidFill>
              <a:schemeClr val="accent1"/>
            </a:solidFill>
            <a:prstDash val="solid"/>
          </a:ln>
        </p:spPr>
      </p:sp>
      <p:sp>
        <p:nvSpPr>
          <p:cNvPr id="16" name="Text 13"/>
          <p:cNvSpPr txBox="1"/>
          <p:nvPr/>
        </p:nvSpPr>
        <p:spPr>
          <a:xfrm>
            <a:off x="594360" y="268605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4"/>
          <p:cNvSpPr txBox="1"/>
          <p:nvPr/>
        </p:nvSpPr>
        <p:spPr>
          <a:xfrm>
            <a:off x="1188720" y="2606040"/>
            <a:ext cx="4434840" cy="617220"/>
          </a:xfrm>
          <a:prstGeom prst="rect">
            <a:avLst/>
          </a:prstGeom>
          <a:noFill/>
          <a:ln/>
        </p:spPr>
        <p:txBody>
          <a:bodyPr wrap="square" lIns="0" tIns="0" rIns="0" bIns="0" rtlCol="0" anchor="ctr"/>
          <a:lstStyle/>
          <a:p>
            <a:pPr indent="0" marL="0">
              <a:buNone/>
            </a:pPr>
            <a:r>
              <a:rPr lang="en-US" sz="1400" dirty="0">
                <a:solidFill>
                  <a:schemeClr val="tx1"/>
                </a:solidFill>
              </a:rPr>
              <a:t>Part 2: set up a circuit-switched call, then break a link. What happens to the call?</a:t>
            </a:r>
            <a:endParaRPr lang="en-US" sz="1400" dirty="0"/>
          </a:p>
        </p:txBody>
      </p:sp>
      <p:sp>
        <p:nvSpPr>
          <p:cNvPr id="18" name="st3"/>
          <p:cNvSpPr/>
          <p:nvPr/>
        </p:nvSpPr>
        <p:spPr>
          <a:xfrm>
            <a:off x="457200" y="3360420"/>
            <a:ext cx="5303520" cy="617220"/>
          </a:xfrm>
          <a:prstGeom prst="roundRect">
            <a:avLst>
              <a:gd name="adj" fmla="val 11852"/>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9" name="Shape 16"/>
          <p:cNvSpPr/>
          <p:nvPr/>
        </p:nvSpPr>
        <p:spPr>
          <a:xfrm>
            <a:off x="594360" y="3440430"/>
            <a:ext cx="457200" cy="457200"/>
          </a:xfrm>
          <a:prstGeom prst="ellipse">
            <a:avLst/>
          </a:prstGeom>
          <a:solidFill>
            <a:schemeClr val="accent1"/>
          </a:solidFill>
          <a:ln w="12700">
            <a:solidFill>
              <a:schemeClr val="accent1"/>
            </a:solidFill>
            <a:prstDash val="solid"/>
          </a:ln>
        </p:spPr>
      </p:sp>
      <p:sp>
        <p:nvSpPr>
          <p:cNvPr id="20" name="Text 17"/>
          <p:cNvSpPr txBox="1"/>
          <p:nvPr/>
        </p:nvSpPr>
        <p:spPr>
          <a:xfrm>
            <a:off x="594360" y="344043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 18"/>
          <p:cNvSpPr txBox="1"/>
          <p:nvPr/>
        </p:nvSpPr>
        <p:spPr>
          <a:xfrm>
            <a:off x="1188720" y="3360420"/>
            <a:ext cx="4434840" cy="617220"/>
          </a:xfrm>
          <a:prstGeom prst="rect">
            <a:avLst/>
          </a:prstGeom>
          <a:noFill/>
          <a:ln/>
        </p:spPr>
        <p:txBody>
          <a:bodyPr wrap="square" lIns="0" tIns="0" rIns="0" bIns="0" rtlCol="0" anchor="ctr"/>
          <a:lstStyle/>
          <a:p>
            <a:pPr indent="0" marL="0">
              <a:buNone/>
            </a:pPr>
            <a:r>
              <a:rPr lang="en-US" sz="1400" dirty="0">
                <a:solidFill>
                  <a:schemeClr val="tx1"/>
                </a:solidFill>
              </a:rPr>
              <a:t>Send the same message with packet switching and break the same link. What is different?</a:t>
            </a:r>
            <a:endParaRPr lang="en-US" sz="1400" dirty="0"/>
          </a:p>
        </p:txBody>
      </p:sp>
      <p:sp>
        <p:nvSpPr>
          <p:cNvPr id="22" name="side"/>
          <p:cNvSpPr/>
          <p:nvPr/>
        </p:nvSpPr>
        <p:spPr>
          <a:xfrm>
            <a:off x="6035040" y="1097280"/>
            <a:ext cx="2651760" cy="2880360"/>
          </a:xfrm>
          <a:prstGeom prst="roundRect">
            <a:avLst>
              <a:gd name="adj" fmla="val 2759"/>
            </a:avLst>
          </a:prstGeom>
          <a:solidFill>
            <a:schemeClr val="tx1"/>
          </a:solidFill>
          <a:ln w="12700">
            <a:solidFill>
              <a:schemeClr val="tx1"/>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6217920" y="1234440"/>
            <a:ext cx="457200" cy="457200"/>
          </a:xfrm>
          <a:prstGeom prst="ellipse">
            <a:avLst/>
          </a:prstGeom>
          <a:solidFill>
            <a:schemeClr val="accent2"/>
          </a:solidFill>
          <a:ln w="12700">
            <a:solidFill>
              <a:schemeClr val="accent2"/>
            </a:solidFill>
            <a:prstDash val="solid"/>
          </a:ln>
        </p:spPr>
      </p:sp>
      <p:pic>
        <p:nvPicPr>
          <p:cNvPr id="24" name="Image 1" descr="preencoded.png">    </p:cNvPr>
          <p:cNvPicPr>
            <a:picLocks noChangeAspect="1"/>
          </p:cNvPicPr>
          <p:nvPr/>
        </p:nvPicPr>
        <p:blipFill>
          <a:blip r:embed="rId2"/>
          <a:stretch>
            <a:fillRect/>
          </a:stretch>
        </p:blipFill>
        <p:spPr>
          <a:xfrm>
            <a:off x="6318504" y="1335024"/>
            <a:ext cx="256032" cy="256032"/>
          </a:xfrm>
          <a:prstGeom prst="rect">
            <a:avLst/>
          </a:prstGeom>
        </p:spPr>
      </p:pic>
      <p:sp>
        <p:nvSpPr>
          <p:cNvPr id="25" name="Text 21"/>
          <p:cNvSpPr txBox="1"/>
          <p:nvPr/>
        </p:nvSpPr>
        <p:spPr>
          <a:xfrm>
            <a:off x="6217920" y="1783080"/>
            <a:ext cx="2331720" cy="2103120"/>
          </a:xfrm>
          <a:prstGeom prst="rect">
            <a:avLst/>
          </a:prstGeom>
          <a:noFill/>
          <a:ln/>
        </p:spPr>
        <p:txBody>
          <a:bodyPr wrap="square" lIns="0" tIns="0" rIns="0" bIns="0" rtlCol="0" anchor="t"/>
          <a:lstStyle/>
          <a:p>
            <a:pPr indent="0" marL="0">
              <a:buNone/>
            </a:pPr>
            <a:r>
              <a:rPr lang="en-US" sz="1400" dirty="0">
                <a:solidFill>
                  <a:schemeClr val="bg1"/>
                </a:solidFill>
              </a:rPr>
              <a:t>Be ready to explain, in one sentence each, why we need multiplexing and why we need switching.</a:t>
            </a:r>
            <a:endParaRPr lang="en-US" sz="1400" dirty="0"/>
          </a:p>
        </p:txBody>
      </p:sp>
      <p:sp>
        <p:nvSpPr>
          <p:cNvPr id="26" name="Text 22"/>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500" b="1" dirty="0">
                <a:solidFill>
                  <a:schemeClr val="accent1"/>
                </a:solidFill>
              </a:rPr>
              <a:t>Open the link on Teams.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03504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Exam question: Summer 2022</a:t>
            </a:r>
            <a:endParaRPr lang="en-US" sz="3000" dirty="0"/>
          </a:p>
        </p:txBody>
      </p:sp>
      <p:sp>
        <p:nvSpPr>
          <p:cNvPr id="3" name="Shape 1"/>
          <p:cNvSpPr/>
          <p:nvPr/>
        </p:nvSpPr>
        <p:spPr>
          <a:xfrm>
            <a:off x="6400800" y="347472"/>
            <a:ext cx="2286000" cy="502920"/>
          </a:xfrm>
          <a:prstGeom prst="roundRect">
            <a:avLst>
              <a:gd name="adj" fmla="val 49091"/>
            </a:avLst>
          </a:prstGeom>
          <a:solidFill>
            <a:schemeClr val="accent2"/>
          </a:solidFill>
          <a:ln w="12700">
            <a:solidFill>
              <a:schemeClr val="accent2"/>
            </a:solidFill>
            <a:prstDash val="solid"/>
          </a:ln>
        </p:spPr>
      </p:sp>
      <p:pic>
        <p:nvPicPr>
          <p:cNvPr id="4" name="Image 0" descr="preencoded.png">    </p:cNvPr>
          <p:cNvPicPr>
            <a:picLocks noChangeAspect="1"/>
          </p:cNvPicPr>
          <p:nvPr/>
        </p:nvPicPr>
        <p:blipFill>
          <a:blip r:embed="rId1"/>
          <a:stretch>
            <a:fillRect/>
          </a:stretch>
        </p:blipFill>
        <p:spPr>
          <a:xfrm>
            <a:off x="6537960" y="448056"/>
            <a:ext cx="301752" cy="301752"/>
          </a:xfrm>
          <a:prstGeom prst="rect">
            <a:avLst/>
          </a:prstGeom>
        </p:spPr>
      </p:pic>
      <p:sp>
        <p:nvSpPr>
          <p:cNvPr id="5" name="Text 2"/>
          <p:cNvSpPr txBox="1"/>
          <p:nvPr/>
        </p:nvSpPr>
        <p:spPr>
          <a:xfrm>
            <a:off x="6903720" y="347472"/>
            <a:ext cx="1737360" cy="502920"/>
          </a:xfrm>
          <a:prstGeom prst="rect">
            <a:avLst/>
          </a:prstGeom>
          <a:noFill/>
          <a:ln/>
        </p:spPr>
        <p:txBody>
          <a:bodyPr wrap="square" lIns="0" tIns="0" rIns="0" bIns="0" rtlCol="0" anchor="ctr"/>
          <a:lstStyle/>
          <a:p>
            <a:pPr indent="0" marL="0">
              <a:buNone/>
            </a:pPr>
            <a:r>
              <a:rPr lang="en-US" sz="1400" b="1" dirty="0">
                <a:solidFill>
                  <a:schemeClr val="bg1"/>
                </a:solidFill>
              </a:rPr>
              <a:t>2 min  on your own</a:t>
            </a:r>
            <a:endParaRPr lang="en-US" sz="1400" dirty="0"/>
          </a:p>
        </p:txBody>
      </p:sp>
      <p:sp>
        <p:nvSpPr>
          <p:cNvPr id="6" name="q"/>
          <p:cNvSpPr/>
          <p:nvPr/>
        </p:nvSpPr>
        <p:spPr>
          <a:xfrm>
            <a:off x="457200" y="1097280"/>
            <a:ext cx="8229600" cy="1280160"/>
          </a:xfrm>
          <a:prstGeom prst="roundRect">
            <a:avLst>
              <a:gd name="adj" fmla="val 5714"/>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685800" y="1188720"/>
            <a:ext cx="7772400" cy="1097280"/>
          </a:xfrm>
          <a:prstGeom prst="rect">
            <a:avLst/>
          </a:prstGeom>
          <a:noFill/>
          <a:ln/>
        </p:spPr>
        <p:txBody>
          <a:bodyPr wrap="square" lIns="0" tIns="0" rIns="0" bIns="0" rtlCol="0" anchor="ctr"/>
          <a:lstStyle/>
          <a:p>
            <a:pPr indent="0" marL="0">
              <a:buNone/>
            </a:pPr>
            <a:r>
              <a:rPr lang="en-US" sz="2000" b="1" dirty="0">
                <a:solidFill>
                  <a:schemeClr val="accent1"/>
                </a:solidFill>
              </a:rPr>
              <a:t>Q3(a)  </a:t>
            </a:r>
            <a:pPr indent="0" marL="0">
              <a:buNone/>
            </a:pPr>
            <a:r>
              <a:rPr lang="en-US" sz="2000" dirty="0">
                <a:solidFill>
                  <a:schemeClr val="tx1"/>
                </a:solidFill>
              </a:rPr>
              <a:t>Explain the role of multiplexing on a network.</a:t>
            </a:r>
            <a:pPr indent="0" marL="0">
              <a:buNone/>
            </a:pPr>
            <a:r>
              <a:rPr lang="en-US" sz="2000" b="1" dirty="0">
                <a:solidFill>
                  <a:schemeClr val="tx1"/>
                </a:solidFill>
              </a:rPr>
              <a:t>  [2]</a:t>
            </a:r>
            <a:endParaRPr lang="en-US" sz="2000" dirty="0"/>
          </a:p>
        </p:txBody>
      </p:sp>
      <p:sp>
        <p:nvSpPr>
          <p:cNvPr id="8" name="Shape 5"/>
          <p:cNvSpPr/>
          <p:nvPr/>
        </p:nvSpPr>
        <p:spPr>
          <a:xfrm>
            <a:off x="457200" y="2743200"/>
            <a:ext cx="548640" cy="548640"/>
          </a:xfrm>
          <a:prstGeom prst="ellipse">
            <a:avLst/>
          </a:prstGeom>
          <a:solidFill>
            <a:schemeClr val="accent2"/>
          </a:solidFill>
          <a:ln w="12700">
            <a:solidFill>
              <a:schemeClr val="accent2"/>
            </a:solidFill>
            <a:prstDash val="solid"/>
          </a:ln>
        </p:spPr>
      </p:sp>
      <p:pic>
        <p:nvPicPr>
          <p:cNvPr id="9" name="Image 1" descr="preencoded.png">    </p:cNvPr>
          <p:cNvPicPr>
            <a:picLocks noChangeAspect="1"/>
          </p:cNvPicPr>
          <p:nvPr/>
        </p:nvPicPr>
        <p:blipFill>
          <a:blip r:embed="rId2"/>
          <a:stretch>
            <a:fillRect/>
          </a:stretch>
        </p:blipFill>
        <p:spPr>
          <a:xfrm>
            <a:off x="577901" y="2863901"/>
            <a:ext cx="307238" cy="307238"/>
          </a:xfrm>
          <a:prstGeom prst="rect">
            <a:avLst/>
          </a:prstGeom>
        </p:spPr>
      </p:pic>
      <p:sp>
        <p:nvSpPr>
          <p:cNvPr id="10" name="Text 6"/>
          <p:cNvSpPr txBox="1"/>
          <p:nvPr/>
        </p:nvSpPr>
        <p:spPr>
          <a:xfrm>
            <a:off x="1188720" y="2697480"/>
            <a:ext cx="7498080" cy="1188720"/>
          </a:xfrm>
          <a:prstGeom prst="rect">
            <a:avLst/>
          </a:prstGeom>
          <a:noFill/>
          <a:ln/>
        </p:spPr>
        <p:txBody>
          <a:bodyPr wrap="square" lIns="0" tIns="0" rIns="0" bIns="0" rtlCol="0" anchor="t"/>
          <a:lstStyle/>
          <a:p>
            <a:pPr indent="0" marL="0">
              <a:buNone/>
            </a:pPr>
            <a:r>
              <a:rPr lang="en-US" sz="1600" dirty="0">
                <a:solidFill>
                  <a:schemeClr val="tx1"/>
                </a:solidFill>
              </a:rPr>
              <a:t>Two marks means two separate points. Say what is combined, and what happens to it.</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Mark scheme: 2022 Q3(a)</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7406640"/>
                <a:gridCol w="822960"/>
              </a:tblGrid>
              <a:tr h="347472">
                <a:tc>
                  <a:txBody>
                    <a:bodyPr/>
                    <a:lstStyle/>
                    <a:p>
                      <a:pPr indent="0" marL="0">
                        <a:buNone/>
                      </a:pPr>
                      <a:r>
                        <a:rPr lang="en-US" sz="1300" b="1" dirty="0">
                          <a:solidFill>
                            <a:schemeClr val="bg1"/>
                          </a:solidFill>
                        </a:rPr>
                        <a:t>Award one mark for each, up to a maximum of two</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Mark</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tx1"/>
                    </a:solidFill>
                  </a:tcPr>
                </a:tc>
              </a:tr>
              <a:tr h="347472">
                <a:tc>
                  <a:txBody>
                    <a:bodyPr/>
                    <a:lstStyle/>
                    <a:p>
                      <a:pPr indent="0" marL="0">
                        <a:buNone/>
                      </a:pPr>
                      <a:r>
                        <a:rPr lang="en-US" sz="1300" dirty="0">
                          <a:solidFill>
                            <a:schemeClr val="tx1"/>
                          </a:solidFill>
                        </a:rPr>
                        <a:t>Multiplexing is where several independent data sources are combined</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1</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r>
              <a:tr h="347472">
                <a:tc>
                  <a:txBody>
                    <a:bodyPr/>
                    <a:lstStyle/>
                    <a:p>
                      <a:pPr indent="0" marL="0">
                        <a:buNone/>
                      </a:pPr>
                      <a:r>
                        <a:rPr lang="en-US" sz="1300" dirty="0">
                          <a:solidFill>
                            <a:schemeClr val="tx1"/>
                          </a:solidFill>
                        </a:rPr>
                        <a:t>to be sent along a single route to a specific destination</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r>
              <a:tr h="347472">
                <a:tc>
                  <a:txBody>
                    <a:bodyPr/>
                    <a:lstStyle/>
                    <a:p>
                      <a:pPr indent="0" marL="0">
                        <a:buNone/>
                      </a:pPr>
                      <a:r>
                        <a:rPr lang="en-US" sz="1300" dirty="0">
                          <a:solidFill>
                            <a:schemeClr val="tx1"/>
                          </a:solidFill>
                        </a:rPr>
                        <a:t>Discussion of relative speed</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1</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8046720" cy="1005840"/>
          </a:xfrm>
          <a:prstGeom prst="rect">
            <a:avLst/>
          </a:prstGeom>
          <a:noFill/>
          <a:ln/>
        </p:spPr>
        <p:txBody>
          <a:bodyPr wrap="square" lIns="0" tIns="0" rIns="0" bIns="0" rtlCol="0" anchor="b"/>
          <a:lstStyle/>
          <a:p>
            <a:pPr algn="l" indent="0" marL="0">
              <a:buNone/>
            </a:pPr>
            <a:r>
              <a:rPr lang="en-US" sz="3800" b="1" dirty="0">
                <a:solidFill>
                  <a:schemeClr val="bg1"/>
                </a:solidFill>
              </a:rPr>
              <a:t>What's inside a packet?</a:t>
            </a:r>
            <a:endParaRPr lang="en-US" sz="3800" dirty="0"/>
          </a:p>
        </p:txBody>
      </p:sp>
      <p:sp>
        <p:nvSpPr>
          <p:cNvPr id="3" name="Text 0"/>
          <p:cNvSpPr/>
          <p:nvPr>
            <p:ph idx="101" type="body" hasCustomPrompt="1"/>
          </p:nvPr>
        </p:nvSpPr>
        <p:spPr>
          <a:xfrm>
            <a:off x="548640" y="2697480"/>
            <a:ext cx="8046720" cy="822960"/>
          </a:xfrm>
          <a:prstGeom prst="rect">
            <a:avLst/>
          </a:prstGeom>
          <a:noFill/>
          <a:ln/>
        </p:spPr>
        <p:txBody>
          <a:bodyPr wrap="square" lIns="0" tIns="0" rIns="0" bIns="0" rtlCol="0" anchor="t"/>
          <a:lstStyle/>
          <a:p>
            <a:pPr indent="0" marL="0">
              <a:buNone/>
            </a:pPr>
            <a:r>
              <a:rPr lang="en-US" sz="1800" dirty="0">
                <a:solidFill>
                  <a:schemeClr val="bg1"/>
                </a:solidFill>
              </a:rPr>
              <a:t>Spec 3.2.1: describe, using appropriate network protocols such as TCP/IP, the typical contents of a packet</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Anatomy of a TCP/IP packet</a:t>
            </a:r>
            <a:endParaRPr lang="en-US" sz="3000" dirty="0"/>
          </a:p>
        </p:txBody>
      </p:sp>
      <p:sp>
        <p:nvSpPr>
          <p:cNvPr id="3" name="Shape 1"/>
          <p:cNvSpPr/>
          <p:nvPr/>
        </p:nvSpPr>
        <p:spPr>
          <a:xfrm>
            <a:off x="457200" y="1371600"/>
            <a:ext cx="1097280" cy="822960"/>
          </a:xfrm>
          <a:prstGeom prst="rect">
            <a:avLst/>
          </a:prstGeom>
          <a:solidFill>
            <a:srgbClr val="24365C"/>
          </a:solidFill>
          <a:ln w="19050">
            <a:solidFill>
              <a:schemeClr val="bg1"/>
            </a:solidFill>
            <a:prstDash val="solid"/>
          </a:ln>
        </p:spPr>
      </p:sp>
      <p:sp>
        <p:nvSpPr>
          <p:cNvPr id="4" name="Text 2"/>
          <p:cNvSpPr txBox="1"/>
          <p:nvPr/>
        </p:nvSpPr>
        <p:spPr>
          <a:xfrm>
            <a:off x="493776" y="1371600"/>
            <a:ext cx="1024128" cy="822960"/>
          </a:xfrm>
          <a:prstGeom prst="rect">
            <a:avLst/>
          </a:prstGeom>
          <a:noFill/>
          <a:ln/>
        </p:spPr>
        <p:txBody>
          <a:bodyPr wrap="square" lIns="0" tIns="0" rIns="0" bIns="0" rtlCol="0" anchor="ctr"/>
          <a:lstStyle/>
          <a:p>
            <a:pPr algn="ctr" indent="0" marL="0">
              <a:buNone/>
            </a:pPr>
            <a:r>
              <a:rPr lang="en-US" sz="1150" b="1" dirty="0">
                <a:solidFill>
                  <a:schemeClr val="bg1"/>
                </a:solidFill>
              </a:rPr>
              <a:t>Source address</a:t>
            </a:r>
            <a:endParaRPr lang="en-US" sz="1150" dirty="0"/>
          </a:p>
        </p:txBody>
      </p:sp>
      <p:sp>
        <p:nvSpPr>
          <p:cNvPr id="5" name="Shape 3"/>
          <p:cNvSpPr/>
          <p:nvPr/>
        </p:nvSpPr>
        <p:spPr>
          <a:xfrm>
            <a:off x="1554480" y="1371600"/>
            <a:ext cx="1234440" cy="822960"/>
          </a:xfrm>
          <a:prstGeom prst="rect">
            <a:avLst/>
          </a:prstGeom>
          <a:solidFill>
            <a:schemeClr val="tx1"/>
          </a:solidFill>
          <a:ln w="19050">
            <a:solidFill>
              <a:schemeClr val="bg1"/>
            </a:solidFill>
            <a:prstDash val="solid"/>
          </a:ln>
        </p:spPr>
      </p:sp>
      <p:sp>
        <p:nvSpPr>
          <p:cNvPr id="6" name="Text 4"/>
          <p:cNvSpPr txBox="1"/>
          <p:nvPr/>
        </p:nvSpPr>
        <p:spPr>
          <a:xfrm>
            <a:off x="1591056" y="1371600"/>
            <a:ext cx="1161288" cy="822960"/>
          </a:xfrm>
          <a:prstGeom prst="rect">
            <a:avLst/>
          </a:prstGeom>
          <a:noFill/>
          <a:ln/>
        </p:spPr>
        <p:txBody>
          <a:bodyPr wrap="square" lIns="0" tIns="0" rIns="0" bIns="0" rtlCol="0" anchor="ctr"/>
          <a:lstStyle/>
          <a:p>
            <a:pPr algn="ctr" indent="0" marL="0">
              <a:buNone/>
            </a:pPr>
            <a:r>
              <a:rPr lang="en-US" sz="1150" b="1" dirty="0">
                <a:solidFill>
                  <a:schemeClr val="bg1"/>
                </a:solidFill>
              </a:rPr>
              <a:t>Destination address</a:t>
            </a:r>
            <a:endParaRPr lang="en-US" sz="1150" dirty="0"/>
          </a:p>
        </p:txBody>
      </p:sp>
      <p:sp>
        <p:nvSpPr>
          <p:cNvPr id="7" name="Shape 5"/>
          <p:cNvSpPr/>
          <p:nvPr/>
        </p:nvSpPr>
        <p:spPr>
          <a:xfrm>
            <a:off x="2788920" y="1371600"/>
            <a:ext cx="1051560" cy="822960"/>
          </a:xfrm>
          <a:prstGeom prst="rect">
            <a:avLst/>
          </a:prstGeom>
          <a:solidFill>
            <a:srgbClr val="24365C"/>
          </a:solidFill>
          <a:ln w="19050">
            <a:solidFill>
              <a:schemeClr val="bg1"/>
            </a:solidFill>
            <a:prstDash val="solid"/>
          </a:ln>
        </p:spPr>
      </p:sp>
      <p:sp>
        <p:nvSpPr>
          <p:cNvPr id="8" name="Text 6"/>
          <p:cNvSpPr txBox="1"/>
          <p:nvPr/>
        </p:nvSpPr>
        <p:spPr>
          <a:xfrm>
            <a:off x="2825496" y="1371600"/>
            <a:ext cx="978408" cy="822960"/>
          </a:xfrm>
          <a:prstGeom prst="rect">
            <a:avLst/>
          </a:prstGeom>
          <a:noFill/>
          <a:ln/>
        </p:spPr>
        <p:txBody>
          <a:bodyPr wrap="square" lIns="0" tIns="0" rIns="0" bIns="0" rtlCol="0" anchor="ctr"/>
          <a:lstStyle/>
          <a:p>
            <a:pPr algn="ctr" indent="0" marL="0">
              <a:buNone/>
            </a:pPr>
            <a:r>
              <a:rPr lang="en-US" sz="1150" b="1" dirty="0">
                <a:solidFill>
                  <a:schemeClr val="bg1"/>
                </a:solidFill>
              </a:rPr>
              <a:t>Sequence number</a:t>
            </a:r>
            <a:endParaRPr lang="en-US" sz="1150" dirty="0"/>
          </a:p>
        </p:txBody>
      </p:sp>
      <p:sp>
        <p:nvSpPr>
          <p:cNvPr id="9" name="Shape 7"/>
          <p:cNvSpPr/>
          <p:nvPr/>
        </p:nvSpPr>
        <p:spPr>
          <a:xfrm>
            <a:off x="3840480" y="1371600"/>
            <a:ext cx="777240" cy="822960"/>
          </a:xfrm>
          <a:prstGeom prst="rect">
            <a:avLst/>
          </a:prstGeom>
          <a:solidFill>
            <a:schemeClr val="tx1"/>
          </a:solidFill>
          <a:ln w="19050">
            <a:solidFill>
              <a:schemeClr val="bg1"/>
            </a:solidFill>
            <a:prstDash val="solid"/>
          </a:ln>
        </p:spPr>
      </p:sp>
      <p:sp>
        <p:nvSpPr>
          <p:cNvPr id="10" name="Text 8"/>
          <p:cNvSpPr txBox="1"/>
          <p:nvPr/>
        </p:nvSpPr>
        <p:spPr>
          <a:xfrm>
            <a:off x="3877056" y="1371600"/>
            <a:ext cx="704088" cy="822960"/>
          </a:xfrm>
          <a:prstGeom prst="rect">
            <a:avLst/>
          </a:prstGeom>
          <a:noFill/>
          <a:ln/>
        </p:spPr>
        <p:txBody>
          <a:bodyPr wrap="square" lIns="0" tIns="0" rIns="0" bIns="0" rtlCol="0" anchor="ctr"/>
          <a:lstStyle/>
          <a:p>
            <a:pPr algn="ctr" indent="0" marL="0">
              <a:buNone/>
            </a:pPr>
            <a:r>
              <a:rPr lang="en-US" sz="1150" b="1" dirty="0">
                <a:solidFill>
                  <a:schemeClr val="bg1"/>
                </a:solidFill>
              </a:rPr>
              <a:t>Protocol</a:t>
            </a:r>
            <a:endParaRPr lang="en-US" sz="1150" dirty="0"/>
          </a:p>
        </p:txBody>
      </p:sp>
      <p:sp>
        <p:nvSpPr>
          <p:cNvPr id="11" name="Shape 9"/>
          <p:cNvSpPr/>
          <p:nvPr/>
        </p:nvSpPr>
        <p:spPr>
          <a:xfrm>
            <a:off x="4617720" y="1371600"/>
            <a:ext cx="548640" cy="822960"/>
          </a:xfrm>
          <a:prstGeom prst="rect">
            <a:avLst/>
          </a:prstGeom>
          <a:solidFill>
            <a:srgbClr val="24365C"/>
          </a:solidFill>
          <a:ln w="19050">
            <a:solidFill>
              <a:schemeClr val="bg1"/>
            </a:solidFill>
            <a:prstDash val="solid"/>
          </a:ln>
        </p:spPr>
      </p:sp>
      <p:sp>
        <p:nvSpPr>
          <p:cNvPr id="12" name="Text 10"/>
          <p:cNvSpPr txBox="1"/>
          <p:nvPr/>
        </p:nvSpPr>
        <p:spPr>
          <a:xfrm>
            <a:off x="4654296" y="1371600"/>
            <a:ext cx="475488" cy="822960"/>
          </a:xfrm>
          <a:prstGeom prst="rect">
            <a:avLst/>
          </a:prstGeom>
          <a:noFill/>
          <a:ln/>
        </p:spPr>
        <p:txBody>
          <a:bodyPr wrap="square" lIns="0" tIns="0" rIns="0" bIns="0" rtlCol="0" anchor="ctr"/>
          <a:lstStyle/>
          <a:p>
            <a:pPr algn="ctr" indent="0" marL="0">
              <a:buNone/>
            </a:pPr>
            <a:r>
              <a:rPr lang="en-US" sz="1150" b="1" dirty="0">
                <a:solidFill>
                  <a:schemeClr val="bg1"/>
                </a:solidFill>
              </a:rPr>
              <a:t>TTL</a:t>
            </a:r>
            <a:endParaRPr lang="en-US" sz="1150" dirty="0"/>
          </a:p>
        </p:txBody>
      </p:sp>
      <p:sp>
        <p:nvSpPr>
          <p:cNvPr id="13" name="Shape 11"/>
          <p:cNvSpPr/>
          <p:nvPr/>
        </p:nvSpPr>
        <p:spPr>
          <a:xfrm>
            <a:off x="5166360" y="1371600"/>
            <a:ext cx="868680" cy="822960"/>
          </a:xfrm>
          <a:prstGeom prst="rect">
            <a:avLst/>
          </a:prstGeom>
          <a:solidFill>
            <a:schemeClr val="tx1"/>
          </a:solidFill>
          <a:ln w="19050">
            <a:solidFill>
              <a:schemeClr val="bg1"/>
            </a:solidFill>
            <a:prstDash val="solid"/>
          </a:ln>
        </p:spPr>
      </p:sp>
      <p:sp>
        <p:nvSpPr>
          <p:cNvPr id="14" name="Text 12"/>
          <p:cNvSpPr txBox="1"/>
          <p:nvPr/>
        </p:nvSpPr>
        <p:spPr>
          <a:xfrm>
            <a:off x="5202936" y="1371600"/>
            <a:ext cx="795528" cy="822960"/>
          </a:xfrm>
          <a:prstGeom prst="rect">
            <a:avLst/>
          </a:prstGeom>
          <a:noFill/>
          <a:ln/>
        </p:spPr>
        <p:txBody>
          <a:bodyPr wrap="square" lIns="0" tIns="0" rIns="0" bIns="0" rtlCol="0" anchor="ctr"/>
          <a:lstStyle/>
          <a:p>
            <a:pPr algn="ctr" indent="0" marL="0">
              <a:buNone/>
            </a:pPr>
            <a:r>
              <a:rPr lang="en-US" sz="1150" b="1" dirty="0">
                <a:solidFill>
                  <a:schemeClr val="bg1"/>
                </a:solidFill>
              </a:rPr>
              <a:t>Checksum</a:t>
            </a:r>
            <a:endParaRPr lang="en-US" sz="1150" dirty="0"/>
          </a:p>
        </p:txBody>
      </p:sp>
      <p:sp>
        <p:nvSpPr>
          <p:cNvPr id="15" name="Shape 13"/>
          <p:cNvSpPr/>
          <p:nvPr/>
        </p:nvSpPr>
        <p:spPr>
          <a:xfrm>
            <a:off x="6035040" y="1371600"/>
            <a:ext cx="2651760" cy="822960"/>
          </a:xfrm>
          <a:prstGeom prst="rect">
            <a:avLst/>
          </a:prstGeom>
          <a:solidFill>
            <a:schemeClr val="accent1"/>
          </a:solidFill>
          <a:ln w="19050">
            <a:solidFill>
              <a:schemeClr val="bg1"/>
            </a:solidFill>
            <a:prstDash val="solid"/>
          </a:ln>
        </p:spPr>
      </p:sp>
      <p:sp>
        <p:nvSpPr>
          <p:cNvPr id="16" name="Text 14"/>
          <p:cNvSpPr txBox="1"/>
          <p:nvPr/>
        </p:nvSpPr>
        <p:spPr>
          <a:xfrm>
            <a:off x="6035040" y="1371600"/>
            <a:ext cx="2651760" cy="822960"/>
          </a:xfrm>
          <a:prstGeom prst="rect">
            <a:avLst/>
          </a:prstGeom>
          <a:noFill/>
          <a:ln/>
        </p:spPr>
        <p:txBody>
          <a:bodyPr wrap="square" lIns="0" tIns="0" rIns="0" bIns="0" rtlCol="0" anchor="ctr"/>
          <a:lstStyle/>
          <a:p>
            <a:pPr algn="ctr" indent="0" marL="0">
              <a:buNone/>
            </a:pPr>
            <a:r>
              <a:rPr lang="en-US" sz="1300" b="1" dirty="0">
                <a:solidFill>
                  <a:schemeClr val="bg1"/>
                </a:solidFill>
              </a:rPr>
              <a:t>Payload (the data)</a:t>
            </a:r>
            <a:endParaRPr lang="en-US" sz="1300" dirty="0"/>
          </a:p>
        </p:txBody>
      </p:sp>
      <p:sp>
        <p:nvSpPr>
          <p:cNvPr id="17" name="Shape 15"/>
          <p:cNvSpPr/>
          <p:nvPr/>
        </p:nvSpPr>
        <p:spPr>
          <a:xfrm>
            <a:off x="457200" y="1188720"/>
            <a:ext cx="5577840" cy="0"/>
          </a:xfrm>
          <a:prstGeom prst="line">
            <a:avLst/>
          </a:prstGeom>
          <a:noFill/>
          <a:ln w="19050">
            <a:solidFill>
              <a:schemeClr val="tx1"/>
            </a:solidFill>
            <a:prstDash val="solid"/>
            <a:headEnd type="triangle"/>
            <a:tailEnd type="triangle"/>
          </a:ln>
        </p:spPr>
      </p:sp>
      <p:sp>
        <p:nvSpPr>
          <p:cNvPr id="18" name="Text 16"/>
          <p:cNvSpPr txBox="1"/>
          <p:nvPr/>
        </p:nvSpPr>
        <p:spPr>
          <a:xfrm>
            <a:off x="457200" y="914400"/>
            <a:ext cx="5577840" cy="256032"/>
          </a:xfrm>
          <a:prstGeom prst="rect">
            <a:avLst/>
          </a:prstGeom>
          <a:noFill/>
          <a:ln/>
        </p:spPr>
        <p:txBody>
          <a:bodyPr wrap="square" lIns="0" tIns="0" rIns="0" bIns="0" rtlCol="0" anchor="t"/>
          <a:lstStyle/>
          <a:p>
            <a:pPr algn="ctr" indent="0" marL="0">
              <a:buNone/>
            </a:pPr>
            <a:r>
              <a:rPr lang="en-US" sz="1100" b="1" dirty="0">
                <a:solidFill>
                  <a:schemeClr val="tx1"/>
                </a:solidFill>
              </a:rPr>
              <a:t>HEADER: control information</a:t>
            </a:r>
            <a:endParaRPr lang="en-US" sz="1100" dirty="0"/>
          </a:p>
        </p:txBody>
      </p:sp>
      <p:sp>
        <p:nvSpPr>
          <p:cNvPr id="19" name="Shape 17"/>
          <p:cNvSpPr/>
          <p:nvPr/>
        </p:nvSpPr>
        <p:spPr>
          <a:xfrm>
            <a:off x="6035040" y="1188720"/>
            <a:ext cx="2651760" cy="0"/>
          </a:xfrm>
          <a:prstGeom prst="line">
            <a:avLst/>
          </a:prstGeom>
          <a:noFill/>
          <a:ln w="19050">
            <a:solidFill>
              <a:schemeClr val="accent1"/>
            </a:solidFill>
            <a:prstDash val="solid"/>
            <a:headEnd type="triangle"/>
            <a:tailEnd type="triangle"/>
          </a:ln>
        </p:spPr>
      </p:sp>
      <p:sp>
        <p:nvSpPr>
          <p:cNvPr id="20" name="Text 18"/>
          <p:cNvSpPr txBox="1"/>
          <p:nvPr/>
        </p:nvSpPr>
        <p:spPr>
          <a:xfrm>
            <a:off x="6035040" y="914400"/>
            <a:ext cx="2651760" cy="256032"/>
          </a:xfrm>
          <a:prstGeom prst="rect">
            <a:avLst/>
          </a:prstGeom>
          <a:noFill/>
          <a:ln/>
        </p:spPr>
        <p:txBody>
          <a:bodyPr wrap="square" lIns="0" tIns="0" rIns="0" bIns="0" rtlCol="0" anchor="t"/>
          <a:lstStyle/>
          <a:p>
            <a:pPr algn="ctr" indent="0" marL="0">
              <a:buNone/>
            </a:pPr>
            <a:r>
              <a:rPr lang="en-US" sz="1100" b="1" dirty="0">
                <a:solidFill>
                  <a:schemeClr val="accent1"/>
                </a:solidFill>
              </a:rPr>
              <a:t>PAYLOAD</a:t>
            </a:r>
            <a:endParaRPr lang="en-US" sz="1100" dirty="0"/>
          </a:p>
        </p:txBody>
      </p:sp>
      <p:sp>
        <p:nvSpPr>
          <p:cNvPr id="21" name="hdr"/>
          <p:cNvSpPr/>
          <p:nvPr/>
        </p:nvSpPr>
        <p:spPr>
          <a:xfrm>
            <a:off x="457200" y="2560320"/>
            <a:ext cx="3977640" cy="2057400"/>
          </a:xfrm>
          <a:prstGeom prst="roundRect">
            <a:avLst>
              <a:gd name="adj" fmla="val 35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2" name="Text 20"/>
          <p:cNvSpPr txBox="1"/>
          <p:nvPr/>
        </p:nvSpPr>
        <p:spPr>
          <a:xfrm>
            <a:off x="640080" y="2651760"/>
            <a:ext cx="3657600" cy="320040"/>
          </a:xfrm>
          <a:prstGeom prst="rect">
            <a:avLst/>
          </a:prstGeom>
          <a:noFill/>
          <a:ln/>
        </p:spPr>
        <p:txBody>
          <a:bodyPr wrap="square" lIns="0" tIns="0" rIns="0" bIns="0" rtlCol="0" anchor="t"/>
          <a:lstStyle/>
          <a:p>
            <a:pPr indent="0" marL="0">
              <a:buNone/>
            </a:pPr>
            <a:r>
              <a:rPr lang="en-US" sz="1700" b="1" dirty="0">
                <a:solidFill>
                  <a:schemeClr val="tx1"/>
                </a:solidFill>
              </a:rPr>
              <a:t>Header</a:t>
            </a:r>
            <a:endParaRPr lang="en-US" sz="1700" dirty="0"/>
          </a:p>
        </p:txBody>
      </p:sp>
      <p:sp>
        <p:nvSpPr>
          <p:cNvPr id="23" name="Text 21"/>
          <p:cNvSpPr txBox="1"/>
          <p:nvPr/>
        </p:nvSpPr>
        <p:spPr>
          <a:xfrm>
            <a:off x="640080" y="2999232"/>
            <a:ext cx="3657600" cy="1554480"/>
          </a:xfrm>
          <a:prstGeom prst="rect">
            <a:avLst/>
          </a:prstGeom>
          <a:noFill/>
          <a:ln/>
        </p:spPr>
        <p:txBody>
          <a:bodyPr wrap="square" lIns="0" tIns="0" rIns="0" bIns="0" rtlCol="0" anchor="t"/>
          <a:lstStyle/>
          <a:p>
            <a:pPr indent="0" marL="0">
              <a:buNone/>
            </a:pPr>
            <a:r>
              <a:rPr lang="en-US" sz="1400" dirty="0">
                <a:solidFill>
                  <a:schemeClr val="tx1"/>
                </a:solidFill>
              </a:rPr>
              <a:t>Control information that lets the network deliver the packet, check it and put the message back together. Other fields include header length, flags and payload size.</a:t>
            </a:r>
            <a:endParaRPr lang="en-US" sz="1400" dirty="0"/>
          </a:p>
        </p:txBody>
      </p:sp>
      <p:sp>
        <p:nvSpPr>
          <p:cNvPr id="24" name="pay"/>
          <p:cNvSpPr/>
          <p:nvPr/>
        </p:nvSpPr>
        <p:spPr>
          <a:xfrm>
            <a:off x="4709160" y="2560320"/>
            <a:ext cx="3977640" cy="2057400"/>
          </a:xfrm>
          <a:prstGeom prst="roundRect">
            <a:avLst>
              <a:gd name="adj" fmla="val 35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5" name="Text 23"/>
          <p:cNvSpPr txBox="1"/>
          <p:nvPr/>
        </p:nvSpPr>
        <p:spPr>
          <a:xfrm>
            <a:off x="4892040" y="2651760"/>
            <a:ext cx="3657600" cy="320040"/>
          </a:xfrm>
          <a:prstGeom prst="rect">
            <a:avLst/>
          </a:prstGeom>
          <a:noFill/>
          <a:ln/>
        </p:spPr>
        <p:txBody>
          <a:bodyPr wrap="square" lIns="0" tIns="0" rIns="0" bIns="0" rtlCol="0" anchor="t"/>
          <a:lstStyle/>
          <a:p>
            <a:pPr indent="0" marL="0">
              <a:buNone/>
            </a:pPr>
            <a:r>
              <a:rPr lang="en-US" sz="1700" b="1" dirty="0">
                <a:solidFill>
                  <a:schemeClr val="accent1"/>
                </a:solidFill>
              </a:rPr>
              <a:t>Payload</a:t>
            </a:r>
            <a:endParaRPr lang="en-US" sz="1700" dirty="0"/>
          </a:p>
        </p:txBody>
      </p:sp>
      <p:sp>
        <p:nvSpPr>
          <p:cNvPr id="26" name="Text 24"/>
          <p:cNvSpPr txBox="1"/>
          <p:nvPr/>
        </p:nvSpPr>
        <p:spPr>
          <a:xfrm>
            <a:off x="4892040" y="2999232"/>
            <a:ext cx="3657600" cy="1554480"/>
          </a:xfrm>
          <a:prstGeom prst="rect">
            <a:avLst/>
          </a:prstGeom>
          <a:noFill/>
          <a:ln/>
        </p:spPr>
        <p:txBody>
          <a:bodyPr wrap="square" lIns="0" tIns="0" rIns="0" bIns="0" rtlCol="0" anchor="t"/>
          <a:lstStyle/>
          <a:p>
            <a:pPr indent="0" marL="0">
              <a:buNone/>
            </a:pPr>
            <a:r>
              <a:rPr lang="en-US" sz="1400" dirty="0">
                <a:solidFill>
                  <a:schemeClr val="tx1"/>
                </a:solidFill>
              </a:rPr>
              <a:t>The actual data being sent: a piece of a web page, email or file. A large file is split across many packets.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Every field has a purpose</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377440"/>
                <a:gridCol w="5852160"/>
              </a:tblGrid>
              <a:tr h="347472">
                <a:tc>
                  <a:txBody>
                    <a:bodyPr/>
                    <a:lstStyle/>
                    <a:p>
                      <a:pPr indent="0" marL="0">
                        <a:buNone/>
                      </a:pPr>
                      <a:r>
                        <a:rPr lang="en-US" sz="1350" b="1" dirty="0">
                          <a:solidFill>
                            <a:schemeClr val="bg1"/>
                          </a:solidFill>
                        </a:rPr>
                        <a:t>Field</a:t>
                      </a:r>
                      <a:endParaRPr lang="en-US" sz="135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tx1"/>
                    </a:solidFill>
                  </a:tcPr>
                </a:tc>
                <a:tc>
                  <a:txBody>
                    <a:bodyPr/>
                    <a:lstStyle/>
                    <a:p>
                      <a:pPr indent="0" marL="0">
                        <a:buNone/>
                      </a:pPr>
                      <a:r>
                        <a:rPr lang="en-US" sz="1350" b="1" dirty="0">
                          <a:solidFill>
                            <a:schemeClr val="bg1"/>
                          </a:solidFill>
                        </a:rPr>
                        <a:t>Purpose: the part that earns the mark</a:t>
                      </a:r>
                      <a:endParaRPr lang="en-US" sz="135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accent1"/>
                    </a:solidFill>
                  </a:tcPr>
                </a:tc>
              </a:tr>
              <a:tr h="347472">
                <a:tc>
                  <a:txBody>
                    <a:bodyPr/>
                    <a:lstStyle/>
                    <a:p>
                      <a:pPr indent="0" marL="0">
                        <a:buNone/>
                      </a:pPr>
                      <a:r>
                        <a:rPr lang="en-US" sz="1350" b="1" dirty="0">
                          <a:solidFill>
                            <a:schemeClr val="tx1"/>
                          </a:solidFill>
                        </a:rPr>
                        <a:t>Source address</a:t>
                      </a:r>
                      <a:endParaRPr lang="en-US" sz="135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indent="0" marL="0">
                        <a:buNone/>
                      </a:pPr>
                      <a:r>
                        <a:rPr lang="en-US" sz="1350" dirty="0">
                          <a:solidFill>
                            <a:schemeClr val="tx1"/>
                          </a:solidFill>
                        </a:rPr>
                        <a:t>Identifies the sender, so the receiver can reply or ask for a resend</a:t>
                      </a:r>
                      <a:endParaRPr lang="en-US" sz="135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r>
              <a:tr h="347472">
                <a:tc>
                  <a:txBody>
                    <a:bodyPr/>
                    <a:lstStyle/>
                    <a:p>
                      <a:pPr indent="0" marL="0">
                        <a:buNone/>
                      </a:pPr>
                      <a:r>
                        <a:rPr lang="en-US" sz="1350" b="1" dirty="0">
                          <a:solidFill>
                            <a:schemeClr val="tx1"/>
                          </a:solidFill>
                        </a:rPr>
                        <a:t>Destination address</a:t>
                      </a:r>
                      <a:endParaRPr lang="en-US" sz="135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indent="0" marL="0">
                        <a:buNone/>
                      </a:pPr>
                      <a:r>
                        <a:rPr lang="en-US" sz="1350" dirty="0">
                          <a:solidFill>
                            <a:schemeClr val="tx1"/>
                          </a:solidFill>
                        </a:rPr>
                        <a:t>Allows the packet to be routed to the correct device</a:t>
                      </a:r>
                      <a:endParaRPr lang="en-US" sz="135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r>
              <a:tr h="347472">
                <a:tc>
                  <a:txBody>
                    <a:bodyPr/>
                    <a:lstStyle/>
                    <a:p>
                      <a:pPr indent="0" marL="0">
                        <a:buNone/>
                      </a:pPr>
                      <a:r>
                        <a:rPr lang="en-US" sz="1350" b="1" dirty="0">
                          <a:solidFill>
                            <a:schemeClr val="tx1"/>
                          </a:solidFill>
                        </a:rPr>
                        <a:t>Sequence number</a:t>
                      </a:r>
                      <a:endParaRPr lang="en-US" sz="135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indent="0" marL="0">
                        <a:buNone/>
                      </a:pPr>
                      <a:r>
                        <a:rPr lang="en-US" sz="1350" dirty="0">
                          <a:solidFill>
                            <a:schemeClr val="tx1"/>
                          </a:solidFill>
                        </a:rPr>
                        <a:t>Allows the packets to be reassembled in the correct order</a:t>
                      </a:r>
                      <a:endParaRPr lang="en-US" sz="135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r>
              <a:tr h="347472">
                <a:tc>
                  <a:txBody>
                    <a:bodyPr/>
                    <a:lstStyle/>
                    <a:p>
                      <a:pPr indent="0" marL="0">
                        <a:buNone/>
                      </a:pPr>
                      <a:r>
                        <a:rPr lang="en-US" sz="1350" b="1" dirty="0">
                          <a:solidFill>
                            <a:schemeClr val="tx1"/>
                          </a:solidFill>
                        </a:rPr>
                        <a:t>Checksum</a:t>
                      </a:r>
                      <a:endParaRPr lang="en-US" sz="135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indent="0" marL="0">
                        <a:buNone/>
                      </a:pPr>
                      <a:r>
                        <a:rPr lang="en-US" sz="1350" dirty="0">
                          <a:solidFill>
                            <a:schemeClr val="tx1"/>
                          </a:solidFill>
                        </a:rPr>
                        <a:t>Allows the receiver to check the packet for errors</a:t>
                      </a:r>
                      <a:endParaRPr lang="en-US" sz="135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r>
              <a:tr h="347472">
                <a:tc>
                  <a:txBody>
                    <a:bodyPr/>
                    <a:lstStyle/>
                    <a:p>
                      <a:pPr indent="0" marL="0">
                        <a:buNone/>
                      </a:pPr>
                      <a:r>
                        <a:rPr lang="en-US" sz="1350" b="1" dirty="0">
                          <a:solidFill>
                            <a:schemeClr val="tx1"/>
                          </a:solidFill>
                        </a:rPr>
                        <a:t>Protocol</a:t>
                      </a:r>
                      <a:endParaRPr lang="en-US" sz="135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indent="0" marL="0">
                        <a:buNone/>
                      </a:pPr>
                      <a:r>
                        <a:rPr lang="en-US" sz="1350" dirty="0">
                          <a:solidFill>
                            <a:schemeClr val="tx1"/>
                          </a:solidFill>
                        </a:rPr>
                        <a:t>Tells the receiver how to handle the data, e.g. TCP or UDP</a:t>
                      </a:r>
                      <a:endParaRPr lang="en-US" sz="135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r>
              <a:tr h="347472">
                <a:tc>
                  <a:txBody>
                    <a:bodyPr/>
                    <a:lstStyle/>
                    <a:p>
                      <a:pPr indent="0" marL="0">
                        <a:buNone/>
                      </a:pPr>
                      <a:r>
                        <a:rPr lang="en-US" sz="1350" b="1" dirty="0">
                          <a:solidFill>
                            <a:schemeClr val="tx1"/>
                          </a:solidFill>
                        </a:rPr>
                        <a:t>Time to live (TTL)</a:t>
                      </a:r>
                      <a:endParaRPr lang="en-US" sz="135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indent="0" marL="0">
                        <a:buNone/>
                      </a:pPr>
                      <a:r>
                        <a:rPr lang="en-US" sz="1350" dirty="0">
                          <a:solidFill>
                            <a:schemeClr val="tx1"/>
                          </a:solidFill>
                        </a:rPr>
                        <a:t>Limits the number of hops, so lost packets don’t circulate forever</a:t>
                      </a:r>
                      <a:endParaRPr lang="en-US" sz="135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r>
              <a:tr h="347472">
                <a:tc>
                  <a:txBody>
                    <a:bodyPr/>
                    <a:lstStyle/>
                    <a:p>
                      <a:pPr indent="0" marL="0">
                        <a:buNone/>
                      </a:pPr>
                      <a:r>
                        <a:rPr lang="en-US" sz="1350" b="1" dirty="0">
                          <a:solidFill>
                            <a:schemeClr val="tx1"/>
                          </a:solidFill>
                        </a:rPr>
                        <a:t>Acknowledgement number</a:t>
                      </a:r>
                      <a:endParaRPr lang="en-US" sz="135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indent="0" marL="0">
                        <a:buNone/>
                      </a:pPr>
                      <a:r>
                        <a:rPr lang="en-US" sz="1350" dirty="0">
                          <a:solidFill>
                            <a:schemeClr val="tx1"/>
                          </a:solidFill>
                        </a:rPr>
                        <a:t>Confirms which packets have arrived, so missing ones can be resent</a:t>
                      </a:r>
                      <a:endParaRPr lang="en-US" sz="135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r>
              <a:tr h="347472">
                <a:tc>
                  <a:txBody>
                    <a:bodyPr/>
                    <a:lstStyle/>
                    <a:p>
                      <a:pPr indent="0" marL="0">
                        <a:buNone/>
                      </a:pPr>
                      <a:r>
                        <a:rPr lang="en-US" sz="1350" b="1" dirty="0">
                          <a:solidFill>
                            <a:schemeClr val="tx1"/>
                          </a:solidFill>
                        </a:rPr>
                        <a:t>Payload</a:t>
                      </a:r>
                      <a:endParaRPr lang="en-US" sz="135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indent="0" marL="0">
                        <a:buNone/>
                      </a:pPr>
                      <a:r>
                        <a:rPr lang="en-US" sz="1350" dirty="0">
                          <a:solidFill>
                            <a:schemeClr val="tx1"/>
                          </a:solidFill>
                        </a:rPr>
                        <a:t>The meaningful data the packet exists to carry</a:t>
                      </a:r>
                      <a:endParaRPr lang="en-US" sz="135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Getting the marks</a:t>
            </a:r>
            <a:endParaRPr lang="en-US" sz="3000" dirty="0"/>
          </a:p>
        </p:txBody>
      </p:sp>
      <p:sp>
        <p:nvSpPr>
          <p:cNvPr id="3" name="lst"/>
          <p:cNvSpPr/>
          <p:nvPr/>
        </p:nvSpPr>
        <p:spPr>
          <a:xfrm>
            <a:off x="457200" y="1097280"/>
            <a:ext cx="397764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3840480" y="1188720"/>
            <a:ext cx="457200" cy="457200"/>
          </a:xfrm>
          <a:prstGeom prst="ellipse">
            <a:avLst/>
          </a:prstGeom>
          <a:solidFill>
            <a:schemeClr val="accent4"/>
          </a:solidFill>
          <a:ln w="12700">
            <a:solidFill>
              <a:schemeClr val="accent4"/>
            </a:solidFill>
            <a:prstDash val="solid"/>
          </a:ln>
        </p:spPr>
      </p:sp>
      <p:pic>
        <p:nvPicPr>
          <p:cNvPr id="5" name="Image 0" descr="preencoded.png">    </p:cNvPr>
          <p:cNvPicPr>
            <a:picLocks noChangeAspect="1"/>
          </p:cNvPicPr>
          <p:nvPr/>
        </p:nvPicPr>
        <p:blipFill>
          <a:blip r:embed="rId1"/>
          <a:stretch>
            <a:fillRect/>
          </a:stretch>
        </p:blipFill>
        <p:spPr>
          <a:xfrm>
            <a:off x="3941064" y="1289304"/>
            <a:ext cx="256032" cy="256032"/>
          </a:xfrm>
          <a:prstGeom prst="rect">
            <a:avLst/>
          </a:prstGeom>
        </p:spPr>
      </p:pic>
      <p:sp>
        <p:nvSpPr>
          <p:cNvPr id="6" name="Text 3"/>
          <p:cNvSpPr txBox="1"/>
          <p:nvPr/>
        </p:nvSpPr>
        <p:spPr>
          <a:xfrm>
            <a:off x="640080" y="1188720"/>
            <a:ext cx="3017520" cy="365760"/>
          </a:xfrm>
          <a:prstGeom prst="rect">
            <a:avLst/>
          </a:prstGeom>
          <a:noFill/>
          <a:ln/>
        </p:spPr>
        <p:txBody>
          <a:bodyPr wrap="square" lIns="0" tIns="0" rIns="0" bIns="0" rtlCol="0" anchor="t"/>
          <a:lstStyle/>
          <a:p>
            <a:pPr indent="0" marL="0">
              <a:buNone/>
            </a:pPr>
            <a:r>
              <a:rPr lang="en-US" sz="1700" b="1" dirty="0">
                <a:solidFill>
                  <a:schemeClr val="accent4"/>
                </a:solidFill>
              </a:rPr>
              <a:t>A list</a:t>
            </a:r>
            <a:endParaRPr lang="en-US" sz="1700" dirty="0"/>
          </a:p>
        </p:txBody>
      </p:sp>
      <p:sp>
        <p:nvSpPr>
          <p:cNvPr id="7" name="Text 4"/>
          <p:cNvSpPr txBox="1"/>
          <p:nvPr/>
        </p:nvSpPr>
        <p:spPr>
          <a:xfrm>
            <a:off x="640080" y="1645920"/>
            <a:ext cx="3657600" cy="822960"/>
          </a:xfrm>
          <a:prstGeom prst="rect">
            <a:avLst/>
          </a:prstGeom>
          <a:noFill/>
          <a:ln/>
        </p:spPr>
        <p:txBody>
          <a:bodyPr wrap="square" lIns="0" tIns="0" rIns="0" bIns="0" rtlCol="0" anchor="t"/>
          <a:lstStyle/>
          <a:p>
            <a:pPr indent="0" marL="0">
              <a:buNone/>
            </a:pPr>
            <a:r>
              <a:rPr lang="en-US" sz="1500" i="1" dirty="0">
                <a:solidFill>
                  <a:schemeClr val="tx1"/>
                </a:solidFill>
              </a:rPr>
              <a:t>"Source address, destination address, sequence number, checksum."</a:t>
            </a:r>
            <a:endParaRPr lang="en-US" sz="1500" dirty="0"/>
          </a:p>
        </p:txBody>
      </p:sp>
      <p:sp>
        <p:nvSpPr>
          <p:cNvPr id="8" name="Text 5"/>
          <p:cNvSpPr txBox="1"/>
          <p:nvPr/>
        </p:nvSpPr>
        <p:spPr>
          <a:xfrm>
            <a:off x="640080" y="2606040"/>
            <a:ext cx="3657600" cy="457200"/>
          </a:xfrm>
          <a:prstGeom prst="rect">
            <a:avLst/>
          </a:prstGeom>
          <a:noFill/>
          <a:ln/>
        </p:spPr>
        <p:txBody>
          <a:bodyPr wrap="square" lIns="0" tIns="0" rIns="0" bIns="0" rtlCol="0" anchor="t"/>
          <a:lstStyle/>
          <a:p>
            <a:pPr indent="0" marL="0">
              <a:buNone/>
            </a:pPr>
            <a:r>
              <a:rPr lang="en-US" sz="1300" b="1" dirty="0">
                <a:solidFill>
                  <a:schemeClr val="accent4"/>
                </a:solidFill>
              </a:rPr>
              <a:t>2022: "No credit awarded for a list."</a:t>
            </a:r>
            <a:endParaRPr lang="en-US" sz="1300" dirty="0"/>
          </a:p>
        </p:txBody>
      </p:sp>
      <p:sp>
        <p:nvSpPr>
          <p:cNvPr id="9" name="dsc"/>
          <p:cNvSpPr/>
          <p:nvPr/>
        </p:nvSpPr>
        <p:spPr>
          <a:xfrm>
            <a:off x="4709160" y="1097280"/>
            <a:ext cx="397764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7"/>
          <p:cNvSpPr txBox="1"/>
          <p:nvPr/>
        </p:nvSpPr>
        <p:spPr>
          <a:xfrm>
            <a:off x="4892040" y="1188720"/>
            <a:ext cx="3657600" cy="365760"/>
          </a:xfrm>
          <a:prstGeom prst="rect">
            <a:avLst/>
          </a:prstGeom>
          <a:noFill/>
          <a:ln/>
        </p:spPr>
        <p:txBody>
          <a:bodyPr wrap="square" lIns="0" tIns="0" rIns="0" bIns="0" rtlCol="0" anchor="t"/>
          <a:lstStyle/>
          <a:p>
            <a:pPr indent="0" marL="0">
              <a:buNone/>
            </a:pPr>
            <a:r>
              <a:rPr lang="en-US" sz="1700" b="1" dirty="0">
                <a:solidFill>
                  <a:schemeClr val="accent5"/>
                </a:solidFill>
              </a:rPr>
              <a:t>A description</a:t>
            </a:r>
            <a:endParaRPr lang="en-US" sz="1700" dirty="0"/>
          </a:p>
        </p:txBody>
      </p:sp>
      <p:sp>
        <p:nvSpPr>
          <p:cNvPr id="11" name="Text 8"/>
          <p:cNvSpPr txBox="1"/>
          <p:nvPr/>
        </p:nvSpPr>
        <p:spPr>
          <a:xfrm>
            <a:off x="4892040" y="1645920"/>
            <a:ext cx="3657600" cy="914400"/>
          </a:xfrm>
          <a:prstGeom prst="rect">
            <a:avLst/>
          </a:prstGeom>
          <a:noFill/>
          <a:ln/>
        </p:spPr>
        <p:txBody>
          <a:bodyPr wrap="square" lIns="0" tIns="0" rIns="0" bIns="0" rtlCol="0" anchor="t"/>
          <a:lstStyle/>
          <a:p>
            <a:pPr indent="0" marL="0">
              <a:buNone/>
            </a:pPr>
            <a:r>
              <a:rPr lang="en-US" sz="1500" i="1" dirty="0">
                <a:solidFill>
                  <a:schemeClr val="tx1"/>
                </a:solidFill>
              </a:rPr>
              <a:t>"The sequence number allows the packets to be reassembled in the correct order."</a:t>
            </a:r>
            <a:endParaRPr lang="en-US" sz="1500" dirty="0"/>
          </a:p>
        </p:txBody>
      </p:sp>
      <p:sp>
        <p:nvSpPr>
          <p:cNvPr id="12" name="Text 9"/>
          <p:cNvSpPr txBox="1"/>
          <p:nvPr/>
        </p:nvSpPr>
        <p:spPr>
          <a:xfrm>
            <a:off x="4892040" y="2606040"/>
            <a:ext cx="3657600" cy="457200"/>
          </a:xfrm>
          <a:prstGeom prst="rect">
            <a:avLst/>
          </a:prstGeom>
          <a:noFill/>
          <a:ln/>
        </p:spPr>
        <p:txBody>
          <a:bodyPr wrap="square" lIns="0" tIns="0" rIns="0" bIns="0" rtlCol="0" anchor="t"/>
          <a:lstStyle/>
          <a:p>
            <a:pPr indent="0" marL="0">
              <a:buNone/>
            </a:pPr>
            <a:r>
              <a:rPr lang="en-US" sz="1300" b="1" dirty="0">
                <a:solidFill>
                  <a:schemeClr val="accent5"/>
                </a:solidFill>
              </a:rPr>
              <a:t>Field + what it allows = the mark</a:t>
            </a:r>
            <a:endParaRPr lang="en-US" sz="1300" dirty="0"/>
          </a:p>
        </p:txBody>
      </p:sp>
      <p:sp>
        <p:nvSpPr>
          <p:cNvPr id="13" name="frame"/>
          <p:cNvSpPr/>
          <p:nvPr/>
        </p:nvSpPr>
        <p:spPr>
          <a:xfrm>
            <a:off x="457200" y="3520440"/>
            <a:ext cx="8229600" cy="1051560"/>
          </a:xfrm>
          <a:prstGeom prst="roundRect">
            <a:avLst>
              <a:gd name="adj" fmla="val 6957"/>
            </a:avLst>
          </a:prstGeom>
          <a:solidFill>
            <a:schemeClr val="tx1"/>
          </a:solidFill>
          <a:ln w="12700">
            <a:solidFill>
              <a:schemeClr val="tx1"/>
            </a:solidFill>
            <a:prstDash val="solid"/>
          </a:ln>
          <a:effectLst>
            <a:outerShdw sx="100000" sy="100000" kx="0" ky="0" algn="bl" rotWithShape="0" blurRad="76200" dist="25400" dir="5400000">
              <a:srgbClr val="000000">
                <a:alpha val="12000"/>
              </a:srgbClr>
            </a:outerShdw>
          </a:effectLst>
        </p:spPr>
      </p:sp>
      <p:sp>
        <p:nvSpPr>
          <p:cNvPr id="14" name="Text 11"/>
          <p:cNvSpPr txBox="1"/>
          <p:nvPr/>
        </p:nvSpPr>
        <p:spPr>
          <a:xfrm>
            <a:off x="685800" y="3520440"/>
            <a:ext cx="7772400" cy="1051560"/>
          </a:xfrm>
          <a:prstGeom prst="rect">
            <a:avLst/>
          </a:prstGeom>
          <a:noFill/>
          <a:ln/>
        </p:spPr>
        <p:txBody>
          <a:bodyPr wrap="square" lIns="0" tIns="0" rIns="0" bIns="0" rtlCol="0" anchor="ctr"/>
          <a:lstStyle/>
          <a:p>
            <a:pPr indent="0" marL="0">
              <a:buNone/>
            </a:pPr>
            <a:r>
              <a:rPr lang="en-US" sz="1400" b="1" dirty="0">
                <a:solidFill>
                  <a:schemeClr val="accent2"/>
                </a:solidFill>
              </a:rPr>
              <a:t>Packet or frame?  </a:t>
            </a:r>
            <a:pPr indent="0" marL="0">
              <a:buNone/>
            </a:pPr>
            <a:r>
              <a:rPr lang="en-US" sz="1400" dirty="0">
                <a:solidFill>
                  <a:schemeClr val="bg1"/>
                </a:solidFill>
              </a:rPr>
              <a:t>Some notes show a trailer with a frame check sequence. That belongs to an Ethernet frame, which wraps a packet for one hop. A TCP/IP packet is a header plus a payload.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03504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Task: Packet builder</a:t>
            </a:r>
            <a:endParaRPr lang="en-US" sz="3000" dirty="0"/>
          </a:p>
        </p:txBody>
      </p:sp>
      <p:sp>
        <p:nvSpPr>
          <p:cNvPr id="3" name="Shape 1"/>
          <p:cNvSpPr/>
          <p:nvPr/>
        </p:nvSpPr>
        <p:spPr>
          <a:xfrm>
            <a:off x="6400800" y="347472"/>
            <a:ext cx="2286000" cy="502920"/>
          </a:xfrm>
          <a:prstGeom prst="roundRect">
            <a:avLst>
              <a:gd name="adj" fmla="val 49091"/>
            </a:avLst>
          </a:prstGeom>
          <a:solidFill>
            <a:schemeClr val="accent2"/>
          </a:solidFill>
          <a:ln w="12700">
            <a:solidFill>
              <a:schemeClr val="accent2"/>
            </a:solidFill>
            <a:prstDash val="solid"/>
          </a:ln>
        </p:spPr>
      </p:sp>
      <p:pic>
        <p:nvPicPr>
          <p:cNvPr id="4" name="Image 0" descr="preencoded.png">    </p:cNvPr>
          <p:cNvPicPr>
            <a:picLocks noChangeAspect="1"/>
          </p:cNvPicPr>
          <p:nvPr/>
        </p:nvPicPr>
        <p:blipFill>
          <a:blip r:embed="rId1"/>
          <a:stretch>
            <a:fillRect/>
          </a:stretch>
        </p:blipFill>
        <p:spPr>
          <a:xfrm>
            <a:off x="6537960" y="448056"/>
            <a:ext cx="301752" cy="301752"/>
          </a:xfrm>
          <a:prstGeom prst="rect">
            <a:avLst/>
          </a:prstGeom>
        </p:spPr>
      </p:pic>
      <p:sp>
        <p:nvSpPr>
          <p:cNvPr id="5" name="Text 2"/>
          <p:cNvSpPr txBox="1"/>
          <p:nvPr/>
        </p:nvSpPr>
        <p:spPr>
          <a:xfrm>
            <a:off x="6903720" y="347472"/>
            <a:ext cx="1737360" cy="502920"/>
          </a:xfrm>
          <a:prstGeom prst="rect">
            <a:avLst/>
          </a:prstGeom>
          <a:noFill/>
          <a:ln/>
        </p:spPr>
        <p:txBody>
          <a:bodyPr wrap="square" lIns="0" tIns="0" rIns="0" bIns="0" rtlCol="0" anchor="ctr"/>
          <a:lstStyle/>
          <a:p>
            <a:pPr indent="0" marL="0">
              <a:buNone/>
            </a:pPr>
            <a:r>
              <a:rPr lang="en-US" sz="1400" b="1" dirty="0">
                <a:solidFill>
                  <a:schemeClr val="bg1"/>
                </a:solidFill>
              </a:rPr>
              <a:t>10 min  in pairs</a:t>
            </a:r>
            <a:endParaRPr lang="en-US" sz="1400" dirty="0"/>
          </a:p>
        </p:txBody>
      </p:sp>
      <p:sp>
        <p:nvSpPr>
          <p:cNvPr id="6" name="st0"/>
          <p:cNvSpPr/>
          <p:nvPr/>
        </p:nvSpPr>
        <p:spPr>
          <a:xfrm>
            <a:off x="457200" y="1097280"/>
            <a:ext cx="5303520" cy="868680"/>
          </a:xfrm>
          <a:prstGeom prst="roundRect">
            <a:avLst>
              <a:gd name="adj" fmla="val 842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7" name="Shape 4"/>
          <p:cNvSpPr/>
          <p:nvPr/>
        </p:nvSpPr>
        <p:spPr>
          <a:xfrm>
            <a:off x="594360" y="1303020"/>
            <a:ext cx="457200" cy="457200"/>
          </a:xfrm>
          <a:prstGeom prst="ellipse">
            <a:avLst/>
          </a:prstGeom>
          <a:solidFill>
            <a:schemeClr val="accent1"/>
          </a:solidFill>
          <a:ln w="12700">
            <a:solidFill>
              <a:schemeClr val="accent1"/>
            </a:solidFill>
            <a:prstDash val="solid"/>
          </a:ln>
        </p:spPr>
      </p:sp>
      <p:sp>
        <p:nvSpPr>
          <p:cNvPr id="8" name="Text 5"/>
          <p:cNvSpPr txBox="1"/>
          <p:nvPr/>
        </p:nvSpPr>
        <p:spPr>
          <a:xfrm>
            <a:off x="594360" y="13030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9" name="Text 6"/>
          <p:cNvSpPr txBox="1"/>
          <p:nvPr/>
        </p:nvSpPr>
        <p:spPr>
          <a:xfrm>
            <a:off x="1188720" y="1097280"/>
            <a:ext cx="4434840" cy="868680"/>
          </a:xfrm>
          <a:prstGeom prst="rect">
            <a:avLst/>
          </a:prstGeom>
          <a:noFill/>
          <a:ln/>
        </p:spPr>
        <p:txBody>
          <a:bodyPr wrap="square" lIns="0" tIns="0" rIns="0" bIns="0" rtlCol="0" anchor="ctr"/>
          <a:lstStyle/>
          <a:p>
            <a:pPr indent="0" marL="0">
              <a:buNone/>
            </a:pPr>
            <a:r>
              <a:rPr lang="en-US" sz="1400" dirty="0">
                <a:solidFill>
                  <a:schemeClr val="tx1"/>
                </a:solidFill>
              </a:rPr>
              <a:t>Drag each field into the right part of the packet: header or payload.</a:t>
            </a:r>
            <a:endParaRPr lang="en-US" sz="1400" dirty="0"/>
          </a:p>
        </p:txBody>
      </p:sp>
      <p:sp>
        <p:nvSpPr>
          <p:cNvPr id="10" name="st1"/>
          <p:cNvSpPr/>
          <p:nvPr/>
        </p:nvSpPr>
        <p:spPr>
          <a:xfrm>
            <a:off x="457200" y="2103120"/>
            <a:ext cx="5303520" cy="868680"/>
          </a:xfrm>
          <a:prstGeom prst="roundRect">
            <a:avLst>
              <a:gd name="adj" fmla="val 842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594360" y="2308860"/>
            <a:ext cx="457200" cy="457200"/>
          </a:xfrm>
          <a:prstGeom prst="ellipse">
            <a:avLst/>
          </a:prstGeom>
          <a:solidFill>
            <a:schemeClr val="accent1"/>
          </a:solidFill>
          <a:ln w="12700">
            <a:solidFill>
              <a:schemeClr val="accent1"/>
            </a:solidFill>
            <a:prstDash val="solid"/>
          </a:ln>
        </p:spPr>
      </p:sp>
      <p:sp>
        <p:nvSpPr>
          <p:cNvPr id="12" name="Text 9"/>
          <p:cNvSpPr txBox="1"/>
          <p:nvPr/>
        </p:nvSpPr>
        <p:spPr>
          <a:xfrm>
            <a:off x="594360" y="23088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0"/>
          <p:cNvSpPr txBox="1"/>
          <p:nvPr/>
        </p:nvSpPr>
        <p:spPr>
          <a:xfrm>
            <a:off x="1188720" y="2103120"/>
            <a:ext cx="4434840" cy="868680"/>
          </a:xfrm>
          <a:prstGeom prst="rect">
            <a:avLst/>
          </a:prstGeom>
          <a:noFill/>
          <a:ln/>
        </p:spPr>
        <p:txBody>
          <a:bodyPr wrap="square" lIns="0" tIns="0" rIns="0" bIns="0" rtlCol="0" anchor="ctr"/>
          <a:lstStyle/>
          <a:p>
            <a:pPr indent="0" marL="0">
              <a:buNone/>
            </a:pPr>
            <a:r>
              <a:rPr lang="en-US" sz="1400" dirty="0">
                <a:solidFill>
                  <a:schemeClr val="tx1"/>
                </a:solidFill>
              </a:rPr>
              <a:t>Match each field to its purpose.</a:t>
            </a:r>
            <a:endParaRPr lang="en-US" sz="1400" dirty="0"/>
          </a:p>
        </p:txBody>
      </p:sp>
      <p:sp>
        <p:nvSpPr>
          <p:cNvPr id="14" name="st2"/>
          <p:cNvSpPr/>
          <p:nvPr/>
        </p:nvSpPr>
        <p:spPr>
          <a:xfrm>
            <a:off x="457200" y="3108960"/>
            <a:ext cx="5303520" cy="868680"/>
          </a:xfrm>
          <a:prstGeom prst="roundRect">
            <a:avLst>
              <a:gd name="adj" fmla="val 842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594360" y="3314700"/>
            <a:ext cx="457200" cy="457200"/>
          </a:xfrm>
          <a:prstGeom prst="ellipse">
            <a:avLst/>
          </a:prstGeom>
          <a:solidFill>
            <a:schemeClr val="accent1"/>
          </a:solidFill>
          <a:ln w="12700">
            <a:solidFill>
              <a:schemeClr val="accent1"/>
            </a:solidFill>
            <a:prstDash val="solid"/>
          </a:ln>
        </p:spPr>
      </p:sp>
      <p:sp>
        <p:nvSpPr>
          <p:cNvPr id="16" name="Text 13"/>
          <p:cNvSpPr txBox="1"/>
          <p:nvPr/>
        </p:nvSpPr>
        <p:spPr>
          <a:xfrm>
            <a:off x="594360" y="33147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4"/>
          <p:cNvSpPr txBox="1"/>
          <p:nvPr/>
        </p:nvSpPr>
        <p:spPr>
          <a:xfrm>
            <a:off x="1188720" y="3108960"/>
            <a:ext cx="4434840" cy="868680"/>
          </a:xfrm>
          <a:prstGeom prst="rect">
            <a:avLst/>
          </a:prstGeom>
          <a:noFill/>
          <a:ln/>
        </p:spPr>
        <p:txBody>
          <a:bodyPr wrap="square" lIns="0" tIns="0" rIns="0" bIns="0" rtlCol="0" anchor="ctr"/>
          <a:lstStyle/>
          <a:p>
            <a:pPr indent="0" marL="0">
              <a:buNone/>
            </a:pPr>
            <a:r>
              <a:rPr lang="en-US" sz="1400" dirty="0">
                <a:solidFill>
                  <a:schemeClr val="tx1"/>
                </a:solidFill>
              </a:rPr>
              <a:t>Build a full exam answer: choose five fields and write what each one allows.</a:t>
            </a:r>
            <a:endParaRPr lang="en-US" sz="1400" dirty="0"/>
          </a:p>
        </p:txBody>
      </p:sp>
      <p:sp>
        <p:nvSpPr>
          <p:cNvPr id="18" name="side"/>
          <p:cNvSpPr/>
          <p:nvPr/>
        </p:nvSpPr>
        <p:spPr>
          <a:xfrm>
            <a:off x="6035040" y="1097280"/>
            <a:ext cx="2651760" cy="2880360"/>
          </a:xfrm>
          <a:prstGeom prst="roundRect">
            <a:avLst>
              <a:gd name="adj" fmla="val 2759"/>
            </a:avLst>
          </a:prstGeom>
          <a:solidFill>
            <a:schemeClr val="tx1"/>
          </a:solidFill>
          <a:ln w="12700">
            <a:solidFill>
              <a:schemeClr val="tx1"/>
            </a:solidFill>
            <a:prstDash val="solid"/>
          </a:ln>
          <a:effectLst>
            <a:outerShdw sx="100000" sy="100000" kx="0" ky="0" algn="bl" rotWithShape="0" blurRad="76200" dist="25400" dir="5400000">
              <a:srgbClr val="000000">
                <a:alpha val="12000"/>
              </a:srgbClr>
            </a:outerShdw>
          </a:effectLst>
        </p:spPr>
      </p:sp>
      <p:sp>
        <p:nvSpPr>
          <p:cNvPr id="19" name="Shape 16"/>
          <p:cNvSpPr/>
          <p:nvPr/>
        </p:nvSpPr>
        <p:spPr>
          <a:xfrm>
            <a:off x="6217920" y="1234440"/>
            <a:ext cx="457200" cy="457200"/>
          </a:xfrm>
          <a:prstGeom prst="ellipse">
            <a:avLst/>
          </a:prstGeom>
          <a:solidFill>
            <a:schemeClr val="accent2"/>
          </a:solidFill>
          <a:ln w="12700">
            <a:solidFill>
              <a:schemeClr val="accent2"/>
            </a:solidFill>
            <a:prstDash val="solid"/>
          </a:ln>
        </p:spPr>
      </p:sp>
      <p:pic>
        <p:nvPicPr>
          <p:cNvPr id="20" name="Image 1" descr="preencoded.png">    </p:cNvPr>
          <p:cNvPicPr>
            <a:picLocks noChangeAspect="1"/>
          </p:cNvPicPr>
          <p:nvPr/>
        </p:nvPicPr>
        <p:blipFill>
          <a:blip r:embed="rId2"/>
          <a:stretch>
            <a:fillRect/>
          </a:stretch>
        </p:blipFill>
        <p:spPr>
          <a:xfrm>
            <a:off x="6318504" y="1335024"/>
            <a:ext cx="256032" cy="256032"/>
          </a:xfrm>
          <a:prstGeom prst="rect">
            <a:avLst/>
          </a:prstGeom>
        </p:spPr>
      </p:pic>
      <p:sp>
        <p:nvSpPr>
          <p:cNvPr id="21" name="Text 17"/>
          <p:cNvSpPr txBox="1"/>
          <p:nvPr/>
        </p:nvSpPr>
        <p:spPr>
          <a:xfrm>
            <a:off x="6217920" y="1783080"/>
            <a:ext cx="2331720" cy="2103120"/>
          </a:xfrm>
          <a:prstGeom prst="rect">
            <a:avLst/>
          </a:prstGeom>
          <a:noFill/>
          <a:ln/>
        </p:spPr>
        <p:txBody>
          <a:bodyPr wrap="square" lIns="0" tIns="0" rIns="0" bIns="0" rtlCol="0" anchor="t"/>
          <a:lstStyle/>
          <a:p>
            <a:pPr indent="0" marL="0">
              <a:buNone/>
            </a:pPr>
            <a:r>
              <a:rPr lang="en-US" sz="1400" dirty="0">
                <a:solidFill>
                  <a:schemeClr val="bg1"/>
                </a:solidFill>
              </a:rPr>
              <a:t>Remember the rule: a field on its own is a list. Field + what it allows is a description.</a:t>
            </a:r>
            <a:endParaRPr lang="en-US" sz="1400" dirty="0"/>
          </a:p>
        </p:txBody>
      </p:sp>
      <p:sp>
        <p:nvSpPr>
          <p:cNvPr id="22" name="Text 18"/>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500" b="1" dirty="0">
                <a:solidFill>
                  <a:schemeClr val="accent1"/>
                </a:solidFill>
              </a:rPr>
              <a:t>Open the link on Teams.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03504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Exam question: Summer 2024</a:t>
            </a:r>
            <a:endParaRPr lang="en-US" sz="3000" dirty="0"/>
          </a:p>
        </p:txBody>
      </p:sp>
      <p:sp>
        <p:nvSpPr>
          <p:cNvPr id="3" name="Shape 1"/>
          <p:cNvSpPr/>
          <p:nvPr/>
        </p:nvSpPr>
        <p:spPr>
          <a:xfrm>
            <a:off x="6400800" y="347472"/>
            <a:ext cx="2286000" cy="502920"/>
          </a:xfrm>
          <a:prstGeom prst="roundRect">
            <a:avLst>
              <a:gd name="adj" fmla="val 49091"/>
            </a:avLst>
          </a:prstGeom>
          <a:solidFill>
            <a:schemeClr val="accent2"/>
          </a:solidFill>
          <a:ln w="12700">
            <a:solidFill>
              <a:schemeClr val="accent2"/>
            </a:solidFill>
            <a:prstDash val="solid"/>
          </a:ln>
        </p:spPr>
      </p:sp>
      <p:pic>
        <p:nvPicPr>
          <p:cNvPr id="4" name="Image 0" descr="preencoded.png">    </p:cNvPr>
          <p:cNvPicPr>
            <a:picLocks noChangeAspect="1"/>
          </p:cNvPicPr>
          <p:nvPr/>
        </p:nvPicPr>
        <p:blipFill>
          <a:blip r:embed="rId1"/>
          <a:stretch>
            <a:fillRect/>
          </a:stretch>
        </p:blipFill>
        <p:spPr>
          <a:xfrm>
            <a:off x="6537960" y="448056"/>
            <a:ext cx="301752" cy="301752"/>
          </a:xfrm>
          <a:prstGeom prst="rect">
            <a:avLst/>
          </a:prstGeom>
        </p:spPr>
      </p:pic>
      <p:sp>
        <p:nvSpPr>
          <p:cNvPr id="5" name="Text 2"/>
          <p:cNvSpPr txBox="1"/>
          <p:nvPr/>
        </p:nvSpPr>
        <p:spPr>
          <a:xfrm>
            <a:off x="6903720" y="347472"/>
            <a:ext cx="1737360" cy="502920"/>
          </a:xfrm>
          <a:prstGeom prst="rect">
            <a:avLst/>
          </a:prstGeom>
          <a:noFill/>
          <a:ln/>
        </p:spPr>
        <p:txBody>
          <a:bodyPr wrap="square" lIns="0" tIns="0" rIns="0" bIns="0" rtlCol="0" anchor="ctr"/>
          <a:lstStyle/>
          <a:p>
            <a:pPr indent="0" marL="0">
              <a:buNone/>
            </a:pPr>
            <a:r>
              <a:rPr lang="en-US" sz="1400" b="1" dirty="0">
                <a:solidFill>
                  <a:schemeClr val="bg1"/>
                </a:solidFill>
              </a:rPr>
              <a:t>5 min  on your own</a:t>
            </a:r>
            <a:endParaRPr lang="en-US" sz="1400" dirty="0"/>
          </a:p>
        </p:txBody>
      </p:sp>
      <p:sp>
        <p:nvSpPr>
          <p:cNvPr id="6" name="q"/>
          <p:cNvSpPr/>
          <p:nvPr/>
        </p:nvSpPr>
        <p:spPr>
          <a:xfrm>
            <a:off x="457200" y="1097280"/>
            <a:ext cx="8229600" cy="1280160"/>
          </a:xfrm>
          <a:prstGeom prst="roundRect">
            <a:avLst>
              <a:gd name="adj" fmla="val 5714"/>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685800" y="1188720"/>
            <a:ext cx="7772400" cy="1097280"/>
          </a:xfrm>
          <a:prstGeom prst="rect">
            <a:avLst/>
          </a:prstGeom>
          <a:noFill/>
          <a:ln/>
        </p:spPr>
        <p:txBody>
          <a:bodyPr wrap="square" lIns="0" tIns="0" rIns="0" bIns="0" rtlCol="0" anchor="ctr"/>
          <a:lstStyle/>
          <a:p>
            <a:pPr indent="0" marL="0">
              <a:buNone/>
            </a:pPr>
            <a:r>
              <a:rPr lang="en-US" sz="2000" b="1" dirty="0">
                <a:solidFill>
                  <a:schemeClr val="accent1"/>
                </a:solidFill>
              </a:rPr>
              <a:t>Q2(a)  </a:t>
            </a:r>
            <a:pPr indent="0" marL="0">
              <a:buNone/>
            </a:pPr>
            <a:r>
              <a:rPr lang="en-US" sz="2000" dirty="0">
                <a:solidFill>
                  <a:schemeClr val="tx1"/>
                </a:solidFill>
              </a:rPr>
              <a:t>Describe the typical contents of a TCP/IP packet.</a:t>
            </a:r>
            <a:pPr indent="0" marL="0">
              <a:buNone/>
            </a:pPr>
            <a:r>
              <a:rPr lang="en-US" sz="2000" b="1" dirty="0">
                <a:solidFill>
                  <a:schemeClr val="tx1"/>
                </a:solidFill>
              </a:rPr>
              <a:t>  [5]</a:t>
            </a:r>
            <a:endParaRPr lang="en-US" sz="2000" dirty="0"/>
          </a:p>
        </p:txBody>
      </p:sp>
      <p:sp>
        <p:nvSpPr>
          <p:cNvPr id="8" name="Shape 5"/>
          <p:cNvSpPr/>
          <p:nvPr/>
        </p:nvSpPr>
        <p:spPr>
          <a:xfrm>
            <a:off x="457200" y="2743200"/>
            <a:ext cx="548640" cy="548640"/>
          </a:xfrm>
          <a:prstGeom prst="ellipse">
            <a:avLst/>
          </a:prstGeom>
          <a:solidFill>
            <a:schemeClr val="accent2"/>
          </a:solidFill>
          <a:ln w="12700">
            <a:solidFill>
              <a:schemeClr val="accent2"/>
            </a:solidFill>
            <a:prstDash val="solid"/>
          </a:ln>
        </p:spPr>
      </p:sp>
      <p:pic>
        <p:nvPicPr>
          <p:cNvPr id="9" name="Image 1" descr="preencoded.png">    </p:cNvPr>
          <p:cNvPicPr>
            <a:picLocks noChangeAspect="1"/>
          </p:cNvPicPr>
          <p:nvPr/>
        </p:nvPicPr>
        <p:blipFill>
          <a:blip r:embed="rId2"/>
          <a:stretch>
            <a:fillRect/>
          </a:stretch>
        </p:blipFill>
        <p:spPr>
          <a:xfrm>
            <a:off x="577901" y="2863901"/>
            <a:ext cx="307238" cy="307238"/>
          </a:xfrm>
          <a:prstGeom prst="rect">
            <a:avLst/>
          </a:prstGeom>
        </p:spPr>
      </p:pic>
      <p:sp>
        <p:nvSpPr>
          <p:cNvPr id="10" name="Text 6"/>
          <p:cNvSpPr txBox="1"/>
          <p:nvPr/>
        </p:nvSpPr>
        <p:spPr>
          <a:xfrm>
            <a:off x="1188720" y="2697480"/>
            <a:ext cx="7498080" cy="1188720"/>
          </a:xfrm>
          <a:prstGeom prst="rect">
            <a:avLst/>
          </a:prstGeom>
          <a:noFill/>
          <a:ln/>
        </p:spPr>
        <p:txBody>
          <a:bodyPr wrap="square" lIns="0" tIns="0" rIns="0" bIns="0" rtlCol="0" anchor="t"/>
          <a:lstStyle/>
          <a:p>
            <a:pPr indent="0" marL="0">
              <a:buNone/>
            </a:pPr>
            <a:r>
              <a:rPr lang="en-US" sz="1600" dirty="0">
                <a:solidFill>
                  <a:schemeClr val="tx1"/>
                </a:solidFill>
              </a:rPr>
              <a:t>Five marks: aim for five different fields, each with its purpose. Write it on the exam practice sheet.</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Mark scheme: 2024 Q2(a)</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7406640"/>
                <a:gridCol w="822960"/>
              </a:tblGrid>
              <a:tr h="274320">
                <a:tc>
                  <a:txBody>
                    <a:bodyPr/>
                    <a:lstStyle/>
                    <a:p>
                      <a:pPr indent="0" marL="0">
                        <a:buNone/>
                      </a:pPr>
                      <a:r>
                        <a:rPr lang="en-US" sz="1300" b="1" dirty="0">
                          <a:solidFill>
                            <a:schemeClr val="bg1"/>
                          </a:solidFill>
                        </a:rPr>
                        <a:t>Award one mark for each, up to a maximum of five</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Mark</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tx1"/>
                    </a:solidFill>
                  </a:tcPr>
                </a:tc>
              </a:tr>
              <a:tr h="274320">
                <a:tc>
                  <a:txBody>
                    <a:bodyPr/>
                    <a:lstStyle/>
                    <a:p>
                      <a:pPr indent="0" marL="0">
                        <a:buNone/>
                      </a:pPr>
                      <a:r>
                        <a:rPr lang="en-US" sz="1300" dirty="0">
                          <a:solidFill>
                            <a:schemeClr val="tx1"/>
                          </a:solidFill>
                        </a:rPr>
                        <a:t>Source address</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1</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r>
              <a:tr h="274320">
                <a:tc>
                  <a:txBody>
                    <a:bodyPr/>
                    <a:lstStyle/>
                    <a:p>
                      <a:pPr indent="0" marL="0">
                        <a:buNone/>
                      </a:pPr>
                      <a:r>
                        <a:rPr lang="en-US" sz="1300" dirty="0">
                          <a:solidFill>
                            <a:schemeClr val="tx1"/>
                          </a:solidFill>
                        </a:rPr>
                        <a:t>Destination address</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r>
              <a:tr h="274320">
                <a:tc>
                  <a:txBody>
                    <a:bodyPr/>
                    <a:lstStyle/>
                    <a:p>
                      <a:pPr indent="0" marL="0">
                        <a:buNone/>
                      </a:pPr>
                      <a:r>
                        <a:rPr lang="en-US" sz="1300" dirty="0">
                          <a:solidFill>
                            <a:schemeClr val="tx1"/>
                          </a:solidFill>
                        </a:rPr>
                        <a:t>Reassembly information</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1</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r>
              <a:tr h="274320">
                <a:tc>
                  <a:txBody>
                    <a:bodyPr/>
                    <a:lstStyle/>
                    <a:p>
                      <a:pPr indent="0" marL="0">
                        <a:buNone/>
                      </a:pPr>
                      <a:r>
                        <a:rPr lang="en-US" sz="1300" dirty="0">
                          <a:solidFill>
                            <a:schemeClr val="tx1"/>
                          </a:solidFill>
                        </a:rPr>
                        <a:t>Sequence and acknowledgement numbers / tracking information</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r>
              <a:tr h="274320">
                <a:tc>
                  <a:txBody>
                    <a:bodyPr/>
                    <a:lstStyle/>
                    <a:p>
                      <a:pPr indent="0" marL="0">
                        <a:buNone/>
                      </a:pPr>
                      <a:r>
                        <a:rPr lang="en-US" sz="1300" dirty="0">
                          <a:solidFill>
                            <a:schemeClr val="tx1"/>
                          </a:solidFill>
                        </a:rPr>
                        <a:t>Data itself</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1</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r>
              <a:tr h="274320">
                <a:tc>
                  <a:txBody>
                    <a:bodyPr/>
                    <a:lstStyle/>
                    <a:p>
                      <a:pPr indent="0" marL="0">
                        <a:buNone/>
                      </a:pPr>
                      <a:r>
                        <a:rPr lang="en-US" sz="1300" dirty="0">
                          <a:solidFill>
                            <a:schemeClr val="tx1"/>
                          </a:solidFill>
                        </a:rPr>
                        <a:t>Checksum / error handling</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r>
              <a:tr h="274320">
                <a:tc>
                  <a:txBody>
                    <a:bodyPr/>
                    <a:lstStyle/>
                    <a:p>
                      <a:pPr indent="0" marL="0">
                        <a:buNone/>
                      </a:pPr>
                      <a:r>
                        <a:rPr lang="en-US" sz="1300" dirty="0">
                          <a:solidFill>
                            <a:schemeClr val="tx1"/>
                          </a:solidFill>
                        </a:rPr>
                        <a:t>Protocol type</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1</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r>
              <a:tr h="274320">
                <a:tc>
                  <a:txBody>
                    <a:bodyPr/>
                    <a:lstStyle/>
                    <a:p>
                      <a:pPr indent="0" marL="0">
                        <a:buNone/>
                      </a:pPr>
                      <a:r>
                        <a:rPr lang="en-US" sz="1300" dirty="0">
                          <a:solidFill>
                            <a:schemeClr val="tx1"/>
                          </a:solidFill>
                        </a:rPr>
                        <a:t>Header length</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r>
              <a:tr h="274320">
                <a:tc>
                  <a:txBody>
                    <a:bodyPr/>
                    <a:lstStyle/>
                    <a:p>
                      <a:pPr indent="0" marL="0">
                        <a:buNone/>
                      </a:pPr>
                      <a:r>
                        <a:rPr lang="en-US" sz="1300" dirty="0">
                          <a:solidFill>
                            <a:schemeClr val="tx1"/>
                          </a:solidFill>
                        </a:rPr>
                        <a:t>Flags</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1</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r>
              <a:tr h="274320">
                <a:tc>
                  <a:txBody>
                    <a:bodyPr/>
                    <a:lstStyle/>
                    <a:p>
                      <a:pPr indent="0" marL="0">
                        <a:buNone/>
                      </a:pPr>
                      <a:r>
                        <a:rPr lang="en-US" sz="1300" dirty="0">
                          <a:solidFill>
                            <a:schemeClr val="tx1"/>
                          </a:solidFill>
                        </a:rPr>
                        <a:t>Payload size</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457200" y="4251960"/>
            <a:ext cx="8229600" cy="365760"/>
          </a:xfrm>
          <a:prstGeom prst="rect">
            <a:avLst/>
          </a:prstGeom>
          <a:noFill/>
          <a:ln/>
        </p:spPr>
        <p:txBody>
          <a:bodyPr wrap="square" lIns="0" tIns="0" rIns="0" bIns="0" rtlCol="0" anchor="t"/>
          <a:lstStyle/>
          <a:p>
            <a:pPr indent="0" marL="0">
              <a:buNone/>
            </a:pPr>
            <a:r>
              <a:rPr lang="en-US" sz="1300" b="1" dirty="0">
                <a:solidFill>
                  <a:schemeClr val="accent2"/>
                </a:solidFill>
              </a:rPr>
              <a:t>Earlier schemes gave no credit for a list. Always add the purpose.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8046720" cy="1005840"/>
          </a:xfrm>
          <a:prstGeom prst="rect">
            <a:avLst/>
          </a:prstGeom>
          <a:noFill/>
          <a:ln/>
        </p:spPr>
        <p:txBody>
          <a:bodyPr wrap="square" lIns="0" tIns="0" rIns="0" bIns="0" rtlCol="0" anchor="b"/>
          <a:lstStyle/>
          <a:p>
            <a:pPr algn="l" indent="0" marL="0">
              <a:buNone/>
            </a:pPr>
            <a:r>
              <a:rPr lang="en-US" sz="3800" b="1" dirty="0">
                <a:solidFill>
                  <a:schemeClr val="bg1"/>
                </a:solidFill>
              </a:rPr>
              <a:t>Routing traffic</a:t>
            </a:r>
            <a:endParaRPr lang="en-US" sz="3800" dirty="0"/>
          </a:p>
        </p:txBody>
      </p:sp>
      <p:sp>
        <p:nvSpPr>
          <p:cNvPr id="3" name="Text 0"/>
          <p:cNvSpPr/>
          <p:nvPr>
            <p:ph idx="101" type="body" hasCustomPrompt="1"/>
          </p:nvPr>
        </p:nvSpPr>
        <p:spPr>
          <a:xfrm>
            <a:off x="548640" y="2697480"/>
            <a:ext cx="8046720" cy="822960"/>
          </a:xfrm>
          <a:prstGeom prst="rect">
            <a:avLst/>
          </a:prstGeom>
          <a:noFill/>
          <a:ln/>
        </p:spPr>
        <p:txBody>
          <a:bodyPr wrap="square" lIns="0" tIns="0" rIns="0" bIns="0" rtlCol="0" anchor="t"/>
          <a:lstStyle/>
          <a:p>
            <a:pPr indent="0" marL="0">
              <a:buNone/>
            </a:pPr>
            <a:r>
              <a:rPr lang="en-US" sz="1800" dirty="0">
                <a:solidFill>
                  <a:schemeClr val="bg1"/>
                </a:solidFill>
              </a:rPr>
              <a:t>Spec 3.2.3: describe methods of routing traffic on a network</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How a packet is routed</a:t>
            </a:r>
            <a:endParaRPr lang="en-US" sz="3000" dirty="0"/>
          </a:p>
        </p:txBody>
      </p:sp>
      <p:sp>
        <p:nvSpPr>
          <p:cNvPr id="3" name="r0"/>
          <p:cNvSpPr/>
          <p:nvPr/>
        </p:nvSpPr>
        <p:spPr>
          <a:xfrm>
            <a:off x="457200" y="1051560"/>
            <a:ext cx="3977640" cy="1024128"/>
          </a:xfrm>
          <a:prstGeom prst="roundRect">
            <a:avLst>
              <a:gd name="adj" fmla="val 714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594360" y="1325880"/>
            <a:ext cx="457200" cy="457200"/>
          </a:xfrm>
          <a:prstGeom prst="ellipse">
            <a:avLst/>
          </a:prstGeom>
          <a:solidFill>
            <a:schemeClr val="tx1"/>
          </a:solidFill>
          <a:ln w="12700">
            <a:solidFill>
              <a:schemeClr val="tx1"/>
            </a:solidFill>
            <a:prstDash val="solid"/>
          </a:ln>
        </p:spPr>
      </p:sp>
      <p:sp>
        <p:nvSpPr>
          <p:cNvPr id="5" name="Text 3"/>
          <p:cNvSpPr txBox="1"/>
          <p:nvPr/>
        </p:nvSpPr>
        <p:spPr>
          <a:xfrm>
            <a:off x="594360" y="1325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188720" y="1051560"/>
            <a:ext cx="3154680" cy="1024128"/>
          </a:xfrm>
          <a:prstGeom prst="rect">
            <a:avLst/>
          </a:prstGeom>
          <a:noFill/>
          <a:ln/>
        </p:spPr>
        <p:txBody>
          <a:bodyPr wrap="square" lIns="0" tIns="0" rIns="0" bIns="0" rtlCol="0" anchor="ctr"/>
          <a:lstStyle/>
          <a:p>
            <a:pPr indent="0" marL="0">
              <a:buNone/>
            </a:pPr>
            <a:r>
              <a:rPr lang="en-US" sz="1250" b="1" dirty="0">
                <a:solidFill>
                  <a:schemeClr val="tx1"/>
                </a:solidFill>
              </a:rPr>
              <a:t>Split and number</a:t>
            </a:r>
            <a:endParaRPr lang="en-US" sz="1250" dirty="0"/>
          </a:p>
          <a:p>
            <a:pPr indent="0" marL="0">
              <a:buNone/>
            </a:pPr>
            <a:r>
              <a:rPr lang="en-US" sz="1250" dirty="0">
                <a:solidFill>
                  <a:schemeClr val="tx1"/>
                </a:solidFill>
              </a:rPr>
              <a:t>Data is split into packets, each with a destination address and a packet number</a:t>
            </a:r>
            <a:endParaRPr lang="en-US" sz="1250" dirty="0"/>
          </a:p>
        </p:txBody>
      </p:sp>
      <p:sp>
        <p:nvSpPr>
          <p:cNvPr id="7" name="r1"/>
          <p:cNvSpPr/>
          <p:nvPr/>
        </p:nvSpPr>
        <p:spPr>
          <a:xfrm>
            <a:off x="4709160" y="1051560"/>
            <a:ext cx="3977640" cy="1024128"/>
          </a:xfrm>
          <a:prstGeom prst="roundRect">
            <a:avLst>
              <a:gd name="adj" fmla="val 714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4846320" y="1325880"/>
            <a:ext cx="457200" cy="457200"/>
          </a:xfrm>
          <a:prstGeom prst="ellipse">
            <a:avLst/>
          </a:prstGeom>
          <a:solidFill>
            <a:schemeClr val="tx1"/>
          </a:solidFill>
          <a:ln w="12700">
            <a:solidFill>
              <a:schemeClr val="tx1"/>
            </a:solidFill>
            <a:prstDash val="solid"/>
          </a:ln>
        </p:spPr>
      </p:sp>
      <p:sp>
        <p:nvSpPr>
          <p:cNvPr id="9" name="Text 7"/>
          <p:cNvSpPr txBox="1"/>
          <p:nvPr/>
        </p:nvSpPr>
        <p:spPr>
          <a:xfrm>
            <a:off x="4846320" y="1325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8"/>
          <p:cNvSpPr txBox="1"/>
          <p:nvPr/>
        </p:nvSpPr>
        <p:spPr>
          <a:xfrm>
            <a:off x="5440680" y="1051560"/>
            <a:ext cx="3154680" cy="1024128"/>
          </a:xfrm>
          <a:prstGeom prst="rect">
            <a:avLst/>
          </a:prstGeom>
          <a:noFill/>
          <a:ln/>
        </p:spPr>
        <p:txBody>
          <a:bodyPr wrap="square" lIns="0" tIns="0" rIns="0" bIns="0" rtlCol="0" anchor="ctr"/>
          <a:lstStyle/>
          <a:p>
            <a:pPr indent="0" marL="0">
              <a:buNone/>
            </a:pPr>
            <a:r>
              <a:rPr lang="en-US" sz="1250" b="1" dirty="0">
                <a:solidFill>
                  <a:schemeClr val="tx1"/>
                </a:solidFill>
              </a:rPr>
              <a:t>Look up</a:t>
            </a:r>
            <a:endParaRPr lang="en-US" sz="1250" dirty="0"/>
          </a:p>
          <a:p>
            <a:pPr indent="0" marL="0">
              <a:buNone/>
            </a:pPr>
            <a:r>
              <a:rPr lang="en-US" sz="1250" dirty="0">
                <a:solidFill>
                  <a:schemeClr val="tx1"/>
                </a:solidFill>
              </a:rPr>
              <a:t>Each router checks the destination in its routing table</a:t>
            </a:r>
            <a:endParaRPr lang="en-US" sz="1250" dirty="0"/>
          </a:p>
        </p:txBody>
      </p:sp>
      <p:sp>
        <p:nvSpPr>
          <p:cNvPr id="11" name="r2"/>
          <p:cNvSpPr/>
          <p:nvPr/>
        </p:nvSpPr>
        <p:spPr>
          <a:xfrm>
            <a:off x="457200" y="2240280"/>
            <a:ext cx="3977640" cy="1024128"/>
          </a:xfrm>
          <a:prstGeom prst="roundRect">
            <a:avLst>
              <a:gd name="adj" fmla="val 714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594360" y="2514600"/>
            <a:ext cx="457200" cy="457200"/>
          </a:xfrm>
          <a:prstGeom prst="ellipse">
            <a:avLst/>
          </a:prstGeom>
          <a:solidFill>
            <a:schemeClr val="tx1"/>
          </a:solidFill>
          <a:ln w="12700">
            <a:solidFill>
              <a:schemeClr val="tx1"/>
            </a:solidFill>
            <a:prstDash val="solid"/>
          </a:ln>
        </p:spPr>
      </p:sp>
      <p:sp>
        <p:nvSpPr>
          <p:cNvPr id="13" name="Text 11"/>
          <p:cNvSpPr txBox="1"/>
          <p:nvPr/>
        </p:nvSpPr>
        <p:spPr>
          <a:xfrm>
            <a:off x="594360" y="2514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2"/>
          <p:cNvSpPr txBox="1"/>
          <p:nvPr/>
        </p:nvSpPr>
        <p:spPr>
          <a:xfrm>
            <a:off x="1188720" y="2240280"/>
            <a:ext cx="3154680" cy="1024128"/>
          </a:xfrm>
          <a:prstGeom prst="rect">
            <a:avLst/>
          </a:prstGeom>
          <a:noFill/>
          <a:ln/>
        </p:spPr>
        <p:txBody>
          <a:bodyPr wrap="square" lIns="0" tIns="0" rIns="0" bIns="0" rtlCol="0" anchor="ctr"/>
          <a:lstStyle/>
          <a:p>
            <a:pPr indent="0" marL="0">
              <a:buNone/>
            </a:pPr>
            <a:r>
              <a:rPr lang="en-US" sz="1250" b="1" dirty="0">
                <a:solidFill>
                  <a:schemeClr val="tx1"/>
                </a:solidFill>
              </a:rPr>
              <a:t>Forward</a:t>
            </a:r>
            <a:endParaRPr lang="en-US" sz="1250" dirty="0"/>
          </a:p>
          <a:p>
            <a:pPr indent="0" marL="0">
              <a:buNone/>
            </a:pPr>
            <a:r>
              <a:rPr lang="en-US" sz="1250" dirty="0">
                <a:solidFill>
                  <a:schemeClr val="tx1"/>
                </a:solidFill>
              </a:rPr>
              <a:t>Packets are sent along the most appropriate path: lowest cost or least traffic</a:t>
            </a:r>
            <a:endParaRPr lang="en-US" sz="1250" dirty="0"/>
          </a:p>
        </p:txBody>
      </p:sp>
      <p:sp>
        <p:nvSpPr>
          <p:cNvPr id="15" name="r3"/>
          <p:cNvSpPr/>
          <p:nvPr/>
        </p:nvSpPr>
        <p:spPr>
          <a:xfrm>
            <a:off x="4709160" y="2240280"/>
            <a:ext cx="3977640" cy="1024128"/>
          </a:xfrm>
          <a:prstGeom prst="roundRect">
            <a:avLst>
              <a:gd name="adj" fmla="val 714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Shape 14"/>
          <p:cNvSpPr/>
          <p:nvPr/>
        </p:nvSpPr>
        <p:spPr>
          <a:xfrm>
            <a:off x="4846320" y="2514600"/>
            <a:ext cx="457200" cy="457200"/>
          </a:xfrm>
          <a:prstGeom prst="ellipse">
            <a:avLst/>
          </a:prstGeom>
          <a:solidFill>
            <a:schemeClr val="tx1"/>
          </a:solidFill>
          <a:ln w="12700">
            <a:solidFill>
              <a:schemeClr val="tx1"/>
            </a:solidFill>
            <a:prstDash val="solid"/>
          </a:ln>
        </p:spPr>
      </p:sp>
      <p:sp>
        <p:nvSpPr>
          <p:cNvPr id="17" name="Text 15"/>
          <p:cNvSpPr txBox="1"/>
          <p:nvPr/>
        </p:nvSpPr>
        <p:spPr>
          <a:xfrm>
            <a:off x="4846320" y="2514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Text 16"/>
          <p:cNvSpPr txBox="1"/>
          <p:nvPr/>
        </p:nvSpPr>
        <p:spPr>
          <a:xfrm>
            <a:off x="5440680" y="2240280"/>
            <a:ext cx="3154680" cy="1024128"/>
          </a:xfrm>
          <a:prstGeom prst="rect">
            <a:avLst/>
          </a:prstGeom>
          <a:noFill/>
          <a:ln/>
        </p:spPr>
        <p:txBody>
          <a:bodyPr wrap="square" lIns="0" tIns="0" rIns="0" bIns="0" rtlCol="0" anchor="ctr"/>
          <a:lstStyle/>
          <a:p>
            <a:pPr indent="0" marL="0">
              <a:buNone/>
            </a:pPr>
            <a:r>
              <a:rPr lang="en-US" sz="1250" b="1" dirty="0">
                <a:solidFill>
                  <a:schemeClr val="tx1"/>
                </a:solidFill>
              </a:rPr>
              <a:t>Different routes</a:t>
            </a:r>
            <a:endParaRPr lang="en-US" sz="1250" dirty="0"/>
          </a:p>
          <a:p>
            <a:pPr indent="0" marL="0">
              <a:buNone/>
            </a:pPr>
            <a:r>
              <a:rPr lang="en-US" sz="1250" dirty="0">
                <a:solidFill>
                  <a:schemeClr val="tx1"/>
                </a:solidFill>
              </a:rPr>
              <a:t>Packets travel independently and can take different routes</a:t>
            </a:r>
            <a:endParaRPr lang="en-US" sz="1250" dirty="0"/>
          </a:p>
        </p:txBody>
      </p:sp>
      <p:sp>
        <p:nvSpPr>
          <p:cNvPr id="19" name="r4"/>
          <p:cNvSpPr/>
          <p:nvPr/>
        </p:nvSpPr>
        <p:spPr>
          <a:xfrm>
            <a:off x="457200" y="3429000"/>
            <a:ext cx="3977640" cy="1024128"/>
          </a:xfrm>
          <a:prstGeom prst="roundRect">
            <a:avLst>
              <a:gd name="adj" fmla="val 714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594360" y="3703320"/>
            <a:ext cx="457200" cy="457200"/>
          </a:xfrm>
          <a:prstGeom prst="ellipse">
            <a:avLst/>
          </a:prstGeom>
          <a:solidFill>
            <a:schemeClr val="accent1"/>
          </a:solidFill>
          <a:ln w="12700">
            <a:solidFill>
              <a:schemeClr val="accent1"/>
            </a:solidFill>
            <a:prstDash val="solid"/>
          </a:ln>
        </p:spPr>
      </p:sp>
      <p:sp>
        <p:nvSpPr>
          <p:cNvPr id="21" name="Text 19"/>
          <p:cNvSpPr txBox="1"/>
          <p:nvPr/>
        </p:nvSpPr>
        <p:spPr>
          <a:xfrm>
            <a:off x="594360" y="3703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2" name="Text 20"/>
          <p:cNvSpPr txBox="1"/>
          <p:nvPr/>
        </p:nvSpPr>
        <p:spPr>
          <a:xfrm>
            <a:off x="1188720" y="3429000"/>
            <a:ext cx="3154680" cy="1024128"/>
          </a:xfrm>
          <a:prstGeom prst="rect">
            <a:avLst/>
          </a:prstGeom>
          <a:noFill/>
          <a:ln/>
        </p:spPr>
        <p:txBody>
          <a:bodyPr wrap="square" lIns="0" tIns="0" rIns="0" bIns="0" rtlCol="0" anchor="ctr"/>
          <a:lstStyle/>
          <a:p>
            <a:pPr indent="0" marL="0">
              <a:buNone/>
            </a:pPr>
            <a:r>
              <a:rPr lang="en-US" sz="1250" b="1" dirty="0">
                <a:solidFill>
                  <a:schemeClr val="tx1"/>
                </a:solidFill>
              </a:rPr>
              <a:t>Reassemble</a:t>
            </a:r>
            <a:endParaRPr lang="en-US" sz="1250" dirty="0"/>
          </a:p>
          <a:p>
            <a:pPr indent="0" marL="0">
              <a:buNone/>
            </a:pPr>
            <a:r>
              <a:rPr lang="en-US" sz="1250" dirty="0">
                <a:solidFill>
                  <a:schemeClr val="tx1"/>
                </a:solidFill>
              </a:rPr>
              <a:t>At the destination, packets are put back in order using their numbers</a:t>
            </a:r>
            <a:endParaRPr lang="en-US" sz="1250" dirty="0"/>
          </a:p>
        </p:txBody>
      </p:sp>
      <p:sp>
        <p:nvSpPr>
          <p:cNvPr id="23" name="r5"/>
          <p:cNvSpPr/>
          <p:nvPr/>
        </p:nvSpPr>
        <p:spPr>
          <a:xfrm>
            <a:off x="4709160" y="3429000"/>
            <a:ext cx="3977640" cy="1024128"/>
          </a:xfrm>
          <a:prstGeom prst="roundRect">
            <a:avLst>
              <a:gd name="adj" fmla="val 714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4846320" y="3703320"/>
            <a:ext cx="457200" cy="457200"/>
          </a:xfrm>
          <a:prstGeom prst="ellipse">
            <a:avLst/>
          </a:prstGeom>
          <a:solidFill>
            <a:schemeClr val="accent1"/>
          </a:solidFill>
          <a:ln w="12700">
            <a:solidFill>
              <a:schemeClr val="accent1"/>
            </a:solidFill>
            <a:prstDash val="solid"/>
          </a:ln>
        </p:spPr>
      </p:sp>
      <p:sp>
        <p:nvSpPr>
          <p:cNvPr id="25" name="Text 23"/>
          <p:cNvSpPr txBox="1"/>
          <p:nvPr/>
        </p:nvSpPr>
        <p:spPr>
          <a:xfrm>
            <a:off x="4846320" y="3703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6" name="Text 24"/>
          <p:cNvSpPr txBox="1"/>
          <p:nvPr/>
        </p:nvSpPr>
        <p:spPr>
          <a:xfrm>
            <a:off x="5440680" y="3429000"/>
            <a:ext cx="3154680" cy="1024128"/>
          </a:xfrm>
          <a:prstGeom prst="rect">
            <a:avLst/>
          </a:prstGeom>
          <a:noFill/>
          <a:ln/>
        </p:spPr>
        <p:txBody>
          <a:bodyPr wrap="square" lIns="0" tIns="0" rIns="0" bIns="0" rtlCol="0" anchor="ctr"/>
          <a:lstStyle/>
          <a:p>
            <a:pPr indent="0" marL="0">
              <a:buNone/>
            </a:pPr>
            <a:r>
              <a:rPr lang="en-US" sz="1250" b="1" dirty="0">
                <a:solidFill>
                  <a:schemeClr val="tx1"/>
                </a:solidFill>
              </a:rPr>
              <a:t>Confirm or resend</a:t>
            </a:r>
            <a:endParaRPr lang="en-US" sz="1250" dirty="0"/>
          </a:p>
          <a:p>
            <a:pPr indent="0" marL="0">
              <a:buNone/>
            </a:pPr>
            <a:r>
              <a:rPr lang="en-US" sz="1250" dirty="0">
                <a:solidFill>
                  <a:schemeClr val="tx1"/>
                </a:solidFill>
              </a:rPr>
              <a:t>A confirmation is sent once all arrive, or a resend is requested for a missing or corrupted packet</a:t>
            </a:r>
            <a:endParaRPr lang="en-US" sz="12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When a router fails</a:t>
            </a:r>
            <a:endParaRPr lang="en-US" sz="3000" dirty="0"/>
          </a:p>
        </p:txBody>
      </p:sp>
      <p:sp>
        <p:nvSpPr>
          <p:cNvPr id="3" name="Shape 1"/>
          <p:cNvSpPr/>
          <p:nvPr/>
        </p:nvSpPr>
        <p:spPr>
          <a:xfrm>
            <a:off x="822960" y="2651760"/>
            <a:ext cx="1280160" cy="914"/>
          </a:xfrm>
          <a:prstGeom prst="line">
            <a:avLst/>
          </a:prstGeom>
          <a:noFill/>
          <a:ln w="19050">
            <a:solidFill>
              <a:schemeClr val="accent6"/>
            </a:solidFill>
            <a:prstDash val="solid"/>
          </a:ln>
        </p:spPr>
      </p:sp>
      <p:sp>
        <p:nvSpPr>
          <p:cNvPr id="4" name="Shape 2"/>
          <p:cNvSpPr/>
          <p:nvPr/>
        </p:nvSpPr>
        <p:spPr>
          <a:xfrm flipV="1">
            <a:off x="2103120" y="1463040"/>
            <a:ext cx="1554480" cy="1188720"/>
          </a:xfrm>
          <a:prstGeom prst="line">
            <a:avLst/>
          </a:prstGeom>
          <a:noFill/>
          <a:ln w="19050">
            <a:solidFill>
              <a:schemeClr val="accent6"/>
            </a:solidFill>
            <a:prstDash val="solid"/>
          </a:ln>
        </p:spPr>
      </p:sp>
      <p:sp>
        <p:nvSpPr>
          <p:cNvPr id="5" name="Shape 3"/>
          <p:cNvSpPr/>
          <p:nvPr/>
        </p:nvSpPr>
        <p:spPr>
          <a:xfrm>
            <a:off x="2103120" y="2651760"/>
            <a:ext cx="1554480" cy="1188720"/>
          </a:xfrm>
          <a:prstGeom prst="line">
            <a:avLst/>
          </a:prstGeom>
          <a:noFill/>
          <a:ln w="19050">
            <a:solidFill>
              <a:schemeClr val="accent6"/>
            </a:solidFill>
            <a:prstDash val="solid"/>
          </a:ln>
        </p:spPr>
      </p:sp>
      <p:sp>
        <p:nvSpPr>
          <p:cNvPr id="6" name="Shape 4"/>
          <p:cNvSpPr/>
          <p:nvPr/>
        </p:nvSpPr>
        <p:spPr>
          <a:xfrm>
            <a:off x="3657600" y="1463040"/>
            <a:ext cx="2377440" cy="1188720"/>
          </a:xfrm>
          <a:prstGeom prst="line">
            <a:avLst/>
          </a:prstGeom>
          <a:noFill/>
          <a:ln w="19050">
            <a:solidFill>
              <a:schemeClr val="accent6"/>
            </a:solidFill>
            <a:prstDash val="solid"/>
          </a:ln>
        </p:spPr>
      </p:sp>
      <p:sp>
        <p:nvSpPr>
          <p:cNvPr id="7" name="Shape 5"/>
          <p:cNvSpPr/>
          <p:nvPr/>
        </p:nvSpPr>
        <p:spPr>
          <a:xfrm>
            <a:off x="3657600" y="3840480"/>
            <a:ext cx="1554480" cy="914"/>
          </a:xfrm>
          <a:prstGeom prst="line">
            <a:avLst/>
          </a:prstGeom>
          <a:noFill/>
          <a:ln w="19050">
            <a:solidFill>
              <a:schemeClr val="accent6"/>
            </a:solidFill>
            <a:prstDash val="solid"/>
          </a:ln>
        </p:spPr>
      </p:sp>
      <p:sp>
        <p:nvSpPr>
          <p:cNvPr id="8" name="Shape 6"/>
          <p:cNvSpPr/>
          <p:nvPr/>
        </p:nvSpPr>
        <p:spPr>
          <a:xfrm flipV="1">
            <a:off x="5212080" y="2651760"/>
            <a:ext cx="822960" cy="1188720"/>
          </a:xfrm>
          <a:prstGeom prst="line">
            <a:avLst/>
          </a:prstGeom>
          <a:noFill/>
          <a:ln w="19050">
            <a:solidFill>
              <a:schemeClr val="accent6"/>
            </a:solidFill>
            <a:prstDash val="solid"/>
          </a:ln>
        </p:spPr>
      </p:sp>
      <p:sp>
        <p:nvSpPr>
          <p:cNvPr id="9" name="Shape 7"/>
          <p:cNvSpPr/>
          <p:nvPr/>
        </p:nvSpPr>
        <p:spPr>
          <a:xfrm>
            <a:off x="6035040" y="2651760"/>
            <a:ext cx="1371600" cy="914"/>
          </a:xfrm>
          <a:prstGeom prst="line">
            <a:avLst/>
          </a:prstGeom>
          <a:noFill/>
          <a:ln w="19050">
            <a:solidFill>
              <a:schemeClr val="accent6"/>
            </a:solidFill>
            <a:prstDash val="solid"/>
          </a:ln>
        </p:spPr>
      </p:sp>
      <p:sp>
        <p:nvSpPr>
          <p:cNvPr id="10" name="Shape 8"/>
          <p:cNvSpPr/>
          <p:nvPr/>
        </p:nvSpPr>
        <p:spPr>
          <a:xfrm>
            <a:off x="3657600" y="1463040"/>
            <a:ext cx="1554480" cy="2377440"/>
          </a:xfrm>
          <a:prstGeom prst="line">
            <a:avLst/>
          </a:prstGeom>
          <a:noFill/>
          <a:ln w="19050">
            <a:solidFill>
              <a:schemeClr val="accent6"/>
            </a:solidFill>
            <a:prstDash val="solid"/>
          </a:ln>
        </p:spPr>
      </p:sp>
      <p:sp>
        <p:nvSpPr>
          <p:cNvPr id="11" name="Shape 9"/>
          <p:cNvSpPr/>
          <p:nvPr/>
        </p:nvSpPr>
        <p:spPr>
          <a:xfrm flipV="1">
            <a:off x="2103120" y="1399032"/>
            <a:ext cx="1554480" cy="1188720"/>
          </a:xfrm>
          <a:prstGeom prst="line">
            <a:avLst/>
          </a:prstGeom>
          <a:noFill/>
          <a:ln w="50800">
            <a:solidFill>
              <a:schemeClr val="accent1"/>
            </a:solidFill>
            <a:prstDash val="dash"/>
          </a:ln>
        </p:spPr>
      </p:sp>
      <p:sp>
        <p:nvSpPr>
          <p:cNvPr id="12" name="Shape 10"/>
          <p:cNvSpPr/>
          <p:nvPr/>
        </p:nvSpPr>
        <p:spPr>
          <a:xfrm>
            <a:off x="3657600" y="1399032"/>
            <a:ext cx="2377440" cy="1188720"/>
          </a:xfrm>
          <a:prstGeom prst="line">
            <a:avLst/>
          </a:prstGeom>
          <a:noFill/>
          <a:ln w="50800">
            <a:solidFill>
              <a:schemeClr val="accent1"/>
            </a:solidFill>
            <a:prstDash val="dash"/>
          </a:ln>
        </p:spPr>
      </p:sp>
      <p:sp>
        <p:nvSpPr>
          <p:cNvPr id="13" name="Shape 11"/>
          <p:cNvSpPr/>
          <p:nvPr/>
        </p:nvSpPr>
        <p:spPr>
          <a:xfrm>
            <a:off x="2103120" y="2715768"/>
            <a:ext cx="1554480" cy="1188720"/>
          </a:xfrm>
          <a:prstGeom prst="line">
            <a:avLst/>
          </a:prstGeom>
          <a:noFill/>
          <a:ln w="50800">
            <a:solidFill>
              <a:schemeClr val="accent2"/>
            </a:solidFill>
            <a:prstDash val="solid"/>
          </a:ln>
        </p:spPr>
      </p:sp>
      <p:sp>
        <p:nvSpPr>
          <p:cNvPr id="14" name="Shape 12"/>
          <p:cNvSpPr/>
          <p:nvPr/>
        </p:nvSpPr>
        <p:spPr>
          <a:xfrm>
            <a:off x="3657600" y="3904488"/>
            <a:ext cx="1554480" cy="914"/>
          </a:xfrm>
          <a:prstGeom prst="line">
            <a:avLst/>
          </a:prstGeom>
          <a:noFill/>
          <a:ln w="50800">
            <a:solidFill>
              <a:schemeClr val="accent2"/>
            </a:solidFill>
            <a:prstDash val="solid"/>
          </a:ln>
        </p:spPr>
      </p:sp>
      <p:sp>
        <p:nvSpPr>
          <p:cNvPr id="15" name="Shape 13"/>
          <p:cNvSpPr/>
          <p:nvPr/>
        </p:nvSpPr>
        <p:spPr>
          <a:xfrm flipV="1">
            <a:off x="5212080" y="2715768"/>
            <a:ext cx="822960" cy="1188720"/>
          </a:xfrm>
          <a:prstGeom prst="line">
            <a:avLst/>
          </a:prstGeom>
          <a:noFill/>
          <a:ln w="50800">
            <a:solidFill>
              <a:schemeClr val="accent2"/>
            </a:solidFill>
            <a:prstDash val="solid"/>
          </a:ln>
        </p:spPr>
      </p:sp>
      <p:sp>
        <p:nvSpPr>
          <p:cNvPr id="16" name="Shape 14"/>
          <p:cNvSpPr/>
          <p:nvPr/>
        </p:nvSpPr>
        <p:spPr>
          <a:xfrm>
            <a:off x="411480" y="2423160"/>
            <a:ext cx="822960" cy="457200"/>
          </a:xfrm>
          <a:prstGeom prst="roundRect">
            <a:avLst>
              <a:gd name="adj" fmla="val 12000"/>
            </a:avLst>
          </a:prstGeom>
          <a:solidFill>
            <a:schemeClr val="tx1"/>
          </a:solidFill>
          <a:ln w="12700">
            <a:solidFill>
              <a:schemeClr val="tx1"/>
            </a:solidFill>
            <a:prstDash val="solid"/>
          </a:ln>
        </p:spPr>
      </p:sp>
      <p:sp>
        <p:nvSpPr>
          <p:cNvPr id="17" name="Text 15"/>
          <p:cNvSpPr txBox="1"/>
          <p:nvPr/>
        </p:nvSpPr>
        <p:spPr>
          <a:xfrm>
            <a:off x="411480" y="2423160"/>
            <a:ext cx="822960" cy="457200"/>
          </a:xfrm>
          <a:prstGeom prst="rect">
            <a:avLst/>
          </a:prstGeom>
          <a:noFill/>
          <a:ln/>
        </p:spPr>
        <p:txBody>
          <a:bodyPr wrap="square" lIns="0" tIns="0" rIns="0" bIns="0" rtlCol="0" anchor="ctr"/>
          <a:lstStyle/>
          <a:p>
            <a:pPr algn="ctr" indent="0" marL="0">
              <a:buNone/>
            </a:pPr>
            <a:r>
              <a:rPr lang="en-US" sz="1300" b="1" dirty="0">
                <a:solidFill>
                  <a:schemeClr val="bg1"/>
                </a:solidFill>
              </a:rPr>
              <a:t>PC 1</a:t>
            </a:r>
            <a:endParaRPr lang="en-US" sz="1300" dirty="0"/>
          </a:p>
        </p:txBody>
      </p:sp>
      <p:sp>
        <p:nvSpPr>
          <p:cNvPr id="18" name="Shape 16"/>
          <p:cNvSpPr/>
          <p:nvPr/>
        </p:nvSpPr>
        <p:spPr>
          <a:xfrm>
            <a:off x="6995160" y="2423160"/>
            <a:ext cx="822960" cy="457200"/>
          </a:xfrm>
          <a:prstGeom prst="roundRect">
            <a:avLst>
              <a:gd name="adj" fmla="val 12000"/>
            </a:avLst>
          </a:prstGeom>
          <a:solidFill>
            <a:schemeClr val="tx1"/>
          </a:solidFill>
          <a:ln w="12700">
            <a:solidFill>
              <a:schemeClr val="tx1"/>
            </a:solidFill>
            <a:prstDash val="solid"/>
          </a:ln>
        </p:spPr>
      </p:sp>
      <p:sp>
        <p:nvSpPr>
          <p:cNvPr id="19" name="Text 17"/>
          <p:cNvSpPr txBox="1"/>
          <p:nvPr/>
        </p:nvSpPr>
        <p:spPr>
          <a:xfrm>
            <a:off x="6995160" y="2423160"/>
            <a:ext cx="822960" cy="457200"/>
          </a:xfrm>
          <a:prstGeom prst="rect">
            <a:avLst/>
          </a:prstGeom>
          <a:noFill/>
          <a:ln/>
        </p:spPr>
        <p:txBody>
          <a:bodyPr wrap="square" lIns="0" tIns="0" rIns="0" bIns="0" rtlCol="0" anchor="ctr"/>
          <a:lstStyle/>
          <a:p>
            <a:pPr algn="ctr" indent="0" marL="0">
              <a:buNone/>
            </a:pPr>
            <a:r>
              <a:rPr lang="en-US" sz="1300" b="1" dirty="0">
                <a:solidFill>
                  <a:schemeClr val="bg1"/>
                </a:solidFill>
              </a:rPr>
              <a:t>PC 126</a:t>
            </a:r>
            <a:endParaRPr lang="en-US" sz="1300" dirty="0"/>
          </a:p>
        </p:txBody>
      </p:sp>
      <p:sp>
        <p:nvSpPr>
          <p:cNvPr id="20" name="Shape 18"/>
          <p:cNvSpPr/>
          <p:nvPr/>
        </p:nvSpPr>
        <p:spPr>
          <a:xfrm>
            <a:off x="1851660" y="2400300"/>
            <a:ext cx="502920" cy="502920"/>
          </a:xfrm>
          <a:prstGeom prst="ellipse">
            <a:avLst/>
          </a:prstGeom>
          <a:solidFill>
            <a:schemeClr val="tx1"/>
          </a:solidFill>
          <a:ln w="12700">
            <a:solidFill>
              <a:schemeClr val="tx1"/>
            </a:solidFill>
            <a:prstDash val="solid"/>
          </a:ln>
        </p:spPr>
      </p:sp>
      <p:sp>
        <p:nvSpPr>
          <p:cNvPr id="21" name="Text 19"/>
          <p:cNvSpPr txBox="1"/>
          <p:nvPr/>
        </p:nvSpPr>
        <p:spPr>
          <a:xfrm>
            <a:off x="1851660" y="240030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22" name="Shape 20"/>
          <p:cNvSpPr/>
          <p:nvPr/>
        </p:nvSpPr>
        <p:spPr>
          <a:xfrm>
            <a:off x="3406140" y="1211580"/>
            <a:ext cx="502920" cy="502920"/>
          </a:xfrm>
          <a:prstGeom prst="ellipse">
            <a:avLst/>
          </a:prstGeom>
          <a:solidFill>
            <a:schemeClr val="accent4"/>
          </a:solidFill>
          <a:ln w="12700">
            <a:solidFill>
              <a:schemeClr val="accent4"/>
            </a:solidFill>
            <a:prstDash val="solid"/>
          </a:ln>
        </p:spPr>
      </p:sp>
      <p:sp>
        <p:nvSpPr>
          <p:cNvPr id="23" name="Text 21"/>
          <p:cNvSpPr txBox="1"/>
          <p:nvPr/>
        </p:nvSpPr>
        <p:spPr>
          <a:xfrm>
            <a:off x="3406140" y="121158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24" name="Shape 22"/>
          <p:cNvSpPr/>
          <p:nvPr/>
        </p:nvSpPr>
        <p:spPr>
          <a:xfrm>
            <a:off x="3406140" y="3589020"/>
            <a:ext cx="502920" cy="502920"/>
          </a:xfrm>
          <a:prstGeom prst="ellipse">
            <a:avLst/>
          </a:prstGeom>
          <a:solidFill>
            <a:schemeClr val="tx1"/>
          </a:solidFill>
          <a:ln w="12700">
            <a:solidFill>
              <a:schemeClr val="tx1"/>
            </a:solidFill>
            <a:prstDash val="solid"/>
          </a:ln>
        </p:spPr>
      </p:sp>
      <p:sp>
        <p:nvSpPr>
          <p:cNvPr id="25" name="Text 23"/>
          <p:cNvSpPr txBox="1"/>
          <p:nvPr/>
        </p:nvSpPr>
        <p:spPr>
          <a:xfrm>
            <a:off x="3406140" y="358902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26" name="Shape 24"/>
          <p:cNvSpPr/>
          <p:nvPr/>
        </p:nvSpPr>
        <p:spPr>
          <a:xfrm>
            <a:off x="4960620" y="3589020"/>
            <a:ext cx="502920" cy="502920"/>
          </a:xfrm>
          <a:prstGeom prst="ellipse">
            <a:avLst/>
          </a:prstGeom>
          <a:solidFill>
            <a:schemeClr val="tx1"/>
          </a:solidFill>
          <a:ln w="12700">
            <a:solidFill>
              <a:schemeClr val="tx1"/>
            </a:solidFill>
            <a:prstDash val="solid"/>
          </a:ln>
        </p:spPr>
      </p:sp>
      <p:sp>
        <p:nvSpPr>
          <p:cNvPr id="27" name="Text 25"/>
          <p:cNvSpPr txBox="1"/>
          <p:nvPr/>
        </p:nvSpPr>
        <p:spPr>
          <a:xfrm>
            <a:off x="4960620" y="358902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8" name="Shape 26"/>
          <p:cNvSpPr/>
          <p:nvPr/>
        </p:nvSpPr>
        <p:spPr>
          <a:xfrm>
            <a:off x="5783580" y="2400300"/>
            <a:ext cx="502920" cy="502920"/>
          </a:xfrm>
          <a:prstGeom prst="ellipse">
            <a:avLst/>
          </a:prstGeom>
          <a:solidFill>
            <a:schemeClr val="tx1"/>
          </a:solidFill>
          <a:ln w="12700">
            <a:solidFill>
              <a:schemeClr val="tx1"/>
            </a:solidFill>
            <a:prstDash val="solid"/>
          </a:ln>
        </p:spPr>
      </p:sp>
      <p:sp>
        <p:nvSpPr>
          <p:cNvPr id="29" name="Text 27"/>
          <p:cNvSpPr txBox="1"/>
          <p:nvPr/>
        </p:nvSpPr>
        <p:spPr>
          <a:xfrm>
            <a:off x="5783580" y="240030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E</a:t>
            </a:r>
            <a:endParaRPr lang="en-US" sz="1300" dirty="0"/>
          </a:p>
        </p:txBody>
      </p:sp>
      <p:sp>
        <p:nvSpPr>
          <p:cNvPr id="30" name="Text 28"/>
          <p:cNvSpPr txBox="1"/>
          <p:nvPr/>
        </p:nvSpPr>
        <p:spPr>
          <a:xfrm>
            <a:off x="3886200" y="1051560"/>
            <a:ext cx="365760" cy="365760"/>
          </a:xfrm>
          <a:prstGeom prst="rect">
            <a:avLst/>
          </a:prstGeom>
          <a:noFill/>
          <a:ln/>
        </p:spPr>
        <p:txBody>
          <a:bodyPr wrap="square" lIns="0" tIns="0" rIns="0" bIns="0" rtlCol="0" anchor="t"/>
          <a:lstStyle/>
          <a:p>
            <a:pPr indent="0" marL="0">
              <a:buNone/>
            </a:pPr>
            <a:r>
              <a:rPr lang="en-US" sz="2000" b="1" dirty="0">
                <a:solidFill>
                  <a:schemeClr val="accent4"/>
                </a:solidFill>
              </a:rPr>
              <a:t>✖</a:t>
            </a:r>
            <a:endParaRPr lang="en-US" sz="2000" dirty="0"/>
          </a:p>
        </p:txBody>
      </p:sp>
      <p:sp>
        <p:nvSpPr>
          <p:cNvPr id="31" name="key"/>
          <p:cNvSpPr/>
          <p:nvPr/>
        </p:nvSpPr>
        <p:spPr>
          <a:xfrm>
            <a:off x="7315200" y="3154680"/>
            <a:ext cx="1371600" cy="146304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2" name="Text 30"/>
          <p:cNvSpPr txBox="1"/>
          <p:nvPr/>
        </p:nvSpPr>
        <p:spPr>
          <a:xfrm>
            <a:off x="7406640" y="3200400"/>
            <a:ext cx="1234440" cy="1371600"/>
          </a:xfrm>
          <a:prstGeom prst="rect">
            <a:avLst/>
          </a:prstGeom>
          <a:noFill/>
          <a:ln/>
        </p:spPr>
        <p:txBody>
          <a:bodyPr wrap="square" lIns="0" tIns="0" rIns="0" bIns="0" rtlCol="0" anchor="t"/>
          <a:lstStyle/>
          <a:p>
            <a:pPr indent="0" marL="0">
              <a:buNone/>
            </a:pPr>
            <a:r>
              <a:rPr lang="en-US" sz="1150" b="1" dirty="0">
                <a:solidFill>
                  <a:schemeClr val="accent1"/>
                </a:solidFill>
              </a:rPr>
              <a:t>Usual route</a:t>
            </a:r>
            <a:endParaRPr lang="en-US" sz="1150" dirty="0"/>
          </a:p>
          <a:p>
            <a:pPr indent="0" marL="0">
              <a:buNone/>
            </a:pPr>
            <a:r>
              <a:rPr lang="en-US" sz="1150" dirty="0">
                <a:solidFill>
                  <a:schemeClr val="tx1"/>
                </a:solidFill>
              </a:rPr>
              <a:t>A → B → E</a:t>
            </a:r>
            <a:endParaRPr lang="en-US" sz="1150" dirty="0"/>
          </a:p>
          <a:p>
            <a:pPr indent="0" marL="0">
              <a:buNone/>
            </a:pPr>
            <a:r>
              <a:rPr lang="en-US" sz="1150" dirty="0">
                <a:solidFill>
                  <a:schemeClr val="tx1"/>
                </a:solidFill>
              </a:rPr>
              <a:t> </a:t>
            </a:r>
            <a:endParaRPr lang="en-US" sz="1150" dirty="0"/>
          </a:p>
          <a:p>
            <a:pPr indent="0" marL="0">
              <a:buNone/>
            </a:pPr>
            <a:r>
              <a:rPr lang="en-US" sz="1150" b="1" dirty="0">
                <a:solidFill>
                  <a:schemeClr val="accent2"/>
                </a:solidFill>
              </a:rPr>
              <a:t>Rerouted</a:t>
            </a:r>
            <a:endParaRPr lang="en-US" sz="1150" dirty="0"/>
          </a:p>
          <a:p>
            <a:pPr indent="0" marL="0">
              <a:buNone/>
            </a:pPr>
            <a:r>
              <a:rPr lang="en-US" sz="1150" dirty="0">
                <a:solidFill>
                  <a:schemeClr val="tx1"/>
                </a:solidFill>
              </a:rPr>
              <a:t>A → C → D → E</a:t>
            </a:r>
            <a:endParaRPr lang="en-US" sz="1150" dirty="0"/>
          </a:p>
        </p:txBody>
      </p:sp>
      <p:sp>
        <p:nvSpPr>
          <p:cNvPr id="33" name="Text 31"/>
          <p:cNvSpPr txBox="1"/>
          <p:nvPr/>
        </p:nvSpPr>
        <p:spPr>
          <a:xfrm>
            <a:off x="457200" y="4206240"/>
            <a:ext cx="6675120" cy="457200"/>
          </a:xfrm>
          <a:prstGeom prst="rect">
            <a:avLst/>
          </a:prstGeom>
          <a:noFill/>
          <a:ln/>
        </p:spPr>
        <p:txBody>
          <a:bodyPr wrap="square" lIns="0" tIns="0" rIns="0" bIns="0" rtlCol="0" anchor="t"/>
          <a:lstStyle/>
          <a:p>
            <a:pPr indent="0" marL="0">
              <a:buNone/>
            </a:pPr>
            <a:r>
              <a:rPr lang="en-US" sz="1400" dirty="0">
                <a:solidFill>
                  <a:schemeClr val="tx1"/>
                </a:solidFill>
              </a:rPr>
              <a:t>Router B fails. Routing tables update and packets take a longer path, but still arrive.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03504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Task: Route the packets</a:t>
            </a:r>
            <a:endParaRPr lang="en-US" sz="3000" dirty="0"/>
          </a:p>
        </p:txBody>
      </p:sp>
      <p:sp>
        <p:nvSpPr>
          <p:cNvPr id="3" name="Shape 1"/>
          <p:cNvSpPr/>
          <p:nvPr/>
        </p:nvSpPr>
        <p:spPr>
          <a:xfrm>
            <a:off x="6400800" y="347472"/>
            <a:ext cx="2286000" cy="502920"/>
          </a:xfrm>
          <a:prstGeom prst="roundRect">
            <a:avLst>
              <a:gd name="adj" fmla="val 49091"/>
            </a:avLst>
          </a:prstGeom>
          <a:solidFill>
            <a:schemeClr val="accent2"/>
          </a:solidFill>
          <a:ln w="12700">
            <a:solidFill>
              <a:schemeClr val="accent2"/>
            </a:solidFill>
            <a:prstDash val="solid"/>
          </a:ln>
        </p:spPr>
      </p:sp>
      <p:pic>
        <p:nvPicPr>
          <p:cNvPr id="4" name="Image 0" descr="preencoded.png">    </p:cNvPr>
          <p:cNvPicPr>
            <a:picLocks noChangeAspect="1"/>
          </p:cNvPicPr>
          <p:nvPr/>
        </p:nvPicPr>
        <p:blipFill>
          <a:blip r:embed="rId1"/>
          <a:stretch>
            <a:fillRect/>
          </a:stretch>
        </p:blipFill>
        <p:spPr>
          <a:xfrm>
            <a:off x="6537960" y="448056"/>
            <a:ext cx="301752" cy="301752"/>
          </a:xfrm>
          <a:prstGeom prst="rect">
            <a:avLst/>
          </a:prstGeom>
        </p:spPr>
      </p:pic>
      <p:sp>
        <p:nvSpPr>
          <p:cNvPr id="5" name="Text 2"/>
          <p:cNvSpPr txBox="1"/>
          <p:nvPr/>
        </p:nvSpPr>
        <p:spPr>
          <a:xfrm>
            <a:off x="6903720" y="347472"/>
            <a:ext cx="1737360" cy="502920"/>
          </a:xfrm>
          <a:prstGeom prst="rect">
            <a:avLst/>
          </a:prstGeom>
          <a:noFill/>
          <a:ln/>
        </p:spPr>
        <p:txBody>
          <a:bodyPr wrap="square" lIns="0" tIns="0" rIns="0" bIns="0" rtlCol="0" anchor="ctr"/>
          <a:lstStyle/>
          <a:p>
            <a:pPr indent="0" marL="0">
              <a:buNone/>
            </a:pPr>
            <a:r>
              <a:rPr lang="en-US" sz="1400" b="1" dirty="0">
                <a:solidFill>
                  <a:schemeClr val="bg1"/>
                </a:solidFill>
              </a:rPr>
              <a:t>14 min  in pairs</a:t>
            </a:r>
            <a:endParaRPr lang="en-US" sz="1400" dirty="0"/>
          </a:p>
        </p:txBody>
      </p:sp>
      <p:sp>
        <p:nvSpPr>
          <p:cNvPr id="6" name="st0"/>
          <p:cNvSpPr/>
          <p:nvPr/>
        </p:nvSpPr>
        <p:spPr>
          <a:xfrm>
            <a:off x="457200" y="1097280"/>
            <a:ext cx="5303520" cy="617220"/>
          </a:xfrm>
          <a:prstGeom prst="roundRect">
            <a:avLst>
              <a:gd name="adj" fmla="val 11852"/>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7" name="Shape 4"/>
          <p:cNvSpPr/>
          <p:nvPr/>
        </p:nvSpPr>
        <p:spPr>
          <a:xfrm>
            <a:off x="594360" y="1177290"/>
            <a:ext cx="457200" cy="457200"/>
          </a:xfrm>
          <a:prstGeom prst="ellipse">
            <a:avLst/>
          </a:prstGeom>
          <a:solidFill>
            <a:schemeClr val="accent1"/>
          </a:solidFill>
          <a:ln w="12700">
            <a:solidFill>
              <a:schemeClr val="accent1"/>
            </a:solidFill>
            <a:prstDash val="solid"/>
          </a:ln>
        </p:spPr>
      </p:sp>
      <p:sp>
        <p:nvSpPr>
          <p:cNvPr id="8" name="Text 5"/>
          <p:cNvSpPr txBox="1"/>
          <p:nvPr/>
        </p:nvSpPr>
        <p:spPr>
          <a:xfrm>
            <a:off x="594360" y="117729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9" name="Text 6"/>
          <p:cNvSpPr txBox="1"/>
          <p:nvPr/>
        </p:nvSpPr>
        <p:spPr>
          <a:xfrm>
            <a:off x="1188720" y="1097280"/>
            <a:ext cx="4434840" cy="617220"/>
          </a:xfrm>
          <a:prstGeom prst="rect">
            <a:avLst/>
          </a:prstGeom>
          <a:noFill/>
          <a:ln/>
        </p:spPr>
        <p:txBody>
          <a:bodyPr wrap="square" lIns="0" tIns="0" rIns="0" bIns="0" rtlCol="0" anchor="ctr"/>
          <a:lstStyle/>
          <a:p>
            <a:pPr indent="0" marL="0">
              <a:buNone/>
            </a:pPr>
            <a:r>
              <a:rPr lang="en-US" sz="1400" dirty="0">
                <a:solidFill>
                  <a:schemeClr val="tx1"/>
                </a:solidFill>
              </a:rPr>
              <a:t>Send a message across the network. Watch which route each packet takes, and why.</a:t>
            </a:r>
            <a:endParaRPr lang="en-US" sz="1400" dirty="0"/>
          </a:p>
        </p:txBody>
      </p:sp>
      <p:sp>
        <p:nvSpPr>
          <p:cNvPr id="10" name="st1"/>
          <p:cNvSpPr/>
          <p:nvPr/>
        </p:nvSpPr>
        <p:spPr>
          <a:xfrm>
            <a:off x="457200" y="1851660"/>
            <a:ext cx="5303520" cy="617220"/>
          </a:xfrm>
          <a:prstGeom prst="roundRect">
            <a:avLst>
              <a:gd name="adj" fmla="val 11852"/>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594360" y="1931670"/>
            <a:ext cx="457200" cy="457200"/>
          </a:xfrm>
          <a:prstGeom prst="ellipse">
            <a:avLst/>
          </a:prstGeom>
          <a:solidFill>
            <a:schemeClr val="accent1"/>
          </a:solidFill>
          <a:ln w="12700">
            <a:solidFill>
              <a:schemeClr val="accent1"/>
            </a:solidFill>
            <a:prstDash val="solid"/>
          </a:ln>
        </p:spPr>
      </p:sp>
      <p:sp>
        <p:nvSpPr>
          <p:cNvPr id="12" name="Text 9"/>
          <p:cNvSpPr txBox="1"/>
          <p:nvPr/>
        </p:nvSpPr>
        <p:spPr>
          <a:xfrm>
            <a:off x="594360" y="193167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0"/>
          <p:cNvSpPr txBox="1"/>
          <p:nvPr/>
        </p:nvSpPr>
        <p:spPr>
          <a:xfrm>
            <a:off x="1188720" y="1851660"/>
            <a:ext cx="4434840" cy="617220"/>
          </a:xfrm>
          <a:prstGeom prst="rect">
            <a:avLst/>
          </a:prstGeom>
          <a:noFill/>
          <a:ln/>
        </p:spPr>
        <p:txBody>
          <a:bodyPr wrap="square" lIns="0" tIns="0" rIns="0" bIns="0" rtlCol="0" anchor="ctr"/>
          <a:lstStyle/>
          <a:p>
            <a:pPr indent="0" marL="0">
              <a:buNone/>
            </a:pPr>
            <a:r>
              <a:rPr lang="en-US" sz="1400" dirty="0">
                <a:solidFill>
                  <a:schemeClr val="tx1"/>
                </a:solidFill>
              </a:rPr>
              <a:t>Break a router mid-transfer. Follow the packets as they are rerouted.</a:t>
            </a:r>
            <a:endParaRPr lang="en-US" sz="1400" dirty="0"/>
          </a:p>
        </p:txBody>
      </p:sp>
      <p:sp>
        <p:nvSpPr>
          <p:cNvPr id="14" name="st2"/>
          <p:cNvSpPr/>
          <p:nvPr/>
        </p:nvSpPr>
        <p:spPr>
          <a:xfrm>
            <a:off x="457200" y="2606040"/>
            <a:ext cx="5303520" cy="617220"/>
          </a:xfrm>
          <a:prstGeom prst="roundRect">
            <a:avLst>
              <a:gd name="adj" fmla="val 11852"/>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594360" y="2686050"/>
            <a:ext cx="457200" cy="457200"/>
          </a:xfrm>
          <a:prstGeom prst="ellipse">
            <a:avLst/>
          </a:prstGeom>
          <a:solidFill>
            <a:schemeClr val="accent1"/>
          </a:solidFill>
          <a:ln w="12700">
            <a:solidFill>
              <a:schemeClr val="accent1"/>
            </a:solidFill>
            <a:prstDash val="solid"/>
          </a:ln>
        </p:spPr>
      </p:sp>
      <p:sp>
        <p:nvSpPr>
          <p:cNvPr id="16" name="Text 13"/>
          <p:cNvSpPr txBox="1"/>
          <p:nvPr/>
        </p:nvSpPr>
        <p:spPr>
          <a:xfrm>
            <a:off x="594360" y="268605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4"/>
          <p:cNvSpPr txBox="1"/>
          <p:nvPr/>
        </p:nvSpPr>
        <p:spPr>
          <a:xfrm>
            <a:off x="1188720" y="2606040"/>
            <a:ext cx="4434840" cy="617220"/>
          </a:xfrm>
          <a:prstGeom prst="rect">
            <a:avLst/>
          </a:prstGeom>
          <a:noFill/>
          <a:ln/>
        </p:spPr>
        <p:txBody>
          <a:bodyPr wrap="square" lIns="0" tIns="0" rIns="0" bIns="0" rtlCol="0" anchor="ctr"/>
          <a:lstStyle/>
          <a:p>
            <a:pPr indent="0" marL="0">
              <a:buNone/>
            </a:pPr>
            <a:r>
              <a:rPr lang="en-US" sz="1400" dirty="0">
                <a:solidFill>
                  <a:schemeClr val="tx1"/>
                </a:solidFill>
              </a:rPr>
              <a:t>Reassemble the message at the destination using the packet numbers.</a:t>
            </a:r>
            <a:endParaRPr lang="en-US" sz="1400" dirty="0"/>
          </a:p>
        </p:txBody>
      </p:sp>
      <p:sp>
        <p:nvSpPr>
          <p:cNvPr id="18" name="st3"/>
          <p:cNvSpPr/>
          <p:nvPr/>
        </p:nvSpPr>
        <p:spPr>
          <a:xfrm>
            <a:off x="457200" y="3360420"/>
            <a:ext cx="5303520" cy="617220"/>
          </a:xfrm>
          <a:prstGeom prst="roundRect">
            <a:avLst>
              <a:gd name="adj" fmla="val 11852"/>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9" name="Shape 16"/>
          <p:cNvSpPr/>
          <p:nvPr/>
        </p:nvSpPr>
        <p:spPr>
          <a:xfrm>
            <a:off x="594360" y="3440430"/>
            <a:ext cx="457200" cy="457200"/>
          </a:xfrm>
          <a:prstGeom prst="ellipse">
            <a:avLst/>
          </a:prstGeom>
          <a:solidFill>
            <a:schemeClr val="accent1"/>
          </a:solidFill>
          <a:ln w="12700">
            <a:solidFill>
              <a:schemeClr val="accent1"/>
            </a:solidFill>
            <a:prstDash val="solid"/>
          </a:ln>
        </p:spPr>
      </p:sp>
      <p:sp>
        <p:nvSpPr>
          <p:cNvPr id="20" name="Text 17"/>
          <p:cNvSpPr txBox="1"/>
          <p:nvPr/>
        </p:nvSpPr>
        <p:spPr>
          <a:xfrm>
            <a:off x="594360" y="344043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 18"/>
          <p:cNvSpPr txBox="1"/>
          <p:nvPr/>
        </p:nvSpPr>
        <p:spPr>
          <a:xfrm>
            <a:off x="1188720" y="3360420"/>
            <a:ext cx="4434840" cy="617220"/>
          </a:xfrm>
          <a:prstGeom prst="rect">
            <a:avLst/>
          </a:prstGeom>
          <a:noFill/>
          <a:ln/>
        </p:spPr>
        <p:txBody>
          <a:bodyPr wrap="square" lIns="0" tIns="0" rIns="0" bIns="0" rtlCol="0" anchor="ctr"/>
          <a:lstStyle/>
          <a:p>
            <a:pPr indent="0" marL="0">
              <a:buNone/>
            </a:pPr>
            <a:r>
              <a:rPr lang="en-US" sz="1400" dirty="0">
                <a:solidFill>
                  <a:schemeClr val="tx1"/>
                </a:solidFill>
              </a:rPr>
              <a:t>One packet is missing or corrupted. What does the receiver do?</a:t>
            </a:r>
            <a:endParaRPr lang="en-US" sz="1400" dirty="0"/>
          </a:p>
        </p:txBody>
      </p:sp>
      <p:sp>
        <p:nvSpPr>
          <p:cNvPr id="22" name="side"/>
          <p:cNvSpPr/>
          <p:nvPr/>
        </p:nvSpPr>
        <p:spPr>
          <a:xfrm>
            <a:off x="6035040" y="1097280"/>
            <a:ext cx="2651760" cy="2880360"/>
          </a:xfrm>
          <a:prstGeom prst="roundRect">
            <a:avLst>
              <a:gd name="adj" fmla="val 2759"/>
            </a:avLst>
          </a:prstGeom>
          <a:solidFill>
            <a:schemeClr val="tx1"/>
          </a:solidFill>
          <a:ln w="12700">
            <a:solidFill>
              <a:schemeClr val="tx1"/>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6217920" y="1234440"/>
            <a:ext cx="457200" cy="457200"/>
          </a:xfrm>
          <a:prstGeom prst="ellipse">
            <a:avLst/>
          </a:prstGeom>
          <a:solidFill>
            <a:schemeClr val="accent2"/>
          </a:solidFill>
          <a:ln w="12700">
            <a:solidFill>
              <a:schemeClr val="accent2"/>
            </a:solidFill>
            <a:prstDash val="solid"/>
          </a:ln>
        </p:spPr>
      </p:sp>
      <p:pic>
        <p:nvPicPr>
          <p:cNvPr id="24" name="Image 1" descr="preencoded.png">    </p:cNvPr>
          <p:cNvPicPr>
            <a:picLocks noChangeAspect="1"/>
          </p:cNvPicPr>
          <p:nvPr/>
        </p:nvPicPr>
        <p:blipFill>
          <a:blip r:embed="rId2"/>
          <a:stretch>
            <a:fillRect/>
          </a:stretch>
        </p:blipFill>
        <p:spPr>
          <a:xfrm>
            <a:off x="6318504" y="1335024"/>
            <a:ext cx="256032" cy="256032"/>
          </a:xfrm>
          <a:prstGeom prst="rect">
            <a:avLst/>
          </a:prstGeom>
        </p:spPr>
      </p:pic>
      <p:sp>
        <p:nvSpPr>
          <p:cNvPr id="25" name="Text 21"/>
          <p:cNvSpPr txBox="1"/>
          <p:nvPr/>
        </p:nvSpPr>
        <p:spPr>
          <a:xfrm>
            <a:off x="6217920" y="1783080"/>
            <a:ext cx="2331720" cy="2103120"/>
          </a:xfrm>
          <a:prstGeom prst="rect">
            <a:avLst/>
          </a:prstGeom>
          <a:noFill/>
          <a:ln/>
        </p:spPr>
        <p:txBody>
          <a:bodyPr wrap="square" lIns="0" tIns="0" rIns="0" bIns="0" rtlCol="0" anchor="t"/>
          <a:lstStyle/>
          <a:p>
            <a:pPr indent="0" marL="0">
              <a:buNone/>
            </a:pPr>
            <a:r>
              <a:rPr lang="en-US" sz="1400" dirty="0">
                <a:solidFill>
                  <a:schemeClr val="bg1"/>
                </a:solidFill>
              </a:rPr>
              <a:t>Then answer 2025 Q3(c) on your exam practice sheet. Use the six steps.</a:t>
            </a:r>
            <a:endParaRPr lang="en-US" sz="1400" dirty="0"/>
          </a:p>
        </p:txBody>
      </p:sp>
      <p:sp>
        <p:nvSpPr>
          <p:cNvPr id="26" name="Text 22"/>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500" b="1" dirty="0">
                <a:solidFill>
                  <a:schemeClr val="accent1"/>
                </a:solidFill>
              </a:rPr>
              <a:t>Open the link on Teams.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03504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Exam question: Summer 2025</a:t>
            </a:r>
            <a:endParaRPr lang="en-US" sz="3000" dirty="0"/>
          </a:p>
        </p:txBody>
      </p:sp>
      <p:sp>
        <p:nvSpPr>
          <p:cNvPr id="3" name="Shape 1"/>
          <p:cNvSpPr/>
          <p:nvPr/>
        </p:nvSpPr>
        <p:spPr>
          <a:xfrm>
            <a:off x="6400800" y="347472"/>
            <a:ext cx="2286000" cy="502920"/>
          </a:xfrm>
          <a:prstGeom prst="roundRect">
            <a:avLst>
              <a:gd name="adj" fmla="val 49091"/>
            </a:avLst>
          </a:prstGeom>
          <a:solidFill>
            <a:schemeClr val="accent2"/>
          </a:solidFill>
          <a:ln w="12700">
            <a:solidFill>
              <a:schemeClr val="accent2"/>
            </a:solidFill>
            <a:prstDash val="solid"/>
          </a:ln>
        </p:spPr>
      </p:sp>
      <p:pic>
        <p:nvPicPr>
          <p:cNvPr id="4" name="Image 0" descr="preencoded.png">    </p:cNvPr>
          <p:cNvPicPr>
            <a:picLocks noChangeAspect="1"/>
          </p:cNvPicPr>
          <p:nvPr/>
        </p:nvPicPr>
        <p:blipFill>
          <a:blip r:embed="rId1"/>
          <a:stretch>
            <a:fillRect/>
          </a:stretch>
        </p:blipFill>
        <p:spPr>
          <a:xfrm>
            <a:off x="6537960" y="448056"/>
            <a:ext cx="301752" cy="301752"/>
          </a:xfrm>
          <a:prstGeom prst="rect">
            <a:avLst/>
          </a:prstGeom>
        </p:spPr>
      </p:pic>
      <p:sp>
        <p:nvSpPr>
          <p:cNvPr id="5" name="Text 2"/>
          <p:cNvSpPr txBox="1"/>
          <p:nvPr/>
        </p:nvSpPr>
        <p:spPr>
          <a:xfrm>
            <a:off x="6903720" y="347472"/>
            <a:ext cx="1737360" cy="502920"/>
          </a:xfrm>
          <a:prstGeom prst="rect">
            <a:avLst/>
          </a:prstGeom>
          <a:noFill/>
          <a:ln/>
        </p:spPr>
        <p:txBody>
          <a:bodyPr wrap="square" lIns="0" tIns="0" rIns="0" bIns="0" rtlCol="0" anchor="ctr"/>
          <a:lstStyle/>
          <a:p>
            <a:pPr indent="0" marL="0">
              <a:buNone/>
            </a:pPr>
            <a:r>
              <a:rPr lang="en-US" sz="1400" b="1" dirty="0">
                <a:solidFill>
                  <a:schemeClr val="bg1"/>
                </a:solidFill>
              </a:rPr>
              <a:t>5 min  on your own</a:t>
            </a:r>
            <a:endParaRPr lang="en-US" sz="1400" dirty="0"/>
          </a:p>
        </p:txBody>
      </p:sp>
      <p:sp>
        <p:nvSpPr>
          <p:cNvPr id="6" name="q"/>
          <p:cNvSpPr/>
          <p:nvPr/>
        </p:nvSpPr>
        <p:spPr>
          <a:xfrm>
            <a:off x="457200" y="1097280"/>
            <a:ext cx="8229600" cy="1280160"/>
          </a:xfrm>
          <a:prstGeom prst="roundRect">
            <a:avLst>
              <a:gd name="adj" fmla="val 5714"/>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685800" y="1188720"/>
            <a:ext cx="7772400" cy="1097280"/>
          </a:xfrm>
          <a:prstGeom prst="rect">
            <a:avLst/>
          </a:prstGeom>
          <a:noFill/>
          <a:ln/>
        </p:spPr>
        <p:txBody>
          <a:bodyPr wrap="square" lIns="0" tIns="0" rIns="0" bIns="0" rtlCol="0" anchor="ctr"/>
          <a:lstStyle/>
          <a:p>
            <a:pPr indent="0" marL="0">
              <a:buNone/>
            </a:pPr>
            <a:r>
              <a:rPr lang="en-US" sz="2000" b="1" dirty="0">
                <a:solidFill>
                  <a:schemeClr val="accent1"/>
                </a:solidFill>
              </a:rPr>
              <a:t>Q3(c)  </a:t>
            </a:r>
            <a:pPr indent="0" marL="0">
              <a:buNone/>
            </a:pPr>
            <a:r>
              <a:rPr lang="en-US" sz="2000" dirty="0">
                <a:solidFill>
                  <a:schemeClr val="tx1"/>
                </a:solidFill>
              </a:rPr>
              <a:t>Explain how a packet is routed on a packet-switched network.</a:t>
            </a:r>
            <a:pPr indent="0" marL="0">
              <a:buNone/>
            </a:pPr>
            <a:r>
              <a:rPr lang="en-US" sz="2000" b="1" dirty="0">
                <a:solidFill>
                  <a:schemeClr val="tx1"/>
                </a:solidFill>
              </a:rPr>
              <a:t>  [5]</a:t>
            </a:r>
            <a:endParaRPr lang="en-US" sz="2000" dirty="0"/>
          </a:p>
        </p:txBody>
      </p:sp>
      <p:sp>
        <p:nvSpPr>
          <p:cNvPr id="8" name="Shape 5"/>
          <p:cNvSpPr/>
          <p:nvPr/>
        </p:nvSpPr>
        <p:spPr>
          <a:xfrm>
            <a:off x="457200" y="2743200"/>
            <a:ext cx="548640" cy="548640"/>
          </a:xfrm>
          <a:prstGeom prst="ellipse">
            <a:avLst/>
          </a:prstGeom>
          <a:solidFill>
            <a:schemeClr val="accent2"/>
          </a:solidFill>
          <a:ln w="12700">
            <a:solidFill>
              <a:schemeClr val="accent2"/>
            </a:solidFill>
            <a:prstDash val="solid"/>
          </a:ln>
        </p:spPr>
      </p:sp>
      <p:pic>
        <p:nvPicPr>
          <p:cNvPr id="9" name="Image 1" descr="preencoded.png">    </p:cNvPr>
          <p:cNvPicPr>
            <a:picLocks noChangeAspect="1"/>
          </p:cNvPicPr>
          <p:nvPr/>
        </p:nvPicPr>
        <p:blipFill>
          <a:blip r:embed="rId2"/>
          <a:stretch>
            <a:fillRect/>
          </a:stretch>
        </p:blipFill>
        <p:spPr>
          <a:xfrm>
            <a:off x="577901" y="2863901"/>
            <a:ext cx="307238" cy="307238"/>
          </a:xfrm>
          <a:prstGeom prst="rect">
            <a:avLst/>
          </a:prstGeom>
        </p:spPr>
      </p:pic>
      <p:sp>
        <p:nvSpPr>
          <p:cNvPr id="10" name="Text 6"/>
          <p:cNvSpPr txBox="1"/>
          <p:nvPr/>
        </p:nvSpPr>
        <p:spPr>
          <a:xfrm>
            <a:off x="1188720" y="2697480"/>
            <a:ext cx="7498080" cy="1188720"/>
          </a:xfrm>
          <a:prstGeom prst="rect">
            <a:avLst/>
          </a:prstGeom>
          <a:noFill/>
          <a:ln/>
        </p:spPr>
        <p:txBody>
          <a:bodyPr wrap="square" lIns="0" tIns="0" rIns="0" bIns="0" rtlCol="0" anchor="t"/>
          <a:lstStyle/>
          <a:p>
            <a:pPr indent="0" marL="0">
              <a:buNone/>
            </a:pPr>
            <a:r>
              <a:rPr lang="en-US" sz="1600" dirty="0">
                <a:solidFill>
                  <a:schemeClr val="tx1"/>
                </a:solidFill>
              </a:rPr>
              <a:t>Five marks: start with packet numbers and finish with what happens at the destination. Most students lose marks by stopping once the packets arrive.</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Mark scheme: 2025 Q3(c)</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7406640"/>
                <a:gridCol w="822960"/>
              </a:tblGrid>
              <a:tr h="347472">
                <a:tc>
                  <a:txBody>
                    <a:bodyPr/>
                    <a:lstStyle/>
                    <a:p>
                      <a:pPr indent="0" marL="0">
                        <a:buNone/>
                      </a:pPr>
                      <a:r>
                        <a:rPr lang="en-US" sz="1300" b="1" dirty="0">
                          <a:solidFill>
                            <a:schemeClr val="bg1"/>
                          </a:solidFill>
                        </a:rPr>
                        <a:t>Award one mark for each, up to a maximum of five</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Mark</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tx1"/>
                    </a:solidFill>
                  </a:tcPr>
                </a:tc>
              </a:tr>
              <a:tr h="347472">
                <a:tc>
                  <a:txBody>
                    <a:bodyPr/>
                    <a:lstStyle/>
                    <a:p>
                      <a:pPr indent="0" marL="0">
                        <a:buNone/>
                      </a:pPr>
                      <a:r>
                        <a:rPr lang="en-US" sz="1300" dirty="0">
                          <a:solidFill>
                            <a:schemeClr val="tx1"/>
                          </a:solidFill>
                        </a:rPr>
                        <a:t>Packets are given a 'packet number' to identify the order they are in</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1</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r>
              <a:tr h="347472">
                <a:tc>
                  <a:txBody>
                    <a:bodyPr/>
                    <a:lstStyle/>
                    <a:p>
                      <a:pPr indent="0" marL="0">
                        <a:buNone/>
                      </a:pPr>
                      <a:r>
                        <a:rPr lang="en-US" sz="1300" dirty="0">
                          <a:solidFill>
                            <a:schemeClr val="tx1"/>
                          </a:solidFill>
                        </a:rPr>
                        <a:t>The packets travel across the network, usually in different directions</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r>
              <a:tr h="347472">
                <a:tc>
                  <a:txBody>
                    <a:bodyPr/>
                    <a:lstStyle/>
                    <a:p>
                      <a:pPr indent="0" marL="0">
                        <a:buNone/>
                      </a:pPr>
                      <a:r>
                        <a:rPr lang="en-US" sz="1300" dirty="0">
                          <a:solidFill>
                            <a:schemeClr val="tx1"/>
                          </a:solidFill>
                        </a:rPr>
                        <a:t>taking the shortest route available</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1</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r>
              <a:tr h="347472">
                <a:tc>
                  <a:txBody>
                    <a:bodyPr/>
                    <a:lstStyle/>
                    <a:p>
                      <a:pPr indent="0" marL="0">
                        <a:buNone/>
                      </a:pPr>
                      <a:r>
                        <a:rPr lang="en-US" sz="1300" dirty="0">
                          <a:solidFill>
                            <a:schemeClr val="tx1"/>
                          </a:solidFill>
                        </a:rPr>
                        <a:t>When the packets arrive at their destination they are reassembled in the correct order</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r>
              <a:tr h="347472">
                <a:tc>
                  <a:txBody>
                    <a:bodyPr/>
                    <a:lstStyle/>
                    <a:p>
                      <a:pPr indent="0" marL="0">
                        <a:buNone/>
                      </a:pPr>
                      <a:r>
                        <a:rPr lang="en-US" sz="1300" dirty="0">
                          <a:solidFill>
                            <a:schemeClr val="tx1"/>
                          </a:solidFill>
                        </a:rPr>
                        <a:t>Once all the packets have arrived, a message is sent to the original computer as confirmation</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1</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r>
              <a:tr h="347472">
                <a:tc>
                  <a:txBody>
                    <a:bodyPr/>
                    <a:lstStyle/>
                    <a:p>
                      <a:pPr indent="0" marL="0">
                        <a:buNone/>
                      </a:pPr>
                      <a:r>
                        <a:rPr lang="en-US" sz="1300" dirty="0">
                          <a:solidFill>
                            <a:schemeClr val="tx1"/>
                          </a:solidFill>
                        </a:rPr>
                        <a:t>If a packet is missing or corrupted, a message is sent asking for that packet to be resent</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8046720" cy="1005840"/>
          </a:xfrm>
          <a:prstGeom prst="rect">
            <a:avLst/>
          </a:prstGeom>
          <a:noFill/>
          <a:ln/>
        </p:spPr>
        <p:txBody>
          <a:bodyPr wrap="square" lIns="0" tIns="0" rIns="0" bIns="0" rtlCol="0" anchor="b"/>
          <a:lstStyle/>
          <a:p>
            <a:pPr algn="l" indent="0" marL="0">
              <a:buNone/>
            </a:pPr>
            <a:r>
              <a:rPr lang="en-US" sz="3800" b="1" dirty="0">
                <a:solidFill>
                  <a:schemeClr val="bg1"/>
                </a:solidFill>
              </a:rPr>
              <a:t>Network collisions</a:t>
            </a:r>
            <a:endParaRPr lang="en-US" sz="3800" dirty="0"/>
          </a:p>
        </p:txBody>
      </p:sp>
      <p:sp>
        <p:nvSpPr>
          <p:cNvPr id="3" name="Text 0"/>
          <p:cNvSpPr/>
          <p:nvPr>
            <p:ph idx="101" type="body" hasCustomPrompt="1"/>
          </p:nvPr>
        </p:nvSpPr>
        <p:spPr>
          <a:xfrm>
            <a:off x="548640" y="2697480"/>
            <a:ext cx="8046720" cy="822960"/>
          </a:xfrm>
          <a:prstGeom prst="rect">
            <a:avLst/>
          </a:prstGeom>
          <a:noFill/>
          <a:ln/>
        </p:spPr>
        <p:txBody>
          <a:bodyPr wrap="square" lIns="0" tIns="0" rIns="0" bIns="0" rtlCol="0" anchor="t"/>
          <a:lstStyle/>
          <a:p>
            <a:pPr indent="0" marL="0">
              <a:buNone/>
            </a:pPr>
            <a:r>
              <a:rPr lang="en-US" sz="1800" dirty="0">
                <a:solidFill>
                  <a:schemeClr val="bg1"/>
                </a:solidFill>
              </a:rPr>
              <a:t>Spec 3.2.2: explain network collision, network collision detection and how these collisions are dealt with</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What is a collision?</a:t>
            </a:r>
            <a:endParaRPr lang="en-US" sz="3000" dirty="0"/>
          </a:p>
        </p:txBody>
      </p:sp>
      <p:sp>
        <p:nvSpPr>
          <p:cNvPr id="3" name="Shape 1"/>
          <p:cNvSpPr/>
          <p:nvPr/>
        </p:nvSpPr>
        <p:spPr>
          <a:xfrm>
            <a:off x="731520" y="2194560"/>
            <a:ext cx="7680960" cy="0"/>
          </a:xfrm>
          <a:prstGeom prst="line">
            <a:avLst/>
          </a:prstGeom>
          <a:noFill/>
          <a:ln w="63500">
            <a:solidFill>
              <a:schemeClr val="tx1"/>
            </a:solidFill>
            <a:prstDash val="solid"/>
          </a:ln>
        </p:spPr>
      </p:sp>
      <p:sp>
        <p:nvSpPr>
          <p:cNvPr id="4" name="Shape 2"/>
          <p:cNvSpPr/>
          <p:nvPr/>
        </p:nvSpPr>
        <p:spPr>
          <a:xfrm>
            <a:off x="1691640" y="1691640"/>
            <a:ext cx="914" cy="502920"/>
          </a:xfrm>
          <a:prstGeom prst="line">
            <a:avLst/>
          </a:prstGeom>
          <a:noFill/>
          <a:ln w="25400">
            <a:solidFill>
              <a:schemeClr val="tx1"/>
            </a:solidFill>
            <a:prstDash val="solid"/>
          </a:ln>
        </p:spPr>
      </p:sp>
      <p:sp>
        <p:nvSpPr>
          <p:cNvPr id="5" name="Shape 3"/>
          <p:cNvSpPr/>
          <p:nvPr/>
        </p:nvSpPr>
        <p:spPr>
          <a:xfrm>
            <a:off x="1280160" y="1188720"/>
            <a:ext cx="822960" cy="502920"/>
          </a:xfrm>
          <a:prstGeom prst="roundRect">
            <a:avLst>
              <a:gd name="adj" fmla="val 10909"/>
            </a:avLst>
          </a:prstGeom>
          <a:solidFill>
            <a:schemeClr val="accent1"/>
          </a:solidFill>
          <a:ln w="12700">
            <a:solidFill>
              <a:schemeClr val="accent1"/>
            </a:solidFill>
            <a:prstDash val="solid"/>
          </a:ln>
        </p:spPr>
      </p:sp>
      <p:sp>
        <p:nvSpPr>
          <p:cNvPr id="6" name="Text 4"/>
          <p:cNvSpPr txBox="1"/>
          <p:nvPr/>
        </p:nvSpPr>
        <p:spPr>
          <a:xfrm>
            <a:off x="1280160" y="1188720"/>
            <a:ext cx="822960" cy="502920"/>
          </a:xfrm>
          <a:prstGeom prst="rect">
            <a:avLst/>
          </a:prstGeom>
          <a:noFill/>
          <a:ln/>
        </p:spPr>
        <p:txBody>
          <a:bodyPr wrap="square" lIns="0" tIns="0" rIns="0" bIns="0" rtlCol="0" anchor="ctr"/>
          <a:lstStyle/>
          <a:p>
            <a:pPr algn="ctr" indent="0" marL="0">
              <a:buNone/>
            </a:pPr>
            <a:r>
              <a:rPr lang="en-US" sz="1300" b="1" dirty="0">
                <a:solidFill>
                  <a:schemeClr val="bg1"/>
                </a:solidFill>
              </a:rPr>
              <a:t>PC 1</a:t>
            </a:r>
            <a:endParaRPr lang="en-US" sz="1300" dirty="0"/>
          </a:p>
        </p:txBody>
      </p:sp>
      <p:sp>
        <p:nvSpPr>
          <p:cNvPr id="7" name="Shape 5"/>
          <p:cNvSpPr/>
          <p:nvPr/>
        </p:nvSpPr>
        <p:spPr>
          <a:xfrm>
            <a:off x="3611880" y="1691640"/>
            <a:ext cx="914" cy="502920"/>
          </a:xfrm>
          <a:prstGeom prst="line">
            <a:avLst/>
          </a:prstGeom>
          <a:noFill/>
          <a:ln w="25400">
            <a:solidFill>
              <a:schemeClr val="tx1"/>
            </a:solidFill>
            <a:prstDash val="solid"/>
          </a:ln>
        </p:spPr>
      </p:sp>
      <p:sp>
        <p:nvSpPr>
          <p:cNvPr id="8" name="Shape 6"/>
          <p:cNvSpPr/>
          <p:nvPr/>
        </p:nvSpPr>
        <p:spPr>
          <a:xfrm>
            <a:off x="3200400" y="1188720"/>
            <a:ext cx="822960" cy="502920"/>
          </a:xfrm>
          <a:prstGeom prst="roundRect">
            <a:avLst>
              <a:gd name="adj" fmla="val 10909"/>
            </a:avLst>
          </a:prstGeom>
          <a:solidFill>
            <a:schemeClr val="accent6"/>
          </a:solidFill>
          <a:ln w="12700">
            <a:solidFill>
              <a:schemeClr val="accent6"/>
            </a:solidFill>
            <a:prstDash val="solid"/>
          </a:ln>
        </p:spPr>
      </p:sp>
      <p:sp>
        <p:nvSpPr>
          <p:cNvPr id="9" name="Text 7"/>
          <p:cNvSpPr txBox="1"/>
          <p:nvPr/>
        </p:nvSpPr>
        <p:spPr>
          <a:xfrm>
            <a:off x="3200400" y="1188720"/>
            <a:ext cx="822960" cy="502920"/>
          </a:xfrm>
          <a:prstGeom prst="rect">
            <a:avLst/>
          </a:prstGeom>
          <a:noFill/>
          <a:ln/>
        </p:spPr>
        <p:txBody>
          <a:bodyPr wrap="square" lIns="0" tIns="0" rIns="0" bIns="0" rtlCol="0" anchor="ctr"/>
          <a:lstStyle/>
          <a:p>
            <a:pPr algn="ctr" indent="0" marL="0">
              <a:buNone/>
            </a:pPr>
            <a:r>
              <a:rPr lang="en-US" sz="1300" b="1" dirty="0">
                <a:solidFill>
                  <a:schemeClr val="bg1"/>
                </a:solidFill>
              </a:rPr>
              <a:t>PC 2</a:t>
            </a:r>
            <a:endParaRPr lang="en-US" sz="1300" dirty="0"/>
          </a:p>
        </p:txBody>
      </p:sp>
      <p:sp>
        <p:nvSpPr>
          <p:cNvPr id="10" name="Shape 8"/>
          <p:cNvSpPr/>
          <p:nvPr/>
        </p:nvSpPr>
        <p:spPr>
          <a:xfrm>
            <a:off x="5532120" y="1691640"/>
            <a:ext cx="914" cy="502920"/>
          </a:xfrm>
          <a:prstGeom prst="line">
            <a:avLst/>
          </a:prstGeom>
          <a:noFill/>
          <a:ln w="25400">
            <a:solidFill>
              <a:schemeClr val="tx1"/>
            </a:solidFill>
            <a:prstDash val="solid"/>
          </a:ln>
        </p:spPr>
      </p:sp>
      <p:sp>
        <p:nvSpPr>
          <p:cNvPr id="11" name="Shape 9"/>
          <p:cNvSpPr/>
          <p:nvPr/>
        </p:nvSpPr>
        <p:spPr>
          <a:xfrm>
            <a:off x="5120640" y="1188720"/>
            <a:ext cx="822960" cy="502920"/>
          </a:xfrm>
          <a:prstGeom prst="roundRect">
            <a:avLst>
              <a:gd name="adj" fmla="val 10909"/>
            </a:avLst>
          </a:prstGeom>
          <a:solidFill>
            <a:schemeClr val="accent6"/>
          </a:solidFill>
          <a:ln w="12700">
            <a:solidFill>
              <a:schemeClr val="accent6"/>
            </a:solidFill>
            <a:prstDash val="solid"/>
          </a:ln>
        </p:spPr>
      </p:sp>
      <p:sp>
        <p:nvSpPr>
          <p:cNvPr id="12" name="Text 10"/>
          <p:cNvSpPr txBox="1"/>
          <p:nvPr/>
        </p:nvSpPr>
        <p:spPr>
          <a:xfrm>
            <a:off x="5120640" y="1188720"/>
            <a:ext cx="822960" cy="502920"/>
          </a:xfrm>
          <a:prstGeom prst="rect">
            <a:avLst/>
          </a:prstGeom>
          <a:noFill/>
          <a:ln/>
        </p:spPr>
        <p:txBody>
          <a:bodyPr wrap="square" lIns="0" tIns="0" rIns="0" bIns="0" rtlCol="0" anchor="ctr"/>
          <a:lstStyle/>
          <a:p>
            <a:pPr algn="ctr" indent="0" marL="0">
              <a:buNone/>
            </a:pPr>
            <a:r>
              <a:rPr lang="en-US" sz="1300" b="1" dirty="0">
                <a:solidFill>
                  <a:schemeClr val="bg1"/>
                </a:solidFill>
              </a:rPr>
              <a:t>PC 3</a:t>
            </a:r>
            <a:endParaRPr lang="en-US" sz="1300" dirty="0"/>
          </a:p>
        </p:txBody>
      </p:sp>
      <p:sp>
        <p:nvSpPr>
          <p:cNvPr id="13" name="Shape 11"/>
          <p:cNvSpPr/>
          <p:nvPr/>
        </p:nvSpPr>
        <p:spPr>
          <a:xfrm>
            <a:off x="7452360" y="1691640"/>
            <a:ext cx="914" cy="502920"/>
          </a:xfrm>
          <a:prstGeom prst="line">
            <a:avLst/>
          </a:prstGeom>
          <a:noFill/>
          <a:ln w="25400">
            <a:solidFill>
              <a:schemeClr val="tx1"/>
            </a:solidFill>
            <a:prstDash val="solid"/>
          </a:ln>
        </p:spPr>
      </p:sp>
      <p:sp>
        <p:nvSpPr>
          <p:cNvPr id="14" name="Shape 12"/>
          <p:cNvSpPr/>
          <p:nvPr/>
        </p:nvSpPr>
        <p:spPr>
          <a:xfrm>
            <a:off x="7040880" y="1188720"/>
            <a:ext cx="822960" cy="502920"/>
          </a:xfrm>
          <a:prstGeom prst="roundRect">
            <a:avLst>
              <a:gd name="adj" fmla="val 10909"/>
            </a:avLst>
          </a:prstGeom>
          <a:solidFill>
            <a:schemeClr val="accent1"/>
          </a:solidFill>
          <a:ln w="12700">
            <a:solidFill>
              <a:schemeClr val="accent1"/>
            </a:solidFill>
            <a:prstDash val="solid"/>
          </a:ln>
        </p:spPr>
      </p:sp>
      <p:sp>
        <p:nvSpPr>
          <p:cNvPr id="15" name="Text 13"/>
          <p:cNvSpPr txBox="1"/>
          <p:nvPr/>
        </p:nvSpPr>
        <p:spPr>
          <a:xfrm>
            <a:off x="7040880" y="1188720"/>
            <a:ext cx="822960" cy="502920"/>
          </a:xfrm>
          <a:prstGeom prst="rect">
            <a:avLst/>
          </a:prstGeom>
          <a:noFill/>
          <a:ln/>
        </p:spPr>
        <p:txBody>
          <a:bodyPr wrap="square" lIns="0" tIns="0" rIns="0" bIns="0" rtlCol="0" anchor="ctr"/>
          <a:lstStyle/>
          <a:p>
            <a:pPr algn="ctr" indent="0" marL="0">
              <a:buNone/>
            </a:pPr>
            <a:r>
              <a:rPr lang="en-US" sz="1300" b="1" dirty="0">
                <a:solidFill>
                  <a:schemeClr val="bg1"/>
                </a:solidFill>
              </a:rPr>
              <a:t>PC 4</a:t>
            </a:r>
            <a:endParaRPr lang="en-US" sz="1300" dirty="0"/>
          </a:p>
        </p:txBody>
      </p:sp>
      <p:sp>
        <p:nvSpPr>
          <p:cNvPr id="16" name="Shape 14"/>
          <p:cNvSpPr/>
          <p:nvPr/>
        </p:nvSpPr>
        <p:spPr>
          <a:xfrm>
            <a:off x="2103120" y="2057400"/>
            <a:ext cx="1965960" cy="0"/>
          </a:xfrm>
          <a:prstGeom prst="line">
            <a:avLst/>
          </a:prstGeom>
          <a:noFill/>
          <a:ln w="38100">
            <a:solidFill>
              <a:schemeClr val="accent1"/>
            </a:solidFill>
            <a:prstDash val="solid"/>
            <a:tailEnd type="triangle"/>
          </a:ln>
        </p:spPr>
      </p:sp>
      <p:sp>
        <p:nvSpPr>
          <p:cNvPr id="17" name="Shape 15"/>
          <p:cNvSpPr/>
          <p:nvPr/>
        </p:nvSpPr>
        <p:spPr>
          <a:xfrm flipH="1">
            <a:off x="5074920" y="2057400"/>
            <a:ext cx="1965960" cy="0"/>
          </a:xfrm>
          <a:prstGeom prst="line">
            <a:avLst/>
          </a:prstGeom>
          <a:noFill/>
          <a:ln w="38100">
            <a:solidFill>
              <a:schemeClr val="accent1"/>
            </a:solidFill>
            <a:prstDash val="solid"/>
            <a:tailEnd type="triangle"/>
          </a:ln>
        </p:spPr>
      </p:sp>
      <p:sp>
        <p:nvSpPr>
          <p:cNvPr id="18" name="Shape 16"/>
          <p:cNvSpPr/>
          <p:nvPr/>
        </p:nvSpPr>
        <p:spPr>
          <a:xfrm>
            <a:off x="4251960" y="1783080"/>
            <a:ext cx="640080" cy="640080"/>
          </a:xfrm>
          <a:prstGeom prst="ellipse">
            <a:avLst/>
          </a:prstGeom>
          <a:solidFill>
            <a:schemeClr val="accent4"/>
          </a:solidFill>
          <a:ln w="12700">
            <a:solidFill>
              <a:schemeClr val="accent4"/>
            </a:solidFill>
            <a:prstDash val="solid"/>
          </a:ln>
        </p:spPr>
      </p:sp>
      <p:pic>
        <p:nvPicPr>
          <p:cNvPr id="19" name="Image 0" descr="preencoded.png">    </p:cNvPr>
          <p:cNvPicPr>
            <a:picLocks noChangeAspect="1"/>
          </p:cNvPicPr>
          <p:nvPr/>
        </p:nvPicPr>
        <p:blipFill>
          <a:blip r:embed="rId1"/>
          <a:stretch>
            <a:fillRect/>
          </a:stretch>
        </p:blipFill>
        <p:spPr>
          <a:xfrm>
            <a:off x="4392778" y="1923898"/>
            <a:ext cx="358445" cy="358445"/>
          </a:xfrm>
          <a:prstGeom prst="rect">
            <a:avLst/>
          </a:prstGeom>
        </p:spPr>
      </p:pic>
      <p:sp>
        <p:nvSpPr>
          <p:cNvPr id="20" name="Text 17"/>
          <p:cNvSpPr txBox="1"/>
          <p:nvPr/>
        </p:nvSpPr>
        <p:spPr>
          <a:xfrm>
            <a:off x="731520" y="2331720"/>
            <a:ext cx="2743200" cy="274320"/>
          </a:xfrm>
          <a:prstGeom prst="rect">
            <a:avLst/>
          </a:prstGeom>
          <a:noFill/>
          <a:ln/>
        </p:spPr>
        <p:txBody>
          <a:bodyPr wrap="square" lIns="0" tIns="0" rIns="0" bIns="0" rtlCol="0" anchor="t"/>
          <a:lstStyle/>
          <a:p>
            <a:pPr indent="0" marL="0">
              <a:buNone/>
            </a:pPr>
            <a:r>
              <a:rPr lang="en-US" sz="1100" dirty="0">
                <a:solidFill>
                  <a:schemeClr val="accent6"/>
                </a:solidFill>
              </a:rPr>
              <a:t>One shared cable (bus)</a:t>
            </a:r>
            <a:endParaRPr lang="en-US" sz="1100" dirty="0"/>
          </a:p>
        </p:txBody>
      </p:sp>
      <p:sp>
        <p:nvSpPr>
          <p:cNvPr id="21" name="cdef"/>
          <p:cNvSpPr/>
          <p:nvPr/>
        </p:nvSpPr>
        <p:spPr>
          <a:xfrm>
            <a:off x="457200" y="2880360"/>
            <a:ext cx="8229600" cy="1691640"/>
          </a:xfrm>
          <a:prstGeom prst="roundRect">
            <a:avLst>
              <a:gd name="adj" fmla="val 432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2" name="Text 19"/>
          <p:cNvSpPr txBox="1"/>
          <p:nvPr/>
        </p:nvSpPr>
        <p:spPr>
          <a:xfrm>
            <a:off x="685800" y="2971800"/>
            <a:ext cx="7772400" cy="914400"/>
          </a:xfrm>
          <a:prstGeom prst="rect">
            <a:avLst/>
          </a:prstGeom>
          <a:noFill/>
          <a:ln/>
        </p:spPr>
        <p:txBody>
          <a:bodyPr wrap="square" lIns="0" tIns="0" rIns="0" bIns="0" rtlCol="0" anchor="t"/>
          <a:lstStyle/>
          <a:p>
            <a:pPr indent="0" marL="0">
              <a:buNone/>
            </a:pPr>
            <a:r>
              <a:rPr lang="en-US" sz="1600" dirty="0">
                <a:solidFill>
                  <a:schemeClr val="tx1"/>
                </a:solidFill>
              </a:rPr>
              <a:t>A collision happens when two devices transmit at the same time on a shared medium. The two signals interfere, both are corrupted, and neither message can be read.</a:t>
            </a:r>
            <a:endParaRPr lang="en-US" sz="1600" dirty="0"/>
          </a:p>
        </p:txBody>
      </p:sp>
      <p:sp>
        <p:nvSpPr>
          <p:cNvPr id="23" name="Text 20"/>
          <p:cNvSpPr txBox="1"/>
          <p:nvPr/>
        </p:nvSpPr>
        <p:spPr>
          <a:xfrm>
            <a:off x="685800" y="3931920"/>
            <a:ext cx="7772400" cy="457200"/>
          </a:xfrm>
          <a:prstGeom prst="rect">
            <a:avLst/>
          </a:prstGeom>
          <a:noFill/>
          <a:ln/>
        </p:spPr>
        <p:txBody>
          <a:bodyPr wrap="square" lIns="0" tIns="0" rIns="0" bIns="0" rtlCol="0" anchor="t"/>
          <a:lstStyle/>
          <a:p>
            <a:pPr indent="0" marL="0">
              <a:buNone/>
            </a:pPr>
            <a:r>
              <a:rPr lang="en-US" sz="1400" b="1" dirty="0">
                <a:solidFill>
                  <a:schemeClr val="accent1"/>
                </a:solidFill>
              </a:rPr>
              <a:t>Exam wording: two sets of data are detected on the network simultaneously.</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Detect it, then deal with it</a:t>
            </a:r>
            <a:endParaRPr lang="en-US" sz="3000" dirty="0"/>
          </a:p>
        </p:txBody>
      </p:sp>
      <p:sp>
        <p:nvSpPr>
          <p:cNvPr id="3" name="Shape 1"/>
          <p:cNvSpPr/>
          <p:nvPr/>
        </p:nvSpPr>
        <p:spPr>
          <a:xfrm>
            <a:off x="457200" y="1097280"/>
            <a:ext cx="1874520" cy="502920"/>
          </a:xfrm>
          <a:prstGeom prst="roundRect">
            <a:avLst>
              <a:gd name="adj" fmla="val 14545"/>
            </a:avLst>
          </a:prstGeom>
          <a:solidFill>
            <a:schemeClr val="accent6"/>
          </a:solidFill>
          <a:ln w="12700">
            <a:solidFill>
              <a:schemeClr val="accent6"/>
            </a:solidFill>
            <a:prstDash val="solid"/>
          </a:ln>
        </p:spPr>
      </p:sp>
      <p:sp>
        <p:nvSpPr>
          <p:cNvPr id="4" name="Text 2"/>
          <p:cNvSpPr txBox="1"/>
          <p:nvPr/>
        </p:nvSpPr>
        <p:spPr>
          <a:xfrm>
            <a:off x="457200" y="1097280"/>
            <a:ext cx="1874520" cy="502920"/>
          </a:xfrm>
          <a:prstGeom prst="rect">
            <a:avLst/>
          </a:prstGeom>
          <a:noFill/>
          <a:ln/>
        </p:spPr>
        <p:txBody>
          <a:bodyPr wrap="square" lIns="0" tIns="0" rIns="0" bIns="0" rtlCol="0" anchor="ctr"/>
          <a:lstStyle/>
          <a:p>
            <a:pPr algn="ctr" indent="0" marL="0">
              <a:buNone/>
            </a:pPr>
            <a:r>
              <a:rPr lang="en-US" sz="1600" b="1" dirty="0">
                <a:solidFill>
                  <a:schemeClr val="bg1"/>
                </a:solidFill>
              </a:rPr>
              <a:t>1. Listen</a:t>
            </a:r>
            <a:endParaRPr lang="en-US" sz="1600" dirty="0"/>
          </a:p>
        </p:txBody>
      </p:sp>
      <p:sp>
        <p:nvSpPr>
          <p:cNvPr id="5" name="c0"/>
          <p:cNvSpPr/>
          <p:nvPr/>
        </p:nvSpPr>
        <p:spPr>
          <a:xfrm>
            <a:off x="457200" y="1691640"/>
            <a:ext cx="187452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566928" y="1755648"/>
            <a:ext cx="1664208" cy="1261872"/>
          </a:xfrm>
          <a:prstGeom prst="rect">
            <a:avLst/>
          </a:prstGeom>
          <a:noFill/>
          <a:ln/>
        </p:spPr>
        <p:txBody>
          <a:bodyPr wrap="square" lIns="0" tIns="0" rIns="0" bIns="0" rtlCol="0" anchor="t"/>
          <a:lstStyle/>
          <a:p>
            <a:pPr indent="0" marL="0">
              <a:buNone/>
            </a:pPr>
            <a:r>
              <a:rPr lang="en-US" sz="1250" dirty="0">
                <a:solidFill>
                  <a:schemeClr val="tx1"/>
                </a:solidFill>
              </a:rPr>
              <a:t>Before sending, a device checks the line is quiet (carrier sense)</a:t>
            </a:r>
            <a:endParaRPr lang="en-US" sz="1250" dirty="0"/>
          </a:p>
        </p:txBody>
      </p:sp>
      <p:sp>
        <p:nvSpPr>
          <p:cNvPr id="7" name="Shape 5"/>
          <p:cNvSpPr/>
          <p:nvPr/>
        </p:nvSpPr>
        <p:spPr>
          <a:xfrm>
            <a:off x="2560320" y="1097280"/>
            <a:ext cx="1874520" cy="502920"/>
          </a:xfrm>
          <a:prstGeom prst="roundRect">
            <a:avLst>
              <a:gd name="adj" fmla="val 14545"/>
            </a:avLst>
          </a:prstGeom>
          <a:solidFill>
            <a:schemeClr val="tx1"/>
          </a:solidFill>
          <a:ln w="12700">
            <a:solidFill>
              <a:schemeClr val="tx1"/>
            </a:solidFill>
            <a:prstDash val="solid"/>
          </a:ln>
        </p:spPr>
      </p:sp>
      <p:sp>
        <p:nvSpPr>
          <p:cNvPr id="8" name="Text 6"/>
          <p:cNvSpPr txBox="1"/>
          <p:nvPr/>
        </p:nvSpPr>
        <p:spPr>
          <a:xfrm>
            <a:off x="2560320" y="1097280"/>
            <a:ext cx="1874520" cy="502920"/>
          </a:xfrm>
          <a:prstGeom prst="rect">
            <a:avLst/>
          </a:prstGeom>
          <a:noFill/>
          <a:ln/>
        </p:spPr>
        <p:txBody>
          <a:bodyPr wrap="square" lIns="0" tIns="0" rIns="0" bIns="0" rtlCol="0" anchor="ctr"/>
          <a:lstStyle/>
          <a:p>
            <a:pPr algn="ctr" indent="0" marL="0">
              <a:buNone/>
            </a:pPr>
            <a:r>
              <a:rPr lang="en-US" sz="1600" b="1" dirty="0">
                <a:solidFill>
                  <a:schemeClr val="bg1"/>
                </a:solidFill>
              </a:rPr>
              <a:t>2. Detect</a:t>
            </a:r>
            <a:endParaRPr lang="en-US" sz="1600" dirty="0"/>
          </a:p>
        </p:txBody>
      </p:sp>
      <p:sp>
        <p:nvSpPr>
          <p:cNvPr id="9" name="c1"/>
          <p:cNvSpPr/>
          <p:nvPr/>
        </p:nvSpPr>
        <p:spPr>
          <a:xfrm>
            <a:off x="2560320" y="1691640"/>
            <a:ext cx="187452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2670048" y="1755648"/>
            <a:ext cx="1664208" cy="1261872"/>
          </a:xfrm>
          <a:prstGeom prst="rect">
            <a:avLst/>
          </a:prstGeom>
          <a:noFill/>
          <a:ln/>
        </p:spPr>
        <p:txBody>
          <a:bodyPr wrap="square" lIns="0" tIns="0" rIns="0" bIns="0" rtlCol="0" anchor="t"/>
          <a:lstStyle/>
          <a:p>
            <a:pPr indent="0" marL="0">
              <a:buNone/>
            </a:pPr>
            <a:r>
              <a:rPr lang="en-US" sz="1250" dirty="0">
                <a:solidFill>
                  <a:schemeClr val="tx1"/>
                </a:solidFill>
              </a:rPr>
              <a:t>While sending, devices monitor the network. A signal that doesn’t match what they sent means a collision</a:t>
            </a:r>
            <a:endParaRPr lang="en-US" sz="1250" dirty="0"/>
          </a:p>
        </p:txBody>
      </p:sp>
      <p:sp>
        <p:nvSpPr>
          <p:cNvPr id="11" name="Shape 9"/>
          <p:cNvSpPr/>
          <p:nvPr/>
        </p:nvSpPr>
        <p:spPr>
          <a:xfrm>
            <a:off x="4663440" y="1097280"/>
            <a:ext cx="1874520" cy="502920"/>
          </a:xfrm>
          <a:prstGeom prst="roundRect">
            <a:avLst>
              <a:gd name="adj" fmla="val 14545"/>
            </a:avLst>
          </a:prstGeom>
          <a:solidFill>
            <a:schemeClr val="accent2"/>
          </a:solidFill>
          <a:ln w="12700">
            <a:solidFill>
              <a:schemeClr val="accent2"/>
            </a:solidFill>
            <a:prstDash val="solid"/>
          </a:ln>
        </p:spPr>
      </p:sp>
      <p:sp>
        <p:nvSpPr>
          <p:cNvPr id="12" name="Text 10"/>
          <p:cNvSpPr txBox="1"/>
          <p:nvPr/>
        </p:nvSpPr>
        <p:spPr>
          <a:xfrm>
            <a:off x="4663440" y="1097280"/>
            <a:ext cx="1874520" cy="502920"/>
          </a:xfrm>
          <a:prstGeom prst="rect">
            <a:avLst/>
          </a:prstGeom>
          <a:noFill/>
          <a:ln/>
        </p:spPr>
        <p:txBody>
          <a:bodyPr wrap="square" lIns="0" tIns="0" rIns="0" bIns="0" rtlCol="0" anchor="ctr"/>
          <a:lstStyle/>
          <a:p>
            <a:pPr algn="ctr" indent="0" marL="0">
              <a:buNone/>
            </a:pPr>
            <a:r>
              <a:rPr lang="en-US" sz="1600" b="1" dirty="0">
                <a:solidFill>
                  <a:schemeClr val="bg1"/>
                </a:solidFill>
              </a:rPr>
              <a:t>3. Wait</a:t>
            </a:r>
            <a:endParaRPr lang="en-US" sz="1600" dirty="0"/>
          </a:p>
        </p:txBody>
      </p:sp>
      <p:sp>
        <p:nvSpPr>
          <p:cNvPr id="13" name="c2"/>
          <p:cNvSpPr/>
          <p:nvPr/>
        </p:nvSpPr>
        <p:spPr>
          <a:xfrm>
            <a:off x="4663440" y="1691640"/>
            <a:ext cx="187452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4773168" y="1755648"/>
            <a:ext cx="1664208" cy="1261872"/>
          </a:xfrm>
          <a:prstGeom prst="rect">
            <a:avLst/>
          </a:prstGeom>
          <a:noFill/>
          <a:ln/>
        </p:spPr>
        <p:txBody>
          <a:bodyPr wrap="square" lIns="0" tIns="0" rIns="0" bIns="0" rtlCol="0" anchor="t"/>
          <a:lstStyle/>
          <a:p>
            <a:pPr indent="0" marL="0">
              <a:buNone/>
            </a:pPr>
            <a:r>
              <a:rPr lang="en-US" sz="1250" dirty="0">
                <a:solidFill>
                  <a:schemeClr val="tx1"/>
                </a:solidFill>
              </a:rPr>
              <a:t>Each device waits a short, random amount of time</a:t>
            </a:r>
            <a:endParaRPr lang="en-US" sz="1250" dirty="0"/>
          </a:p>
        </p:txBody>
      </p:sp>
      <p:sp>
        <p:nvSpPr>
          <p:cNvPr id="15" name="Shape 13"/>
          <p:cNvSpPr/>
          <p:nvPr/>
        </p:nvSpPr>
        <p:spPr>
          <a:xfrm>
            <a:off x="6766560" y="1097280"/>
            <a:ext cx="1874520" cy="502920"/>
          </a:xfrm>
          <a:prstGeom prst="roundRect">
            <a:avLst>
              <a:gd name="adj" fmla="val 14545"/>
            </a:avLst>
          </a:prstGeom>
          <a:solidFill>
            <a:schemeClr val="accent1"/>
          </a:solidFill>
          <a:ln w="12700">
            <a:solidFill>
              <a:schemeClr val="accent1"/>
            </a:solidFill>
            <a:prstDash val="solid"/>
          </a:ln>
        </p:spPr>
      </p:sp>
      <p:sp>
        <p:nvSpPr>
          <p:cNvPr id="16" name="Text 14"/>
          <p:cNvSpPr txBox="1"/>
          <p:nvPr/>
        </p:nvSpPr>
        <p:spPr>
          <a:xfrm>
            <a:off x="6766560" y="1097280"/>
            <a:ext cx="1874520" cy="502920"/>
          </a:xfrm>
          <a:prstGeom prst="rect">
            <a:avLst/>
          </a:prstGeom>
          <a:noFill/>
          <a:ln/>
        </p:spPr>
        <p:txBody>
          <a:bodyPr wrap="square" lIns="0" tIns="0" rIns="0" bIns="0" rtlCol="0" anchor="ctr"/>
          <a:lstStyle/>
          <a:p>
            <a:pPr algn="ctr" indent="0" marL="0">
              <a:buNone/>
            </a:pPr>
            <a:r>
              <a:rPr lang="en-US" sz="1600" b="1" dirty="0">
                <a:solidFill>
                  <a:schemeClr val="bg1"/>
                </a:solidFill>
              </a:rPr>
              <a:t>4. Resend</a:t>
            </a:r>
            <a:endParaRPr lang="en-US" sz="1600" dirty="0"/>
          </a:p>
        </p:txBody>
      </p:sp>
      <p:sp>
        <p:nvSpPr>
          <p:cNvPr id="17" name="c3"/>
          <p:cNvSpPr/>
          <p:nvPr/>
        </p:nvSpPr>
        <p:spPr>
          <a:xfrm>
            <a:off x="6766560" y="1691640"/>
            <a:ext cx="187452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8" name="Text 16"/>
          <p:cNvSpPr txBox="1"/>
          <p:nvPr/>
        </p:nvSpPr>
        <p:spPr>
          <a:xfrm>
            <a:off x="6876288" y="1755648"/>
            <a:ext cx="1664208" cy="1261872"/>
          </a:xfrm>
          <a:prstGeom prst="rect">
            <a:avLst/>
          </a:prstGeom>
          <a:noFill/>
          <a:ln/>
        </p:spPr>
        <p:txBody>
          <a:bodyPr wrap="square" lIns="0" tIns="0" rIns="0" bIns="0" rtlCol="0" anchor="t"/>
          <a:lstStyle/>
          <a:p>
            <a:pPr indent="0" marL="0">
              <a:buNone/>
            </a:pPr>
            <a:r>
              <a:rPr lang="en-US" sz="1250" dirty="0">
                <a:solidFill>
                  <a:schemeClr val="tx1"/>
                </a:solidFill>
              </a:rPr>
              <a:t>The device listens again, then sends again</a:t>
            </a:r>
            <a:endParaRPr lang="en-US" sz="1250" dirty="0"/>
          </a:p>
        </p:txBody>
      </p:sp>
      <p:sp>
        <p:nvSpPr>
          <p:cNvPr id="19" name="why"/>
          <p:cNvSpPr/>
          <p:nvPr/>
        </p:nvSpPr>
        <p:spPr>
          <a:xfrm>
            <a:off x="457200" y="3291840"/>
            <a:ext cx="5120640" cy="1325880"/>
          </a:xfrm>
          <a:prstGeom prst="roundRect">
            <a:avLst>
              <a:gd name="adj" fmla="val 5517"/>
            </a:avLst>
          </a:prstGeom>
          <a:solidFill>
            <a:schemeClr val="tx1"/>
          </a:solidFill>
          <a:ln w="12700">
            <a:solidFill>
              <a:schemeClr val="tx1"/>
            </a:solidFill>
            <a:prstDash val="solid"/>
          </a:ln>
          <a:effectLst>
            <a:outerShdw sx="100000" sy="100000" kx="0" ky="0" algn="bl" rotWithShape="0" blurRad="76200" dist="25400" dir="5400000">
              <a:srgbClr val="000000">
                <a:alpha val="12000"/>
              </a:srgbClr>
            </a:outerShdw>
          </a:effectLst>
        </p:spPr>
      </p:sp>
      <p:sp>
        <p:nvSpPr>
          <p:cNvPr id="20" name="Text 18"/>
          <p:cNvSpPr txBox="1"/>
          <p:nvPr/>
        </p:nvSpPr>
        <p:spPr>
          <a:xfrm>
            <a:off x="640080" y="3291840"/>
            <a:ext cx="4800600" cy="1325880"/>
          </a:xfrm>
          <a:prstGeom prst="rect">
            <a:avLst/>
          </a:prstGeom>
          <a:noFill/>
          <a:ln/>
        </p:spPr>
        <p:txBody>
          <a:bodyPr wrap="square" lIns="0" tIns="0" rIns="0" bIns="0" rtlCol="0" anchor="ctr"/>
          <a:lstStyle/>
          <a:p>
            <a:pPr indent="0" marL="0">
              <a:buNone/>
            </a:pPr>
            <a:r>
              <a:rPr lang="en-US" sz="1400" b="1" dirty="0">
                <a:solidFill>
                  <a:schemeClr val="accent2"/>
                </a:solidFill>
              </a:rPr>
              <a:t>Why random?  </a:t>
            </a:r>
            <a:pPr indent="0" marL="0">
              <a:buNone/>
            </a:pPr>
            <a:r>
              <a:rPr lang="en-US" sz="1400" dirty="0">
                <a:solidFill>
                  <a:schemeClr val="bg1"/>
                </a:solidFill>
              </a:rPr>
              <a:t>If both devices waited the same fixed time, they would resend at the same moment and collide again. A random wait means one almost always goes first.</a:t>
            </a:r>
            <a:endParaRPr lang="en-US" sz="1400" dirty="0"/>
          </a:p>
        </p:txBody>
      </p:sp>
      <p:sp>
        <p:nvSpPr>
          <p:cNvPr id="21" name="csma"/>
          <p:cNvSpPr/>
          <p:nvPr/>
        </p:nvSpPr>
        <p:spPr>
          <a:xfrm>
            <a:off x="5852160" y="3291840"/>
            <a:ext cx="2834640" cy="1325880"/>
          </a:xfrm>
          <a:prstGeom prst="roundRect">
            <a:avLst>
              <a:gd name="adj" fmla="val 55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2" name="Text 20"/>
          <p:cNvSpPr txBox="1"/>
          <p:nvPr/>
        </p:nvSpPr>
        <p:spPr>
          <a:xfrm>
            <a:off x="5989320" y="3337560"/>
            <a:ext cx="2606040" cy="1234440"/>
          </a:xfrm>
          <a:prstGeom prst="rect">
            <a:avLst/>
          </a:prstGeom>
          <a:noFill/>
          <a:ln/>
        </p:spPr>
        <p:txBody>
          <a:bodyPr wrap="square" lIns="0" tIns="0" rIns="0" bIns="0" rtlCol="0" anchor="ctr"/>
          <a:lstStyle/>
          <a:p>
            <a:pPr indent="0" marL="0">
              <a:buNone/>
            </a:pPr>
            <a:r>
              <a:rPr lang="en-US" sz="1250" b="1" dirty="0">
                <a:solidFill>
                  <a:schemeClr val="accent1"/>
                </a:solidFill>
              </a:rPr>
              <a:t>CSMA/CD</a:t>
            </a:r>
            <a:endParaRPr lang="en-US" sz="1250" dirty="0"/>
          </a:p>
          <a:p>
            <a:pPr indent="0" marL="0">
              <a:buNone/>
            </a:pPr>
            <a:r>
              <a:rPr lang="en-US" sz="1250" dirty="0">
                <a:solidFill>
                  <a:schemeClr val="tx1"/>
                </a:solidFill>
              </a:rPr>
              <a:t>Carrier Sense Multiple Access with Collision Detection: the name for this whole process.</a:t>
            </a:r>
            <a:endParaRPr lang="en-US" sz="12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03504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Demo: fixed wait vs random wait</a:t>
            </a:r>
            <a:endParaRPr lang="en-US" sz="3000" dirty="0"/>
          </a:p>
        </p:txBody>
      </p:sp>
      <p:sp>
        <p:nvSpPr>
          <p:cNvPr id="3" name="Shape 1"/>
          <p:cNvSpPr/>
          <p:nvPr/>
        </p:nvSpPr>
        <p:spPr>
          <a:xfrm>
            <a:off x="6400800" y="347472"/>
            <a:ext cx="2286000" cy="502920"/>
          </a:xfrm>
          <a:prstGeom prst="roundRect">
            <a:avLst>
              <a:gd name="adj" fmla="val 49091"/>
            </a:avLst>
          </a:prstGeom>
          <a:solidFill>
            <a:schemeClr val="accent2"/>
          </a:solidFill>
          <a:ln w="12700">
            <a:solidFill>
              <a:schemeClr val="accent2"/>
            </a:solidFill>
            <a:prstDash val="solid"/>
          </a:ln>
        </p:spPr>
      </p:sp>
      <p:pic>
        <p:nvPicPr>
          <p:cNvPr id="4" name="Image 0" descr="preencoded.png">    </p:cNvPr>
          <p:cNvPicPr>
            <a:picLocks noChangeAspect="1"/>
          </p:cNvPicPr>
          <p:nvPr/>
        </p:nvPicPr>
        <p:blipFill>
          <a:blip r:embed="rId1"/>
          <a:stretch>
            <a:fillRect/>
          </a:stretch>
        </p:blipFill>
        <p:spPr>
          <a:xfrm>
            <a:off x="6537960" y="448056"/>
            <a:ext cx="301752" cy="301752"/>
          </a:xfrm>
          <a:prstGeom prst="rect">
            <a:avLst/>
          </a:prstGeom>
        </p:spPr>
      </p:pic>
      <p:sp>
        <p:nvSpPr>
          <p:cNvPr id="5" name="Text 2"/>
          <p:cNvSpPr txBox="1"/>
          <p:nvPr/>
        </p:nvSpPr>
        <p:spPr>
          <a:xfrm>
            <a:off x="6903720" y="347472"/>
            <a:ext cx="1737360" cy="502920"/>
          </a:xfrm>
          <a:prstGeom prst="rect">
            <a:avLst/>
          </a:prstGeom>
          <a:noFill/>
          <a:ln/>
        </p:spPr>
        <p:txBody>
          <a:bodyPr wrap="square" lIns="0" tIns="0" rIns="0" bIns="0" rtlCol="0" anchor="ctr"/>
          <a:lstStyle/>
          <a:p>
            <a:pPr indent="0" marL="0">
              <a:buNone/>
            </a:pPr>
            <a:r>
              <a:rPr lang="en-US" sz="1400" b="1" dirty="0">
                <a:solidFill>
                  <a:schemeClr val="bg1"/>
                </a:solidFill>
              </a:rPr>
              <a:t>4 min  whole class</a:t>
            </a:r>
            <a:endParaRPr lang="en-US" sz="1400" dirty="0"/>
          </a:p>
        </p:txBody>
      </p:sp>
      <p:sp>
        <p:nvSpPr>
          <p:cNvPr id="6" name="d1"/>
          <p:cNvSpPr/>
          <p:nvPr/>
        </p:nvSpPr>
        <p:spPr>
          <a:xfrm>
            <a:off x="457200" y="1097280"/>
            <a:ext cx="8229600" cy="914400"/>
          </a:xfrm>
          <a:prstGeom prst="roundRect">
            <a:avLst>
              <a:gd name="adj" fmla="val 80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685800" y="1097280"/>
            <a:ext cx="7772400" cy="914400"/>
          </a:xfrm>
          <a:prstGeom prst="rect">
            <a:avLst/>
          </a:prstGeom>
          <a:noFill/>
          <a:ln/>
        </p:spPr>
        <p:txBody>
          <a:bodyPr wrap="square" lIns="0" tIns="0" rIns="0" bIns="0" rtlCol="0" anchor="ctr"/>
          <a:lstStyle/>
          <a:p>
            <a:pPr indent="0" marL="0">
              <a:buNone/>
            </a:pPr>
            <a:r>
              <a:rPr lang="en-US" sz="1700" b="1" dirty="0">
                <a:solidFill>
                  <a:schemeClr val="tx1"/>
                </a:solidFill>
              </a:rPr>
              <a:t>Predict before each run: how many attempts will it take for both messages to get through?</a:t>
            </a:r>
            <a:endParaRPr lang="en-US" sz="1700" dirty="0"/>
          </a:p>
        </p:txBody>
      </p:sp>
      <p:sp>
        <p:nvSpPr>
          <p:cNvPr id="8" name="run0"/>
          <p:cNvSpPr/>
          <p:nvPr/>
        </p:nvSpPr>
        <p:spPr>
          <a:xfrm>
            <a:off x="457200" y="2240280"/>
            <a:ext cx="3977640" cy="1417320"/>
          </a:xfrm>
          <a:prstGeom prst="roundRect">
            <a:avLst>
              <a:gd name="adj" fmla="val 516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640080" y="2331720"/>
            <a:ext cx="3657600" cy="365760"/>
          </a:xfrm>
          <a:prstGeom prst="rect">
            <a:avLst/>
          </a:prstGeom>
          <a:noFill/>
          <a:ln/>
        </p:spPr>
        <p:txBody>
          <a:bodyPr wrap="square" lIns="0" tIns="0" rIns="0" bIns="0" rtlCol="0" anchor="t"/>
          <a:lstStyle/>
          <a:p>
            <a:pPr indent="0" marL="0">
              <a:buNone/>
            </a:pPr>
            <a:r>
              <a:rPr lang="en-US" sz="1700" b="1" dirty="0">
                <a:solidFill>
                  <a:schemeClr val="accent4"/>
                </a:solidFill>
              </a:rPr>
              <a:t>Run 1</a:t>
            </a:r>
            <a:endParaRPr lang="en-US" sz="1700" dirty="0"/>
          </a:p>
        </p:txBody>
      </p:sp>
      <p:sp>
        <p:nvSpPr>
          <p:cNvPr id="10" name="Text 7"/>
          <p:cNvSpPr txBox="1"/>
          <p:nvPr/>
        </p:nvSpPr>
        <p:spPr>
          <a:xfrm>
            <a:off x="640080" y="2743200"/>
            <a:ext cx="3611880" cy="822960"/>
          </a:xfrm>
          <a:prstGeom prst="rect">
            <a:avLst/>
          </a:prstGeom>
          <a:noFill/>
          <a:ln/>
        </p:spPr>
        <p:txBody>
          <a:bodyPr wrap="square" lIns="0" tIns="0" rIns="0" bIns="0" rtlCol="0" anchor="t"/>
          <a:lstStyle/>
          <a:p>
            <a:pPr indent="0" marL="0">
              <a:buNone/>
            </a:pPr>
            <a:r>
              <a:rPr lang="en-US" sz="1400" dirty="0">
                <a:solidFill>
                  <a:schemeClr val="tx1"/>
                </a:solidFill>
              </a:rPr>
              <a:t>Both devices wait a fixed 2 time units after a collision</a:t>
            </a:r>
            <a:endParaRPr lang="en-US" sz="1400" dirty="0"/>
          </a:p>
        </p:txBody>
      </p:sp>
      <p:sp>
        <p:nvSpPr>
          <p:cNvPr id="11" name="run1"/>
          <p:cNvSpPr/>
          <p:nvPr/>
        </p:nvSpPr>
        <p:spPr>
          <a:xfrm>
            <a:off x="4709160" y="2240280"/>
            <a:ext cx="3977640" cy="1417320"/>
          </a:xfrm>
          <a:prstGeom prst="roundRect">
            <a:avLst>
              <a:gd name="adj" fmla="val 516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4892040" y="2331720"/>
            <a:ext cx="3657600" cy="365760"/>
          </a:xfrm>
          <a:prstGeom prst="rect">
            <a:avLst/>
          </a:prstGeom>
          <a:noFill/>
          <a:ln/>
        </p:spPr>
        <p:txBody>
          <a:bodyPr wrap="square" lIns="0" tIns="0" rIns="0" bIns="0" rtlCol="0" anchor="t"/>
          <a:lstStyle/>
          <a:p>
            <a:pPr indent="0" marL="0">
              <a:buNone/>
            </a:pPr>
            <a:r>
              <a:rPr lang="en-US" sz="1700" b="1" dirty="0">
                <a:solidFill>
                  <a:schemeClr val="accent1"/>
                </a:solidFill>
              </a:rPr>
              <a:t>Run 2</a:t>
            </a:r>
            <a:endParaRPr lang="en-US" sz="1700" dirty="0"/>
          </a:p>
        </p:txBody>
      </p:sp>
      <p:sp>
        <p:nvSpPr>
          <p:cNvPr id="13" name="Text 10"/>
          <p:cNvSpPr txBox="1"/>
          <p:nvPr/>
        </p:nvSpPr>
        <p:spPr>
          <a:xfrm>
            <a:off x="4892040" y="2743200"/>
            <a:ext cx="3611880" cy="822960"/>
          </a:xfrm>
          <a:prstGeom prst="rect">
            <a:avLst/>
          </a:prstGeom>
          <a:noFill/>
          <a:ln/>
        </p:spPr>
        <p:txBody>
          <a:bodyPr wrap="square" lIns="0" tIns="0" rIns="0" bIns="0" rtlCol="0" anchor="t"/>
          <a:lstStyle/>
          <a:p>
            <a:pPr indent="0" marL="0">
              <a:buNone/>
            </a:pPr>
            <a:r>
              <a:rPr lang="en-US" sz="1400" dirty="0">
                <a:solidFill>
                  <a:schemeClr val="tx1"/>
                </a:solidFill>
              </a:rPr>
              <a:t>Each device waits a random time after a collision</a:t>
            </a:r>
            <a:endParaRPr lang="en-US" sz="1400" dirty="0"/>
          </a:p>
        </p:txBody>
      </p:sp>
      <p:sp>
        <p:nvSpPr>
          <p:cNvPr id="14" name="Text 11"/>
          <p:cNvSpPr txBox="1"/>
          <p:nvPr/>
        </p:nvSpPr>
        <p:spPr>
          <a:xfrm>
            <a:off x="457200" y="3931920"/>
            <a:ext cx="8229600" cy="365760"/>
          </a:xfrm>
          <a:prstGeom prst="rect">
            <a:avLst/>
          </a:prstGeom>
          <a:noFill/>
          <a:ln/>
        </p:spPr>
        <p:txBody>
          <a:bodyPr wrap="square" lIns="0" tIns="0" rIns="0" bIns="0" rtlCol="0" anchor="t"/>
          <a:lstStyle/>
          <a:p>
            <a:pPr indent="0" marL="0">
              <a:buNone/>
            </a:pPr>
            <a:r>
              <a:rPr lang="en-US" sz="1500" b="1" dirty="0">
                <a:solidFill>
                  <a:schemeClr val="accent1"/>
                </a:solidFill>
              </a:rPr>
              <a:t>Open the collision demo.</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03504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Exam question: Summer 2024</a:t>
            </a:r>
            <a:endParaRPr lang="en-US" sz="3000" dirty="0"/>
          </a:p>
        </p:txBody>
      </p:sp>
      <p:sp>
        <p:nvSpPr>
          <p:cNvPr id="3" name="Shape 1"/>
          <p:cNvSpPr/>
          <p:nvPr/>
        </p:nvSpPr>
        <p:spPr>
          <a:xfrm>
            <a:off x="6400800" y="347472"/>
            <a:ext cx="2286000" cy="502920"/>
          </a:xfrm>
          <a:prstGeom prst="roundRect">
            <a:avLst>
              <a:gd name="adj" fmla="val 49091"/>
            </a:avLst>
          </a:prstGeom>
          <a:solidFill>
            <a:schemeClr val="accent2"/>
          </a:solidFill>
          <a:ln w="12700">
            <a:solidFill>
              <a:schemeClr val="accent2"/>
            </a:solidFill>
            <a:prstDash val="solid"/>
          </a:ln>
        </p:spPr>
      </p:sp>
      <p:pic>
        <p:nvPicPr>
          <p:cNvPr id="4" name="Image 0" descr="preencoded.png">    </p:cNvPr>
          <p:cNvPicPr>
            <a:picLocks noChangeAspect="1"/>
          </p:cNvPicPr>
          <p:nvPr/>
        </p:nvPicPr>
        <p:blipFill>
          <a:blip r:embed="rId1"/>
          <a:stretch>
            <a:fillRect/>
          </a:stretch>
        </p:blipFill>
        <p:spPr>
          <a:xfrm>
            <a:off x="6537960" y="448056"/>
            <a:ext cx="301752" cy="301752"/>
          </a:xfrm>
          <a:prstGeom prst="rect">
            <a:avLst/>
          </a:prstGeom>
        </p:spPr>
      </p:pic>
      <p:sp>
        <p:nvSpPr>
          <p:cNvPr id="5" name="Text 2"/>
          <p:cNvSpPr txBox="1"/>
          <p:nvPr/>
        </p:nvSpPr>
        <p:spPr>
          <a:xfrm>
            <a:off x="6903720" y="347472"/>
            <a:ext cx="1737360" cy="502920"/>
          </a:xfrm>
          <a:prstGeom prst="rect">
            <a:avLst/>
          </a:prstGeom>
          <a:noFill/>
          <a:ln/>
        </p:spPr>
        <p:txBody>
          <a:bodyPr wrap="square" lIns="0" tIns="0" rIns="0" bIns="0" rtlCol="0" anchor="ctr"/>
          <a:lstStyle/>
          <a:p>
            <a:pPr indent="0" marL="0">
              <a:buNone/>
            </a:pPr>
            <a:r>
              <a:rPr lang="en-US" sz="1400" b="1" dirty="0">
                <a:solidFill>
                  <a:schemeClr val="bg1"/>
                </a:solidFill>
              </a:rPr>
              <a:t>3 min  on your own</a:t>
            </a:r>
            <a:endParaRPr lang="en-US" sz="1400" dirty="0"/>
          </a:p>
        </p:txBody>
      </p:sp>
      <p:sp>
        <p:nvSpPr>
          <p:cNvPr id="6" name="q"/>
          <p:cNvSpPr/>
          <p:nvPr/>
        </p:nvSpPr>
        <p:spPr>
          <a:xfrm>
            <a:off x="457200" y="1097280"/>
            <a:ext cx="8229600" cy="1280160"/>
          </a:xfrm>
          <a:prstGeom prst="roundRect">
            <a:avLst>
              <a:gd name="adj" fmla="val 5714"/>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685800" y="1188720"/>
            <a:ext cx="7772400" cy="1097280"/>
          </a:xfrm>
          <a:prstGeom prst="rect">
            <a:avLst/>
          </a:prstGeom>
          <a:noFill/>
          <a:ln/>
        </p:spPr>
        <p:txBody>
          <a:bodyPr wrap="square" lIns="0" tIns="0" rIns="0" bIns="0" rtlCol="0" anchor="ctr"/>
          <a:lstStyle/>
          <a:p>
            <a:pPr indent="0" marL="0">
              <a:buNone/>
            </a:pPr>
            <a:r>
              <a:rPr lang="en-US" sz="2000" b="1" dirty="0">
                <a:solidFill>
                  <a:schemeClr val="accent1"/>
                </a:solidFill>
              </a:rPr>
              <a:t>Q2(b)  </a:t>
            </a:r>
            <a:pPr indent="0" marL="0">
              <a:buNone/>
            </a:pPr>
            <a:r>
              <a:rPr lang="en-US" sz="2000" dirty="0">
                <a:solidFill>
                  <a:schemeClr val="tx1"/>
                </a:solidFill>
              </a:rPr>
              <a:t>Explain network collisions, how they are detected, and dealt with.</a:t>
            </a:r>
            <a:pPr indent="0" marL="0">
              <a:buNone/>
            </a:pPr>
            <a:r>
              <a:rPr lang="en-US" sz="2000" b="1" dirty="0">
                <a:solidFill>
                  <a:schemeClr val="tx1"/>
                </a:solidFill>
              </a:rPr>
              <a:t>  [3]</a:t>
            </a:r>
            <a:endParaRPr lang="en-US" sz="2000" dirty="0"/>
          </a:p>
        </p:txBody>
      </p:sp>
      <p:sp>
        <p:nvSpPr>
          <p:cNvPr id="8" name="Shape 5"/>
          <p:cNvSpPr/>
          <p:nvPr/>
        </p:nvSpPr>
        <p:spPr>
          <a:xfrm>
            <a:off x="457200" y="2743200"/>
            <a:ext cx="548640" cy="548640"/>
          </a:xfrm>
          <a:prstGeom prst="ellipse">
            <a:avLst/>
          </a:prstGeom>
          <a:solidFill>
            <a:schemeClr val="accent2"/>
          </a:solidFill>
          <a:ln w="12700">
            <a:solidFill>
              <a:schemeClr val="accent2"/>
            </a:solidFill>
            <a:prstDash val="solid"/>
          </a:ln>
        </p:spPr>
      </p:sp>
      <p:pic>
        <p:nvPicPr>
          <p:cNvPr id="9" name="Image 1" descr="preencoded.png">    </p:cNvPr>
          <p:cNvPicPr>
            <a:picLocks noChangeAspect="1"/>
          </p:cNvPicPr>
          <p:nvPr/>
        </p:nvPicPr>
        <p:blipFill>
          <a:blip r:embed="rId2"/>
          <a:stretch>
            <a:fillRect/>
          </a:stretch>
        </p:blipFill>
        <p:spPr>
          <a:xfrm>
            <a:off x="577901" y="2863901"/>
            <a:ext cx="307238" cy="307238"/>
          </a:xfrm>
          <a:prstGeom prst="rect">
            <a:avLst/>
          </a:prstGeom>
        </p:spPr>
      </p:pic>
      <p:sp>
        <p:nvSpPr>
          <p:cNvPr id="10" name="Text 6"/>
          <p:cNvSpPr txBox="1"/>
          <p:nvPr/>
        </p:nvSpPr>
        <p:spPr>
          <a:xfrm>
            <a:off x="1188720" y="2697480"/>
            <a:ext cx="7498080" cy="1188720"/>
          </a:xfrm>
          <a:prstGeom prst="rect">
            <a:avLst/>
          </a:prstGeom>
          <a:noFill/>
          <a:ln/>
        </p:spPr>
        <p:txBody>
          <a:bodyPr wrap="square" lIns="0" tIns="0" rIns="0" bIns="0" rtlCol="0" anchor="t"/>
          <a:lstStyle/>
          <a:p>
            <a:pPr indent="0" marL="0">
              <a:buNone/>
            </a:pPr>
            <a:r>
              <a:rPr lang="en-US" sz="1600" dirty="0">
                <a:solidFill>
                  <a:schemeClr val="tx1"/>
                </a:solidFill>
              </a:rPr>
              <a:t>Three marks, three parts of the question: what a collision is, how it is detected, and what happens next.</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Mark scheme: 2024 Q2(b)</a:t>
            </a:r>
            <a:endParaRPr lang="en-US" sz="3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7406640"/>
                <a:gridCol w="822960"/>
              </a:tblGrid>
              <a:tr h="347472">
                <a:tc>
                  <a:txBody>
                    <a:bodyPr/>
                    <a:lstStyle/>
                    <a:p>
                      <a:pPr indent="0" marL="0">
                        <a:buNone/>
                      </a:pPr>
                      <a:r>
                        <a:rPr lang="en-US" sz="1300" b="1" dirty="0">
                          <a:solidFill>
                            <a:schemeClr val="bg1"/>
                          </a:solidFill>
                        </a:rPr>
                        <a:t>Award one mark for each</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Mark</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tx1"/>
                    </a:solidFill>
                  </a:tcPr>
                </a:tc>
              </a:tr>
              <a:tr h="347472">
                <a:tc>
                  <a:txBody>
                    <a:bodyPr/>
                    <a:lstStyle/>
                    <a:p>
                      <a:pPr indent="0" marL="0">
                        <a:buNone/>
                      </a:pPr>
                      <a:r>
                        <a:rPr lang="en-US" sz="1300" dirty="0">
                          <a:solidFill>
                            <a:schemeClr val="tx1"/>
                          </a:solidFill>
                        </a:rPr>
                        <a:t>Network collisions occur when two sets of data are detected on the network simultaneously</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1</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r>
              <a:tr h="347472">
                <a:tc>
                  <a:txBody>
                    <a:bodyPr/>
                    <a:lstStyle/>
                    <a:p>
                      <a:pPr indent="0" marL="0">
                        <a:buNone/>
                      </a:pPr>
                      <a:r>
                        <a:rPr lang="en-US" sz="1300" dirty="0">
                          <a:solidFill>
                            <a:schemeClr val="tx1"/>
                          </a:solidFill>
                        </a:rPr>
                        <a:t>The collision detection process involves monitoring the network to identify when a collision occurs</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r>
              <a:tr h="347472">
                <a:tc>
                  <a:txBody>
                    <a:bodyPr/>
                    <a:lstStyle/>
                    <a:p>
                      <a:pPr indent="0" marL="0">
                        <a:buNone/>
                      </a:pPr>
                      <a:r>
                        <a:rPr lang="en-US" sz="1300" dirty="0">
                          <a:solidFill>
                            <a:schemeClr val="tx1"/>
                          </a:solidFill>
                        </a:rPr>
                        <a:t>Once detected, a computer waits for a short (random) time, then sends again</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1</a:t>
                      </a:r>
                      <a:endParaRPr lang="en-US" sz="13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457200" y="2624328"/>
            <a:ext cx="8229600" cy="365760"/>
          </a:xfrm>
          <a:prstGeom prst="rect">
            <a:avLst/>
          </a:prstGeom>
          <a:noFill/>
          <a:ln/>
        </p:spPr>
        <p:txBody>
          <a:bodyPr wrap="square" lIns="0" tIns="0" rIns="0" bIns="0" rtlCol="0" anchor="t"/>
          <a:lstStyle/>
          <a:p>
            <a:pPr indent="0" marL="0">
              <a:buNone/>
            </a:pPr>
            <a:r>
              <a:rPr lang="en-US" sz="1300" b="1" dirty="0">
                <a:solidFill>
                  <a:schemeClr val="accent2"/>
                </a:solidFill>
              </a:rPr>
              <a:t>This answer has appeared in 2016, 2017, 2024 and 2025. Learn it.</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035040" cy="640080"/>
          </a:xfrm>
          <a:prstGeom prst="rect">
            <a:avLst/>
          </a:prstGeom>
          <a:noFill/>
          <a:ln/>
        </p:spPr>
        <p:txBody>
          <a:bodyPr wrap="square" lIns="0" tIns="0" rIns="0" bIns="0" rtlCol="0" anchor="ctr">
            <a:normAutofit/>
          </a:bodyPr>
          <a:lstStyle/>
          <a:p>
            <a:pPr algn="l" indent="0" marL="0">
              <a:buNone/>
            </a:pPr>
            <a:r>
              <a:rPr lang="en-US" sz="3000" b="1" dirty="0">
                <a:solidFill>
                  <a:schemeClr val="tx1"/>
                </a:solidFill>
              </a:rPr>
              <a:t>Check: packet contents quiz</a:t>
            </a:r>
            <a:endParaRPr lang="en-US" sz="3000" dirty="0"/>
          </a:p>
        </p:txBody>
      </p:sp>
      <p:sp>
        <p:nvSpPr>
          <p:cNvPr id="3" name="Shape 1"/>
          <p:cNvSpPr/>
          <p:nvPr/>
        </p:nvSpPr>
        <p:spPr>
          <a:xfrm>
            <a:off x="6400800" y="347472"/>
            <a:ext cx="2286000" cy="502920"/>
          </a:xfrm>
          <a:prstGeom prst="roundRect">
            <a:avLst>
              <a:gd name="adj" fmla="val 49091"/>
            </a:avLst>
          </a:prstGeom>
          <a:solidFill>
            <a:schemeClr val="accent2"/>
          </a:solidFill>
          <a:ln w="12700">
            <a:solidFill>
              <a:schemeClr val="accent2"/>
            </a:solidFill>
            <a:prstDash val="solid"/>
          </a:ln>
        </p:spPr>
      </p:sp>
      <p:pic>
        <p:nvPicPr>
          <p:cNvPr id="4" name="Image 0" descr="preencoded.png">    </p:cNvPr>
          <p:cNvPicPr>
            <a:picLocks noChangeAspect="1"/>
          </p:cNvPicPr>
          <p:nvPr/>
        </p:nvPicPr>
        <p:blipFill>
          <a:blip r:embed="rId1"/>
          <a:stretch>
            <a:fillRect/>
          </a:stretch>
        </p:blipFill>
        <p:spPr>
          <a:xfrm>
            <a:off x="6537960" y="448056"/>
            <a:ext cx="301752" cy="301752"/>
          </a:xfrm>
          <a:prstGeom prst="rect">
            <a:avLst/>
          </a:prstGeom>
        </p:spPr>
      </p:pic>
      <p:sp>
        <p:nvSpPr>
          <p:cNvPr id="5" name="Text 2"/>
          <p:cNvSpPr txBox="1"/>
          <p:nvPr/>
        </p:nvSpPr>
        <p:spPr>
          <a:xfrm>
            <a:off x="6903720" y="347472"/>
            <a:ext cx="1737360" cy="502920"/>
          </a:xfrm>
          <a:prstGeom prst="rect">
            <a:avLst/>
          </a:prstGeom>
          <a:noFill/>
          <a:ln/>
        </p:spPr>
        <p:txBody>
          <a:bodyPr wrap="square" lIns="0" tIns="0" rIns="0" bIns="0" rtlCol="0" anchor="ctr"/>
          <a:lstStyle/>
          <a:p>
            <a:pPr indent="0" marL="0">
              <a:buNone/>
            </a:pPr>
            <a:r>
              <a:rPr lang="en-US" sz="1400" b="1" dirty="0">
                <a:solidFill>
                  <a:schemeClr val="bg1"/>
                </a:solidFill>
              </a:rPr>
              <a:t>8 min</a:t>
            </a:r>
            <a:endParaRPr lang="en-US" sz="1400" dirty="0"/>
          </a:p>
        </p:txBody>
      </p:sp>
      <p:sp>
        <p:nvSpPr>
          <p:cNvPr id="6" name="Shape 3"/>
          <p:cNvSpPr/>
          <p:nvPr/>
        </p:nvSpPr>
        <p:spPr>
          <a:xfrm>
            <a:off x="3886200" y="1463040"/>
            <a:ext cx="1371600" cy="1371600"/>
          </a:xfrm>
          <a:prstGeom prst="ellipse">
            <a:avLst/>
          </a:prstGeom>
          <a:solidFill>
            <a:schemeClr val="accent1"/>
          </a:solidFill>
          <a:ln w="12700">
            <a:solidFill>
              <a:schemeClr val="accent1"/>
            </a:solidFill>
            <a:prstDash val="solid"/>
          </a:ln>
        </p:spPr>
      </p:sp>
      <p:pic>
        <p:nvPicPr>
          <p:cNvPr id="7" name="Image 1" descr="preencoded.png">    </p:cNvPr>
          <p:cNvPicPr>
            <a:picLocks noChangeAspect="1"/>
          </p:cNvPicPr>
          <p:nvPr/>
        </p:nvPicPr>
        <p:blipFill>
          <a:blip r:embed="rId2"/>
          <a:stretch>
            <a:fillRect/>
          </a:stretch>
        </p:blipFill>
        <p:spPr>
          <a:xfrm>
            <a:off x="4187952" y="1764792"/>
            <a:ext cx="768096" cy="768096"/>
          </a:xfrm>
          <a:prstGeom prst="rect">
            <a:avLst/>
          </a:prstGeom>
        </p:spPr>
      </p:pic>
      <p:sp>
        <p:nvSpPr>
          <p:cNvPr id="8" name="Text 4"/>
          <p:cNvSpPr txBox="1"/>
          <p:nvPr/>
        </p:nvSpPr>
        <p:spPr>
          <a:xfrm>
            <a:off x="457200" y="3108960"/>
            <a:ext cx="8229600" cy="457200"/>
          </a:xfrm>
          <a:prstGeom prst="rect">
            <a:avLst/>
          </a:prstGeom>
          <a:noFill/>
          <a:ln/>
        </p:spPr>
        <p:txBody>
          <a:bodyPr wrap="square" lIns="0" tIns="0" rIns="0" bIns="0" rtlCol="0" anchor="t"/>
          <a:lstStyle/>
          <a:p>
            <a:pPr algn="ctr" indent="0" marL="0">
              <a:buNone/>
            </a:pPr>
            <a:r>
              <a:rPr lang="en-US" sz="1800" dirty="0">
                <a:solidFill>
                  <a:schemeClr val="accent6"/>
                </a:solidFill>
              </a:rPr>
              <a:t>Insert link to the 3.2.1 Packet contents quiz</a:t>
            </a:r>
            <a:endParaRPr lang="en-US" sz="1800" dirty="0"/>
          </a:p>
        </p:txBody>
      </p:sp>
      <p:sp>
        <p:nvSpPr>
          <p:cNvPr id="9" name="Text 5"/>
          <p:cNvSpPr txBox="1"/>
          <p:nvPr/>
        </p:nvSpPr>
        <p:spPr>
          <a:xfrm>
            <a:off x="457200" y="3657600"/>
            <a:ext cx="8229600" cy="457200"/>
          </a:xfrm>
          <a:prstGeom prst="rect">
            <a:avLst/>
          </a:prstGeom>
          <a:noFill/>
          <a:ln/>
        </p:spPr>
        <p:txBody>
          <a:bodyPr wrap="square" lIns="0" tIns="0" rIns="0" bIns="0" rtlCol="0" anchor="t"/>
          <a:lstStyle/>
          <a:p>
            <a:pPr algn="ctr" indent="0" marL="0">
              <a:buNone/>
            </a:pPr>
            <a:r>
              <a:rPr lang="en-US" sz="1500" b="1" dirty="0">
                <a:solidFill>
                  <a:schemeClr val="accent2"/>
                </a:solidFill>
              </a:rPr>
              <a:t>Homework: the 3.1.3, 3.2.2 and 3.2.3 quizzes (links on Teams)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lIns="0" tIns="0" rIns="0" bIns="0" rtlCol="0" anchor="b"/>
          <a:lstStyle/>
          <a:p>
            <a:pPr algn="l" indent="0" marL="0">
              <a:buNone/>
            </a:pPr>
            <a:r>
              <a:rPr lang="en-US" sz="4000" b="1" dirty="0">
                <a:solidFill>
                  <a:schemeClr val="bg1"/>
                </a:solidFill>
              </a:rPr>
              <a:t>Describe a packet's journey</a:t>
            </a:r>
            <a:endParaRPr lang="en-US" sz="4000" dirty="0"/>
          </a:p>
        </p:txBody>
      </p:sp>
      <p:sp>
        <p:nvSpPr>
          <p:cNvPr id="3" name="Text 0"/>
          <p:cNvSpPr/>
          <p:nvPr>
            <p:ph idx="101" type="body" hasCustomPrompt="1"/>
          </p:nvPr>
        </p:nvSpPr>
        <p:spPr>
          <a:xfrm>
            <a:off x="548640" y="2788920"/>
            <a:ext cx="8046720" cy="914400"/>
          </a:xfrm>
          <a:prstGeom prst="rect">
            <a:avLst/>
          </a:prstGeom>
          <a:noFill/>
          <a:ln/>
        </p:spPr>
        <p:txBody>
          <a:bodyPr wrap="square" lIns="0" tIns="0" rIns="0" bIns="0" rtlCol="0" anchor="t"/>
          <a:lstStyle/>
          <a:p>
            <a:pPr indent="0" marL="0">
              <a:buNone/>
            </a:pPr>
            <a:r>
              <a:rPr lang="en-US" sz="1800" dirty="0">
                <a:solidFill>
                  <a:schemeClr val="accent6"/>
                </a:solidFill>
              </a:rPr>
              <a:t>From leaving the sender to the message being reassembled. Reply on the Teams post in four or five sentences.</a:t>
            </a:r>
            <a:endParaRPr lang="en-US" sz="1800" dirty="0"/>
          </a:p>
          <a:p>
            <a:pPr indent="0" marL="0">
              <a:buNone/>
            </a:pPr>
            <a:r>
              <a:rPr lang="en-US" sz="1800" dirty="0">
                <a:solidFill>
                  <a:schemeClr val="accent6"/>
                </a:solidFill>
              </a:rPr>
              <a:t>Next lesson: every Topic 3 exam question since 2016.</a:t>
            </a:r>
            <a:endParaRPr lang="en-US" sz="1800" dirty="0"/>
          </a:p>
        </p:txBody>
      </p:sp>
    </p:spTree>
  </p:cSld>
  <p:clrMapOvr>
    <a:masterClrMapping/>
  </p:clrMapOvr>
</p:sld>
</file>

<file path=ppt/theme/theme1.xml><?xml version="1.0" encoding="utf-8"?>
<a:theme xmlns:a="http://schemas.openxmlformats.org/drawingml/2006/main" name="CAVC Computer Science">
  <a:themeElements>
    <a:clrScheme name="CAVC Computer Science">
      <a:dk1>
        <a:srgbClr val="1B2A4A"/>
      </a:dk1>
      <a:lt1>
        <a:srgbClr val="FFFFFF"/>
      </a:lt1>
      <a:dk2>
        <a:srgbClr val="14213D"/>
      </a:dk2>
      <a:lt2>
        <a:srgbClr val="F2F5F8"/>
      </a:lt2>
      <a:accent1>
        <a:srgbClr val="0F8B8D"/>
      </a:accent1>
      <a:accent2>
        <a:srgbClr val="E8791F"/>
      </a:accent2>
      <a:accent3>
        <a:srgbClr val="1B2A4A"/>
      </a:accent3>
      <a:accent4>
        <a:srgbClr val="C4342D"/>
      </a:accent4>
      <a:accent5>
        <a:srgbClr val="1E7F48"/>
      </a:accent5>
      <a:accent6>
        <a:srgbClr val="8FA3BF"/>
      </a:accent6>
      <a:hlink>
        <a:srgbClr val="0F8B8D"/>
      </a:hlink>
      <a:folHlink>
        <a:srgbClr val="1B2A4A"/>
      </a:folHlink>
    </a:clrScheme>
    <a:fontScheme name="CAVC Computer Scien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Cardiff and Vale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3 Lesson 2: The journey of a packet</dc:title>
  <dc:subject>PptxGenJS Presentation</dc:subject>
  <dc:creator>Aled Evans</dc:creator>
  <cp:lastModifiedBy>Aled Evans</cp:lastModifiedBy>
  <cp:revision>1</cp:revision>
  <dcterms:created xsi:type="dcterms:W3CDTF">2026-10-08T12:04:12Z</dcterms:created>
  <dcterms:modified xsi:type="dcterms:W3CDTF">2026-10-08T12:04:12Z</dcterms:modified>
</cp:coreProperties>
</file>